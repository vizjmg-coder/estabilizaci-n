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</p:sldIdLst>
  <p:sldSz cy="6858000" cx="12192000"/>
  <p:notesSz cx="6858000" cy="12192000"/>
  <p:embeddedFontLst>
    <p:embeddedFont>
      <p:font typeface="Poppins"/>
      <p:regular r:id="rId59"/>
      <p:bold r:id="rId60"/>
      <p:italic r:id="rId61"/>
      <p:boldItalic r:id="rId6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63" roundtripDataSignature="AMtx7mgpbcFZBLia9CLYpgzYfyBuPwcH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219430B-40B1-4F13-8D99-EA5D7966678A}">
  <a:tblStyle styleId="{2219430B-40B1-4F13-8D99-EA5D7966678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9EE2CB2E-1363-49F8-B8BA-952F5347F8D7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fill>
          <a:solidFill>
            <a:srgbClr val="CDD4E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DD4EA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Poppins-boldItalic.fntdata"/><Relationship Id="rId61" Type="http://schemas.openxmlformats.org/officeDocument/2006/relationships/font" Target="fonts/Poppins-italic.fntdata"/><Relationship Id="rId20" Type="http://schemas.openxmlformats.org/officeDocument/2006/relationships/slide" Target="slides/slide15.xml"/><Relationship Id="rId63" Type="http://customschemas.google.com/relationships/presentationmetadata" Target="meta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font" Target="fonts/Poppins-bold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font" Target="fonts/Poppins-regular.fntdata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" name="Google Shape;9;p1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" name="Google Shape;18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s-CO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4" name="Google Shape;84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s-CO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8" name="Google Shape;228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s-CO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5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1" name="Google Shape;271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s-CO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6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6" name="Google Shape;416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s-CO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7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0" name="Google Shape;470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s-CO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8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4" name="Google Shape;604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s-CO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9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41" name="Google Shape;641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s-CO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10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93" name="Google Shape;693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s-CO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11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11" name="Google Shape;811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2" name="Google Shape;812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s-CO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12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65" name="Google Shape;865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6" name="Google Shape;866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s-CO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p13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18" name="Google Shape;1018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9" name="Google Shape;1019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s-CO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0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p14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72" name="Google Shape;1072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3" name="Google Shape;1073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s-CO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8" name="Shape 1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" name="Google Shape;1229;p15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30" name="Google Shape;1230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1" name="Google Shape;1231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s-CO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2" name="Shape 1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3" name="Google Shape;1283;p16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84" name="Google Shape;1284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5" name="Google Shape;1285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s-CO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0" name="Shape 1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p17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42" name="Google Shape;1442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3" name="Google Shape;1443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s-CO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7" name="Shape 1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8" name="Google Shape;1478;p18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79" name="Google Shape;1479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0" name="Google Shape;1480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s-CO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1" name="Shape 1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2" name="Google Shape;1532;p19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33" name="Google Shape;1533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4" name="Google Shape;1534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s-CO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0" name="Shape 1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" name="Google Shape;1761;p20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62" name="Google Shape;1762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3" name="Google Shape;1763;p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s-CO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4" name="Shape 1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5" name="Google Shape;1815;p21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16" name="Google Shape;1816;p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7" name="Google Shape;1817;p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s-CO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5" name="Shape 1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" name="Google Shape;1986;p22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87" name="Google Shape;1987;p2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8" name="Google Shape;1988;p2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s-CO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8" name="Shape 2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9" name="Google Shape;2029;p23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30" name="Google Shape;2030;p2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1" name="Google Shape;2031;p2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s-CO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1" name="Shape 2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2" name="Google Shape;2202;p24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03" name="Google Shape;2203;p2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4" name="Google Shape;2204;p2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s-CO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4" name="Shape 2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5" name="Google Shape;2245;p25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46" name="Google Shape;2246;p2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7" name="Google Shape;2247;p2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s-CO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8" name="Shape 2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9" name="Google Shape;2409;p26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10" name="Google Shape;2410;p2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1" name="Google Shape;2411;p2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s-CO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4" name="Shape 2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5" name="Google Shape;2445;p27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46" name="Google Shape;2446;p2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7" name="Google Shape;2447;p2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s-CO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8" name="Shape 2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9" name="Google Shape;2499;p28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00" name="Google Shape;2500;p2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1" name="Google Shape;2501;p2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s-CO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8" name="Shape 2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9" name="Google Shape;2659;p29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60" name="Google Shape;2660;p2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1" name="Google Shape;2661;p2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s-CO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5" name="Shape 2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6" name="Google Shape;2696;p30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97" name="Google Shape;2697;p30:notes"/>
          <p:cNvSpPr/>
          <p:nvPr>
            <p:ph idx="2" type="sldImg"/>
          </p:nvPr>
        </p:nvSpPr>
        <p:spPr>
          <a:xfrm>
            <a:off x="-635000" y="914400"/>
            <a:ext cx="81280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6" name="Shape 2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7" name="Google Shape;2747;p31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48" name="Google Shape;2748;p31:notes"/>
          <p:cNvSpPr/>
          <p:nvPr>
            <p:ph idx="2" type="sldImg"/>
          </p:nvPr>
        </p:nvSpPr>
        <p:spPr>
          <a:xfrm>
            <a:off x="-635000" y="914400"/>
            <a:ext cx="81280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3" name="Shape 2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4" name="Google Shape;2854;p32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55" name="Google Shape;2855;p32:notes"/>
          <p:cNvSpPr/>
          <p:nvPr>
            <p:ph idx="2" type="sldImg"/>
          </p:nvPr>
        </p:nvSpPr>
        <p:spPr>
          <a:xfrm>
            <a:off x="-635000" y="914400"/>
            <a:ext cx="81280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7" name="Shape 2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8" name="Google Shape;2908;p33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09" name="Google Shape;2909;p33:notes"/>
          <p:cNvSpPr/>
          <p:nvPr>
            <p:ph idx="2" type="sldImg"/>
          </p:nvPr>
        </p:nvSpPr>
        <p:spPr>
          <a:xfrm>
            <a:off x="-635000" y="914400"/>
            <a:ext cx="81280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9" name="Shape 3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0" name="Google Shape;3020;p34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21" name="Google Shape;3021;p34:notes"/>
          <p:cNvSpPr/>
          <p:nvPr>
            <p:ph idx="2" type="sldImg"/>
          </p:nvPr>
        </p:nvSpPr>
        <p:spPr>
          <a:xfrm>
            <a:off x="-635000" y="914400"/>
            <a:ext cx="81280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3" name="Shape 3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Google Shape;3074;p35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75" name="Google Shape;3075;p3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6" name="Google Shape;3076;p3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s-CO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7" name="Shape 3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8" name="Google Shape;3218;p36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19" name="Google Shape;3219;p36:notes"/>
          <p:cNvSpPr/>
          <p:nvPr>
            <p:ph idx="2" type="sldImg"/>
          </p:nvPr>
        </p:nvSpPr>
        <p:spPr>
          <a:xfrm>
            <a:off x="-635000" y="914400"/>
            <a:ext cx="81280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3" name="Shape 3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4" name="Google Shape;3254;p37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55" name="Google Shape;3255;p3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6" name="Google Shape;3256;p3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s-CO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8" name="Shape 3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9" name="Google Shape;3309;p38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10" name="Google Shape;3310;p3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1" name="Google Shape;3311;p3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s-CO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9" name="Shape 3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0" name="Google Shape;3480;p39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81" name="Google Shape;3481;p3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2" name="Google Shape;3482;p3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s-CO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2" name="Shape 3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3" name="Google Shape;3523;p40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24" name="Google Shape;3524;p4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5" name="Google Shape;3525;p4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s-CO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1" name="Shape 3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2" name="Google Shape;3692;p41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93" name="Google Shape;3693;p4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4" name="Google Shape;3694;p4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s-CO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4" name="Shape 3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5" name="Google Shape;3735;p42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36" name="Google Shape;3736;p4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7" name="Google Shape;3737;p4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s-CO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5" name="Shape 3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6" name="Google Shape;3886;p43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87" name="Google Shape;3887;p4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8" name="Google Shape;3888;p4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s-CO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1" name="Shape 3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2" name="Google Shape;3922;p44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23" name="Google Shape;3923;p4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4" name="Google Shape;3924;p4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s-CO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7" name="Shape 3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8" name="Google Shape;3978;p45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79" name="Google Shape;3979;p4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0" name="Google Shape;3980;p4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s-CO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6" name="Shape 4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7" name="Google Shape;4127;p46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28" name="Google Shape;4128;p4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9" name="Google Shape;4129;p4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s-CO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2" name="Shape 4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3" name="Google Shape;4163;p47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64" name="Google Shape;4164;p4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5" name="Google Shape;4165;p4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s-CO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6" name="Shape 4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7" name="Google Shape;4217;p48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18" name="Google Shape;4218;p4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9" name="Google Shape;4219;p4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s-CO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8" name="Shape 4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9" name="Google Shape;4389;p49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90" name="Google Shape;4390;p4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1" name="Google Shape;4391;p4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s-CO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2" name="Shape 4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3" name="Google Shape;4443;p50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44" name="Google Shape;4444;p5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5" name="Google Shape;4445;p5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s-CO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5" name="Shape 4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6" name="Google Shape;4626;p51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27" name="Google Shape;4627;p5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8" name="Google Shape;4628;p5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s-CO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2" name="Shape 4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3" name="Google Shape;4663;p52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64" name="Google Shape;4664;p5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5" name="Google Shape;4665;p5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s-CO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6" name="Shape 4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7" name="Google Shape;4697;p5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98" name="Google Shape;4698;p5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9" name="Google Shape;4699;p5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s-CO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28"/>
            <a:ext cx="12192000" cy="6857143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"/>
          <p:cNvSpPr txBox="1"/>
          <p:nvPr/>
        </p:nvSpPr>
        <p:spPr>
          <a:xfrm>
            <a:off x="731520" y="369194"/>
            <a:ext cx="10725912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D2E"/>
              </a:buClr>
              <a:buSzPts val="3800"/>
              <a:buFont typeface="Calibri"/>
              <a:buNone/>
            </a:pPr>
            <a:r>
              <a:rPr b="1" i="0" lang="es-CO" sz="3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Programa de Estabilización de vías</a:t>
            </a:r>
            <a:endParaRPr b="0" i="0" sz="3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D2E"/>
              </a:buClr>
              <a:buSzPts val="3800"/>
              <a:buFont typeface="Calibri"/>
              <a:buNone/>
            </a:pPr>
            <a:r>
              <a:rPr b="1" i="0" lang="es-CO" sz="3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en el Departamento de Antioquia</a:t>
            </a:r>
            <a:endParaRPr b="0" i="0" sz="3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" name="Google Shape;13;p1"/>
          <p:cNvSpPr txBox="1"/>
          <p:nvPr/>
        </p:nvSpPr>
        <p:spPr>
          <a:xfrm>
            <a:off x="731520" y="1877954"/>
            <a:ext cx="107259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" name="Google Shape;14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22901" y="5286375"/>
            <a:ext cx="2343150" cy="1571625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1"/>
          <p:cNvSpPr/>
          <p:nvPr/>
        </p:nvSpPr>
        <p:spPr>
          <a:xfrm>
            <a:off x="2026898" y="1715895"/>
            <a:ext cx="8135155" cy="390659"/>
          </a:xfrm>
          <a:prstGeom prst="roundRect">
            <a:avLst>
              <a:gd fmla="val 16667" name="adj"/>
            </a:avLst>
          </a:prstGeom>
          <a:solidFill>
            <a:srgbClr val="0B56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2000"/>
              <a:buFont typeface="Calibri"/>
              <a:buNone/>
            </a:pPr>
            <a:r>
              <a:rPr b="0" i="0" lang="es-CO" sz="1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Informe de variación de alcances por corredor · Septiembre de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/>
          <p:cNvSpPr txBox="1"/>
          <p:nvPr/>
        </p:nvSpPr>
        <p:spPr>
          <a:xfrm>
            <a:off x="457200" y="320040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1200"/>
              <a:buFont typeface="Calibri"/>
              <a:buNone/>
            </a:pPr>
            <a:r>
              <a:rPr b="1" i="0" lang="es-CO" sz="1200" u="none" cap="none" strike="noStrike">
                <a:solidFill>
                  <a:srgbClr val="0B5640"/>
                </a:solidFill>
                <a:latin typeface="Poppins"/>
                <a:ea typeface="Poppins"/>
                <a:cs typeface="Poppins"/>
                <a:sym typeface="Poppins"/>
              </a:rPr>
              <a:t>INFORME DE VARIACIÓN DE ALCANCES  ·  LOTE 1 – SUBREGIÓN ORIENTE</a:t>
            </a:r>
            <a:endParaRPr b="0" i="0" sz="1200" u="none" cap="none" strike="noStrike">
              <a:solidFill>
                <a:srgbClr val="0B564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" name="Google Shape;22;p2"/>
          <p:cNvSpPr txBox="1"/>
          <p:nvPr/>
        </p:nvSpPr>
        <p:spPr>
          <a:xfrm>
            <a:off x="457200" y="594360"/>
            <a:ext cx="9692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2800"/>
              <a:buFont typeface="Calibri"/>
              <a:buNone/>
            </a:pPr>
            <a:r>
              <a:rPr b="1" i="0" lang="es-CO" sz="28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Abejorral – Santa Bárbara – El Cairo – La Elvira</a:t>
            </a:r>
            <a:endParaRPr b="0" i="0" sz="2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descr="logo.png" id="23" name="Google Shape;2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78440" y="320040"/>
            <a:ext cx="1371600" cy="676656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2"/>
          <p:cNvSpPr/>
          <p:nvPr/>
        </p:nvSpPr>
        <p:spPr>
          <a:xfrm>
            <a:off x="457200" y="132588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2"/>
          <p:cNvSpPr txBox="1"/>
          <p:nvPr/>
        </p:nvSpPr>
        <p:spPr>
          <a:xfrm>
            <a:off x="594360" y="1417320"/>
            <a:ext cx="183483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100"/>
              <a:buFont typeface="Calibri"/>
              <a:buNone/>
            </a:pPr>
            <a:r>
              <a:rPr b="0" i="0" lang="es-CO" sz="10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Longitud contractual</a:t>
            </a:r>
            <a:endParaRPr b="0" i="0" sz="1000" u="none" cap="none" strike="noStrike">
              <a:solidFill>
                <a:srgbClr val="1D2B2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" name="Google Shape;26;p2"/>
          <p:cNvSpPr txBox="1"/>
          <p:nvPr/>
        </p:nvSpPr>
        <p:spPr>
          <a:xfrm>
            <a:off x="594360" y="1691640"/>
            <a:ext cx="183483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700"/>
              <a:buFont typeface="Calibri"/>
              <a:buNone/>
            </a:pPr>
            <a:r>
              <a:rPr b="1" i="0" lang="es-CO" sz="17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23,77 km</a:t>
            </a:r>
            <a:endParaRPr b="1" i="0" sz="1700" u="none" cap="none" strike="noStrike">
              <a:solidFill>
                <a:srgbClr val="1D2B2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2749235" y="132588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 txBox="1"/>
          <p:nvPr/>
        </p:nvSpPr>
        <p:spPr>
          <a:xfrm>
            <a:off x="2886395" y="1417320"/>
            <a:ext cx="183483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100"/>
              <a:buFont typeface="Calibri"/>
              <a:buNone/>
            </a:pPr>
            <a:r>
              <a:rPr b="0" i="0" lang="es-CO" sz="10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Longitud probable a cubrir</a:t>
            </a:r>
            <a:endParaRPr b="0" i="0" sz="1000" u="none" cap="none" strike="noStrike">
              <a:solidFill>
                <a:srgbClr val="1D2B2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" name="Google Shape;29;p2"/>
          <p:cNvSpPr txBox="1"/>
          <p:nvPr/>
        </p:nvSpPr>
        <p:spPr>
          <a:xfrm>
            <a:off x="2886395" y="1691640"/>
            <a:ext cx="183483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7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9,72 km</a:t>
            </a:r>
            <a:endParaRPr b="1" i="0" sz="1700" u="none" cap="none" strike="noStrike">
              <a:solidFill>
                <a:srgbClr val="1D2B2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5041270" y="132588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 txBox="1"/>
          <p:nvPr/>
        </p:nvSpPr>
        <p:spPr>
          <a:xfrm>
            <a:off x="5178430" y="1417320"/>
            <a:ext cx="183483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0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Valor por km contractual</a:t>
            </a:r>
            <a:endParaRPr b="0" i="0" sz="1000" u="none" cap="none" strike="noStrike">
              <a:solidFill>
                <a:srgbClr val="1D2B2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" name="Google Shape;32;p2"/>
          <p:cNvSpPr txBox="1"/>
          <p:nvPr/>
        </p:nvSpPr>
        <p:spPr>
          <a:xfrm>
            <a:off x="5178430" y="1691640"/>
            <a:ext cx="183483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700"/>
              <a:buFont typeface="Arial"/>
              <a:buNone/>
            </a:pPr>
            <a:r>
              <a:rPr b="1" i="0" lang="es-CO" sz="17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$ 840.100.338</a:t>
            </a:r>
            <a:endParaRPr b="1" i="0" sz="1700" u="none" cap="none" strike="noStrike">
              <a:solidFill>
                <a:srgbClr val="1D2B2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7333305" y="132588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 txBox="1"/>
          <p:nvPr/>
        </p:nvSpPr>
        <p:spPr>
          <a:xfrm>
            <a:off x="7470465" y="1417320"/>
            <a:ext cx="183483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100"/>
              <a:buFont typeface="Arial"/>
              <a:buNone/>
            </a:pPr>
            <a:r>
              <a:rPr b="0" i="0" lang="es-CO" sz="10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Valor por km proyectado</a:t>
            </a:r>
            <a:endParaRPr b="0" i="0" sz="1000" u="none" cap="none" strike="noStrike">
              <a:solidFill>
                <a:srgbClr val="1D2B2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" name="Google Shape;35;p2"/>
          <p:cNvSpPr txBox="1"/>
          <p:nvPr/>
        </p:nvSpPr>
        <p:spPr>
          <a:xfrm>
            <a:off x="7470465" y="1691640"/>
            <a:ext cx="183483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7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$ 2.054.261.084</a:t>
            </a:r>
            <a:endParaRPr b="1" i="0" sz="1700" u="none" cap="none" strike="noStrike">
              <a:solidFill>
                <a:srgbClr val="1D2B2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9625340" y="132588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FBEAEA"/>
          </a:solidFill>
          <a:ln cap="flat" cmpd="sng" w="12700">
            <a:solidFill>
              <a:srgbClr val="FBEA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 txBox="1"/>
          <p:nvPr/>
        </p:nvSpPr>
        <p:spPr>
          <a:xfrm>
            <a:off x="9762500" y="1417320"/>
            <a:ext cx="196923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1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Variación total (valor adicional</a:t>
            </a:r>
            <a:r>
              <a:rPr b="0" i="0" lang="es-CO" sz="11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 txBox="1"/>
          <p:nvPr/>
        </p:nvSpPr>
        <p:spPr>
          <a:xfrm>
            <a:off x="9762500" y="1691640"/>
            <a:ext cx="183483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261E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B3261E"/>
                </a:solidFill>
                <a:latin typeface="Calibri"/>
                <a:ea typeface="Calibri"/>
                <a:cs typeface="Calibri"/>
                <a:sym typeface="Calibri"/>
              </a:rPr>
              <a:t>▲ $ </a:t>
            </a:r>
            <a:r>
              <a:rPr b="1" i="0" lang="es-CO" sz="1300" u="none" cap="none" strike="noStrike">
                <a:solidFill>
                  <a:srgbClr val="B3261E"/>
                </a:solidFill>
                <a:latin typeface="Poppins"/>
                <a:ea typeface="Poppins"/>
                <a:cs typeface="Poppins"/>
                <a:sym typeface="Poppins"/>
              </a:rPr>
              <a:t>28.860.600.924</a:t>
            </a:r>
            <a:endParaRPr b="1" i="0" sz="1300" u="none" cap="none" strike="noStrike">
              <a:solidFill>
                <a:srgbClr val="B3261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457200" y="2423160"/>
            <a:ext cx="3154680" cy="4114800"/>
          </a:xfrm>
          <a:prstGeom prst="roundRect">
            <a:avLst>
              <a:gd fmla="val 1739" name="adj"/>
            </a:avLst>
          </a:prstGeom>
          <a:solidFill>
            <a:srgbClr val="FFFFFF"/>
          </a:solidFill>
          <a:ln cap="flat" cmpd="sng" w="12700">
            <a:solidFill>
              <a:srgbClr val="D5DD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 txBox="1"/>
          <p:nvPr/>
        </p:nvSpPr>
        <p:spPr>
          <a:xfrm>
            <a:off x="640080" y="2560320"/>
            <a:ext cx="2788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1100"/>
              <a:buFont typeface="Calibri"/>
              <a:buNone/>
            </a:pPr>
            <a:r>
              <a:rPr b="1" i="0" lang="es-CO" sz="1100" u="none" cap="none" strike="noStrike">
                <a:solidFill>
                  <a:srgbClr val="2E7D4F"/>
                </a:solidFill>
                <a:latin typeface="Poppins"/>
                <a:ea typeface="Poppins"/>
                <a:cs typeface="Poppins"/>
                <a:sym typeface="Poppins"/>
              </a:rPr>
              <a:t>ESTRUCTURA DE PAVIMENTO</a:t>
            </a:r>
            <a:endParaRPr b="0" i="0" sz="11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1" name="Google Shape;41;p2"/>
          <p:cNvSpPr txBox="1"/>
          <p:nvPr/>
        </p:nvSpPr>
        <p:spPr>
          <a:xfrm>
            <a:off x="640080" y="2816352"/>
            <a:ext cx="2788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1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Abejorral – Santa Bárbara – El Cairo – La Elvira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 txBox="1"/>
          <p:nvPr/>
        </p:nvSpPr>
        <p:spPr>
          <a:xfrm>
            <a:off x="640080" y="3172968"/>
            <a:ext cx="2788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-CO" sz="80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LOTE 1 · Longitud: 23.770 m</a:t>
            </a:r>
            <a:br>
              <a:rPr b="0" i="0" lang="es-CO" sz="80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b="0" i="0" lang="es-CO" sz="80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Tránsito – Estructuración: 307.000</a:t>
            </a:r>
            <a:br>
              <a:rPr b="0" i="0" lang="es-CO" sz="80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b="0" i="0" lang="es-CO" sz="80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Tránsito – Diseño: 311.553</a:t>
            </a:r>
            <a:endParaRPr b="0" i="0" sz="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3" name="Google Shape;43;p2"/>
          <p:cNvGraphicFramePr/>
          <p:nvPr/>
        </p:nvGraphicFramePr>
        <p:xfrm>
          <a:off x="3840480" y="24231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{2219430B-40B1-4F13-8D99-EA5D7966678A}</a:tableStyleId>
              </a:tblPr>
              <a:tblGrid>
                <a:gridCol w="2395725"/>
                <a:gridCol w="1097275"/>
                <a:gridCol w="603500"/>
                <a:gridCol w="1097275"/>
                <a:gridCol w="603500"/>
                <a:gridCol w="237750"/>
                <a:gridCol w="1097275"/>
                <a:gridCol w="758950"/>
              </a:tblGrid>
              <a:tr h="393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8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Grupo – actividad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8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Valor contractual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8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% sobre corredor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8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Valor proyectado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8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% sobre corredor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8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Variación (valor adicional)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8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% de variación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</a:tr>
              <a:tr h="280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8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Construcción alcantarilla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8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$ 349.118.827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8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1,7 %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8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$ 4.569.689.585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8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9,4 %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800" u="none" cap="none" strike="noStrike">
                          <a:solidFill>
                            <a:srgbClr val="B3261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▲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800" u="none" cap="none" strike="noStrike">
                          <a:solidFill>
                            <a:srgbClr val="B3261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$ 4.220.570.758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800" u="none" cap="none" strike="noStrike">
                          <a:solidFill>
                            <a:srgbClr val="B3261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1208,9 %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80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8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Construcción cuneta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8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$ 3.962.861.757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8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19,8 %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8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$ 5.209.150.329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8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10,7 %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800" u="none" cap="none" strike="noStrike">
                          <a:solidFill>
                            <a:srgbClr val="B3261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▲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800" u="none" cap="none" strike="noStrike">
                          <a:solidFill>
                            <a:srgbClr val="B3261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$ 1.246.288.572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800" u="none" cap="none" strike="noStrike">
                          <a:solidFill>
                            <a:srgbClr val="B3261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31,4 %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280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8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Construcción filtro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8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$ 4.154.277.100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8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20,8 %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8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$ 4.853.456.980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8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9,9 %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800" u="none" cap="none" strike="noStrike">
                          <a:solidFill>
                            <a:srgbClr val="B3261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▲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800" u="none" cap="none" strike="noStrike">
                          <a:solidFill>
                            <a:srgbClr val="B3261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$ 699.179.880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800" u="none" cap="none" strike="noStrike">
                          <a:solidFill>
                            <a:srgbClr val="B3261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16,8 %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80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8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Construcción bordillos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8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$ 587.858.975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8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2,9 %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8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$ 31.606.724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8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0,1 %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800" u="none" cap="none" strike="noStrike">
                          <a:solidFill>
                            <a:srgbClr val="0B5D2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▼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800" u="none" cap="none" strike="noStrike">
                          <a:solidFill>
                            <a:srgbClr val="0B5D2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–$ 556.252.251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800" u="none" cap="none" strike="noStrike">
                          <a:solidFill>
                            <a:srgbClr val="0B5D2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-94,6 %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280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8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Construcción disipadores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8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$ 24.152.373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8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0,1 %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8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$ 423.717.387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8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0,9 %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800" u="none" cap="none" strike="noStrike">
                          <a:solidFill>
                            <a:srgbClr val="B3261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▲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800" u="none" cap="none" strike="noStrike">
                          <a:solidFill>
                            <a:srgbClr val="B3261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$ 399.565.014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800" u="none" cap="none" strike="noStrike">
                          <a:solidFill>
                            <a:srgbClr val="B3261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1654,4 %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80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8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Estabilización</a:t>
                      </a:r>
                      <a:endParaRPr b="1"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8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$ 10.535.064.588</a:t>
                      </a:r>
                      <a:endParaRPr b="1"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8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52,8 %</a:t>
                      </a:r>
                      <a:endParaRPr b="1"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8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$ 32.124.443.827</a:t>
                      </a:r>
                      <a:endParaRPr b="1"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8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65,8 %</a:t>
                      </a:r>
                      <a:endParaRPr b="1"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800" u="none" cap="none" strike="noStrike">
                          <a:solidFill>
                            <a:srgbClr val="B3261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▲</a:t>
                      </a:r>
                      <a:endParaRPr b="1"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800" u="none" cap="none" strike="noStrike">
                          <a:solidFill>
                            <a:srgbClr val="B3261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$ 21.589.379.239</a:t>
                      </a:r>
                      <a:endParaRPr b="1"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800" u="none" cap="none" strike="noStrike">
                          <a:solidFill>
                            <a:srgbClr val="B3261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204,9 %</a:t>
                      </a:r>
                      <a:endParaRPr b="1"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80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0" lang="es-CO" sz="8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Señalización vial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0" lang="es-CO" sz="8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$ 355.851.420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0" lang="es-CO" sz="8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1,8 %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0" lang="es-CO" sz="8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$ 417.158.664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0" lang="es-CO" sz="8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0,9 %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Arial"/>
                        <a:buNone/>
                      </a:pPr>
                      <a:r>
                        <a:rPr b="0" lang="es-CO" sz="800" u="none" cap="none" strike="noStrike">
                          <a:solidFill>
                            <a:srgbClr val="B3261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▲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b="0" lang="es-CO" sz="800" u="none" cap="none" strike="noStrike">
                          <a:solidFill>
                            <a:srgbClr val="B3261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$ 61.307.244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b="0" lang="es-CO" sz="800" u="none" cap="none" strike="noStrike">
                          <a:solidFill>
                            <a:srgbClr val="B3261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17,2 %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280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8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MDC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8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$ –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8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0,0 %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8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$ 1.200.562.468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8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2,5 %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800" u="none" cap="none" strike="noStrike">
                          <a:solidFill>
                            <a:srgbClr val="B3261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▲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800" u="none" cap="none" strike="noStrike">
                          <a:solidFill>
                            <a:srgbClr val="B3261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$ 1.200.562.468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800" u="none" cap="none" strike="noStrike">
                          <a:solidFill>
                            <a:srgbClr val="0B5D2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N/A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80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8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TOTAL CORREDOR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8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$ 19.969.185.040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8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100%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8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$ 48.829.785.964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8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100%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800" u="none" cap="none" strike="noStrike">
                          <a:solidFill>
                            <a:srgbClr val="B3261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▲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800" u="none" cap="none" strike="noStrike">
                          <a:solidFill>
                            <a:srgbClr val="B3261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+$ 28.860.600.924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800" u="none" cap="none" strike="noStrike">
                          <a:solidFill>
                            <a:srgbClr val="B3261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144,5 %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</a:tr>
            </a:tbl>
          </a:graphicData>
        </a:graphic>
      </p:graphicFrame>
      <p:sp>
        <p:nvSpPr>
          <p:cNvPr id="44" name="Google Shape;44;p2"/>
          <p:cNvSpPr txBox="1"/>
          <p:nvPr/>
        </p:nvSpPr>
        <p:spPr>
          <a:xfrm>
            <a:off x="3840480" y="5413248"/>
            <a:ext cx="78912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261E"/>
              </a:buClr>
              <a:buSzPts val="900"/>
              <a:buFont typeface="Arial"/>
              <a:buNone/>
            </a:pPr>
            <a:r>
              <a:rPr b="0" i="0" lang="es-CO" sz="900" u="none" cap="none" strike="noStrike">
                <a:solidFill>
                  <a:srgbClr val="B3261E"/>
                </a:solidFill>
                <a:latin typeface="Poppins"/>
                <a:ea typeface="Poppins"/>
                <a:cs typeface="Poppins"/>
                <a:sym typeface="Poppins"/>
              </a:rPr>
              <a:t>▲</a:t>
            </a:r>
            <a:r>
              <a:rPr b="0" i="0" lang="es-CO" sz="90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 Se requiere mayor valor     </a:t>
            </a:r>
            <a:r>
              <a:rPr b="0" i="0" lang="es-CO" sz="900" u="none" cap="none" strike="noStrike">
                <a:solidFill>
                  <a:srgbClr val="0B5D2E"/>
                </a:solidFill>
                <a:latin typeface="Poppins"/>
                <a:ea typeface="Poppins"/>
                <a:cs typeface="Poppins"/>
                <a:sym typeface="Poppins"/>
              </a:rPr>
              <a:t>▼</a:t>
            </a:r>
            <a:r>
              <a:rPr b="0" i="0" lang="es-CO" sz="90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 Sobra valor     % de variación = (valor proyectado – valor contractual) / valor contractual</a:t>
            </a:r>
            <a:endParaRPr b="0" i="0" sz="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3840480" y="5687568"/>
            <a:ext cx="7909560" cy="850392"/>
          </a:xfrm>
          <a:prstGeom prst="roundRect">
            <a:avLst>
              <a:gd fmla="val 6452" name="adj"/>
            </a:avLst>
          </a:prstGeom>
          <a:solidFill>
            <a:srgbClr val="FFFFFF"/>
          </a:solidFill>
          <a:ln cap="flat" cmpd="sng" w="12700">
            <a:solidFill>
              <a:srgbClr val="9AA7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00" lIns="1000" spcFirstLastPara="1" rIns="1500" wrap="square" tIns="15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CO" sz="11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Notas:</a:t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100"/>
              <a:buFont typeface="Arial"/>
              <a:buChar char="•"/>
            </a:pPr>
            <a:r>
              <a:rPr b="0" i="0" lang="es-CO" sz="11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Se tiene cuatro estructuras aprobadas, para diferentes tramos, de acuerdo con CBR encontrados ((1,2 – 38,6) y pendientes longitudinales de la vía; en las zonas de altas pendientes (&gt;8%) se utiliza MDC-19 para la carpeta.</a:t>
            </a:r>
            <a:endParaRPr b="0" i="0" sz="11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6" name="Google Shape;46;p2"/>
          <p:cNvSpPr txBox="1"/>
          <p:nvPr/>
        </p:nvSpPr>
        <p:spPr>
          <a:xfrm>
            <a:off x="359664" y="4060938"/>
            <a:ext cx="1021080" cy="1077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s-CO" sz="7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Teórica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557784" y="4261104"/>
            <a:ext cx="603504" cy="146304"/>
          </a:xfrm>
          <a:prstGeom prst="rect">
            <a:avLst/>
          </a:prstGeom>
          <a:solidFill>
            <a:srgbClr val="1F2A36"/>
          </a:solidFill>
          <a:ln cap="flat" cmpd="sng" w="9525">
            <a:solidFill>
              <a:srgbClr val="1F2A3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 txBox="1"/>
          <p:nvPr/>
        </p:nvSpPr>
        <p:spPr>
          <a:xfrm>
            <a:off x="557784" y="4288089"/>
            <a:ext cx="603504" cy="923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s-CO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TSD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557784" y="4407408"/>
            <a:ext cx="603504" cy="640080"/>
          </a:xfrm>
          <a:prstGeom prst="rect">
            <a:avLst/>
          </a:prstGeom>
          <a:solidFill>
            <a:srgbClr val="D9A441"/>
          </a:solidFill>
          <a:ln cap="flat" cmpd="sng" w="9525">
            <a:solidFill>
              <a:srgbClr val="FFFFFF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 txBox="1"/>
          <p:nvPr/>
        </p:nvSpPr>
        <p:spPr>
          <a:xfrm>
            <a:off x="557784" y="4472809"/>
            <a:ext cx="603504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s-CO" sz="6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Estabilización con cemento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603504" y="4722876"/>
            <a:ext cx="512064" cy="297180"/>
          </a:xfrm>
          <a:prstGeom prst="rect">
            <a:avLst/>
          </a:prstGeom>
          <a:solidFill>
            <a:srgbClr val="F2D58E"/>
          </a:solidFill>
          <a:ln cap="flat" cmpd="sng" w="9525">
            <a:solidFill>
              <a:srgbClr val="A87B1F"/>
            </a:solidFill>
            <a:prstDash val="dash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 txBox="1"/>
          <p:nvPr/>
        </p:nvSpPr>
        <p:spPr>
          <a:xfrm>
            <a:off x="603504" y="4825299"/>
            <a:ext cx="512064" cy="923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s-CO" sz="6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Subbase 13 cm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 txBox="1"/>
          <p:nvPr/>
        </p:nvSpPr>
        <p:spPr>
          <a:xfrm>
            <a:off x="1188720" y="4673587"/>
            <a:ext cx="384048" cy="1077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es-CO" sz="7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28 cm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557784" y="5047488"/>
            <a:ext cx="603504" cy="457200"/>
          </a:xfrm>
          <a:prstGeom prst="rect">
            <a:avLst/>
          </a:prstGeom>
          <a:solidFill>
            <a:srgbClr val="8C6A4F"/>
          </a:solidFill>
          <a:ln cap="flat" cmpd="sng" w="9525">
            <a:solidFill>
              <a:srgbClr val="FFFFFF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 txBox="1"/>
          <p:nvPr/>
        </p:nvSpPr>
        <p:spPr>
          <a:xfrm>
            <a:off x="557784" y="5137588"/>
            <a:ext cx="6035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s-CO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Subrasante estabilizada con cal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 txBox="1"/>
          <p:nvPr/>
        </p:nvSpPr>
        <p:spPr>
          <a:xfrm>
            <a:off x="1188720" y="5222227"/>
            <a:ext cx="384048" cy="1077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es-CO" sz="7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20 cm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7" name="Google Shape;57;p2"/>
          <p:cNvCxnSpPr/>
          <p:nvPr/>
        </p:nvCxnSpPr>
        <p:spPr>
          <a:xfrm>
            <a:off x="502920" y="5504688"/>
            <a:ext cx="713232" cy="0"/>
          </a:xfrm>
          <a:prstGeom prst="straightConnector1">
            <a:avLst/>
          </a:prstGeom>
          <a:noFill/>
          <a:ln cap="flat" cmpd="sng" w="12700">
            <a:solidFill>
              <a:srgbClr val="1D2B24"/>
            </a:solidFill>
            <a:prstDash val="solid"/>
            <a:miter lim="0"/>
            <a:headEnd len="sm" w="sm" type="none"/>
            <a:tailEnd len="sm" w="sm" type="none"/>
          </a:ln>
        </p:spPr>
      </p:cxnSp>
      <p:sp>
        <p:nvSpPr>
          <p:cNvPr id="58" name="Google Shape;58;p2"/>
          <p:cNvSpPr txBox="1"/>
          <p:nvPr/>
        </p:nvSpPr>
        <p:spPr>
          <a:xfrm>
            <a:off x="502920" y="5587986"/>
            <a:ext cx="1021080" cy="1077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-CO" sz="7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Espesor: </a:t>
            </a:r>
            <a:r>
              <a:rPr b="1" i="0" lang="es-CO" sz="7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48 cm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 txBox="1"/>
          <p:nvPr/>
        </p:nvSpPr>
        <p:spPr>
          <a:xfrm>
            <a:off x="1524000" y="4060939"/>
            <a:ext cx="1021080" cy="1077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s-CO" sz="7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Aprobada (MDC-19)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1578864" y="4261104"/>
            <a:ext cx="603504" cy="17145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 txBox="1"/>
          <p:nvPr/>
        </p:nvSpPr>
        <p:spPr>
          <a:xfrm>
            <a:off x="1578864" y="4300662"/>
            <a:ext cx="603504" cy="923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s-CO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MDC-19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 txBox="1"/>
          <p:nvPr/>
        </p:nvSpPr>
        <p:spPr>
          <a:xfrm>
            <a:off x="2209800" y="4292968"/>
            <a:ext cx="384048" cy="1077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es-CO" sz="7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7,5 cm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1578864" y="4432554"/>
            <a:ext cx="603504" cy="457200"/>
          </a:xfrm>
          <a:prstGeom prst="rect">
            <a:avLst/>
          </a:prstGeom>
          <a:solidFill>
            <a:srgbClr val="D9A441"/>
          </a:solidFill>
          <a:ln cap="flat" cmpd="sng" w="9525">
            <a:solidFill>
              <a:srgbClr val="FFFFFF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 txBox="1"/>
          <p:nvPr/>
        </p:nvSpPr>
        <p:spPr>
          <a:xfrm>
            <a:off x="1578864" y="4568820"/>
            <a:ext cx="603504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s-CO" sz="6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Estabilización con cemento (MGTC)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 txBox="1"/>
          <p:nvPr/>
        </p:nvSpPr>
        <p:spPr>
          <a:xfrm>
            <a:off x="2209800" y="4607293"/>
            <a:ext cx="384048" cy="1077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es-CO" sz="7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20 cm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1578864" y="4889754"/>
            <a:ext cx="603504" cy="571500"/>
          </a:xfrm>
          <a:prstGeom prst="rect">
            <a:avLst/>
          </a:prstGeom>
          <a:solidFill>
            <a:srgbClr val="B87A45"/>
          </a:solidFill>
          <a:ln cap="flat" cmpd="sng" w="9525">
            <a:solidFill>
              <a:srgbClr val="FFFFFF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 txBox="1"/>
          <p:nvPr/>
        </p:nvSpPr>
        <p:spPr>
          <a:xfrm>
            <a:off x="1578864" y="5129337"/>
            <a:ext cx="603504" cy="923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s-CO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Afirmado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 txBox="1"/>
          <p:nvPr/>
        </p:nvSpPr>
        <p:spPr>
          <a:xfrm>
            <a:off x="2209800" y="5121643"/>
            <a:ext cx="384048" cy="1077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es-CO" sz="7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25 cm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9" name="Google Shape;69;p2"/>
          <p:cNvCxnSpPr/>
          <p:nvPr/>
        </p:nvCxnSpPr>
        <p:spPr>
          <a:xfrm>
            <a:off x="1524000" y="5461254"/>
            <a:ext cx="713232" cy="0"/>
          </a:xfrm>
          <a:prstGeom prst="straightConnector1">
            <a:avLst/>
          </a:prstGeom>
          <a:noFill/>
          <a:ln cap="flat" cmpd="sng" w="12700">
            <a:solidFill>
              <a:srgbClr val="1D2B24"/>
            </a:solidFill>
            <a:prstDash val="solid"/>
            <a:miter lim="0"/>
            <a:headEnd len="sm" w="sm" type="none"/>
            <a:tailEnd len="sm" w="sm" type="none"/>
          </a:ln>
        </p:spPr>
      </p:cxnSp>
      <p:sp>
        <p:nvSpPr>
          <p:cNvPr id="70" name="Google Shape;70;p2"/>
          <p:cNvSpPr txBox="1"/>
          <p:nvPr/>
        </p:nvSpPr>
        <p:spPr>
          <a:xfrm>
            <a:off x="1524000" y="5544552"/>
            <a:ext cx="1021080" cy="1077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-CO" sz="7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Espesor: </a:t>
            </a:r>
            <a:r>
              <a:rPr b="1" i="0" lang="es-CO" sz="7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52,5 cm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 txBox="1"/>
          <p:nvPr/>
        </p:nvSpPr>
        <p:spPr>
          <a:xfrm>
            <a:off x="2545080" y="4060938"/>
            <a:ext cx="1021080" cy="1077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s-CO" sz="7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Aprobada (TSD)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2599944" y="4261104"/>
            <a:ext cx="603504" cy="146304"/>
          </a:xfrm>
          <a:prstGeom prst="rect">
            <a:avLst/>
          </a:prstGeom>
          <a:solidFill>
            <a:srgbClr val="1F2A36"/>
          </a:solidFill>
          <a:ln cap="flat" cmpd="sng" w="9525">
            <a:solidFill>
              <a:srgbClr val="1F2A36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2"/>
          <p:cNvSpPr txBox="1"/>
          <p:nvPr/>
        </p:nvSpPr>
        <p:spPr>
          <a:xfrm>
            <a:off x="2599944" y="4288089"/>
            <a:ext cx="603504" cy="923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s-CO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TSD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2599944" y="4407408"/>
            <a:ext cx="603504" cy="891540"/>
          </a:xfrm>
          <a:prstGeom prst="rect">
            <a:avLst/>
          </a:prstGeom>
          <a:solidFill>
            <a:srgbClr val="D9A441"/>
          </a:solidFill>
          <a:ln cap="flat" cmpd="sng" w="9525">
            <a:solidFill>
              <a:srgbClr val="FFFFFF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2"/>
          <p:cNvSpPr txBox="1"/>
          <p:nvPr/>
        </p:nvSpPr>
        <p:spPr>
          <a:xfrm>
            <a:off x="2599944" y="4760844"/>
            <a:ext cx="603504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s-CO" sz="6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Estabilización con cemento (MGTC)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2"/>
          <p:cNvSpPr txBox="1"/>
          <p:nvPr/>
        </p:nvSpPr>
        <p:spPr>
          <a:xfrm>
            <a:off x="3230880" y="4799317"/>
            <a:ext cx="384048" cy="1077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es-CO" sz="7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39 cm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2599944" y="5298948"/>
            <a:ext cx="603504" cy="571500"/>
          </a:xfrm>
          <a:prstGeom prst="rect">
            <a:avLst/>
          </a:prstGeom>
          <a:solidFill>
            <a:srgbClr val="B87A45"/>
          </a:solidFill>
          <a:ln cap="flat" cmpd="sng" w="9525">
            <a:solidFill>
              <a:srgbClr val="FFFFFF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2"/>
          <p:cNvSpPr txBox="1"/>
          <p:nvPr/>
        </p:nvSpPr>
        <p:spPr>
          <a:xfrm>
            <a:off x="2599944" y="5538531"/>
            <a:ext cx="603504" cy="923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s-CO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Afirmado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2"/>
          <p:cNvSpPr txBox="1"/>
          <p:nvPr/>
        </p:nvSpPr>
        <p:spPr>
          <a:xfrm>
            <a:off x="3230880" y="5530837"/>
            <a:ext cx="384048" cy="1077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es-CO" sz="7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25 cm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0" name="Google Shape;80;p2"/>
          <p:cNvCxnSpPr/>
          <p:nvPr/>
        </p:nvCxnSpPr>
        <p:spPr>
          <a:xfrm>
            <a:off x="2545080" y="5870448"/>
            <a:ext cx="713232" cy="0"/>
          </a:xfrm>
          <a:prstGeom prst="straightConnector1">
            <a:avLst/>
          </a:prstGeom>
          <a:noFill/>
          <a:ln cap="flat" cmpd="sng" w="12700">
            <a:solidFill>
              <a:srgbClr val="1D2B24"/>
            </a:solidFill>
            <a:prstDash val="solid"/>
            <a:miter lim="0"/>
            <a:headEnd len="sm" w="sm" type="none"/>
            <a:tailEnd len="sm" w="sm" type="none"/>
          </a:ln>
        </p:spPr>
      </p:cxnSp>
      <p:sp>
        <p:nvSpPr>
          <p:cNvPr id="81" name="Google Shape;81;p2"/>
          <p:cNvSpPr txBox="1"/>
          <p:nvPr/>
        </p:nvSpPr>
        <p:spPr>
          <a:xfrm>
            <a:off x="2545080" y="5953746"/>
            <a:ext cx="1021080" cy="1077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-CO" sz="7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Espesor: </a:t>
            </a:r>
            <a:r>
              <a:rPr b="1" i="0" lang="es-CO" sz="7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64 cm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"/>
          <p:cNvSpPr txBox="1"/>
          <p:nvPr/>
        </p:nvSpPr>
        <p:spPr>
          <a:xfrm>
            <a:off x="457200" y="320040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1200"/>
              <a:buFont typeface="Calibri"/>
              <a:buNone/>
            </a:pPr>
            <a:r>
              <a:rPr b="1" i="0" lang="es-CO" sz="1200" u="none" cap="none" strike="noStrike">
                <a:solidFill>
                  <a:srgbClr val="2E7D4F"/>
                </a:solidFill>
                <a:latin typeface="Poppins"/>
                <a:ea typeface="Poppins"/>
                <a:cs typeface="Poppins"/>
                <a:sym typeface="Poppins"/>
              </a:rPr>
              <a:t>INFORME DE EJECUCIÓN  ·  LOTE 1 – SUBREGIÓN ORIENTE  ·  GRUPO 2</a:t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" name="Google Shape;88;p3"/>
          <p:cNvSpPr txBox="1"/>
          <p:nvPr/>
        </p:nvSpPr>
        <p:spPr>
          <a:xfrm>
            <a:off x="457200" y="594360"/>
            <a:ext cx="9692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2800"/>
              <a:buFont typeface="Calibri"/>
              <a:buNone/>
            </a:pPr>
            <a:r>
              <a:rPr b="1" i="0" lang="es-CO" sz="28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Abejorral – Santa Bárbara – El Cairo – La Elvira</a:t>
            </a:r>
            <a:endParaRPr b="0" i="0" sz="2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descr="logo.png" id="89" name="Google Shape;8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78440" y="320040"/>
            <a:ext cx="1371600" cy="676656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3"/>
          <p:cNvSpPr/>
          <p:nvPr/>
        </p:nvSpPr>
        <p:spPr>
          <a:xfrm>
            <a:off x="457200" y="1234440"/>
            <a:ext cx="1765249" cy="658368"/>
          </a:xfrm>
          <a:prstGeom prst="roundRect">
            <a:avLst>
              <a:gd fmla="val 1111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1" name="Google Shape;91;p3"/>
          <p:cNvSpPr txBox="1"/>
          <p:nvPr/>
        </p:nvSpPr>
        <p:spPr>
          <a:xfrm>
            <a:off x="566928" y="1289304"/>
            <a:ext cx="154579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50"/>
              <a:buFont typeface="Calibri"/>
              <a:buNone/>
            </a:pPr>
            <a:r>
              <a:rPr b="0" i="0" lang="es-CO" sz="95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Longitud</a:t>
            </a:r>
            <a:endParaRPr b="0" i="0" sz="95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2" name="Google Shape;92;p3"/>
          <p:cNvSpPr txBox="1"/>
          <p:nvPr/>
        </p:nvSpPr>
        <p:spPr>
          <a:xfrm>
            <a:off x="566928" y="1453896"/>
            <a:ext cx="154579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23,77 km</a:t>
            </a:r>
            <a:endParaRPr b="0"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3" name="Google Shape;93;p3"/>
          <p:cNvSpPr txBox="1"/>
          <p:nvPr/>
        </p:nvSpPr>
        <p:spPr>
          <a:xfrm>
            <a:off x="566928" y="1700784"/>
            <a:ext cx="1545793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00"/>
              <a:buFont typeface="Calibri"/>
              <a:buNone/>
            </a:pPr>
            <a:r>
              <a:rPr b="0" i="1" lang="es-CO" sz="80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Alcance real 16,87 km · dif. 6,90 km</a:t>
            </a:r>
            <a:endParaRPr b="0" i="0" sz="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2359609" y="1234440"/>
            <a:ext cx="1765249" cy="658368"/>
          </a:xfrm>
          <a:prstGeom prst="roundRect">
            <a:avLst>
              <a:gd fmla="val 1111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5" name="Google Shape;95;p3"/>
          <p:cNvSpPr txBox="1"/>
          <p:nvPr/>
        </p:nvSpPr>
        <p:spPr>
          <a:xfrm>
            <a:off x="2469337" y="1289304"/>
            <a:ext cx="154579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50"/>
              <a:buFont typeface="Calibri"/>
              <a:buNone/>
            </a:pPr>
            <a:r>
              <a:rPr b="0" i="0" lang="es-CO" sz="95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Valor total del corredor</a:t>
            </a:r>
            <a:endParaRPr b="0" i="0" sz="95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6" name="Google Shape;96;p3"/>
          <p:cNvSpPr txBox="1"/>
          <p:nvPr/>
        </p:nvSpPr>
        <p:spPr>
          <a:xfrm>
            <a:off x="2469337" y="1453896"/>
            <a:ext cx="154579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$ </a:t>
            </a:r>
            <a:r>
              <a:rPr b="1" i="0" lang="es-CO" sz="12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20.453.866.674</a:t>
            </a:r>
            <a:endParaRPr b="0"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7" name="Google Shape;97;p3"/>
          <p:cNvSpPr txBox="1"/>
          <p:nvPr/>
        </p:nvSpPr>
        <p:spPr>
          <a:xfrm>
            <a:off x="2469337" y="1700784"/>
            <a:ext cx="1545793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00"/>
              <a:buFont typeface="Calibri"/>
              <a:buNone/>
            </a:pPr>
            <a:r>
              <a:rPr b="0" i="1" lang="es-CO" sz="80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$ 860.490.815 por km</a:t>
            </a:r>
            <a:endParaRPr b="0" i="0" sz="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4262018" y="1234440"/>
            <a:ext cx="1765249" cy="658368"/>
          </a:xfrm>
          <a:prstGeom prst="roundRect">
            <a:avLst>
              <a:gd fmla="val 11111" name="adj"/>
            </a:avLst>
          </a:prstGeom>
          <a:solidFill>
            <a:srgbClr val="FBEAEA"/>
          </a:solidFill>
          <a:ln cap="flat" cmpd="sng" w="12700">
            <a:solidFill>
              <a:srgbClr val="FBEA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9" name="Google Shape;99;p3"/>
          <p:cNvSpPr txBox="1"/>
          <p:nvPr/>
        </p:nvSpPr>
        <p:spPr>
          <a:xfrm>
            <a:off x="4371746" y="1289304"/>
            <a:ext cx="154579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50"/>
              <a:buFont typeface="Calibri"/>
              <a:buNone/>
            </a:pPr>
            <a:r>
              <a:rPr b="0" i="0" lang="es-CO" sz="95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Avance físico</a:t>
            </a:r>
            <a:endParaRPr b="0" i="0" sz="95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0" name="Google Shape;100;p3"/>
          <p:cNvSpPr txBox="1"/>
          <p:nvPr/>
        </p:nvSpPr>
        <p:spPr>
          <a:xfrm>
            <a:off x="4371746" y="1453896"/>
            <a:ext cx="154579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261E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B3261E"/>
                </a:solidFill>
                <a:latin typeface="Poppins"/>
                <a:ea typeface="Poppins"/>
                <a:cs typeface="Poppins"/>
                <a:sym typeface="Poppins"/>
              </a:rPr>
              <a:t>2,58 %</a:t>
            </a:r>
            <a:endParaRPr b="0"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1" name="Google Shape;101;p3"/>
          <p:cNvSpPr txBox="1"/>
          <p:nvPr/>
        </p:nvSpPr>
        <p:spPr>
          <a:xfrm>
            <a:off x="4371746" y="1700784"/>
            <a:ext cx="1545793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00"/>
              <a:buFont typeface="Calibri"/>
              <a:buNone/>
            </a:pPr>
            <a:r>
              <a:rPr b="0" i="1" lang="es-CO" sz="80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Frente a 38,1 % del plazo</a:t>
            </a:r>
            <a:endParaRPr b="0" i="0" sz="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6164428" y="1234440"/>
            <a:ext cx="1765249" cy="658368"/>
          </a:xfrm>
          <a:prstGeom prst="roundRect">
            <a:avLst>
              <a:gd fmla="val 1111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3" name="Google Shape;103;p3"/>
          <p:cNvSpPr txBox="1"/>
          <p:nvPr/>
        </p:nvSpPr>
        <p:spPr>
          <a:xfrm>
            <a:off x="6274156" y="1289304"/>
            <a:ext cx="154579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50"/>
              <a:buFont typeface="Calibri"/>
              <a:buNone/>
            </a:pPr>
            <a:r>
              <a:rPr b="0" i="0" lang="es-CO" sz="95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Avance financiero</a:t>
            </a:r>
            <a:endParaRPr b="0" i="0" sz="95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4" name="Google Shape;104;p3"/>
          <p:cNvSpPr txBox="1"/>
          <p:nvPr/>
        </p:nvSpPr>
        <p:spPr>
          <a:xfrm>
            <a:off x="6274156" y="1453896"/>
            <a:ext cx="154579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3,40 %</a:t>
            </a:r>
            <a:endParaRPr b="0"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8066837" y="1234440"/>
            <a:ext cx="1765249" cy="658368"/>
          </a:xfrm>
          <a:prstGeom prst="roundRect">
            <a:avLst>
              <a:gd fmla="val 1111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6" name="Google Shape;106;p3"/>
          <p:cNvSpPr txBox="1"/>
          <p:nvPr/>
        </p:nvSpPr>
        <p:spPr>
          <a:xfrm>
            <a:off x="8176565" y="1289304"/>
            <a:ext cx="154579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50"/>
              <a:buFont typeface="Calibri"/>
              <a:buNone/>
            </a:pPr>
            <a:r>
              <a:rPr b="0" i="0" lang="es-CO" sz="95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Plazo transcurrido</a:t>
            </a:r>
            <a:endParaRPr b="0" i="0" sz="95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7" name="Google Shape;107;p3"/>
          <p:cNvSpPr txBox="1"/>
          <p:nvPr/>
        </p:nvSpPr>
        <p:spPr>
          <a:xfrm>
            <a:off x="8176565" y="1453896"/>
            <a:ext cx="154579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38,1 %</a:t>
            </a:r>
            <a:endParaRPr b="0"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8" name="Google Shape;108;p3"/>
          <p:cNvSpPr txBox="1"/>
          <p:nvPr/>
        </p:nvSpPr>
        <p:spPr>
          <a:xfrm>
            <a:off x="8176565" y="1700784"/>
            <a:ext cx="1545793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00"/>
              <a:buFont typeface="Calibri"/>
              <a:buNone/>
            </a:pPr>
            <a:r>
              <a:rPr b="0" i="1" lang="es-CO" sz="80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4 de 10,6 meses (al 02/10/2026)</a:t>
            </a:r>
            <a:endParaRPr b="0" i="0" sz="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9969246" y="1234440"/>
            <a:ext cx="1765249" cy="658368"/>
          </a:xfrm>
          <a:prstGeom prst="roundRect">
            <a:avLst>
              <a:gd fmla="val 1111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0" name="Google Shape;110;p3"/>
          <p:cNvSpPr txBox="1"/>
          <p:nvPr/>
        </p:nvSpPr>
        <p:spPr>
          <a:xfrm>
            <a:off x="10078974" y="1289304"/>
            <a:ext cx="1545793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Inicio: </a:t>
            </a:r>
            <a:r>
              <a:rPr b="1" i="0" lang="es-CO" sz="9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01/06/2026</a:t>
            </a:r>
            <a:endParaRPr b="0" i="0" sz="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Terminación: </a:t>
            </a:r>
            <a:r>
              <a:rPr b="1" i="0" lang="es-CO" sz="9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20/04/2027</a:t>
            </a:r>
            <a:endParaRPr b="0" i="0" sz="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Corte: </a:t>
            </a:r>
            <a:r>
              <a:rPr b="1" i="0" lang="es-CO" sz="9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25/09/2026</a:t>
            </a:r>
            <a:endParaRPr b="0" i="0" sz="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1" name="Google Shape;111;p3"/>
          <p:cNvSpPr txBox="1"/>
          <p:nvPr/>
        </p:nvSpPr>
        <p:spPr>
          <a:xfrm>
            <a:off x="457200" y="1956816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1000"/>
              <a:buFont typeface="Calibri"/>
              <a:buNone/>
            </a:pPr>
            <a:r>
              <a:rPr b="1" i="0" lang="es-CO" sz="1000" u="none" cap="none" strike="noStrike">
                <a:solidFill>
                  <a:srgbClr val="2E7D4F"/>
                </a:solidFill>
                <a:latin typeface="Poppins"/>
                <a:ea typeface="Poppins"/>
                <a:cs typeface="Poppins"/>
                <a:sym typeface="Poppins"/>
              </a:rPr>
              <a:t>AVANCE POR ABSCISA</a:t>
            </a:r>
            <a:endParaRPr b="0"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112" name="Google Shape;112;p3"/>
          <p:cNvCxnSpPr/>
          <p:nvPr/>
        </p:nvCxnSpPr>
        <p:spPr>
          <a:xfrm>
            <a:off x="2103120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" name="Google Shape;113;p3"/>
          <p:cNvCxnSpPr/>
          <p:nvPr/>
        </p:nvCxnSpPr>
        <p:spPr>
          <a:xfrm>
            <a:off x="2483960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4" name="Google Shape;114;p3"/>
          <p:cNvCxnSpPr/>
          <p:nvPr/>
        </p:nvCxnSpPr>
        <p:spPr>
          <a:xfrm>
            <a:off x="2864799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5" name="Google Shape;115;p3"/>
          <p:cNvCxnSpPr/>
          <p:nvPr/>
        </p:nvCxnSpPr>
        <p:spPr>
          <a:xfrm>
            <a:off x="3245639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6" name="Google Shape;116;p3"/>
          <p:cNvCxnSpPr/>
          <p:nvPr/>
        </p:nvCxnSpPr>
        <p:spPr>
          <a:xfrm>
            <a:off x="3626479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" name="Google Shape;117;p3"/>
          <p:cNvCxnSpPr/>
          <p:nvPr/>
        </p:nvCxnSpPr>
        <p:spPr>
          <a:xfrm>
            <a:off x="4007319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8" name="Google Shape;118;p3"/>
          <p:cNvCxnSpPr/>
          <p:nvPr/>
        </p:nvCxnSpPr>
        <p:spPr>
          <a:xfrm>
            <a:off x="4388158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9" name="Google Shape;119;p3"/>
          <p:cNvCxnSpPr/>
          <p:nvPr/>
        </p:nvCxnSpPr>
        <p:spPr>
          <a:xfrm>
            <a:off x="4768998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0" name="Google Shape;120;p3"/>
          <p:cNvCxnSpPr/>
          <p:nvPr/>
        </p:nvCxnSpPr>
        <p:spPr>
          <a:xfrm>
            <a:off x="5149838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1" name="Google Shape;121;p3"/>
          <p:cNvCxnSpPr/>
          <p:nvPr/>
        </p:nvCxnSpPr>
        <p:spPr>
          <a:xfrm>
            <a:off x="5530677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2" name="Google Shape;122;p3"/>
          <p:cNvCxnSpPr/>
          <p:nvPr/>
        </p:nvCxnSpPr>
        <p:spPr>
          <a:xfrm>
            <a:off x="5911517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3" name="Google Shape;123;p3"/>
          <p:cNvCxnSpPr/>
          <p:nvPr/>
        </p:nvCxnSpPr>
        <p:spPr>
          <a:xfrm>
            <a:off x="6292357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4" name="Google Shape;124;p3"/>
          <p:cNvCxnSpPr/>
          <p:nvPr/>
        </p:nvCxnSpPr>
        <p:spPr>
          <a:xfrm>
            <a:off x="6673197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5" name="Google Shape;125;p3"/>
          <p:cNvCxnSpPr/>
          <p:nvPr/>
        </p:nvCxnSpPr>
        <p:spPr>
          <a:xfrm>
            <a:off x="7054036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6" name="Google Shape;126;p3"/>
          <p:cNvCxnSpPr/>
          <p:nvPr/>
        </p:nvCxnSpPr>
        <p:spPr>
          <a:xfrm>
            <a:off x="7434876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" name="Google Shape;127;p3"/>
          <p:cNvCxnSpPr/>
          <p:nvPr/>
        </p:nvCxnSpPr>
        <p:spPr>
          <a:xfrm>
            <a:off x="7815716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8" name="Google Shape;128;p3"/>
          <p:cNvCxnSpPr/>
          <p:nvPr/>
        </p:nvCxnSpPr>
        <p:spPr>
          <a:xfrm>
            <a:off x="8196555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9" name="Google Shape;129;p3"/>
          <p:cNvCxnSpPr/>
          <p:nvPr/>
        </p:nvCxnSpPr>
        <p:spPr>
          <a:xfrm>
            <a:off x="8577395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0" name="Google Shape;130;p3"/>
          <p:cNvCxnSpPr/>
          <p:nvPr/>
        </p:nvCxnSpPr>
        <p:spPr>
          <a:xfrm>
            <a:off x="8958235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1" name="Google Shape;131;p3"/>
          <p:cNvCxnSpPr/>
          <p:nvPr/>
        </p:nvCxnSpPr>
        <p:spPr>
          <a:xfrm>
            <a:off x="9339075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2" name="Google Shape;132;p3"/>
          <p:cNvCxnSpPr/>
          <p:nvPr/>
        </p:nvCxnSpPr>
        <p:spPr>
          <a:xfrm>
            <a:off x="9719914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3" name="Google Shape;133;p3"/>
          <p:cNvCxnSpPr/>
          <p:nvPr/>
        </p:nvCxnSpPr>
        <p:spPr>
          <a:xfrm>
            <a:off x="10100754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4" name="Google Shape;134;p3"/>
          <p:cNvCxnSpPr/>
          <p:nvPr/>
        </p:nvCxnSpPr>
        <p:spPr>
          <a:xfrm>
            <a:off x="10481594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5" name="Google Shape;135;p3"/>
          <p:cNvCxnSpPr/>
          <p:nvPr/>
        </p:nvCxnSpPr>
        <p:spPr>
          <a:xfrm>
            <a:off x="10862433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6" name="Google Shape;136;p3"/>
          <p:cNvSpPr txBox="1"/>
          <p:nvPr/>
        </p:nvSpPr>
        <p:spPr>
          <a:xfrm>
            <a:off x="1874520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K0</a:t>
            </a:r>
            <a:endParaRPr b="0" i="0" sz="85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7" name="Google Shape;137;p3"/>
          <p:cNvSpPr txBox="1"/>
          <p:nvPr/>
        </p:nvSpPr>
        <p:spPr>
          <a:xfrm>
            <a:off x="2636199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K2</a:t>
            </a:r>
            <a:endParaRPr b="0" i="0" sz="85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8" name="Google Shape;138;p3"/>
          <p:cNvSpPr txBox="1"/>
          <p:nvPr/>
        </p:nvSpPr>
        <p:spPr>
          <a:xfrm>
            <a:off x="3397879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K4</a:t>
            </a:r>
            <a:endParaRPr b="0" i="0" sz="85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9" name="Google Shape;139;p3"/>
          <p:cNvSpPr txBox="1"/>
          <p:nvPr/>
        </p:nvSpPr>
        <p:spPr>
          <a:xfrm>
            <a:off x="4159558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K6</a:t>
            </a:r>
            <a:endParaRPr b="0" i="0" sz="85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0" name="Google Shape;140;p3"/>
          <p:cNvSpPr txBox="1"/>
          <p:nvPr/>
        </p:nvSpPr>
        <p:spPr>
          <a:xfrm>
            <a:off x="4921238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K8</a:t>
            </a:r>
            <a:endParaRPr b="0" i="0" sz="85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1" name="Google Shape;141;p3"/>
          <p:cNvSpPr txBox="1"/>
          <p:nvPr/>
        </p:nvSpPr>
        <p:spPr>
          <a:xfrm>
            <a:off x="5682917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K10</a:t>
            </a:r>
            <a:endParaRPr b="0" i="0" sz="85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2" name="Google Shape;142;p3"/>
          <p:cNvSpPr txBox="1"/>
          <p:nvPr/>
        </p:nvSpPr>
        <p:spPr>
          <a:xfrm>
            <a:off x="6444597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K12</a:t>
            </a:r>
            <a:endParaRPr b="0" i="0" sz="85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3" name="Google Shape;143;p3"/>
          <p:cNvSpPr txBox="1"/>
          <p:nvPr/>
        </p:nvSpPr>
        <p:spPr>
          <a:xfrm>
            <a:off x="7206276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K14</a:t>
            </a:r>
            <a:endParaRPr b="0" i="0" sz="85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4" name="Google Shape;144;p3"/>
          <p:cNvSpPr txBox="1"/>
          <p:nvPr/>
        </p:nvSpPr>
        <p:spPr>
          <a:xfrm>
            <a:off x="7967955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K16</a:t>
            </a:r>
            <a:endParaRPr b="0" i="0" sz="85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5" name="Google Shape;145;p3"/>
          <p:cNvSpPr txBox="1"/>
          <p:nvPr/>
        </p:nvSpPr>
        <p:spPr>
          <a:xfrm>
            <a:off x="8729635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K18</a:t>
            </a:r>
            <a:endParaRPr b="0" i="0" sz="85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6" name="Google Shape;146;p3"/>
          <p:cNvSpPr txBox="1"/>
          <p:nvPr/>
        </p:nvSpPr>
        <p:spPr>
          <a:xfrm>
            <a:off x="9491314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K20</a:t>
            </a:r>
            <a:endParaRPr b="0" i="0" sz="85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7" name="Google Shape;147;p3"/>
          <p:cNvSpPr txBox="1"/>
          <p:nvPr/>
        </p:nvSpPr>
        <p:spPr>
          <a:xfrm>
            <a:off x="10252994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K22</a:t>
            </a:r>
            <a:endParaRPr b="0" i="0" sz="85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8" name="Google Shape;148;p3"/>
          <p:cNvSpPr txBox="1"/>
          <p:nvPr/>
        </p:nvSpPr>
        <p:spPr>
          <a:xfrm>
            <a:off x="10835640" y="2139696"/>
            <a:ext cx="54864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K23+770</a:t>
            </a:r>
            <a:endParaRPr b="0" i="0" sz="85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9" name="Google Shape;149;p3"/>
          <p:cNvSpPr/>
          <p:nvPr/>
        </p:nvSpPr>
        <p:spPr>
          <a:xfrm>
            <a:off x="2103120" y="2359152"/>
            <a:ext cx="9052560" cy="73152"/>
          </a:xfrm>
          <a:prstGeom prst="rect">
            <a:avLst/>
          </a:prstGeom>
          <a:solidFill>
            <a:srgbClr val="1F2A36"/>
          </a:solidFill>
          <a:ln cap="flat" cmpd="sng" w="12700">
            <a:solidFill>
              <a:srgbClr val="1F2A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150" name="Google Shape;150;p3"/>
          <p:cNvCxnSpPr/>
          <p:nvPr/>
        </p:nvCxnSpPr>
        <p:spPr>
          <a:xfrm>
            <a:off x="2139696" y="2395728"/>
            <a:ext cx="8979408" cy="0"/>
          </a:xfrm>
          <a:prstGeom prst="straightConnector1">
            <a:avLst/>
          </a:prstGeom>
          <a:noFill/>
          <a:ln cap="flat" cmpd="sng" w="9525">
            <a:solidFill>
              <a:srgbClr val="F2C94C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51" name="Google Shape;151;p3"/>
          <p:cNvCxnSpPr/>
          <p:nvPr/>
        </p:nvCxnSpPr>
        <p:spPr>
          <a:xfrm>
            <a:off x="731520" y="2487168"/>
            <a:ext cx="0" cy="338328"/>
          </a:xfrm>
          <a:prstGeom prst="straightConnector1">
            <a:avLst/>
          </a:prstGeom>
          <a:noFill/>
          <a:ln cap="flat" cmpd="sng" w="19050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2" name="Google Shape;152;p3"/>
          <p:cNvSpPr txBox="1"/>
          <p:nvPr/>
        </p:nvSpPr>
        <p:spPr>
          <a:xfrm rot="-5400000">
            <a:off x="260604" y="2574036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700"/>
              <a:buFont typeface="Calibri"/>
              <a:buNone/>
            </a:pPr>
            <a:r>
              <a:rPr b="1" i="0" lang="es-CO" sz="700" u="none" cap="none" strike="noStrike">
                <a:solidFill>
                  <a:srgbClr val="2E7D4F"/>
                </a:solidFill>
                <a:latin typeface="Poppins"/>
                <a:ea typeface="Poppins"/>
                <a:cs typeface="Poppins"/>
                <a:sym typeface="Poppins"/>
              </a:rPr>
              <a:t>CAMPO</a:t>
            </a:r>
            <a:endParaRPr b="0" i="0" sz="7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3" name="Google Shape;153;p3"/>
          <p:cNvSpPr txBox="1"/>
          <p:nvPr/>
        </p:nvSpPr>
        <p:spPr>
          <a:xfrm>
            <a:off x="777240" y="2487168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Topografía</a:t>
            </a:r>
            <a:endParaRPr b="0" i="0" sz="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4" name="Google Shape;154;p3"/>
          <p:cNvSpPr/>
          <p:nvPr/>
        </p:nvSpPr>
        <p:spPr>
          <a:xfrm>
            <a:off x="2103120" y="2487168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5" name="Google Shape;155;p3"/>
          <p:cNvSpPr/>
          <p:nvPr/>
        </p:nvSpPr>
        <p:spPr>
          <a:xfrm>
            <a:off x="2124043" y="2487168"/>
            <a:ext cx="6084000" cy="155448"/>
          </a:xfrm>
          <a:prstGeom prst="rect">
            <a:avLst/>
          </a:prstGeom>
          <a:solidFill>
            <a:srgbClr val="2E7D4F"/>
          </a:solidFill>
          <a:ln cap="flat" cmpd="sng" w="9525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6" name="Google Shape;156;p3"/>
          <p:cNvSpPr txBox="1"/>
          <p:nvPr/>
        </p:nvSpPr>
        <p:spPr>
          <a:xfrm>
            <a:off x="11201400" y="2487168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67 %</a:t>
            </a:r>
            <a:endParaRPr b="0" i="0" sz="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7" name="Google Shape;157;p3"/>
          <p:cNvSpPr txBox="1"/>
          <p:nvPr/>
        </p:nvSpPr>
        <p:spPr>
          <a:xfrm>
            <a:off x="777240" y="2670048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Apiques</a:t>
            </a:r>
            <a:endParaRPr b="0" i="0" sz="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8" name="Google Shape;158;p3"/>
          <p:cNvSpPr/>
          <p:nvPr/>
        </p:nvSpPr>
        <p:spPr>
          <a:xfrm>
            <a:off x="2103120" y="2670048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9" name="Google Shape;159;p3"/>
          <p:cNvSpPr/>
          <p:nvPr/>
        </p:nvSpPr>
        <p:spPr>
          <a:xfrm>
            <a:off x="2103120" y="2670048"/>
            <a:ext cx="7308000" cy="155448"/>
          </a:xfrm>
          <a:prstGeom prst="rect">
            <a:avLst/>
          </a:prstGeom>
          <a:solidFill>
            <a:srgbClr val="2E7D4F"/>
          </a:solidFill>
          <a:ln cap="flat" cmpd="sng" w="9525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0" name="Google Shape;160;p3"/>
          <p:cNvSpPr txBox="1"/>
          <p:nvPr/>
        </p:nvSpPr>
        <p:spPr>
          <a:xfrm>
            <a:off x="11201400" y="2670048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88 %</a:t>
            </a:r>
            <a:endParaRPr b="0" i="0" sz="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161" name="Google Shape;161;p3"/>
          <p:cNvCxnSpPr/>
          <p:nvPr/>
        </p:nvCxnSpPr>
        <p:spPr>
          <a:xfrm>
            <a:off x="731520" y="2953512"/>
            <a:ext cx="0" cy="466344"/>
          </a:xfrm>
          <a:prstGeom prst="straightConnector1">
            <a:avLst/>
          </a:prstGeom>
          <a:noFill/>
          <a:ln cap="flat" cmpd="sng" w="19050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2" name="Google Shape;162;p3"/>
          <p:cNvSpPr txBox="1"/>
          <p:nvPr/>
        </p:nvSpPr>
        <p:spPr>
          <a:xfrm rot="-5400000">
            <a:off x="260604" y="3104388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700"/>
              <a:buFont typeface="Calibri"/>
              <a:buNone/>
            </a:pPr>
            <a:r>
              <a:rPr b="1" i="0" lang="es-CO" sz="700" u="none" cap="none" strike="noStrike">
                <a:solidFill>
                  <a:srgbClr val="2E7D4F"/>
                </a:solidFill>
                <a:latin typeface="Poppins"/>
                <a:ea typeface="Poppins"/>
                <a:cs typeface="Poppins"/>
                <a:sym typeface="Poppins"/>
              </a:rPr>
              <a:t>ESTRUCTURA</a:t>
            </a:r>
            <a:endParaRPr b="0" i="0" sz="7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3" name="Google Shape;163;p3"/>
          <p:cNvSpPr txBox="1"/>
          <p:nvPr/>
        </p:nvSpPr>
        <p:spPr>
          <a:xfrm>
            <a:off x="777240" y="2953512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Rodadura</a:t>
            </a:r>
            <a:endParaRPr b="0" i="0" sz="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4" name="Google Shape;164;p3"/>
          <p:cNvSpPr/>
          <p:nvPr/>
        </p:nvSpPr>
        <p:spPr>
          <a:xfrm>
            <a:off x="2103120" y="2953512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5" name="Google Shape;165;p3"/>
          <p:cNvSpPr txBox="1"/>
          <p:nvPr/>
        </p:nvSpPr>
        <p:spPr>
          <a:xfrm>
            <a:off x="11201400" y="2953512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0 %</a:t>
            </a:r>
            <a:endParaRPr b="0" i="0" sz="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6" name="Google Shape;166;p3"/>
          <p:cNvSpPr txBox="1"/>
          <p:nvPr/>
        </p:nvSpPr>
        <p:spPr>
          <a:xfrm>
            <a:off x="777240" y="3108960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Capa granular</a:t>
            </a:r>
            <a:endParaRPr b="0" i="0" sz="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7" name="Google Shape;167;p3"/>
          <p:cNvSpPr/>
          <p:nvPr/>
        </p:nvSpPr>
        <p:spPr>
          <a:xfrm>
            <a:off x="2103120" y="3108960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8" name="Google Shape;168;p3"/>
          <p:cNvSpPr txBox="1"/>
          <p:nvPr/>
        </p:nvSpPr>
        <p:spPr>
          <a:xfrm>
            <a:off x="11201400" y="3108960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0 %</a:t>
            </a:r>
            <a:endParaRPr b="0" i="0" sz="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9" name="Google Shape;169;p3"/>
          <p:cNvSpPr txBox="1"/>
          <p:nvPr/>
        </p:nvSpPr>
        <p:spPr>
          <a:xfrm>
            <a:off x="777240" y="3264408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Subrasante</a:t>
            </a:r>
            <a:endParaRPr b="0" i="0" sz="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0" name="Google Shape;170;p3"/>
          <p:cNvSpPr/>
          <p:nvPr/>
        </p:nvSpPr>
        <p:spPr>
          <a:xfrm>
            <a:off x="2103120" y="3264408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1" name="Google Shape;171;p3"/>
          <p:cNvSpPr txBox="1"/>
          <p:nvPr/>
        </p:nvSpPr>
        <p:spPr>
          <a:xfrm>
            <a:off x="11201400" y="3264408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0 %</a:t>
            </a:r>
            <a:endParaRPr b="0" i="0" sz="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172" name="Google Shape;172;p3"/>
          <p:cNvCxnSpPr/>
          <p:nvPr/>
        </p:nvCxnSpPr>
        <p:spPr>
          <a:xfrm>
            <a:off x="731520" y="3511296"/>
            <a:ext cx="0" cy="521208"/>
          </a:xfrm>
          <a:prstGeom prst="straightConnector1">
            <a:avLst/>
          </a:prstGeom>
          <a:noFill/>
          <a:ln cap="flat" cmpd="sng" w="19050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3" name="Google Shape;173;p3"/>
          <p:cNvSpPr txBox="1"/>
          <p:nvPr/>
        </p:nvSpPr>
        <p:spPr>
          <a:xfrm rot="-5400000">
            <a:off x="260604" y="3689604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700"/>
              <a:buFont typeface="Calibri"/>
              <a:buNone/>
            </a:pPr>
            <a:r>
              <a:rPr b="1" i="0" lang="es-CO" sz="700" u="none" cap="none" strike="noStrike">
                <a:solidFill>
                  <a:srgbClr val="2E7D4F"/>
                </a:solidFill>
                <a:latin typeface="Poppins"/>
                <a:ea typeface="Poppins"/>
                <a:cs typeface="Poppins"/>
                <a:sym typeface="Poppins"/>
              </a:rPr>
              <a:t>DRENAJE</a:t>
            </a:r>
            <a:endParaRPr b="0" i="0" sz="7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4" name="Google Shape;174;p3"/>
          <p:cNvSpPr txBox="1"/>
          <p:nvPr/>
        </p:nvSpPr>
        <p:spPr>
          <a:xfrm>
            <a:off x="777240" y="3511296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Cunetas</a:t>
            </a:r>
            <a:endParaRPr b="0" i="0" sz="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5" name="Google Shape;175;p3"/>
          <p:cNvSpPr/>
          <p:nvPr/>
        </p:nvSpPr>
        <p:spPr>
          <a:xfrm>
            <a:off x="2103120" y="3511296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6" name="Google Shape;176;p3"/>
          <p:cNvSpPr txBox="1"/>
          <p:nvPr/>
        </p:nvSpPr>
        <p:spPr>
          <a:xfrm>
            <a:off x="11201400" y="3511296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0 %</a:t>
            </a:r>
            <a:endParaRPr b="0" i="0" sz="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7" name="Google Shape;177;p3"/>
          <p:cNvSpPr txBox="1"/>
          <p:nvPr/>
        </p:nvSpPr>
        <p:spPr>
          <a:xfrm>
            <a:off x="777240" y="3694176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Filtros</a:t>
            </a:r>
            <a:endParaRPr b="0" i="0" sz="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8" name="Google Shape;178;p3"/>
          <p:cNvSpPr txBox="1"/>
          <p:nvPr/>
        </p:nvSpPr>
        <p:spPr>
          <a:xfrm>
            <a:off x="1920240" y="3694176"/>
            <a:ext cx="137160" cy="777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700"/>
              <a:buFont typeface="Calibri"/>
              <a:buNone/>
            </a:pPr>
            <a:r>
              <a:rPr b="0" i="0" lang="es-CO" sz="70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endParaRPr b="0" i="0" sz="7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9" name="Google Shape;179;p3"/>
          <p:cNvSpPr txBox="1"/>
          <p:nvPr/>
        </p:nvSpPr>
        <p:spPr>
          <a:xfrm>
            <a:off x="1920240" y="3771900"/>
            <a:ext cx="137160" cy="777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700"/>
              <a:buFont typeface="Calibri"/>
              <a:buNone/>
            </a:pPr>
            <a:r>
              <a:rPr b="0" i="0" lang="es-CO" sz="70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endParaRPr b="0" i="0" sz="7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0" name="Google Shape;180;p3"/>
          <p:cNvSpPr/>
          <p:nvPr/>
        </p:nvSpPr>
        <p:spPr>
          <a:xfrm>
            <a:off x="2103120" y="3694176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181" name="Google Shape;181;p3"/>
          <p:cNvCxnSpPr/>
          <p:nvPr/>
        </p:nvCxnSpPr>
        <p:spPr>
          <a:xfrm>
            <a:off x="2103120" y="3771900"/>
            <a:ext cx="9052560" cy="0"/>
          </a:xfrm>
          <a:prstGeom prst="straightConnector1">
            <a:avLst/>
          </a:prstGeom>
          <a:noFill/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2" name="Google Shape;182;p3"/>
          <p:cNvSpPr/>
          <p:nvPr/>
        </p:nvSpPr>
        <p:spPr>
          <a:xfrm>
            <a:off x="2103120" y="3694176"/>
            <a:ext cx="504000" cy="73152"/>
          </a:xfrm>
          <a:prstGeom prst="rect">
            <a:avLst/>
          </a:prstGeom>
          <a:solidFill>
            <a:srgbClr val="2E7D4F"/>
          </a:solidFill>
          <a:ln cap="flat" cmpd="sng" w="9525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3" name="Google Shape;183;p3"/>
          <p:cNvSpPr txBox="1"/>
          <p:nvPr/>
        </p:nvSpPr>
        <p:spPr>
          <a:xfrm>
            <a:off x="11201400" y="3694176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4,9 %</a:t>
            </a:r>
            <a:endParaRPr b="0" i="0" sz="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4" name="Google Shape;184;p3"/>
          <p:cNvSpPr txBox="1"/>
          <p:nvPr/>
        </p:nvSpPr>
        <p:spPr>
          <a:xfrm>
            <a:off x="777240" y="3877056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Alcantarillas</a:t>
            </a:r>
            <a:endParaRPr b="0" i="0" sz="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5" name="Google Shape;185;p3"/>
          <p:cNvSpPr/>
          <p:nvPr/>
        </p:nvSpPr>
        <p:spPr>
          <a:xfrm>
            <a:off x="2103120" y="3877056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6" name="Google Shape;186;p3"/>
          <p:cNvSpPr/>
          <p:nvPr/>
        </p:nvSpPr>
        <p:spPr>
          <a:xfrm>
            <a:off x="3245639" y="3877056"/>
            <a:ext cx="95210" cy="155448"/>
          </a:xfrm>
          <a:prstGeom prst="rect">
            <a:avLst/>
          </a:prstGeom>
          <a:solidFill>
            <a:srgbClr val="2F6FB0"/>
          </a:solidFill>
          <a:ln cap="flat" cmpd="sng" w="9525">
            <a:solidFill>
              <a:srgbClr val="2F6F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7" name="Google Shape;187;p3"/>
          <p:cNvSpPr/>
          <p:nvPr/>
        </p:nvSpPr>
        <p:spPr>
          <a:xfrm>
            <a:off x="4292948" y="3877056"/>
            <a:ext cx="476050" cy="155448"/>
          </a:xfrm>
          <a:prstGeom prst="rect">
            <a:avLst/>
          </a:prstGeom>
          <a:solidFill>
            <a:srgbClr val="2F6FB0"/>
          </a:solidFill>
          <a:ln cap="flat" cmpd="sng" w="9525">
            <a:solidFill>
              <a:srgbClr val="2F6F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8" name="Google Shape;188;p3"/>
          <p:cNvSpPr txBox="1"/>
          <p:nvPr/>
        </p:nvSpPr>
        <p:spPr>
          <a:xfrm>
            <a:off x="11201400" y="3877056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67 %</a:t>
            </a:r>
            <a:endParaRPr b="0" i="0" sz="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9" name="Google Shape;189;p3"/>
          <p:cNvSpPr txBox="1"/>
          <p:nvPr/>
        </p:nvSpPr>
        <p:spPr>
          <a:xfrm>
            <a:off x="457200" y="4078224"/>
            <a:ext cx="11277295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D9A6"/>
              </a:buClr>
              <a:buSzPts val="800"/>
              <a:buFont typeface="Calibri"/>
              <a:buNone/>
            </a:pPr>
            <a:r>
              <a:rPr b="0" i="0" lang="es-CO" sz="800" u="none" cap="none" strike="noStrike">
                <a:solidFill>
                  <a:srgbClr val="EBD9A6"/>
                </a:solidFill>
                <a:latin typeface="Poppins"/>
                <a:ea typeface="Poppins"/>
                <a:cs typeface="Poppins"/>
                <a:sym typeface="Poppins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Natural    </a:t>
            </a:r>
            <a:r>
              <a:rPr b="0" i="0" lang="es-CO" sz="800" u="none" cap="none" strike="noStrike">
                <a:solidFill>
                  <a:srgbClr val="8C6A4F"/>
                </a:solidFill>
                <a:latin typeface="Poppins"/>
                <a:ea typeface="Poppins"/>
                <a:cs typeface="Poppins"/>
                <a:sym typeface="Poppins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Cal    </a:t>
            </a:r>
            <a:r>
              <a:rPr b="0" i="0" lang="es-CO" sz="800" u="none" cap="none" strike="noStrike">
                <a:solidFill>
                  <a:srgbClr val="D9A441"/>
                </a:solidFill>
                <a:latin typeface="Poppins"/>
                <a:ea typeface="Poppins"/>
                <a:cs typeface="Poppins"/>
                <a:sym typeface="Poppins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Cemento    </a:t>
            </a:r>
            <a:r>
              <a:rPr b="0" i="0" lang="es-CO" sz="800" u="none" cap="none" strike="noStrike">
                <a:solidFill>
                  <a:srgbClr val="1F2A36"/>
                </a:solidFill>
                <a:latin typeface="Poppins"/>
                <a:ea typeface="Poppins"/>
                <a:cs typeface="Poppins"/>
                <a:sym typeface="Poppins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TSD    </a:t>
            </a:r>
            <a:r>
              <a:rPr b="0" i="0" lang="es-CO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MDC-19    </a:t>
            </a:r>
            <a:r>
              <a:rPr b="0" i="0" lang="es-CO" sz="800" u="none" cap="none" strike="noStrike">
                <a:solidFill>
                  <a:srgbClr val="2E7D4F"/>
                </a:solidFill>
                <a:latin typeface="Poppins"/>
                <a:ea typeface="Poppins"/>
                <a:cs typeface="Poppins"/>
                <a:sym typeface="Poppins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Ejecutado    </a:t>
            </a:r>
            <a:r>
              <a:rPr b="0" i="0" lang="es-CO" sz="800" u="none" cap="none" strike="noStrike">
                <a:solidFill>
                  <a:srgbClr val="A9C7B3"/>
                </a:solidFill>
                <a:latin typeface="Poppins"/>
                <a:ea typeface="Poppins"/>
                <a:cs typeface="Poppins"/>
                <a:sym typeface="Poppins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Limpieza alcantarillas    </a:t>
            </a:r>
            <a:r>
              <a:rPr b="0" i="0" lang="es-CO" sz="800" u="none" cap="none" strike="noStrike">
                <a:solidFill>
                  <a:srgbClr val="2F6FB0"/>
                </a:solidFill>
                <a:latin typeface="Poppins"/>
                <a:ea typeface="Poppins"/>
                <a:cs typeface="Poppins"/>
                <a:sym typeface="Poppins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Alcantarilla nueva    </a:t>
            </a:r>
            <a:r>
              <a:rPr b="0" i="0" lang="es-CO" sz="800" u="none" cap="none" strike="noStrike">
                <a:solidFill>
                  <a:srgbClr val="E07B24"/>
                </a:solidFill>
                <a:latin typeface="Poppins"/>
                <a:ea typeface="Poppins"/>
                <a:cs typeface="Poppins"/>
                <a:sym typeface="Poppins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Reemplazada    </a:t>
            </a:r>
            <a:endParaRPr b="0" i="0" sz="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0" name="Google Shape;190;p3"/>
          <p:cNvSpPr txBox="1"/>
          <p:nvPr/>
        </p:nvSpPr>
        <p:spPr>
          <a:xfrm>
            <a:off x="457200" y="4301688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1000"/>
              <a:buFont typeface="Calibri"/>
              <a:buNone/>
            </a:pPr>
            <a:r>
              <a:rPr b="1" i="0" lang="es-CO" sz="1000" u="none" cap="none" strike="noStrike">
                <a:solidFill>
                  <a:srgbClr val="2E7D4F"/>
                </a:solidFill>
                <a:latin typeface="Poppins"/>
                <a:ea typeface="Poppins"/>
                <a:cs typeface="Poppins"/>
                <a:sym typeface="Poppins"/>
              </a:rPr>
              <a:t>AVANCE POR ACTIVIDAD</a:t>
            </a:r>
            <a:endParaRPr b="0"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1" name="Google Shape;191;p3"/>
          <p:cNvSpPr txBox="1"/>
          <p:nvPr/>
        </p:nvSpPr>
        <p:spPr>
          <a:xfrm>
            <a:off x="457200" y="4758888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10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Alcantarillas</a:t>
            </a:r>
            <a:endParaRPr b="0"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2" name="Google Shape;192;p3"/>
          <p:cNvSpPr txBox="1"/>
          <p:nvPr/>
        </p:nvSpPr>
        <p:spPr>
          <a:xfrm>
            <a:off x="457200" y="4960056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10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Cunetas</a:t>
            </a:r>
            <a:endParaRPr b="0"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3" name="Google Shape;193;p3"/>
          <p:cNvSpPr txBox="1"/>
          <p:nvPr/>
        </p:nvSpPr>
        <p:spPr>
          <a:xfrm>
            <a:off x="457200" y="5161224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10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Filtros</a:t>
            </a:r>
            <a:endParaRPr b="0"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4" name="Google Shape;194;p3"/>
          <p:cNvSpPr txBox="1"/>
          <p:nvPr/>
        </p:nvSpPr>
        <p:spPr>
          <a:xfrm>
            <a:off x="457200" y="5362392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10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Bordillos</a:t>
            </a:r>
            <a:endParaRPr b="0"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5" name="Google Shape;195;p3"/>
          <p:cNvSpPr txBox="1"/>
          <p:nvPr/>
        </p:nvSpPr>
        <p:spPr>
          <a:xfrm>
            <a:off x="457200" y="5563560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10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Estabilización</a:t>
            </a:r>
            <a:endParaRPr b="0"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6" name="Google Shape;196;p3"/>
          <p:cNvSpPr txBox="1"/>
          <p:nvPr/>
        </p:nvSpPr>
        <p:spPr>
          <a:xfrm>
            <a:off x="457200" y="5764728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10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Señalización</a:t>
            </a:r>
            <a:endParaRPr b="0"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7" name="Google Shape;197;p3"/>
          <p:cNvSpPr txBox="1"/>
          <p:nvPr/>
        </p:nvSpPr>
        <p:spPr>
          <a:xfrm>
            <a:off x="2651760" y="4539432"/>
            <a:ext cx="2926080" cy="2154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-CO" sz="800" u="none" cap="none" strike="noStrike">
                <a:solidFill>
                  <a:srgbClr val="192D23"/>
                </a:solidFill>
                <a:latin typeface="Poppins"/>
                <a:ea typeface="Poppins"/>
                <a:cs typeface="Poppins"/>
                <a:sym typeface="Poppins"/>
              </a:rPr>
              <a:t>Presupuestada  </a:t>
            </a:r>
            <a:r>
              <a:rPr b="0" i="0" lang="es-CO" sz="800" u="none" cap="none" strike="noStrike">
                <a:solidFill>
                  <a:srgbClr val="A9C7B3"/>
                </a:solidFill>
                <a:latin typeface="Poppins"/>
                <a:ea typeface="Poppins"/>
                <a:cs typeface="Poppins"/>
                <a:sym typeface="Poppins"/>
              </a:rPr>
              <a:t>■</a:t>
            </a:r>
            <a:r>
              <a:rPr b="0" i="0" lang="es-CO" sz="800" u="none" cap="none" strike="noStrike">
                <a:solidFill>
                  <a:srgbClr val="192D23"/>
                </a:solidFill>
                <a:latin typeface="Poppins"/>
                <a:ea typeface="Poppins"/>
                <a:cs typeface="Poppins"/>
                <a:sym typeface="Poppins"/>
              </a:rPr>
              <a:t>    Real  </a:t>
            </a:r>
            <a:r>
              <a:rPr b="0" i="0" lang="es-CO" sz="800" u="none" cap="none" strike="noStrike">
                <a:solidFill>
                  <a:srgbClr val="2E7D4F"/>
                </a:solidFill>
                <a:latin typeface="Poppins"/>
                <a:ea typeface="Poppins"/>
                <a:cs typeface="Poppins"/>
                <a:sym typeface="Poppins"/>
              </a:rPr>
              <a:t>■</a:t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8" name="Google Shape;198;p3"/>
          <p:cNvSpPr/>
          <p:nvPr/>
        </p:nvSpPr>
        <p:spPr>
          <a:xfrm>
            <a:off x="2551176" y="4777175"/>
            <a:ext cx="273100" cy="68580"/>
          </a:xfrm>
          <a:prstGeom prst="rect">
            <a:avLst/>
          </a:prstGeom>
          <a:solidFill>
            <a:srgbClr val="A9C7B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9" name="Google Shape;199;p3"/>
          <p:cNvSpPr/>
          <p:nvPr/>
        </p:nvSpPr>
        <p:spPr>
          <a:xfrm>
            <a:off x="2551176" y="4978344"/>
            <a:ext cx="3092320" cy="68580"/>
          </a:xfrm>
          <a:prstGeom prst="rect">
            <a:avLst/>
          </a:prstGeom>
          <a:solidFill>
            <a:srgbClr val="A9C7B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0" name="Google Shape;200;p3"/>
          <p:cNvSpPr/>
          <p:nvPr/>
        </p:nvSpPr>
        <p:spPr>
          <a:xfrm>
            <a:off x="2551176" y="5179512"/>
            <a:ext cx="3413760" cy="68580"/>
          </a:xfrm>
          <a:prstGeom prst="rect">
            <a:avLst/>
          </a:prstGeom>
          <a:solidFill>
            <a:srgbClr val="A9C7B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1" name="Google Shape;201;p3"/>
          <p:cNvSpPr/>
          <p:nvPr/>
        </p:nvSpPr>
        <p:spPr>
          <a:xfrm>
            <a:off x="2551176" y="5380679"/>
            <a:ext cx="4096512" cy="68580"/>
          </a:xfrm>
          <a:prstGeom prst="rect">
            <a:avLst/>
          </a:prstGeom>
          <a:solidFill>
            <a:srgbClr val="A9C7B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2" name="Google Shape;202;p3"/>
          <p:cNvSpPr/>
          <p:nvPr/>
        </p:nvSpPr>
        <p:spPr>
          <a:xfrm>
            <a:off x="2551176" y="5581848"/>
            <a:ext cx="4096512" cy="68580"/>
          </a:xfrm>
          <a:prstGeom prst="rect">
            <a:avLst/>
          </a:prstGeom>
          <a:solidFill>
            <a:srgbClr val="A9C7B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3" name="Google Shape;203;p3"/>
          <p:cNvSpPr/>
          <p:nvPr/>
        </p:nvSpPr>
        <p:spPr>
          <a:xfrm>
            <a:off x="2551176" y="5783016"/>
            <a:ext cx="4096512" cy="68580"/>
          </a:xfrm>
          <a:prstGeom prst="rect">
            <a:avLst/>
          </a:prstGeom>
          <a:solidFill>
            <a:srgbClr val="A9C7B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4" name="Google Shape;204;p3"/>
          <p:cNvSpPr/>
          <p:nvPr/>
        </p:nvSpPr>
        <p:spPr>
          <a:xfrm>
            <a:off x="2551176" y="4854899"/>
            <a:ext cx="4096512" cy="6858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5" name="Google Shape;205;p3"/>
          <p:cNvSpPr/>
          <p:nvPr/>
        </p:nvSpPr>
        <p:spPr>
          <a:xfrm>
            <a:off x="2551176" y="5056068"/>
            <a:ext cx="4096512" cy="6858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6" name="Google Shape;206;p3"/>
          <p:cNvSpPr/>
          <p:nvPr/>
        </p:nvSpPr>
        <p:spPr>
          <a:xfrm>
            <a:off x="2551176" y="5257236"/>
            <a:ext cx="4096512" cy="6858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7" name="Google Shape;207;p3"/>
          <p:cNvSpPr/>
          <p:nvPr/>
        </p:nvSpPr>
        <p:spPr>
          <a:xfrm>
            <a:off x="2551176" y="5458403"/>
            <a:ext cx="220594" cy="6858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8" name="Google Shape;208;p3"/>
          <p:cNvSpPr/>
          <p:nvPr/>
        </p:nvSpPr>
        <p:spPr>
          <a:xfrm>
            <a:off x="2551176" y="5659572"/>
            <a:ext cx="4096512" cy="6858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9" name="Google Shape;209;p3"/>
          <p:cNvSpPr/>
          <p:nvPr/>
        </p:nvSpPr>
        <p:spPr>
          <a:xfrm>
            <a:off x="2551176" y="5860740"/>
            <a:ext cx="4096512" cy="6858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aphicFrame>
        <p:nvGraphicFramePr>
          <p:cNvPr id="210" name="Google Shape;210;p3"/>
          <p:cNvGraphicFramePr/>
          <p:nvPr/>
        </p:nvGraphicFramePr>
        <p:xfrm>
          <a:off x="6766560" y="452114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{9EE2CB2E-1363-49F8-B8BA-952F5347F8D7}</a:tableStyleId>
              </a:tblPr>
              <a:tblGrid>
                <a:gridCol w="457200"/>
                <a:gridCol w="841250"/>
                <a:gridCol w="841250"/>
                <a:gridCol w="914400"/>
                <a:gridCol w="914400"/>
                <a:gridCol w="850400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s-CO" sz="7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Unidad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s-CO" sz="7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Presupuestada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s-CO" sz="7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Real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s-CO" sz="7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Ejec. anterior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s-CO" sz="7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Ejec. actual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s-CO" sz="7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Δ semana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</a:tr>
              <a:tr h="201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700" u="none" cap="none" strike="noStrike">
                          <a:solidFill>
                            <a:srgbClr val="5F6B6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und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7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3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7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45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700" u="none" cap="none" strike="noStrike">
                          <a:solidFill>
                            <a:srgbClr val="5F6B66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22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s-CO" sz="7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22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700" u="none" cap="none" strike="noStrike">
                          <a:solidFill>
                            <a:srgbClr val="8A948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1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700" u="none" cap="none" strike="noStrike">
                          <a:solidFill>
                            <a:srgbClr val="5F6B6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ml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7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23.770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7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31.489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700" u="none" cap="none" strike="noStrike">
                          <a:solidFill>
                            <a:srgbClr val="5F6B66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s-CO" sz="7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700" u="none" cap="none" strike="noStrike">
                          <a:solidFill>
                            <a:srgbClr val="8A948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201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700" u="none" cap="none" strike="noStrike">
                          <a:solidFill>
                            <a:srgbClr val="5F6B6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ml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7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23.770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7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28.524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700" u="none" cap="none" strike="noStrike">
                          <a:solidFill>
                            <a:srgbClr val="5F6B66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1.164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s-CO" sz="7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1.164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700" u="none" cap="none" strike="noStrike">
                          <a:solidFill>
                            <a:srgbClr val="8A948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1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700" u="none" cap="none" strike="noStrike">
                          <a:solidFill>
                            <a:srgbClr val="5F6B6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ml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7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4.754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7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256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700" u="none" cap="none" strike="noStrike">
                          <a:solidFill>
                            <a:srgbClr val="5F6B66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s-CO" sz="7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700" u="none" cap="none" strike="noStrike">
                          <a:solidFill>
                            <a:srgbClr val="8A948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—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201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700" u="none" cap="none" strike="noStrike">
                          <a:solidFill>
                            <a:srgbClr val="5F6B6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m²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7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118.850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7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118.850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700" u="none" cap="none" strike="noStrike">
                          <a:solidFill>
                            <a:srgbClr val="5F6B66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s-CO" sz="7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700" u="none" cap="none" strike="noStrike">
                          <a:solidFill>
                            <a:srgbClr val="8A948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1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700" u="none" cap="none" strike="noStrike">
                          <a:solidFill>
                            <a:srgbClr val="5F6B6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ml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7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71.310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7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71.310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700" u="none" cap="none" strike="noStrike">
                          <a:solidFill>
                            <a:srgbClr val="5F6B66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s-CO" sz="7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700" u="none" cap="none" strike="noStrike">
                          <a:solidFill>
                            <a:srgbClr val="8A948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—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</a:tbl>
          </a:graphicData>
        </a:graphic>
      </p:graphicFrame>
      <p:sp>
        <p:nvSpPr>
          <p:cNvPr id="211" name="Google Shape;211;p3"/>
          <p:cNvSpPr txBox="1"/>
          <p:nvPr/>
        </p:nvSpPr>
        <p:spPr>
          <a:xfrm>
            <a:off x="457200" y="6400000"/>
            <a:ext cx="5000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s-CO" sz="900" u="none" cap="none" strike="noStrike">
                <a:solidFill>
                  <a:srgbClr val="2E7D4F"/>
                </a:solidFill>
                <a:latin typeface="Poppins"/>
                <a:ea typeface="Poppins"/>
                <a:cs typeface="Poppins"/>
                <a:sym typeface="Poppins"/>
              </a:rPr>
              <a:t>TIEMPO TRANSCURRIDO DEL PLAZO CONTRACTUAL</a:t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2" name="Google Shape;212;p3"/>
          <p:cNvSpPr txBox="1"/>
          <p:nvPr/>
        </p:nvSpPr>
        <p:spPr>
          <a:xfrm>
            <a:off x="5000000" y="6400000"/>
            <a:ext cx="6734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-CO" sz="80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Inicio: </a:t>
            </a:r>
            <a:r>
              <a:rPr b="1" i="0" lang="es-CO" sz="8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01/06/2026</a:t>
            </a:r>
            <a:r>
              <a:rPr b="0" i="0" lang="es-CO" sz="80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   ·   Terminación: </a:t>
            </a:r>
            <a:r>
              <a:rPr b="1" i="0" lang="es-CO" sz="8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20/04/2027</a:t>
            </a:r>
            <a:r>
              <a:rPr b="0" i="0" lang="es-CO" sz="80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   ·   Al: </a:t>
            </a:r>
            <a:r>
              <a:rPr b="1" i="0" lang="es-CO" sz="8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02/10/2026</a:t>
            </a:r>
            <a:r>
              <a:rPr b="0" i="1" lang="es-CO" sz="80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   ·   123 de 323 días</a:t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3" name="Google Shape;213;p3"/>
          <p:cNvSpPr/>
          <p:nvPr/>
        </p:nvSpPr>
        <p:spPr>
          <a:xfrm>
            <a:off x="457200" y="6598920"/>
            <a:ext cx="11277600" cy="164592"/>
          </a:xfrm>
          <a:prstGeom prst="roundRect">
            <a:avLst>
              <a:gd fmla="val 50000" name="adj"/>
            </a:avLst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3"/>
          <p:cNvSpPr/>
          <p:nvPr/>
        </p:nvSpPr>
        <p:spPr>
          <a:xfrm>
            <a:off x="457200" y="6598920"/>
            <a:ext cx="4294565" cy="164592"/>
          </a:xfrm>
          <a:prstGeom prst="roundRect">
            <a:avLst>
              <a:gd fmla="val 50000" name="adj"/>
            </a:avLst>
          </a:prstGeom>
          <a:solidFill>
            <a:srgbClr val="2E7D4F"/>
          </a:solidFill>
          <a:ln cap="flat" cmpd="sng" w="9525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s-CO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38,1 %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5" name="Google Shape;215;p3"/>
          <p:cNvCxnSpPr/>
          <p:nvPr/>
        </p:nvCxnSpPr>
        <p:spPr>
          <a:xfrm>
            <a:off x="1504655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6" name="Google Shape;216;p3"/>
          <p:cNvCxnSpPr/>
          <p:nvPr/>
        </p:nvCxnSpPr>
        <p:spPr>
          <a:xfrm>
            <a:off x="2587025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7" name="Google Shape;217;p3"/>
          <p:cNvCxnSpPr/>
          <p:nvPr/>
        </p:nvCxnSpPr>
        <p:spPr>
          <a:xfrm>
            <a:off x="3669395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8" name="Google Shape;218;p3"/>
          <p:cNvCxnSpPr/>
          <p:nvPr/>
        </p:nvCxnSpPr>
        <p:spPr>
          <a:xfrm>
            <a:off x="4716850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9" name="Google Shape;219;p3"/>
          <p:cNvCxnSpPr/>
          <p:nvPr/>
        </p:nvCxnSpPr>
        <p:spPr>
          <a:xfrm>
            <a:off x="5799221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0" name="Google Shape;220;p3"/>
          <p:cNvCxnSpPr/>
          <p:nvPr/>
        </p:nvCxnSpPr>
        <p:spPr>
          <a:xfrm>
            <a:off x="6846676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1" name="Google Shape;221;p3"/>
          <p:cNvCxnSpPr/>
          <p:nvPr/>
        </p:nvCxnSpPr>
        <p:spPr>
          <a:xfrm>
            <a:off x="7929046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2" name="Google Shape;222;p3"/>
          <p:cNvCxnSpPr/>
          <p:nvPr/>
        </p:nvCxnSpPr>
        <p:spPr>
          <a:xfrm>
            <a:off x="9011416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3" name="Google Shape;223;p3"/>
          <p:cNvCxnSpPr/>
          <p:nvPr/>
        </p:nvCxnSpPr>
        <p:spPr>
          <a:xfrm>
            <a:off x="9989041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4" name="Google Shape;224;p3"/>
          <p:cNvCxnSpPr/>
          <p:nvPr/>
        </p:nvCxnSpPr>
        <p:spPr>
          <a:xfrm>
            <a:off x="11071411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5" name="Google Shape;225;p3"/>
          <p:cNvCxnSpPr/>
          <p:nvPr/>
        </p:nvCxnSpPr>
        <p:spPr>
          <a:xfrm>
            <a:off x="4751765" y="6562344"/>
            <a:ext cx="0" cy="237744"/>
          </a:xfrm>
          <a:prstGeom prst="straightConnector1">
            <a:avLst/>
          </a:prstGeom>
          <a:noFill/>
          <a:ln cap="flat" cmpd="sng" w="19050">
            <a:solidFill>
              <a:srgbClr val="B3261E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4"/>
          <p:cNvSpPr txBox="1"/>
          <p:nvPr/>
        </p:nvSpPr>
        <p:spPr>
          <a:xfrm>
            <a:off x="457200" y="320040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1200"/>
              <a:buFont typeface="Calibri"/>
              <a:buNone/>
            </a:pPr>
            <a:r>
              <a:rPr b="1" i="0" lang="es-CO" sz="1200" u="none" cap="none" strike="noStrike">
                <a:solidFill>
                  <a:srgbClr val="2E7D4F"/>
                </a:solidFill>
                <a:latin typeface="Poppins"/>
                <a:ea typeface="Poppins"/>
                <a:cs typeface="Poppins"/>
                <a:sym typeface="Poppins"/>
              </a:rPr>
              <a:t>INFORME DE VARIACIÓN DE ALCANCES  ·  LOTE 1 – SUBREGIÓN ORIENTE</a:t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2" name="Google Shape;232;p4"/>
          <p:cNvSpPr txBox="1"/>
          <p:nvPr/>
        </p:nvSpPr>
        <p:spPr>
          <a:xfrm>
            <a:off x="457200" y="594360"/>
            <a:ext cx="9692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2800"/>
              <a:buFont typeface="Calibri"/>
              <a:buNone/>
            </a:pPr>
            <a:r>
              <a:rPr b="1" i="0" lang="es-CO" sz="28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La Frontera (Ruta 56) – Mesopotamia – Abejorral</a:t>
            </a:r>
            <a:endParaRPr b="0" i="0" sz="2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descr="logo.png" id="233" name="Google Shape;23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78440" y="320040"/>
            <a:ext cx="1371600" cy="676656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4"/>
          <p:cNvSpPr/>
          <p:nvPr/>
        </p:nvSpPr>
        <p:spPr>
          <a:xfrm>
            <a:off x="457200" y="132588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5" name="Google Shape;235;p4"/>
          <p:cNvSpPr txBox="1"/>
          <p:nvPr/>
        </p:nvSpPr>
        <p:spPr>
          <a:xfrm>
            <a:off x="594360" y="1417320"/>
            <a:ext cx="183483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100"/>
              <a:buFont typeface="Calibri"/>
              <a:buNone/>
            </a:pPr>
            <a:r>
              <a:rPr b="0" i="0" lang="es-CO" sz="110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Longitud contractual</a:t>
            </a:r>
            <a:endParaRPr b="0" i="0" sz="11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6" name="Google Shape;236;p4"/>
          <p:cNvSpPr txBox="1"/>
          <p:nvPr/>
        </p:nvSpPr>
        <p:spPr>
          <a:xfrm>
            <a:off x="594360" y="1691640"/>
            <a:ext cx="183483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700"/>
              <a:buFont typeface="Calibri"/>
              <a:buNone/>
            </a:pPr>
            <a:r>
              <a:rPr b="1" i="0" lang="es-CO" sz="17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25,49 km</a:t>
            </a:r>
            <a:endParaRPr b="0" i="0" sz="17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7" name="Google Shape;237;p4"/>
          <p:cNvSpPr/>
          <p:nvPr/>
        </p:nvSpPr>
        <p:spPr>
          <a:xfrm>
            <a:off x="2749235" y="132588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8" name="Google Shape;238;p4"/>
          <p:cNvSpPr txBox="1"/>
          <p:nvPr/>
        </p:nvSpPr>
        <p:spPr>
          <a:xfrm>
            <a:off x="2886395" y="1417320"/>
            <a:ext cx="183483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100"/>
              <a:buFont typeface="Calibri"/>
              <a:buNone/>
            </a:pPr>
            <a:r>
              <a:rPr b="0" i="0" lang="es-CO" sz="110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Longitud probable a cubrir</a:t>
            </a:r>
            <a:endParaRPr b="0" i="0" sz="11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9" name="Google Shape;239;p4"/>
          <p:cNvSpPr txBox="1"/>
          <p:nvPr/>
        </p:nvSpPr>
        <p:spPr>
          <a:xfrm>
            <a:off x="2886395" y="1691640"/>
            <a:ext cx="183483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700"/>
              <a:buFont typeface="Calibri"/>
              <a:buNone/>
            </a:pPr>
            <a:r>
              <a:rPr b="1" i="0" lang="es-CO" sz="17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12,35 km</a:t>
            </a:r>
            <a:endParaRPr b="0" i="0" sz="17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0" name="Google Shape;240;p4"/>
          <p:cNvSpPr/>
          <p:nvPr/>
        </p:nvSpPr>
        <p:spPr>
          <a:xfrm>
            <a:off x="5041270" y="132588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1" name="Google Shape;241;p4"/>
          <p:cNvSpPr txBox="1"/>
          <p:nvPr/>
        </p:nvSpPr>
        <p:spPr>
          <a:xfrm>
            <a:off x="5178430" y="1417320"/>
            <a:ext cx="183483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100"/>
              <a:buFont typeface="Calibri"/>
              <a:buNone/>
            </a:pPr>
            <a:r>
              <a:rPr b="0" i="0" lang="es-CO" sz="110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Valor por km contractual</a:t>
            </a:r>
            <a:endParaRPr b="0" i="0" sz="11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2" name="Google Shape;242;p4"/>
          <p:cNvSpPr txBox="1"/>
          <p:nvPr/>
        </p:nvSpPr>
        <p:spPr>
          <a:xfrm>
            <a:off x="5178430" y="1691640"/>
            <a:ext cx="183483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700"/>
              <a:buFont typeface="Calibri"/>
              <a:buNone/>
            </a:pPr>
            <a:r>
              <a:rPr b="1" i="0" lang="es-CO" sz="17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$ 905.079.861</a:t>
            </a:r>
            <a:endParaRPr b="0" i="0" sz="17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3" name="Google Shape;243;p4"/>
          <p:cNvSpPr/>
          <p:nvPr/>
        </p:nvSpPr>
        <p:spPr>
          <a:xfrm>
            <a:off x="7333305" y="132588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4" name="Google Shape;244;p4"/>
          <p:cNvSpPr txBox="1"/>
          <p:nvPr/>
        </p:nvSpPr>
        <p:spPr>
          <a:xfrm>
            <a:off x="7470465" y="1417320"/>
            <a:ext cx="183483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100"/>
              <a:buFont typeface="Calibri"/>
              <a:buNone/>
            </a:pPr>
            <a:r>
              <a:rPr b="0" i="0" lang="es-CO" sz="110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Valor por km proyectado</a:t>
            </a:r>
            <a:endParaRPr b="0" i="0" sz="11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5" name="Google Shape;245;p4"/>
          <p:cNvSpPr txBox="1"/>
          <p:nvPr/>
        </p:nvSpPr>
        <p:spPr>
          <a:xfrm>
            <a:off x="7470465" y="1691640"/>
            <a:ext cx="183483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700"/>
              <a:buFont typeface="Calibri"/>
              <a:buNone/>
            </a:pPr>
            <a:r>
              <a:rPr b="1" i="0" lang="es-CO" sz="17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$ 1.868.602.592</a:t>
            </a:r>
            <a:endParaRPr b="0" i="0" sz="17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6" name="Google Shape;246;p4"/>
          <p:cNvSpPr/>
          <p:nvPr/>
        </p:nvSpPr>
        <p:spPr>
          <a:xfrm>
            <a:off x="9625340" y="132588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FBEAEA"/>
          </a:solidFill>
          <a:ln cap="flat" cmpd="sng" w="12700">
            <a:solidFill>
              <a:srgbClr val="FBEA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7" name="Google Shape;247;p4"/>
          <p:cNvSpPr txBox="1"/>
          <p:nvPr/>
        </p:nvSpPr>
        <p:spPr>
          <a:xfrm>
            <a:off x="9762500" y="1417320"/>
            <a:ext cx="183483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100"/>
              <a:buFont typeface="Calibri"/>
              <a:buNone/>
            </a:pPr>
            <a:r>
              <a:rPr b="0" i="0" lang="es-CO" sz="110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Variación total (valor adicional)</a:t>
            </a:r>
            <a:endParaRPr b="0" i="0" sz="11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8" name="Google Shape;248;p4"/>
          <p:cNvSpPr txBox="1"/>
          <p:nvPr/>
        </p:nvSpPr>
        <p:spPr>
          <a:xfrm>
            <a:off x="9762500" y="1691640"/>
            <a:ext cx="183483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261E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B3261E"/>
                </a:solidFill>
                <a:latin typeface="Poppins"/>
                <a:ea typeface="Poppins"/>
                <a:cs typeface="Poppins"/>
                <a:sym typeface="Poppins"/>
              </a:rPr>
              <a:t>▲ $ 24.560.194.406</a:t>
            </a:r>
            <a:endParaRPr b="0"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9" name="Google Shape;249;p4"/>
          <p:cNvSpPr/>
          <p:nvPr/>
        </p:nvSpPr>
        <p:spPr>
          <a:xfrm>
            <a:off x="457200" y="2423160"/>
            <a:ext cx="3154680" cy="4114800"/>
          </a:xfrm>
          <a:prstGeom prst="roundRect">
            <a:avLst>
              <a:gd fmla="val 1739" name="adj"/>
            </a:avLst>
          </a:prstGeom>
          <a:solidFill>
            <a:srgbClr val="FFFFFF"/>
          </a:solidFill>
          <a:ln cap="flat" cmpd="sng" w="12700">
            <a:solidFill>
              <a:srgbClr val="D5DD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0" name="Google Shape;250;p4"/>
          <p:cNvSpPr txBox="1"/>
          <p:nvPr/>
        </p:nvSpPr>
        <p:spPr>
          <a:xfrm>
            <a:off x="640080" y="2560320"/>
            <a:ext cx="2788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1100"/>
              <a:buFont typeface="Calibri"/>
              <a:buNone/>
            </a:pPr>
            <a:r>
              <a:rPr b="1" i="0" lang="es-CO" sz="1100" u="none" cap="none" strike="noStrike">
                <a:solidFill>
                  <a:srgbClr val="2E7D4F"/>
                </a:solidFill>
                <a:latin typeface="Poppins"/>
                <a:ea typeface="Poppins"/>
                <a:cs typeface="Poppins"/>
                <a:sym typeface="Poppins"/>
              </a:rPr>
              <a:t>ESTRUCTURA DE PAVIMENTO</a:t>
            </a:r>
            <a:endParaRPr b="0" i="0" sz="11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1" name="Google Shape;251;p4"/>
          <p:cNvSpPr txBox="1"/>
          <p:nvPr/>
        </p:nvSpPr>
        <p:spPr>
          <a:xfrm>
            <a:off x="640080" y="2816352"/>
            <a:ext cx="2788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1" i="0" lang="es-CO" sz="10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La Frontera (Ruta 56) – Mesopotamia – Abejorral</a:t>
            </a:r>
            <a:endParaRPr b="0"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2" name="Google Shape;252;p4"/>
          <p:cNvSpPr txBox="1"/>
          <p:nvPr/>
        </p:nvSpPr>
        <p:spPr>
          <a:xfrm>
            <a:off x="640080" y="3172968"/>
            <a:ext cx="2788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LOTE 1 · Longitud: 25.490 m</a:t>
            </a:r>
            <a:br>
              <a:rPr b="0" i="0" lang="es-CO" sz="90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b="0" i="0" lang="es-CO" sz="90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Tránsito – Estructuración: 307.000</a:t>
            </a:r>
            <a:br>
              <a:rPr b="0" i="0" lang="es-CO" sz="90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b="0" i="0" lang="es-CO" sz="90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Tránsito – Diseño: 265.965</a:t>
            </a:r>
            <a:endParaRPr b="0" i="0" sz="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3" name="Google Shape;253;p4"/>
          <p:cNvSpPr txBox="1"/>
          <p:nvPr/>
        </p:nvSpPr>
        <p:spPr>
          <a:xfrm>
            <a:off x="457200" y="3794760"/>
            <a:ext cx="3154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1" i="0" lang="es-CO" sz="10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Teórica</a:t>
            </a:r>
            <a:endParaRPr b="0"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4" name="Google Shape;254;p4"/>
          <p:cNvSpPr/>
          <p:nvPr/>
        </p:nvSpPr>
        <p:spPr>
          <a:xfrm>
            <a:off x="1348740" y="4087368"/>
            <a:ext cx="960120" cy="182880"/>
          </a:xfrm>
          <a:prstGeom prst="rect">
            <a:avLst/>
          </a:prstGeom>
          <a:solidFill>
            <a:srgbClr val="1F2A36"/>
          </a:solidFill>
          <a:ln cap="flat" cmpd="sng" w="12700">
            <a:solidFill>
              <a:srgbClr val="1F2A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5" name="Google Shape;255;p4"/>
          <p:cNvSpPr txBox="1"/>
          <p:nvPr/>
        </p:nvSpPr>
        <p:spPr>
          <a:xfrm>
            <a:off x="1348740" y="4087368"/>
            <a:ext cx="9601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s-CO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TSD</a:t>
            </a:r>
            <a:endParaRPr b="0" i="0" sz="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6" name="Google Shape;256;p4"/>
          <p:cNvSpPr/>
          <p:nvPr/>
        </p:nvSpPr>
        <p:spPr>
          <a:xfrm>
            <a:off x="1348740" y="4270248"/>
            <a:ext cx="960120" cy="1056132"/>
          </a:xfrm>
          <a:prstGeom prst="rect">
            <a:avLst/>
          </a:prstGeom>
          <a:solidFill>
            <a:srgbClr val="D9A44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7" name="Google Shape;257;p4"/>
          <p:cNvSpPr txBox="1"/>
          <p:nvPr/>
        </p:nvSpPr>
        <p:spPr>
          <a:xfrm>
            <a:off x="1348740" y="4270248"/>
            <a:ext cx="960120" cy="52920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800"/>
              <a:buFont typeface="Calibri"/>
              <a:buNone/>
            </a:pPr>
            <a:r>
              <a:rPr b="1" i="0" lang="es-CO" sz="8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Estabilización con cemento</a:t>
            </a:r>
            <a:endParaRPr b="0" i="0" sz="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8" name="Google Shape;258;p4"/>
          <p:cNvSpPr/>
          <p:nvPr/>
        </p:nvSpPr>
        <p:spPr>
          <a:xfrm>
            <a:off x="1412748" y="4799457"/>
            <a:ext cx="832104" cy="490347"/>
          </a:xfrm>
          <a:prstGeom prst="rect">
            <a:avLst/>
          </a:prstGeom>
          <a:solidFill>
            <a:srgbClr val="F2D58E"/>
          </a:solidFill>
          <a:ln cap="flat" cmpd="sng" w="9525">
            <a:solidFill>
              <a:srgbClr val="A87B1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9" name="Google Shape;259;p4"/>
          <p:cNvSpPr txBox="1"/>
          <p:nvPr/>
        </p:nvSpPr>
        <p:spPr>
          <a:xfrm>
            <a:off x="1412748" y="4799457"/>
            <a:ext cx="832104" cy="490347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800"/>
              <a:buFont typeface="Calibri"/>
              <a:buNone/>
            </a:pPr>
            <a:r>
              <a:rPr b="0" i="0" lang="es-CO" sz="8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Subbase 13 cm</a:t>
            </a:r>
            <a:endParaRPr b="0" i="0" sz="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0" name="Google Shape;260;p4"/>
          <p:cNvSpPr txBox="1"/>
          <p:nvPr/>
        </p:nvSpPr>
        <p:spPr>
          <a:xfrm>
            <a:off x="2363724" y="4270248"/>
            <a:ext cx="457200" cy="10561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28 cm</a:t>
            </a:r>
            <a:endParaRPr b="0" i="0" sz="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1" name="Google Shape;261;p4"/>
          <p:cNvSpPr/>
          <p:nvPr/>
        </p:nvSpPr>
        <p:spPr>
          <a:xfrm>
            <a:off x="1348740" y="5326380"/>
            <a:ext cx="960120" cy="754380"/>
          </a:xfrm>
          <a:prstGeom prst="rect">
            <a:avLst/>
          </a:prstGeom>
          <a:solidFill>
            <a:srgbClr val="8C6A4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2" name="Google Shape;262;p4"/>
          <p:cNvSpPr txBox="1"/>
          <p:nvPr/>
        </p:nvSpPr>
        <p:spPr>
          <a:xfrm>
            <a:off x="1348740" y="5326380"/>
            <a:ext cx="960120" cy="754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s-CO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Subrasante estabilizada con cal</a:t>
            </a:r>
            <a:endParaRPr b="0" i="0" sz="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3" name="Google Shape;263;p4"/>
          <p:cNvSpPr txBox="1"/>
          <p:nvPr/>
        </p:nvSpPr>
        <p:spPr>
          <a:xfrm>
            <a:off x="2363724" y="5326380"/>
            <a:ext cx="457200" cy="754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20 cm</a:t>
            </a:r>
            <a:endParaRPr b="0" i="0" sz="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264" name="Google Shape;264;p4"/>
          <p:cNvCxnSpPr/>
          <p:nvPr/>
        </p:nvCxnSpPr>
        <p:spPr>
          <a:xfrm>
            <a:off x="1257300" y="6080760"/>
            <a:ext cx="1143000" cy="0"/>
          </a:xfrm>
          <a:prstGeom prst="straightConnector1">
            <a:avLst/>
          </a:prstGeom>
          <a:noFill/>
          <a:ln cap="flat" cmpd="sng" w="12700">
            <a:solidFill>
              <a:srgbClr val="1D2B2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5" name="Google Shape;265;p4"/>
          <p:cNvSpPr txBox="1"/>
          <p:nvPr/>
        </p:nvSpPr>
        <p:spPr>
          <a:xfrm>
            <a:off x="457200" y="6153912"/>
            <a:ext cx="31546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10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Espesor total: </a:t>
            </a:r>
            <a:r>
              <a:rPr b="1" i="0" lang="es-CO" sz="10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48 cm</a:t>
            </a:r>
            <a:endParaRPr b="0"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aphicFrame>
        <p:nvGraphicFramePr>
          <p:cNvPr id="266" name="Google Shape;266;p4"/>
          <p:cNvGraphicFramePr/>
          <p:nvPr/>
        </p:nvGraphicFramePr>
        <p:xfrm>
          <a:off x="3840480" y="24231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{2219430B-40B1-4F13-8D99-EA5D7966678A}</a:tableStyleId>
              </a:tblPr>
              <a:tblGrid>
                <a:gridCol w="2395725"/>
                <a:gridCol w="1097275"/>
                <a:gridCol w="603500"/>
                <a:gridCol w="1097275"/>
                <a:gridCol w="603500"/>
                <a:gridCol w="237750"/>
                <a:gridCol w="1097275"/>
                <a:gridCol w="758950"/>
              </a:tblGrid>
              <a:tr h="393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Grupo – actividad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Valor contractual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 sobre corredor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Valor proyectado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 sobre corredor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Variación (valor adicional)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 de variación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</a:tr>
              <a:tr h="280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8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Construcción alcantarilla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8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$ 2.244.351.844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8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9,7 %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8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$ 2.852.204.289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8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6,0 %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800" u="none" cap="none" strike="noStrike">
                          <a:solidFill>
                            <a:srgbClr val="B3261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▲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800" u="none" cap="none" strike="noStrike">
                          <a:solidFill>
                            <a:srgbClr val="B3261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$ 607.852.445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800" u="none" cap="none" strike="noStrike">
                          <a:solidFill>
                            <a:srgbClr val="B3261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27,1 %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80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8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Construcción cuneta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8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$ 4.212.009.351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8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18,3 %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8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$ 5.518.986.339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8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11,6 %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800" u="none" cap="none" strike="noStrike">
                          <a:solidFill>
                            <a:srgbClr val="B3261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▲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800" u="none" cap="none" strike="noStrike">
                          <a:solidFill>
                            <a:srgbClr val="B3261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$ 1.306.976.988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800" u="none" cap="none" strike="noStrike">
                          <a:solidFill>
                            <a:srgbClr val="B3261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31,0 %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280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8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Construcción filtro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8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$ 4.325.107.514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8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18,7 %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8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$ 4.313.471.524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8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9,1 %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800" u="none" cap="none" strike="noStrike">
                          <a:solidFill>
                            <a:srgbClr val="0B5D2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▼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800" u="none" cap="none" strike="noStrike">
                          <a:solidFill>
                            <a:srgbClr val="0B5D2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–$ 11.635.990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800" u="none" cap="none" strike="noStrike">
                          <a:solidFill>
                            <a:srgbClr val="0B5D2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-0,3 %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80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8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Construcción bordillos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8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$ 630.437.534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8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2,7 %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8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$ 52.976.848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8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0,1 %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800" u="none" cap="none" strike="noStrike">
                          <a:solidFill>
                            <a:srgbClr val="0B5D2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▼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800" u="none" cap="none" strike="noStrike">
                          <a:solidFill>
                            <a:srgbClr val="0B5D2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–$ 577.460.686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800" u="none" cap="none" strike="noStrike">
                          <a:solidFill>
                            <a:srgbClr val="0B5D2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-91,6 %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280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8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Construcción disipadores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8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$ 322.236.492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8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1,4 %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8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$ 497.142.581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8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1,0 %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800" u="none" cap="none" strike="noStrike">
                          <a:solidFill>
                            <a:srgbClr val="B3261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▲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800" u="none" cap="none" strike="noStrike">
                          <a:solidFill>
                            <a:srgbClr val="B3261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$ 174.906.089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800" u="none" cap="none" strike="noStrike">
                          <a:solidFill>
                            <a:srgbClr val="B3261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54,3 %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80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8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Estabilización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8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$ 10.958.008.114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8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47,5 %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8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$ 32.233.891.864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8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67,7 %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800" u="none" cap="none" strike="noStrike">
                          <a:solidFill>
                            <a:srgbClr val="B3261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▲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800" u="none" cap="none" strike="noStrike">
                          <a:solidFill>
                            <a:srgbClr val="B3261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$ 21.275.883.750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800" u="none" cap="none" strike="noStrike">
                          <a:solidFill>
                            <a:srgbClr val="B3261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194,2 %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80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0" lang="es-CO" sz="8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Señalización vial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0" lang="es-CO" sz="8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$ 378.334.810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0" lang="es-CO" sz="8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1,6 %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0" lang="es-CO" sz="8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$ 563.351.431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0" lang="es-CO" sz="8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1,2 %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Arial"/>
                        <a:buNone/>
                      </a:pPr>
                      <a:r>
                        <a:rPr b="0" lang="es-CO" sz="800" u="none" cap="none" strike="noStrike">
                          <a:solidFill>
                            <a:srgbClr val="B3261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▲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b="0" lang="es-CO" sz="800" u="none" cap="none" strike="noStrike">
                          <a:solidFill>
                            <a:srgbClr val="B3261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$ 185.016.621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b="0" lang="es-CO" sz="800" u="none" cap="none" strike="noStrike">
                          <a:solidFill>
                            <a:srgbClr val="B3261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48,9 %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280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8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MDC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8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$ –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8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0,0 %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8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$ 1.598.655.189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8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3,4 %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800" u="none" cap="none" strike="noStrike">
                          <a:solidFill>
                            <a:srgbClr val="B3261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▲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800" u="none" cap="none" strike="noStrike">
                          <a:solidFill>
                            <a:srgbClr val="B3261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$ 1.598.655.189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800" u="none" cap="none" strike="noStrike">
                          <a:solidFill>
                            <a:srgbClr val="B3261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-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80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8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TOTAL CORREDOR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8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$ 23.070.485.659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8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100%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8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$ 47.630.680.065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8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100%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800" u="none" cap="none" strike="noStrike">
                          <a:solidFill>
                            <a:srgbClr val="B3261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▲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800" u="none" cap="none" strike="noStrike">
                          <a:solidFill>
                            <a:srgbClr val="B3261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+$ 24.560.194.406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800" u="none" cap="none" strike="noStrike">
                          <a:solidFill>
                            <a:srgbClr val="B3261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106,5 %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</a:tr>
            </a:tbl>
          </a:graphicData>
        </a:graphic>
      </p:graphicFrame>
      <p:sp>
        <p:nvSpPr>
          <p:cNvPr id="267" name="Google Shape;267;p4"/>
          <p:cNvSpPr txBox="1"/>
          <p:nvPr/>
        </p:nvSpPr>
        <p:spPr>
          <a:xfrm>
            <a:off x="3840480" y="5413248"/>
            <a:ext cx="78912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261E"/>
              </a:buClr>
              <a:buSzPts val="900"/>
              <a:buFont typeface="Arial"/>
              <a:buNone/>
            </a:pPr>
            <a:r>
              <a:rPr b="0" i="0" lang="es-CO" sz="900" u="none" cap="none" strike="noStrike">
                <a:solidFill>
                  <a:srgbClr val="B3261E"/>
                </a:solidFill>
                <a:latin typeface="Poppins"/>
                <a:ea typeface="Poppins"/>
                <a:cs typeface="Poppins"/>
                <a:sym typeface="Poppins"/>
              </a:rPr>
              <a:t>▲</a:t>
            </a:r>
            <a:r>
              <a:rPr b="0" i="0" lang="es-CO" sz="90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 Se requiere mayor valor     </a:t>
            </a:r>
            <a:r>
              <a:rPr b="0" i="0" lang="es-CO" sz="900" u="none" cap="none" strike="noStrike">
                <a:solidFill>
                  <a:srgbClr val="0B5D2E"/>
                </a:solidFill>
                <a:latin typeface="Poppins"/>
                <a:ea typeface="Poppins"/>
                <a:cs typeface="Poppins"/>
                <a:sym typeface="Poppins"/>
              </a:rPr>
              <a:t>▼</a:t>
            </a:r>
            <a:r>
              <a:rPr b="0" i="0" lang="es-CO" sz="90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 Sobra valor     % de variación = (valor proyectado – valor contractual) / valor contractual</a:t>
            </a:r>
            <a:endParaRPr b="0" i="0" sz="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8" name="Google Shape;268;p4"/>
          <p:cNvSpPr/>
          <p:nvPr/>
        </p:nvSpPr>
        <p:spPr>
          <a:xfrm>
            <a:off x="3840480" y="5687568"/>
            <a:ext cx="7891272" cy="850392"/>
          </a:xfrm>
          <a:prstGeom prst="roundRect">
            <a:avLst>
              <a:gd fmla="val 6452" name="adj"/>
            </a:avLst>
          </a:prstGeom>
          <a:solidFill>
            <a:srgbClr val="FFFFFF"/>
          </a:solidFill>
          <a:ln cap="flat" cmpd="sng" w="12700">
            <a:solidFill>
              <a:srgbClr val="9AA7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00" lIns="1000" spcFirstLastPara="1" rIns="1500" wrap="square" tIns="15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100"/>
              <a:buFont typeface="Calibri"/>
              <a:buNone/>
            </a:pPr>
            <a:r>
              <a:rPr b="1" i="0" lang="es-CO" sz="11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Notas:</a:t>
            </a:r>
            <a:endParaRPr b="0" i="0" sz="11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5"/>
          <p:cNvSpPr txBox="1"/>
          <p:nvPr/>
        </p:nvSpPr>
        <p:spPr>
          <a:xfrm>
            <a:off x="457200" y="320040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1200"/>
              <a:buFont typeface="Calibri"/>
              <a:buNone/>
            </a:pPr>
            <a:r>
              <a:rPr b="1" i="0" lang="es-CO" sz="1200" u="none" cap="none" strike="noStrike">
                <a:solidFill>
                  <a:srgbClr val="2E7D4F"/>
                </a:solidFill>
                <a:latin typeface="Poppins"/>
                <a:ea typeface="Poppins"/>
                <a:cs typeface="Poppins"/>
                <a:sym typeface="Poppins"/>
              </a:rPr>
              <a:t>INFORME DE EJECUCIÓN  ·  LOTE 1 – SUBREGIÓN ORIENTE  ·  GRUPO 2</a:t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5" name="Google Shape;275;p5"/>
          <p:cNvSpPr txBox="1"/>
          <p:nvPr/>
        </p:nvSpPr>
        <p:spPr>
          <a:xfrm>
            <a:off x="457200" y="594360"/>
            <a:ext cx="9692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2800"/>
              <a:buFont typeface="Calibri"/>
              <a:buNone/>
            </a:pPr>
            <a:r>
              <a:rPr b="1" i="0" lang="es-CO" sz="28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La Frontera (Ruta 56) – Mesopotamia – Abejorral</a:t>
            </a:r>
            <a:endParaRPr b="0" i="0" sz="2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descr="logo.png" id="276" name="Google Shape;27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78440" y="320040"/>
            <a:ext cx="1371600" cy="676656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5"/>
          <p:cNvSpPr/>
          <p:nvPr/>
        </p:nvSpPr>
        <p:spPr>
          <a:xfrm>
            <a:off x="457200" y="1234440"/>
            <a:ext cx="1765249" cy="658368"/>
          </a:xfrm>
          <a:prstGeom prst="roundRect">
            <a:avLst>
              <a:gd fmla="val 1111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8" name="Google Shape;278;p5"/>
          <p:cNvSpPr txBox="1"/>
          <p:nvPr/>
        </p:nvSpPr>
        <p:spPr>
          <a:xfrm>
            <a:off x="566928" y="1289304"/>
            <a:ext cx="154579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50"/>
              <a:buFont typeface="Calibri"/>
              <a:buNone/>
            </a:pPr>
            <a:r>
              <a:rPr b="0" i="0" lang="es-CO" sz="95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Longitud</a:t>
            </a:r>
            <a:endParaRPr b="0" i="0" sz="95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9" name="Google Shape;279;p5"/>
          <p:cNvSpPr txBox="1"/>
          <p:nvPr/>
        </p:nvSpPr>
        <p:spPr>
          <a:xfrm>
            <a:off x="566928" y="1453896"/>
            <a:ext cx="154579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25,49 km</a:t>
            </a:r>
            <a:endParaRPr b="0"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0" name="Google Shape;280;p5"/>
          <p:cNvSpPr txBox="1"/>
          <p:nvPr/>
        </p:nvSpPr>
        <p:spPr>
          <a:xfrm>
            <a:off x="566928" y="1700784"/>
            <a:ext cx="1545793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00"/>
              <a:buFont typeface="Calibri"/>
              <a:buNone/>
            </a:pPr>
            <a:r>
              <a:rPr b="0" i="1" lang="es-CO" sz="80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Alcance real 18,26 km · dif. 7,23 km</a:t>
            </a:r>
            <a:endParaRPr b="0" i="0" sz="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1" name="Google Shape;281;p5"/>
          <p:cNvSpPr/>
          <p:nvPr/>
        </p:nvSpPr>
        <p:spPr>
          <a:xfrm>
            <a:off x="2359609" y="1234440"/>
            <a:ext cx="1765249" cy="658368"/>
          </a:xfrm>
          <a:prstGeom prst="roundRect">
            <a:avLst>
              <a:gd fmla="val 1111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2" name="Google Shape;282;p5"/>
          <p:cNvSpPr txBox="1"/>
          <p:nvPr/>
        </p:nvSpPr>
        <p:spPr>
          <a:xfrm>
            <a:off x="2469337" y="1289304"/>
            <a:ext cx="154579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50"/>
              <a:buFont typeface="Calibri"/>
              <a:buNone/>
            </a:pPr>
            <a:r>
              <a:rPr b="0" i="0" lang="es-CO" sz="95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Valor total del corredor</a:t>
            </a:r>
            <a:endParaRPr b="0" i="0" sz="95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3" name="Google Shape;283;p5"/>
          <p:cNvSpPr txBox="1"/>
          <p:nvPr/>
        </p:nvSpPr>
        <p:spPr>
          <a:xfrm>
            <a:off x="2469337" y="1453896"/>
            <a:ext cx="154579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500"/>
              <a:buFont typeface="Calibri"/>
              <a:buNone/>
            </a:pPr>
            <a:r>
              <a:rPr b="1" i="0" lang="es-CO" sz="12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$ 23.586.495.590</a:t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4" name="Google Shape;284;p5"/>
          <p:cNvSpPr txBox="1"/>
          <p:nvPr/>
        </p:nvSpPr>
        <p:spPr>
          <a:xfrm>
            <a:off x="2469337" y="1700784"/>
            <a:ext cx="1545793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00"/>
              <a:buFont typeface="Calibri"/>
              <a:buNone/>
            </a:pPr>
            <a:r>
              <a:rPr b="0" i="1" lang="es-CO" sz="80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$ 925.323.484 por km</a:t>
            </a:r>
            <a:endParaRPr b="0" i="0" sz="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5" name="Google Shape;285;p5"/>
          <p:cNvSpPr/>
          <p:nvPr/>
        </p:nvSpPr>
        <p:spPr>
          <a:xfrm>
            <a:off x="4262018" y="1234440"/>
            <a:ext cx="1765249" cy="658368"/>
          </a:xfrm>
          <a:prstGeom prst="roundRect">
            <a:avLst>
              <a:gd fmla="val 11111" name="adj"/>
            </a:avLst>
          </a:prstGeom>
          <a:solidFill>
            <a:srgbClr val="FBEAEA"/>
          </a:solidFill>
          <a:ln cap="flat" cmpd="sng" w="12700">
            <a:solidFill>
              <a:srgbClr val="FBEA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6" name="Google Shape;286;p5"/>
          <p:cNvSpPr txBox="1"/>
          <p:nvPr/>
        </p:nvSpPr>
        <p:spPr>
          <a:xfrm>
            <a:off x="4371746" y="1289304"/>
            <a:ext cx="154579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50"/>
              <a:buFont typeface="Calibri"/>
              <a:buNone/>
            </a:pPr>
            <a:r>
              <a:rPr b="0" i="0" lang="es-CO" sz="95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Avance físico</a:t>
            </a:r>
            <a:endParaRPr b="0" i="0" sz="95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7" name="Google Shape;287;p5"/>
          <p:cNvSpPr txBox="1"/>
          <p:nvPr/>
        </p:nvSpPr>
        <p:spPr>
          <a:xfrm>
            <a:off x="4371746" y="1453896"/>
            <a:ext cx="154579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261E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B3261E"/>
                </a:solidFill>
                <a:latin typeface="Poppins"/>
                <a:ea typeface="Poppins"/>
                <a:cs typeface="Poppins"/>
                <a:sym typeface="Poppins"/>
              </a:rPr>
              <a:t>0,55 %</a:t>
            </a:r>
            <a:endParaRPr b="0"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8" name="Google Shape;288;p5"/>
          <p:cNvSpPr txBox="1"/>
          <p:nvPr/>
        </p:nvSpPr>
        <p:spPr>
          <a:xfrm>
            <a:off x="4371746" y="1700784"/>
            <a:ext cx="1545793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00"/>
              <a:buFont typeface="Calibri"/>
              <a:buNone/>
            </a:pPr>
            <a:r>
              <a:rPr b="0" i="1" lang="es-CO" sz="80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Frente a 38,1 % del plazo</a:t>
            </a:r>
            <a:endParaRPr b="0" i="0" sz="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9" name="Google Shape;289;p5"/>
          <p:cNvSpPr/>
          <p:nvPr/>
        </p:nvSpPr>
        <p:spPr>
          <a:xfrm>
            <a:off x="6164428" y="1234440"/>
            <a:ext cx="1765249" cy="658368"/>
          </a:xfrm>
          <a:prstGeom prst="roundRect">
            <a:avLst>
              <a:gd fmla="val 1111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0" name="Google Shape;290;p5"/>
          <p:cNvSpPr txBox="1"/>
          <p:nvPr/>
        </p:nvSpPr>
        <p:spPr>
          <a:xfrm>
            <a:off x="6274156" y="1289304"/>
            <a:ext cx="154579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50"/>
              <a:buFont typeface="Calibri"/>
              <a:buNone/>
            </a:pPr>
            <a:r>
              <a:rPr b="0" i="0" lang="es-CO" sz="95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Avance financiero</a:t>
            </a:r>
            <a:endParaRPr b="0" i="0" sz="95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1" name="Google Shape;291;p5"/>
          <p:cNvSpPr txBox="1"/>
          <p:nvPr/>
        </p:nvSpPr>
        <p:spPr>
          <a:xfrm>
            <a:off x="6274156" y="1453896"/>
            <a:ext cx="154579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0,63 %</a:t>
            </a:r>
            <a:endParaRPr b="0"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2" name="Google Shape;292;p5"/>
          <p:cNvSpPr/>
          <p:nvPr/>
        </p:nvSpPr>
        <p:spPr>
          <a:xfrm>
            <a:off x="8066837" y="1234440"/>
            <a:ext cx="1765249" cy="658368"/>
          </a:xfrm>
          <a:prstGeom prst="roundRect">
            <a:avLst>
              <a:gd fmla="val 1111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3" name="Google Shape;293;p5"/>
          <p:cNvSpPr txBox="1"/>
          <p:nvPr/>
        </p:nvSpPr>
        <p:spPr>
          <a:xfrm>
            <a:off x="8176565" y="1289304"/>
            <a:ext cx="154579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50"/>
              <a:buFont typeface="Calibri"/>
              <a:buNone/>
            </a:pPr>
            <a:r>
              <a:rPr b="0" i="0" lang="es-CO" sz="95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Plazo transcurrido</a:t>
            </a:r>
            <a:endParaRPr b="0" i="0" sz="95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4" name="Google Shape;294;p5"/>
          <p:cNvSpPr txBox="1"/>
          <p:nvPr/>
        </p:nvSpPr>
        <p:spPr>
          <a:xfrm>
            <a:off x="8176565" y="1453896"/>
            <a:ext cx="154579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38,1 %</a:t>
            </a:r>
            <a:endParaRPr b="0"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5" name="Google Shape;295;p5"/>
          <p:cNvSpPr txBox="1"/>
          <p:nvPr/>
        </p:nvSpPr>
        <p:spPr>
          <a:xfrm>
            <a:off x="8176565" y="1700784"/>
            <a:ext cx="1545793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00"/>
              <a:buFont typeface="Calibri"/>
              <a:buNone/>
            </a:pPr>
            <a:r>
              <a:rPr b="0" i="1" lang="es-CO" sz="80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4 de 10,6 meses (al 02/10/2026)</a:t>
            </a:r>
            <a:endParaRPr b="0" i="0" sz="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6" name="Google Shape;296;p5"/>
          <p:cNvSpPr/>
          <p:nvPr/>
        </p:nvSpPr>
        <p:spPr>
          <a:xfrm>
            <a:off x="9969246" y="1234440"/>
            <a:ext cx="1765249" cy="658368"/>
          </a:xfrm>
          <a:prstGeom prst="roundRect">
            <a:avLst>
              <a:gd fmla="val 1111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7" name="Google Shape;297;p5"/>
          <p:cNvSpPr txBox="1"/>
          <p:nvPr/>
        </p:nvSpPr>
        <p:spPr>
          <a:xfrm>
            <a:off x="10078974" y="1289304"/>
            <a:ext cx="1545793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Inicio: </a:t>
            </a:r>
            <a:r>
              <a:rPr b="1" i="0" lang="es-CO" sz="9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01/06/2026</a:t>
            </a:r>
            <a:endParaRPr b="0" i="0" sz="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Terminación: </a:t>
            </a:r>
            <a:r>
              <a:rPr b="1" i="0" lang="es-CO" sz="9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20/04/2027</a:t>
            </a:r>
            <a:endParaRPr b="0" i="0" sz="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Corte: </a:t>
            </a:r>
            <a:r>
              <a:rPr b="1" i="0" lang="es-CO" sz="9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25/09/2026</a:t>
            </a:r>
            <a:endParaRPr b="0" i="0" sz="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8" name="Google Shape;298;p5"/>
          <p:cNvSpPr txBox="1"/>
          <p:nvPr/>
        </p:nvSpPr>
        <p:spPr>
          <a:xfrm>
            <a:off x="457200" y="1956816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1000"/>
              <a:buFont typeface="Calibri"/>
              <a:buNone/>
            </a:pPr>
            <a:r>
              <a:rPr b="1" i="0" lang="es-CO" sz="1000" u="none" cap="none" strike="noStrike">
                <a:solidFill>
                  <a:srgbClr val="2E7D4F"/>
                </a:solidFill>
                <a:latin typeface="Poppins"/>
                <a:ea typeface="Poppins"/>
                <a:cs typeface="Poppins"/>
                <a:sym typeface="Poppins"/>
              </a:rPr>
              <a:t>AVANCE POR ABSCISA</a:t>
            </a:r>
            <a:endParaRPr b="0"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299" name="Google Shape;299;p5"/>
          <p:cNvCxnSpPr/>
          <p:nvPr/>
        </p:nvCxnSpPr>
        <p:spPr>
          <a:xfrm>
            <a:off x="2103120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0" name="Google Shape;300;p5"/>
          <p:cNvCxnSpPr/>
          <p:nvPr/>
        </p:nvCxnSpPr>
        <p:spPr>
          <a:xfrm>
            <a:off x="2458262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1" name="Google Shape;301;p5"/>
          <p:cNvCxnSpPr/>
          <p:nvPr/>
        </p:nvCxnSpPr>
        <p:spPr>
          <a:xfrm>
            <a:off x="2813403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2" name="Google Shape;302;p5"/>
          <p:cNvCxnSpPr/>
          <p:nvPr/>
        </p:nvCxnSpPr>
        <p:spPr>
          <a:xfrm>
            <a:off x="3168545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3" name="Google Shape;303;p5"/>
          <p:cNvCxnSpPr/>
          <p:nvPr/>
        </p:nvCxnSpPr>
        <p:spPr>
          <a:xfrm>
            <a:off x="3523686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4" name="Google Shape;304;p5"/>
          <p:cNvCxnSpPr/>
          <p:nvPr/>
        </p:nvCxnSpPr>
        <p:spPr>
          <a:xfrm>
            <a:off x="3878828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5" name="Google Shape;305;p5"/>
          <p:cNvCxnSpPr/>
          <p:nvPr/>
        </p:nvCxnSpPr>
        <p:spPr>
          <a:xfrm>
            <a:off x="4233970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6" name="Google Shape;306;p5"/>
          <p:cNvCxnSpPr/>
          <p:nvPr/>
        </p:nvCxnSpPr>
        <p:spPr>
          <a:xfrm>
            <a:off x="4589111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7" name="Google Shape;307;p5"/>
          <p:cNvCxnSpPr/>
          <p:nvPr/>
        </p:nvCxnSpPr>
        <p:spPr>
          <a:xfrm>
            <a:off x="4944253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8" name="Google Shape;308;p5"/>
          <p:cNvCxnSpPr/>
          <p:nvPr/>
        </p:nvCxnSpPr>
        <p:spPr>
          <a:xfrm>
            <a:off x="5299395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9" name="Google Shape;309;p5"/>
          <p:cNvCxnSpPr/>
          <p:nvPr/>
        </p:nvCxnSpPr>
        <p:spPr>
          <a:xfrm>
            <a:off x="5654536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0" name="Google Shape;310;p5"/>
          <p:cNvCxnSpPr/>
          <p:nvPr/>
        </p:nvCxnSpPr>
        <p:spPr>
          <a:xfrm>
            <a:off x="6009678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1" name="Google Shape;311;p5"/>
          <p:cNvCxnSpPr/>
          <p:nvPr/>
        </p:nvCxnSpPr>
        <p:spPr>
          <a:xfrm>
            <a:off x="6364819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2" name="Google Shape;312;p5"/>
          <p:cNvCxnSpPr/>
          <p:nvPr/>
        </p:nvCxnSpPr>
        <p:spPr>
          <a:xfrm>
            <a:off x="6719961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3" name="Google Shape;313;p5"/>
          <p:cNvCxnSpPr/>
          <p:nvPr/>
        </p:nvCxnSpPr>
        <p:spPr>
          <a:xfrm>
            <a:off x="7075103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4" name="Google Shape;314;p5"/>
          <p:cNvCxnSpPr/>
          <p:nvPr/>
        </p:nvCxnSpPr>
        <p:spPr>
          <a:xfrm>
            <a:off x="7430244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5" name="Google Shape;315;p5"/>
          <p:cNvCxnSpPr/>
          <p:nvPr/>
        </p:nvCxnSpPr>
        <p:spPr>
          <a:xfrm>
            <a:off x="7785386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6" name="Google Shape;316;p5"/>
          <p:cNvCxnSpPr/>
          <p:nvPr/>
        </p:nvCxnSpPr>
        <p:spPr>
          <a:xfrm>
            <a:off x="8140528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7" name="Google Shape;317;p5"/>
          <p:cNvCxnSpPr/>
          <p:nvPr/>
        </p:nvCxnSpPr>
        <p:spPr>
          <a:xfrm>
            <a:off x="8495669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8" name="Google Shape;318;p5"/>
          <p:cNvCxnSpPr/>
          <p:nvPr/>
        </p:nvCxnSpPr>
        <p:spPr>
          <a:xfrm>
            <a:off x="8850811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9" name="Google Shape;319;p5"/>
          <p:cNvCxnSpPr/>
          <p:nvPr/>
        </p:nvCxnSpPr>
        <p:spPr>
          <a:xfrm>
            <a:off x="9205952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0" name="Google Shape;320;p5"/>
          <p:cNvCxnSpPr/>
          <p:nvPr/>
        </p:nvCxnSpPr>
        <p:spPr>
          <a:xfrm>
            <a:off x="9561094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1" name="Google Shape;321;p5"/>
          <p:cNvCxnSpPr/>
          <p:nvPr/>
        </p:nvCxnSpPr>
        <p:spPr>
          <a:xfrm>
            <a:off x="9916236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2" name="Google Shape;322;p5"/>
          <p:cNvCxnSpPr/>
          <p:nvPr/>
        </p:nvCxnSpPr>
        <p:spPr>
          <a:xfrm>
            <a:off x="10271377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3" name="Google Shape;323;p5"/>
          <p:cNvCxnSpPr/>
          <p:nvPr/>
        </p:nvCxnSpPr>
        <p:spPr>
          <a:xfrm>
            <a:off x="10626519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4" name="Google Shape;324;p5"/>
          <p:cNvCxnSpPr/>
          <p:nvPr/>
        </p:nvCxnSpPr>
        <p:spPr>
          <a:xfrm>
            <a:off x="10981661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5" name="Google Shape;325;p5"/>
          <p:cNvSpPr txBox="1"/>
          <p:nvPr/>
        </p:nvSpPr>
        <p:spPr>
          <a:xfrm>
            <a:off x="1874520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K0</a:t>
            </a:r>
            <a:endParaRPr b="0" i="0" sz="85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6" name="Google Shape;326;p5"/>
          <p:cNvSpPr txBox="1"/>
          <p:nvPr/>
        </p:nvSpPr>
        <p:spPr>
          <a:xfrm>
            <a:off x="2584803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K2</a:t>
            </a:r>
            <a:endParaRPr b="0" i="0" sz="85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7" name="Google Shape;327;p5"/>
          <p:cNvSpPr txBox="1"/>
          <p:nvPr/>
        </p:nvSpPr>
        <p:spPr>
          <a:xfrm>
            <a:off x="3295086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K4</a:t>
            </a:r>
            <a:endParaRPr b="0" i="0" sz="85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8" name="Google Shape;328;p5"/>
          <p:cNvSpPr txBox="1"/>
          <p:nvPr/>
        </p:nvSpPr>
        <p:spPr>
          <a:xfrm>
            <a:off x="4005370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K6</a:t>
            </a:r>
            <a:endParaRPr b="0" i="0" sz="85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9" name="Google Shape;329;p5"/>
          <p:cNvSpPr txBox="1"/>
          <p:nvPr/>
        </p:nvSpPr>
        <p:spPr>
          <a:xfrm>
            <a:off x="4715653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K8</a:t>
            </a:r>
            <a:endParaRPr b="0" i="0" sz="85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0" name="Google Shape;330;p5"/>
          <p:cNvSpPr txBox="1"/>
          <p:nvPr/>
        </p:nvSpPr>
        <p:spPr>
          <a:xfrm>
            <a:off x="5425936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K10</a:t>
            </a:r>
            <a:endParaRPr b="0" i="0" sz="85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1" name="Google Shape;331;p5"/>
          <p:cNvSpPr txBox="1"/>
          <p:nvPr/>
        </p:nvSpPr>
        <p:spPr>
          <a:xfrm>
            <a:off x="6136219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K12</a:t>
            </a:r>
            <a:endParaRPr b="0" i="0" sz="85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2" name="Google Shape;332;p5"/>
          <p:cNvSpPr txBox="1"/>
          <p:nvPr/>
        </p:nvSpPr>
        <p:spPr>
          <a:xfrm>
            <a:off x="6846503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K14</a:t>
            </a:r>
            <a:endParaRPr b="0" i="0" sz="85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3" name="Google Shape;333;p5"/>
          <p:cNvSpPr txBox="1"/>
          <p:nvPr/>
        </p:nvSpPr>
        <p:spPr>
          <a:xfrm>
            <a:off x="7556786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K16</a:t>
            </a:r>
            <a:endParaRPr b="0" i="0" sz="85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4" name="Google Shape;334;p5"/>
          <p:cNvSpPr txBox="1"/>
          <p:nvPr/>
        </p:nvSpPr>
        <p:spPr>
          <a:xfrm>
            <a:off x="8267069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K18</a:t>
            </a:r>
            <a:endParaRPr b="0" i="0" sz="85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5" name="Google Shape;335;p5"/>
          <p:cNvSpPr txBox="1"/>
          <p:nvPr/>
        </p:nvSpPr>
        <p:spPr>
          <a:xfrm>
            <a:off x="8977352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K20</a:t>
            </a:r>
            <a:endParaRPr b="0" i="0" sz="85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6" name="Google Shape;336;p5"/>
          <p:cNvSpPr txBox="1"/>
          <p:nvPr/>
        </p:nvSpPr>
        <p:spPr>
          <a:xfrm>
            <a:off x="9687636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K22</a:t>
            </a:r>
            <a:endParaRPr b="0" i="0" sz="85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7" name="Google Shape;337;p5"/>
          <p:cNvSpPr txBox="1"/>
          <p:nvPr/>
        </p:nvSpPr>
        <p:spPr>
          <a:xfrm>
            <a:off x="10397919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K24</a:t>
            </a:r>
            <a:endParaRPr b="0" i="0" sz="85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8" name="Google Shape;338;p5"/>
          <p:cNvSpPr txBox="1"/>
          <p:nvPr/>
        </p:nvSpPr>
        <p:spPr>
          <a:xfrm>
            <a:off x="10835640" y="2139696"/>
            <a:ext cx="54864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K25+490</a:t>
            </a:r>
            <a:endParaRPr b="0" i="0" sz="85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9" name="Google Shape;339;p5"/>
          <p:cNvSpPr/>
          <p:nvPr/>
        </p:nvSpPr>
        <p:spPr>
          <a:xfrm>
            <a:off x="2103120" y="2359152"/>
            <a:ext cx="9052560" cy="73152"/>
          </a:xfrm>
          <a:prstGeom prst="rect">
            <a:avLst/>
          </a:prstGeom>
          <a:solidFill>
            <a:srgbClr val="1F2A36"/>
          </a:solidFill>
          <a:ln cap="flat" cmpd="sng" w="12700">
            <a:solidFill>
              <a:srgbClr val="1F2A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340" name="Google Shape;340;p5"/>
          <p:cNvCxnSpPr/>
          <p:nvPr/>
        </p:nvCxnSpPr>
        <p:spPr>
          <a:xfrm>
            <a:off x="2139696" y="2395728"/>
            <a:ext cx="8979408" cy="0"/>
          </a:xfrm>
          <a:prstGeom prst="straightConnector1">
            <a:avLst/>
          </a:prstGeom>
          <a:noFill/>
          <a:ln cap="flat" cmpd="sng" w="9525">
            <a:solidFill>
              <a:srgbClr val="F2C94C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41" name="Google Shape;341;p5"/>
          <p:cNvCxnSpPr/>
          <p:nvPr/>
        </p:nvCxnSpPr>
        <p:spPr>
          <a:xfrm>
            <a:off x="731520" y="2487168"/>
            <a:ext cx="0" cy="338328"/>
          </a:xfrm>
          <a:prstGeom prst="straightConnector1">
            <a:avLst/>
          </a:prstGeom>
          <a:noFill/>
          <a:ln cap="flat" cmpd="sng" w="19050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2" name="Google Shape;342;p5"/>
          <p:cNvSpPr txBox="1"/>
          <p:nvPr/>
        </p:nvSpPr>
        <p:spPr>
          <a:xfrm rot="-5400000">
            <a:off x="260604" y="2574036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700"/>
              <a:buFont typeface="Calibri"/>
              <a:buNone/>
            </a:pPr>
            <a:r>
              <a:rPr b="1" i="0" lang="es-CO" sz="700" u="none" cap="none" strike="noStrike">
                <a:solidFill>
                  <a:srgbClr val="2E7D4F"/>
                </a:solidFill>
                <a:latin typeface="Poppins"/>
                <a:ea typeface="Poppins"/>
                <a:cs typeface="Poppins"/>
                <a:sym typeface="Poppins"/>
              </a:rPr>
              <a:t>CAMPO</a:t>
            </a:r>
            <a:endParaRPr b="0" i="0" sz="7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3" name="Google Shape;343;p5"/>
          <p:cNvSpPr txBox="1"/>
          <p:nvPr/>
        </p:nvSpPr>
        <p:spPr>
          <a:xfrm>
            <a:off x="777240" y="2487168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Topografía</a:t>
            </a:r>
            <a:endParaRPr b="0" i="0" sz="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4" name="Google Shape;344;p5"/>
          <p:cNvSpPr/>
          <p:nvPr/>
        </p:nvSpPr>
        <p:spPr>
          <a:xfrm>
            <a:off x="2103120" y="2487168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5" name="Google Shape;345;p5"/>
          <p:cNvSpPr/>
          <p:nvPr/>
        </p:nvSpPr>
        <p:spPr>
          <a:xfrm>
            <a:off x="5654537" y="2487168"/>
            <a:ext cx="5501144" cy="155448"/>
          </a:xfrm>
          <a:prstGeom prst="rect">
            <a:avLst/>
          </a:prstGeom>
          <a:solidFill>
            <a:srgbClr val="2E7D4F"/>
          </a:solidFill>
          <a:ln cap="flat" cmpd="sng" w="9525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6" name="Google Shape;346;p5"/>
          <p:cNvSpPr txBox="1"/>
          <p:nvPr/>
        </p:nvSpPr>
        <p:spPr>
          <a:xfrm>
            <a:off x="11201400" y="2487168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59 %</a:t>
            </a:r>
            <a:endParaRPr b="0" i="0" sz="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7" name="Google Shape;347;p5"/>
          <p:cNvSpPr txBox="1"/>
          <p:nvPr/>
        </p:nvSpPr>
        <p:spPr>
          <a:xfrm>
            <a:off x="777240" y="2670048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Apiques</a:t>
            </a:r>
            <a:endParaRPr b="0" i="0" sz="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8" name="Google Shape;348;p5"/>
          <p:cNvSpPr/>
          <p:nvPr/>
        </p:nvSpPr>
        <p:spPr>
          <a:xfrm>
            <a:off x="2103120" y="2670048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9" name="Google Shape;349;p5"/>
          <p:cNvSpPr txBox="1"/>
          <p:nvPr/>
        </p:nvSpPr>
        <p:spPr>
          <a:xfrm>
            <a:off x="11201400" y="2670048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39 %</a:t>
            </a:r>
            <a:endParaRPr b="0" i="0" sz="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350" name="Google Shape;350;p5"/>
          <p:cNvCxnSpPr/>
          <p:nvPr/>
        </p:nvCxnSpPr>
        <p:spPr>
          <a:xfrm>
            <a:off x="731520" y="2953512"/>
            <a:ext cx="0" cy="466344"/>
          </a:xfrm>
          <a:prstGeom prst="straightConnector1">
            <a:avLst/>
          </a:prstGeom>
          <a:noFill/>
          <a:ln cap="flat" cmpd="sng" w="19050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1" name="Google Shape;351;p5"/>
          <p:cNvSpPr txBox="1"/>
          <p:nvPr/>
        </p:nvSpPr>
        <p:spPr>
          <a:xfrm rot="-5400000">
            <a:off x="260604" y="3104388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700"/>
              <a:buFont typeface="Calibri"/>
              <a:buNone/>
            </a:pPr>
            <a:r>
              <a:rPr b="1" i="0" lang="es-CO" sz="700" u="none" cap="none" strike="noStrike">
                <a:solidFill>
                  <a:srgbClr val="2E7D4F"/>
                </a:solidFill>
                <a:latin typeface="Poppins"/>
                <a:ea typeface="Poppins"/>
                <a:cs typeface="Poppins"/>
                <a:sym typeface="Poppins"/>
              </a:rPr>
              <a:t>ESTRUCTURA</a:t>
            </a:r>
            <a:endParaRPr b="0" i="0" sz="7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2" name="Google Shape;352;p5"/>
          <p:cNvSpPr txBox="1"/>
          <p:nvPr/>
        </p:nvSpPr>
        <p:spPr>
          <a:xfrm>
            <a:off x="777240" y="2953512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Rodadura</a:t>
            </a:r>
            <a:endParaRPr b="0" i="0" sz="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3" name="Google Shape;353;p5"/>
          <p:cNvSpPr/>
          <p:nvPr/>
        </p:nvSpPr>
        <p:spPr>
          <a:xfrm>
            <a:off x="2103120" y="2953512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4" name="Google Shape;354;p5"/>
          <p:cNvSpPr txBox="1"/>
          <p:nvPr/>
        </p:nvSpPr>
        <p:spPr>
          <a:xfrm>
            <a:off x="11201400" y="2953512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0 %</a:t>
            </a:r>
            <a:endParaRPr b="0" i="0" sz="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5" name="Google Shape;355;p5"/>
          <p:cNvSpPr txBox="1"/>
          <p:nvPr/>
        </p:nvSpPr>
        <p:spPr>
          <a:xfrm>
            <a:off x="777240" y="3108960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Capa granular</a:t>
            </a:r>
            <a:endParaRPr b="0" i="0" sz="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6" name="Google Shape;356;p5"/>
          <p:cNvSpPr/>
          <p:nvPr/>
        </p:nvSpPr>
        <p:spPr>
          <a:xfrm>
            <a:off x="2103120" y="3108960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7" name="Google Shape;357;p5"/>
          <p:cNvSpPr txBox="1"/>
          <p:nvPr/>
        </p:nvSpPr>
        <p:spPr>
          <a:xfrm>
            <a:off x="11201400" y="3108960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0 %</a:t>
            </a:r>
            <a:endParaRPr b="0" i="0" sz="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8" name="Google Shape;358;p5"/>
          <p:cNvSpPr txBox="1"/>
          <p:nvPr/>
        </p:nvSpPr>
        <p:spPr>
          <a:xfrm>
            <a:off x="777240" y="3264408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Subrasante</a:t>
            </a:r>
            <a:endParaRPr b="0" i="0" sz="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9" name="Google Shape;359;p5"/>
          <p:cNvSpPr/>
          <p:nvPr/>
        </p:nvSpPr>
        <p:spPr>
          <a:xfrm>
            <a:off x="2103120" y="3264408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0" name="Google Shape;360;p5"/>
          <p:cNvSpPr txBox="1"/>
          <p:nvPr/>
        </p:nvSpPr>
        <p:spPr>
          <a:xfrm>
            <a:off x="11201400" y="3264408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0 %</a:t>
            </a:r>
            <a:endParaRPr b="0" i="0" sz="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361" name="Google Shape;361;p5"/>
          <p:cNvCxnSpPr/>
          <p:nvPr/>
        </p:nvCxnSpPr>
        <p:spPr>
          <a:xfrm>
            <a:off x="731520" y="3511296"/>
            <a:ext cx="0" cy="521208"/>
          </a:xfrm>
          <a:prstGeom prst="straightConnector1">
            <a:avLst/>
          </a:prstGeom>
          <a:noFill/>
          <a:ln cap="flat" cmpd="sng" w="19050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2" name="Google Shape;362;p5"/>
          <p:cNvSpPr txBox="1"/>
          <p:nvPr/>
        </p:nvSpPr>
        <p:spPr>
          <a:xfrm rot="-5400000">
            <a:off x="260604" y="3689604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700"/>
              <a:buFont typeface="Calibri"/>
              <a:buNone/>
            </a:pPr>
            <a:r>
              <a:rPr b="1" i="0" lang="es-CO" sz="700" u="none" cap="none" strike="noStrike">
                <a:solidFill>
                  <a:srgbClr val="2E7D4F"/>
                </a:solidFill>
                <a:latin typeface="Poppins"/>
                <a:ea typeface="Poppins"/>
                <a:cs typeface="Poppins"/>
                <a:sym typeface="Poppins"/>
              </a:rPr>
              <a:t>DRENAJE</a:t>
            </a:r>
            <a:endParaRPr b="0" i="0" sz="7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3" name="Google Shape;363;p5"/>
          <p:cNvSpPr txBox="1"/>
          <p:nvPr/>
        </p:nvSpPr>
        <p:spPr>
          <a:xfrm>
            <a:off x="777240" y="3511296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Cunetas</a:t>
            </a:r>
            <a:endParaRPr b="0" i="0" sz="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4" name="Google Shape;364;p5"/>
          <p:cNvSpPr/>
          <p:nvPr/>
        </p:nvSpPr>
        <p:spPr>
          <a:xfrm>
            <a:off x="2103120" y="3511296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5" name="Google Shape;365;p5"/>
          <p:cNvSpPr txBox="1"/>
          <p:nvPr/>
        </p:nvSpPr>
        <p:spPr>
          <a:xfrm>
            <a:off x="11201400" y="3511296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0 %</a:t>
            </a:r>
            <a:endParaRPr b="0" i="0" sz="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6" name="Google Shape;366;p5"/>
          <p:cNvSpPr txBox="1"/>
          <p:nvPr/>
        </p:nvSpPr>
        <p:spPr>
          <a:xfrm>
            <a:off x="777240" y="3694176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Filtros</a:t>
            </a:r>
            <a:endParaRPr b="0" i="0" sz="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7" name="Google Shape;367;p5"/>
          <p:cNvSpPr txBox="1"/>
          <p:nvPr/>
        </p:nvSpPr>
        <p:spPr>
          <a:xfrm>
            <a:off x="1920240" y="3694176"/>
            <a:ext cx="137160" cy="777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700"/>
              <a:buFont typeface="Calibri"/>
              <a:buNone/>
            </a:pPr>
            <a:r>
              <a:rPr b="0" i="0" lang="es-CO" sz="70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endParaRPr b="0" i="0" sz="7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8" name="Google Shape;368;p5"/>
          <p:cNvSpPr txBox="1"/>
          <p:nvPr/>
        </p:nvSpPr>
        <p:spPr>
          <a:xfrm>
            <a:off x="1920240" y="3771900"/>
            <a:ext cx="137160" cy="777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700"/>
              <a:buFont typeface="Calibri"/>
              <a:buNone/>
            </a:pPr>
            <a:r>
              <a:rPr b="0" i="0" lang="es-CO" sz="70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endParaRPr b="0" i="0" sz="7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9" name="Google Shape;369;p5"/>
          <p:cNvSpPr/>
          <p:nvPr/>
        </p:nvSpPr>
        <p:spPr>
          <a:xfrm>
            <a:off x="2103120" y="3694176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370" name="Google Shape;370;p5"/>
          <p:cNvCxnSpPr/>
          <p:nvPr/>
        </p:nvCxnSpPr>
        <p:spPr>
          <a:xfrm>
            <a:off x="2103120" y="3771900"/>
            <a:ext cx="9052560" cy="0"/>
          </a:xfrm>
          <a:prstGeom prst="straightConnector1">
            <a:avLst/>
          </a:prstGeom>
          <a:noFill/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1" name="Google Shape;371;p5"/>
          <p:cNvSpPr txBox="1"/>
          <p:nvPr/>
        </p:nvSpPr>
        <p:spPr>
          <a:xfrm>
            <a:off x="11201400" y="3694176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0,8 %</a:t>
            </a:r>
            <a:endParaRPr b="0" i="0" sz="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2" name="Google Shape;372;p5"/>
          <p:cNvSpPr txBox="1"/>
          <p:nvPr/>
        </p:nvSpPr>
        <p:spPr>
          <a:xfrm>
            <a:off x="777240" y="3877056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Alcantarillas</a:t>
            </a:r>
            <a:endParaRPr b="0" i="0" sz="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3" name="Google Shape;373;p5"/>
          <p:cNvSpPr/>
          <p:nvPr/>
        </p:nvSpPr>
        <p:spPr>
          <a:xfrm>
            <a:off x="2103120" y="3877056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4" name="Google Shape;374;p5"/>
          <p:cNvSpPr txBox="1"/>
          <p:nvPr/>
        </p:nvSpPr>
        <p:spPr>
          <a:xfrm>
            <a:off x="11201400" y="3877056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—</a:t>
            </a:r>
            <a:endParaRPr b="0" i="0" sz="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5" name="Google Shape;375;p5"/>
          <p:cNvSpPr txBox="1"/>
          <p:nvPr/>
        </p:nvSpPr>
        <p:spPr>
          <a:xfrm>
            <a:off x="457200" y="4078224"/>
            <a:ext cx="11277295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D9A6"/>
              </a:buClr>
              <a:buSzPts val="800"/>
              <a:buFont typeface="Calibri"/>
              <a:buNone/>
            </a:pPr>
            <a:r>
              <a:rPr b="0" i="0" lang="es-CO" sz="800" u="none" cap="none" strike="noStrike">
                <a:solidFill>
                  <a:srgbClr val="EBD9A6"/>
                </a:solidFill>
                <a:latin typeface="Poppins"/>
                <a:ea typeface="Poppins"/>
                <a:cs typeface="Poppins"/>
                <a:sym typeface="Poppins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Natural    </a:t>
            </a:r>
            <a:r>
              <a:rPr b="0" i="0" lang="es-CO" sz="800" u="none" cap="none" strike="noStrike">
                <a:solidFill>
                  <a:srgbClr val="8C6A4F"/>
                </a:solidFill>
                <a:latin typeface="Poppins"/>
                <a:ea typeface="Poppins"/>
                <a:cs typeface="Poppins"/>
                <a:sym typeface="Poppins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Cal    </a:t>
            </a:r>
            <a:r>
              <a:rPr b="0" i="0" lang="es-CO" sz="800" u="none" cap="none" strike="noStrike">
                <a:solidFill>
                  <a:srgbClr val="D9A441"/>
                </a:solidFill>
                <a:latin typeface="Poppins"/>
                <a:ea typeface="Poppins"/>
                <a:cs typeface="Poppins"/>
                <a:sym typeface="Poppins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Cemento    </a:t>
            </a:r>
            <a:r>
              <a:rPr b="0" i="0" lang="es-CO" sz="800" u="none" cap="none" strike="noStrike">
                <a:solidFill>
                  <a:srgbClr val="1F2A36"/>
                </a:solidFill>
                <a:latin typeface="Poppins"/>
                <a:ea typeface="Poppins"/>
                <a:cs typeface="Poppins"/>
                <a:sym typeface="Poppins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TSD    </a:t>
            </a:r>
            <a:r>
              <a:rPr b="0" i="0" lang="es-CO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MDC-19    </a:t>
            </a:r>
            <a:r>
              <a:rPr b="0" i="0" lang="es-CO" sz="800" u="none" cap="none" strike="noStrike">
                <a:solidFill>
                  <a:srgbClr val="2E7D4F"/>
                </a:solidFill>
                <a:latin typeface="Poppins"/>
                <a:ea typeface="Poppins"/>
                <a:cs typeface="Poppins"/>
                <a:sym typeface="Poppins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Ejecutado    </a:t>
            </a:r>
            <a:r>
              <a:rPr b="0" i="0" lang="es-CO" sz="800" u="none" cap="none" strike="noStrike">
                <a:solidFill>
                  <a:srgbClr val="A9C7B3"/>
                </a:solidFill>
                <a:latin typeface="Poppins"/>
                <a:ea typeface="Poppins"/>
                <a:cs typeface="Poppins"/>
                <a:sym typeface="Poppins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Limpieza alcantarillas    </a:t>
            </a:r>
            <a:r>
              <a:rPr b="0" i="0" lang="es-CO" sz="800" u="none" cap="none" strike="noStrike">
                <a:solidFill>
                  <a:srgbClr val="2F6FB0"/>
                </a:solidFill>
                <a:latin typeface="Poppins"/>
                <a:ea typeface="Poppins"/>
                <a:cs typeface="Poppins"/>
                <a:sym typeface="Poppins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Alcantarilla nueva    </a:t>
            </a:r>
            <a:r>
              <a:rPr b="0" i="0" lang="es-CO" sz="800" u="none" cap="none" strike="noStrike">
                <a:solidFill>
                  <a:srgbClr val="E07B24"/>
                </a:solidFill>
                <a:latin typeface="Poppins"/>
                <a:ea typeface="Poppins"/>
                <a:cs typeface="Poppins"/>
                <a:sym typeface="Poppins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Reemplazada    </a:t>
            </a:r>
            <a:endParaRPr b="0" i="0" sz="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6" name="Google Shape;376;p5"/>
          <p:cNvSpPr txBox="1"/>
          <p:nvPr/>
        </p:nvSpPr>
        <p:spPr>
          <a:xfrm>
            <a:off x="457200" y="4301688"/>
            <a:ext cx="5486400" cy="165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1000"/>
              <a:buFont typeface="Calibri"/>
              <a:buNone/>
            </a:pPr>
            <a:r>
              <a:rPr b="1" i="0" lang="es-CO" sz="900" u="none" cap="none" strike="noStrike">
                <a:solidFill>
                  <a:srgbClr val="2E7D4F"/>
                </a:solidFill>
                <a:latin typeface="Poppins"/>
                <a:ea typeface="Poppins"/>
                <a:cs typeface="Poppins"/>
                <a:sym typeface="Poppins"/>
              </a:rPr>
              <a:t>AVANCE POR ACTIVIDAD</a:t>
            </a:r>
            <a:endParaRPr b="0" i="0" sz="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7" name="Google Shape;377;p5"/>
          <p:cNvSpPr txBox="1"/>
          <p:nvPr/>
        </p:nvSpPr>
        <p:spPr>
          <a:xfrm>
            <a:off x="457200" y="4716327"/>
            <a:ext cx="2011680" cy="2570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Alcantarillas</a:t>
            </a:r>
            <a:endParaRPr b="0" i="0" sz="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8" name="Google Shape;378;p5"/>
          <p:cNvSpPr txBox="1"/>
          <p:nvPr/>
        </p:nvSpPr>
        <p:spPr>
          <a:xfrm>
            <a:off x="457200" y="4989989"/>
            <a:ext cx="2011680" cy="2570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Cunetas</a:t>
            </a:r>
            <a:endParaRPr b="0" i="0" sz="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9" name="Google Shape;379;p5"/>
          <p:cNvSpPr txBox="1"/>
          <p:nvPr/>
        </p:nvSpPr>
        <p:spPr>
          <a:xfrm>
            <a:off x="457200" y="5263651"/>
            <a:ext cx="2011680" cy="2570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Filtros</a:t>
            </a:r>
            <a:endParaRPr b="0" i="0" sz="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0" name="Google Shape;380;p5"/>
          <p:cNvSpPr txBox="1"/>
          <p:nvPr/>
        </p:nvSpPr>
        <p:spPr>
          <a:xfrm>
            <a:off x="457200" y="5537313"/>
            <a:ext cx="2011680" cy="2570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Bordillos</a:t>
            </a:r>
            <a:endParaRPr b="0" i="0" sz="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1" name="Google Shape;381;p5"/>
          <p:cNvSpPr txBox="1"/>
          <p:nvPr/>
        </p:nvSpPr>
        <p:spPr>
          <a:xfrm>
            <a:off x="457200" y="5810975"/>
            <a:ext cx="2011680" cy="2570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Estabilización</a:t>
            </a:r>
            <a:endParaRPr b="0" i="0" sz="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2" name="Google Shape;382;p5"/>
          <p:cNvSpPr txBox="1"/>
          <p:nvPr/>
        </p:nvSpPr>
        <p:spPr>
          <a:xfrm>
            <a:off x="457200" y="6084637"/>
            <a:ext cx="2011680" cy="2570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Señalización</a:t>
            </a:r>
            <a:endParaRPr b="0" i="0" sz="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3" name="Google Shape;383;p5"/>
          <p:cNvSpPr txBox="1"/>
          <p:nvPr/>
        </p:nvSpPr>
        <p:spPr>
          <a:xfrm>
            <a:off x="2651760" y="4517300"/>
            <a:ext cx="2926080" cy="2077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s-CO" sz="750" u="none" cap="none" strike="noStrike">
                <a:solidFill>
                  <a:srgbClr val="192D23"/>
                </a:solidFill>
                <a:latin typeface="Poppins"/>
                <a:ea typeface="Poppins"/>
                <a:cs typeface="Poppins"/>
                <a:sym typeface="Poppins"/>
              </a:rPr>
              <a:t>Presupuestada  </a:t>
            </a:r>
            <a:r>
              <a:rPr b="0" i="0" lang="es-CO" sz="750" u="none" cap="none" strike="noStrike">
                <a:solidFill>
                  <a:srgbClr val="A9C7B3"/>
                </a:solidFill>
                <a:latin typeface="Poppins"/>
                <a:ea typeface="Poppins"/>
                <a:cs typeface="Poppins"/>
                <a:sym typeface="Poppins"/>
              </a:rPr>
              <a:t>■</a:t>
            </a:r>
            <a:r>
              <a:rPr b="0" i="0" lang="es-CO" sz="750" u="none" cap="none" strike="noStrike">
                <a:solidFill>
                  <a:srgbClr val="192D23"/>
                </a:solidFill>
                <a:latin typeface="Poppins"/>
                <a:ea typeface="Poppins"/>
                <a:cs typeface="Poppins"/>
                <a:sym typeface="Poppins"/>
              </a:rPr>
              <a:t>    Real  </a:t>
            </a:r>
            <a:r>
              <a:rPr b="0" i="0" lang="es-CO" sz="750" u="none" cap="none" strike="noStrike">
                <a:solidFill>
                  <a:srgbClr val="2E7D4F"/>
                </a:solidFill>
                <a:latin typeface="Poppins"/>
                <a:ea typeface="Poppins"/>
                <a:cs typeface="Poppins"/>
                <a:sym typeface="Poppins"/>
              </a:rPr>
              <a:t>■</a:t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4" name="Google Shape;384;p5"/>
          <p:cNvSpPr/>
          <p:nvPr/>
        </p:nvSpPr>
        <p:spPr>
          <a:xfrm>
            <a:off x="2551176" y="4732912"/>
            <a:ext cx="3113349" cy="62195"/>
          </a:xfrm>
          <a:prstGeom prst="rect">
            <a:avLst/>
          </a:prstGeom>
          <a:solidFill>
            <a:srgbClr val="A9C7B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5" name="Google Shape;385;p5"/>
          <p:cNvSpPr/>
          <p:nvPr/>
        </p:nvSpPr>
        <p:spPr>
          <a:xfrm>
            <a:off x="2551176" y="5006573"/>
            <a:ext cx="3097140" cy="62195"/>
          </a:xfrm>
          <a:prstGeom prst="rect">
            <a:avLst/>
          </a:prstGeom>
          <a:solidFill>
            <a:srgbClr val="A9C7B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6" name="Google Shape;386;p5"/>
          <p:cNvSpPr/>
          <p:nvPr/>
        </p:nvSpPr>
        <p:spPr>
          <a:xfrm>
            <a:off x="2551176" y="5280235"/>
            <a:ext cx="4096512" cy="62195"/>
          </a:xfrm>
          <a:prstGeom prst="rect">
            <a:avLst/>
          </a:prstGeom>
          <a:solidFill>
            <a:srgbClr val="A9C7B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7" name="Google Shape;387;p5"/>
          <p:cNvSpPr/>
          <p:nvPr/>
        </p:nvSpPr>
        <p:spPr>
          <a:xfrm>
            <a:off x="2551176" y="5553897"/>
            <a:ext cx="4096512" cy="62195"/>
          </a:xfrm>
          <a:prstGeom prst="rect">
            <a:avLst/>
          </a:prstGeom>
          <a:solidFill>
            <a:srgbClr val="A9C7B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8" name="Google Shape;388;p5"/>
          <p:cNvSpPr/>
          <p:nvPr/>
        </p:nvSpPr>
        <p:spPr>
          <a:xfrm>
            <a:off x="2551176" y="5827559"/>
            <a:ext cx="4096512" cy="62195"/>
          </a:xfrm>
          <a:prstGeom prst="rect">
            <a:avLst/>
          </a:prstGeom>
          <a:solidFill>
            <a:srgbClr val="A9C7B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9" name="Google Shape;389;p5"/>
          <p:cNvSpPr/>
          <p:nvPr/>
        </p:nvSpPr>
        <p:spPr>
          <a:xfrm>
            <a:off x="2551176" y="6101222"/>
            <a:ext cx="4096512" cy="62195"/>
          </a:xfrm>
          <a:prstGeom prst="rect">
            <a:avLst/>
          </a:prstGeom>
          <a:solidFill>
            <a:srgbClr val="A9C7B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0" name="Google Shape;390;p5"/>
          <p:cNvSpPr/>
          <p:nvPr/>
        </p:nvSpPr>
        <p:spPr>
          <a:xfrm>
            <a:off x="2551176" y="4803400"/>
            <a:ext cx="4096512" cy="62195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1" name="Google Shape;391;p5"/>
          <p:cNvSpPr/>
          <p:nvPr/>
        </p:nvSpPr>
        <p:spPr>
          <a:xfrm>
            <a:off x="2551176" y="5077062"/>
            <a:ext cx="4096512" cy="62195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2" name="Google Shape;392;p5"/>
          <p:cNvSpPr/>
          <p:nvPr/>
        </p:nvSpPr>
        <p:spPr>
          <a:xfrm>
            <a:off x="2551176" y="5350724"/>
            <a:ext cx="4089601" cy="62195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3" name="Google Shape;393;p5"/>
          <p:cNvSpPr/>
          <p:nvPr/>
        </p:nvSpPr>
        <p:spPr>
          <a:xfrm>
            <a:off x="2551176" y="5624386"/>
            <a:ext cx="343920" cy="62195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4" name="Google Shape;394;p5"/>
          <p:cNvSpPr/>
          <p:nvPr/>
        </p:nvSpPr>
        <p:spPr>
          <a:xfrm>
            <a:off x="2551176" y="5898048"/>
            <a:ext cx="4096512" cy="62195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5" name="Google Shape;395;p5"/>
          <p:cNvSpPr/>
          <p:nvPr/>
        </p:nvSpPr>
        <p:spPr>
          <a:xfrm>
            <a:off x="2551176" y="6171711"/>
            <a:ext cx="4096512" cy="62195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6" name="Google Shape;396;p5"/>
          <p:cNvSpPr/>
          <p:nvPr/>
        </p:nvSpPr>
        <p:spPr>
          <a:xfrm>
            <a:off x="7628015" y="2670048"/>
            <a:ext cx="3528000" cy="155448"/>
          </a:xfrm>
          <a:prstGeom prst="rect">
            <a:avLst/>
          </a:prstGeom>
          <a:solidFill>
            <a:srgbClr val="2E7D4F"/>
          </a:solidFill>
          <a:ln cap="flat" cmpd="sng" w="9525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aphicFrame>
        <p:nvGraphicFramePr>
          <p:cNvPr id="397" name="Google Shape;397;p5"/>
          <p:cNvGraphicFramePr/>
          <p:nvPr/>
        </p:nvGraphicFramePr>
        <p:xfrm>
          <a:off x="6766560" y="449380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{9EE2CB2E-1363-49F8-B8BA-952F5347F8D7}</a:tableStyleId>
              </a:tblPr>
              <a:tblGrid>
                <a:gridCol w="457200"/>
                <a:gridCol w="841250"/>
                <a:gridCol w="841250"/>
                <a:gridCol w="914400"/>
                <a:gridCol w="914400"/>
                <a:gridCol w="850400"/>
              </a:tblGrid>
              <a:tr h="281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1" lang="es-CO" sz="7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Unidad</a:t>
                      </a:r>
                      <a:endParaRPr sz="7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1" lang="es-CO" sz="7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Presupuestada</a:t>
                      </a:r>
                      <a:endParaRPr sz="7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1" lang="es-CO" sz="7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Real</a:t>
                      </a:r>
                      <a:endParaRPr sz="7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1" lang="es-CO" sz="7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Ejec. anterior</a:t>
                      </a:r>
                      <a:endParaRPr sz="7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1" lang="es-CO" sz="7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Ejec. actual</a:t>
                      </a:r>
                      <a:endParaRPr sz="7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1" lang="es-CO" sz="7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Δ semana</a:t>
                      </a:r>
                      <a:endParaRPr sz="7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</a:tr>
              <a:tr h="24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s-CO" sz="80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und</a:t>
                      </a:r>
                      <a:endParaRPr sz="8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s-CO" sz="8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57</a:t>
                      </a:r>
                      <a:endParaRPr sz="8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s-CO" sz="8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75</a:t>
                      </a:r>
                      <a:endParaRPr sz="8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s-CO" sz="800" u="none" cap="none" strike="noStrike">
                          <a:solidFill>
                            <a:srgbClr val="5F6B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8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s-CO" sz="800" u="none" cap="none" strike="noStrike">
                          <a:solidFill>
                            <a:srgbClr val="5F6B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8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s-CO" sz="800" u="none" cap="none" strike="noStrike">
                          <a:solidFill>
                            <a:srgbClr val="8A94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8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4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s-CO" sz="80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ml</a:t>
                      </a:r>
                      <a:endParaRPr sz="8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s-CO" sz="8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25.490</a:t>
                      </a:r>
                      <a:endParaRPr sz="8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s-CO" sz="8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33.715</a:t>
                      </a:r>
                      <a:endParaRPr sz="8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s-CO" sz="800" u="none" cap="none" strike="noStrike">
                          <a:solidFill>
                            <a:srgbClr val="5F6B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8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O" sz="8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8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s-CO" sz="800" u="none" cap="none" strike="noStrike">
                          <a:solidFill>
                            <a:srgbClr val="8A94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8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24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s-CO" sz="80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ml</a:t>
                      </a:r>
                      <a:endParaRPr sz="8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s-CO" sz="8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25.490</a:t>
                      </a:r>
                      <a:endParaRPr sz="8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s-CO" sz="8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25.447</a:t>
                      </a:r>
                      <a:endParaRPr sz="8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s-CO" sz="800" u="none" cap="none" strike="noStrike">
                          <a:solidFill>
                            <a:srgbClr val="5F6B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193</a:t>
                      </a:r>
                      <a:endParaRPr sz="8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O" sz="8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193</a:t>
                      </a:r>
                      <a:endParaRPr sz="8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s-CO" sz="800" u="none" cap="none" strike="noStrike">
                          <a:solidFill>
                            <a:srgbClr val="8A94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8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4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s-CO" sz="80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ml</a:t>
                      </a:r>
                      <a:endParaRPr sz="8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s-CO" sz="8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5.098</a:t>
                      </a:r>
                      <a:endParaRPr sz="8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s-CO" sz="8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428</a:t>
                      </a:r>
                      <a:endParaRPr sz="8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s-CO" sz="800" u="none" cap="none" strike="noStrike">
                          <a:solidFill>
                            <a:srgbClr val="5F6B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8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O" sz="8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s.r.</a:t>
                      </a:r>
                      <a:endParaRPr sz="8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s-CO" sz="800" u="none" cap="none" strike="noStrike">
                          <a:solidFill>
                            <a:srgbClr val="8A94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8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24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s-CO" sz="80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m²</a:t>
                      </a:r>
                      <a:endParaRPr sz="8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s-CO" sz="8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127.450</a:t>
                      </a:r>
                      <a:endParaRPr sz="8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s-CO" sz="8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127.450</a:t>
                      </a:r>
                      <a:endParaRPr sz="8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s-CO" sz="800" u="none" cap="none" strike="noStrike">
                          <a:solidFill>
                            <a:srgbClr val="5F6B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8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O" sz="8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8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s-CO" sz="800" u="none" cap="none" strike="noStrike">
                          <a:solidFill>
                            <a:srgbClr val="8A94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8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4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s-CO" sz="80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ml</a:t>
                      </a:r>
                      <a:endParaRPr sz="8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s-CO" sz="8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76.470</a:t>
                      </a:r>
                      <a:endParaRPr sz="8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s-CO" sz="8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76.470</a:t>
                      </a:r>
                      <a:endParaRPr sz="8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s-CO" sz="800" u="none" cap="none" strike="noStrike">
                          <a:solidFill>
                            <a:srgbClr val="5F6B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8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O" sz="8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s.r.</a:t>
                      </a:r>
                      <a:endParaRPr sz="8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s-CO" sz="800" u="none" cap="none" strike="noStrike">
                          <a:solidFill>
                            <a:srgbClr val="8A94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8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</a:tbl>
          </a:graphicData>
        </a:graphic>
      </p:graphicFrame>
      <p:sp>
        <p:nvSpPr>
          <p:cNvPr id="398" name="Google Shape;398;p5"/>
          <p:cNvSpPr/>
          <p:nvPr/>
        </p:nvSpPr>
        <p:spPr>
          <a:xfrm>
            <a:off x="11057362" y="3771900"/>
            <a:ext cx="72000" cy="73152"/>
          </a:xfrm>
          <a:prstGeom prst="rect">
            <a:avLst/>
          </a:prstGeom>
          <a:solidFill>
            <a:srgbClr val="2E7D4F"/>
          </a:solidFill>
          <a:ln cap="flat" cmpd="sng" w="9525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9" name="Google Shape;399;p5"/>
          <p:cNvSpPr txBox="1"/>
          <p:nvPr/>
        </p:nvSpPr>
        <p:spPr>
          <a:xfrm>
            <a:off x="457200" y="6400000"/>
            <a:ext cx="5000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s-CO" sz="900" u="none" cap="none" strike="noStrike">
                <a:solidFill>
                  <a:srgbClr val="2E7D4F"/>
                </a:solidFill>
                <a:latin typeface="Poppins"/>
                <a:ea typeface="Poppins"/>
                <a:cs typeface="Poppins"/>
                <a:sym typeface="Poppins"/>
              </a:rPr>
              <a:t>TIEMPO TRANSCURRIDO DEL PLAZO CONTRACTUAL</a:t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0" name="Google Shape;400;p5"/>
          <p:cNvSpPr txBox="1"/>
          <p:nvPr/>
        </p:nvSpPr>
        <p:spPr>
          <a:xfrm>
            <a:off x="5000000" y="6400000"/>
            <a:ext cx="6734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-CO" sz="80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Inicio: </a:t>
            </a:r>
            <a:r>
              <a:rPr b="1" i="0" lang="es-CO" sz="8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01/06/2026</a:t>
            </a:r>
            <a:r>
              <a:rPr b="0" i="0" lang="es-CO" sz="80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   ·   Terminación: </a:t>
            </a:r>
            <a:r>
              <a:rPr b="1" i="0" lang="es-CO" sz="8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20/04/2027</a:t>
            </a:r>
            <a:r>
              <a:rPr b="0" i="0" lang="es-CO" sz="80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   ·   Al: </a:t>
            </a:r>
            <a:r>
              <a:rPr b="1" i="0" lang="es-CO" sz="8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02/10/2026</a:t>
            </a:r>
            <a:r>
              <a:rPr b="0" i="1" lang="es-CO" sz="80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   ·   123 de 323 días</a:t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1" name="Google Shape;401;p5"/>
          <p:cNvSpPr/>
          <p:nvPr/>
        </p:nvSpPr>
        <p:spPr>
          <a:xfrm>
            <a:off x="457200" y="6598920"/>
            <a:ext cx="11277600" cy="164592"/>
          </a:xfrm>
          <a:prstGeom prst="roundRect">
            <a:avLst>
              <a:gd fmla="val 50000" name="adj"/>
            </a:avLst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5"/>
          <p:cNvSpPr/>
          <p:nvPr/>
        </p:nvSpPr>
        <p:spPr>
          <a:xfrm>
            <a:off x="457200" y="6598920"/>
            <a:ext cx="4294565" cy="164592"/>
          </a:xfrm>
          <a:prstGeom prst="roundRect">
            <a:avLst>
              <a:gd fmla="val 50000" name="adj"/>
            </a:avLst>
          </a:prstGeom>
          <a:solidFill>
            <a:srgbClr val="2E7D4F"/>
          </a:solidFill>
          <a:ln cap="flat" cmpd="sng" w="9525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s-CO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38,1 %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3" name="Google Shape;403;p5"/>
          <p:cNvCxnSpPr/>
          <p:nvPr/>
        </p:nvCxnSpPr>
        <p:spPr>
          <a:xfrm>
            <a:off x="1504655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4" name="Google Shape;404;p5"/>
          <p:cNvCxnSpPr/>
          <p:nvPr/>
        </p:nvCxnSpPr>
        <p:spPr>
          <a:xfrm>
            <a:off x="2587025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5" name="Google Shape;405;p5"/>
          <p:cNvCxnSpPr/>
          <p:nvPr/>
        </p:nvCxnSpPr>
        <p:spPr>
          <a:xfrm>
            <a:off x="3669395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6" name="Google Shape;406;p5"/>
          <p:cNvCxnSpPr/>
          <p:nvPr/>
        </p:nvCxnSpPr>
        <p:spPr>
          <a:xfrm>
            <a:off x="4716850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7" name="Google Shape;407;p5"/>
          <p:cNvCxnSpPr/>
          <p:nvPr/>
        </p:nvCxnSpPr>
        <p:spPr>
          <a:xfrm>
            <a:off x="5799221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8" name="Google Shape;408;p5"/>
          <p:cNvCxnSpPr/>
          <p:nvPr/>
        </p:nvCxnSpPr>
        <p:spPr>
          <a:xfrm>
            <a:off x="6846676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9" name="Google Shape;409;p5"/>
          <p:cNvCxnSpPr/>
          <p:nvPr/>
        </p:nvCxnSpPr>
        <p:spPr>
          <a:xfrm>
            <a:off x="7929046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0" name="Google Shape;410;p5"/>
          <p:cNvCxnSpPr/>
          <p:nvPr/>
        </p:nvCxnSpPr>
        <p:spPr>
          <a:xfrm>
            <a:off x="9011416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1" name="Google Shape;411;p5"/>
          <p:cNvCxnSpPr/>
          <p:nvPr/>
        </p:nvCxnSpPr>
        <p:spPr>
          <a:xfrm>
            <a:off x="9989041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2" name="Google Shape;412;p5"/>
          <p:cNvCxnSpPr/>
          <p:nvPr/>
        </p:nvCxnSpPr>
        <p:spPr>
          <a:xfrm>
            <a:off x="11071411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3" name="Google Shape;413;p5"/>
          <p:cNvCxnSpPr/>
          <p:nvPr/>
        </p:nvCxnSpPr>
        <p:spPr>
          <a:xfrm>
            <a:off x="4751765" y="6562344"/>
            <a:ext cx="0" cy="237744"/>
          </a:xfrm>
          <a:prstGeom prst="straightConnector1">
            <a:avLst/>
          </a:prstGeom>
          <a:noFill/>
          <a:ln cap="flat" cmpd="sng" w="19050">
            <a:solidFill>
              <a:srgbClr val="B3261E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6"/>
          <p:cNvSpPr txBox="1"/>
          <p:nvPr/>
        </p:nvSpPr>
        <p:spPr>
          <a:xfrm>
            <a:off x="457200" y="320040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1200"/>
              <a:buFont typeface="Calibri"/>
              <a:buNone/>
            </a:pPr>
            <a:r>
              <a:rPr b="1" i="0" lang="es-CO" sz="1200" u="none" cap="none" strike="noStrike">
                <a:solidFill>
                  <a:srgbClr val="2E7D4F"/>
                </a:solidFill>
                <a:latin typeface="Poppins"/>
                <a:ea typeface="Poppins"/>
                <a:cs typeface="Poppins"/>
                <a:sym typeface="Poppins"/>
              </a:rPr>
              <a:t>INFORME DE VARIACIÓN DE ALCANCES  ·  LOTE 1 – SUBREGIÓN ORIENTE</a:t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20" name="Google Shape;420;p6"/>
          <p:cNvSpPr txBox="1"/>
          <p:nvPr/>
        </p:nvSpPr>
        <p:spPr>
          <a:xfrm>
            <a:off x="457200" y="594360"/>
            <a:ext cx="9692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2800"/>
              <a:buFont typeface="Calibri"/>
              <a:buNone/>
            </a:pPr>
            <a:r>
              <a:rPr b="1" i="0" lang="es-CO" sz="28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San Vicente – El Peñol</a:t>
            </a:r>
            <a:endParaRPr b="0" i="0" sz="2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descr="logo.png" id="421" name="Google Shape;42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78440" y="320040"/>
            <a:ext cx="1371600" cy="676656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6"/>
          <p:cNvSpPr/>
          <p:nvPr/>
        </p:nvSpPr>
        <p:spPr>
          <a:xfrm>
            <a:off x="457200" y="132588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23" name="Google Shape;423;p6"/>
          <p:cNvSpPr txBox="1"/>
          <p:nvPr/>
        </p:nvSpPr>
        <p:spPr>
          <a:xfrm>
            <a:off x="594360" y="1417320"/>
            <a:ext cx="183483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100"/>
              <a:buFont typeface="Calibri"/>
              <a:buNone/>
            </a:pPr>
            <a:r>
              <a:rPr b="0" i="0" lang="es-CO" sz="110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Longitud contractual</a:t>
            </a:r>
            <a:endParaRPr b="0" i="0" sz="11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24" name="Google Shape;424;p6"/>
          <p:cNvSpPr txBox="1"/>
          <p:nvPr/>
        </p:nvSpPr>
        <p:spPr>
          <a:xfrm>
            <a:off x="594360" y="1691640"/>
            <a:ext cx="183483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700"/>
              <a:buFont typeface="Calibri"/>
              <a:buNone/>
            </a:pPr>
            <a:r>
              <a:rPr b="1" i="0" lang="es-CO" sz="17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18,15 km</a:t>
            </a:r>
            <a:endParaRPr b="0" i="0" sz="17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25" name="Google Shape;425;p6"/>
          <p:cNvSpPr/>
          <p:nvPr/>
        </p:nvSpPr>
        <p:spPr>
          <a:xfrm>
            <a:off x="2749235" y="132588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26" name="Google Shape;426;p6"/>
          <p:cNvSpPr txBox="1"/>
          <p:nvPr/>
        </p:nvSpPr>
        <p:spPr>
          <a:xfrm>
            <a:off x="2886395" y="1417320"/>
            <a:ext cx="183483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100"/>
              <a:buFont typeface="Calibri"/>
              <a:buNone/>
            </a:pPr>
            <a:r>
              <a:rPr b="0" i="0" lang="es-CO" sz="110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Longitud probable a cubrir</a:t>
            </a:r>
            <a:endParaRPr b="0" i="0" sz="11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27" name="Google Shape;427;p6"/>
          <p:cNvSpPr txBox="1"/>
          <p:nvPr/>
        </p:nvSpPr>
        <p:spPr>
          <a:xfrm>
            <a:off x="2886395" y="1691640"/>
            <a:ext cx="183483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700"/>
              <a:buFont typeface="Calibri"/>
              <a:buNone/>
            </a:pPr>
            <a:r>
              <a:rPr b="1" i="0" lang="es-CO" sz="17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12,70 km</a:t>
            </a:r>
            <a:endParaRPr b="0" i="0" sz="17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28" name="Google Shape;428;p6"/>
          <p:cNvSpPr/>
          <p:nvPr/>
        </p:nvSpPr>
        <p:spPr>
          <a:xfrm>
            <a:off x="5041270" y="132588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29" name="Google Shape;429;p6"/>
          <p:cNvSpPr txBox="1"/>
          <p:nvPr/>
        </p:nvSpPr>
        <p:spPr>
          <a:xfrm>
            <a:off x="5178430" y="1417320"/>
            <a:ext cx="183483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100"/>
              <a:buFont typeface="Calibri"/>
              <a:buNone/>
            </a:pPr>
            <a:r>
              <a:rPr b="0" i="0" lang="es-CO" sz="110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Valor por km contractual</a:t>
            </a:r>
            <a:endParaRPr b="0" i="0" sz="11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0" name="Google Shape;430;p6"/>
          <p:cNvSpPr txBox="1"/>
          <p:nvPr/>
        </p:nvSpPr>
        <p:spPr>
          <a:xfrm>
            <a:off x="5178430" y="1691640"/>
            <a:ext cx="183483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700"/>
              <a:buFont typeface="Calibri"/>
              <a:buNone/>
            </a:pPr>
            <a:r>
              <a:rPr b="1" i="0" lang="es-CO" sz="17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$ 972.274.441</a:t>
            </a:r>
            <a:endParaRPr b="0" i="0" sz="17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1" name="Google Shape;431;p6"/>
          <p:cNvSpPr/>
          <p:nvPr/>
        </p:nvSpPr>
        <p:spPr>
          <a:xfrm>
            <a:off x="7333305" y="132588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2" name="Google Shape;432;p6"/>
          <p:cNvSpPr txBox="1"/>
          <p:nvPr/>
        </p:nvSpPr>
        <p:spPr>
          <a:xfrm>
            <a:off x="7470465" y="1417320"/>
            <a:ext cx="183483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100"/>
              <a:buFont typeface="Calibri"/>
              <a:buNone/>
            </a:pPr>
            <a:r>
              <a:rPr b="0" i="0" lang="es-CO" sz="110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Valor por km proyectado</a:t>
            </a:r>
            <a:endParaRPr b="0" i="0" sz="11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3" name="Google Shape;433;p6"/>
          <p:cNvSpPr txBox="1"/>
          <p:nvPr/>
        </p:nvSpPr>
        <p:spPr>
          <a:xfrm>
            <a:off x="7470465" y="1691640"/>
            <a:ext cx="183483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700"/>
              <a:buFont typeface="Calibri"/>
              <a:buNone/>
            </a:pPr>
            <a:r>
              <a:rPr b="1" i="0" lang="es-CO" sz="17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$ 1.325.235.279</a:t>
            </a:r>
            <a:endParaRPr b="0" i="0" sz="17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4" name="Google Shape;434;p6"/>
          <p:cNvSpPr/>
          <p:nvPr/>
        </p:nvSpPr>
        <p:spPr>
          <a:xfrm>
            <a:off x="9625340" y="132588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FBEAEA"/>
          </a:solidFill>
          <a:ln cap="flat" cmpd="sng" w="12700">
            <a:solidFill>
              <a:srgbClr val="FBEA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5" name="Google Shape;435;p6"/>
          <p:cNvSpPr txBox="1"/>
          <p:nvPr/>
        </p:nvSpPr>
        <p:spPr>
          <a:xfrm>
            <a:off x="9762500" y="1417320"/>
            <a:ext cx="183483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100"/>
              <a:buFont typeface="Calibri"/>
              <a:buNone/>
            </a:pPr>
            <a:r>
              <a:rPr b="0" i="0" lang="es-CO" sz="110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Variación total (valor adicional)</a:t>
            </a:r>
            <a:endParaRPr b="0" i="0" sz="11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6" name="Google Shape;436;p6"/>
          <p:cNvSpPr txBox="1"/>
          <p:nvPr/>
        </p:nvSpPr>
        <p:spPr>
          <a:xfrm>
            <a:off x="9762500" y="1691640"/>
            <a:ext cx="183483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261E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B3261E"/>
                </a:solidFill>
                <a:latin typeface="Poppins"/>
                <a:ea typeface="Poppins"/>
                <a:cs typeface="Poppins"/>
                <a:sym typeface="Poppins"/>
              </a:rPr>
              <a:t>▲ </a:t>
            </a:r>
            <a:r>
              <a:rPr b="1" i="0" lang="es-CO" sz="1500" u="none" cap="none" strike="noStrike">
                <a:solidFill>
                  <a:srgbClr val="B3261E"/>
                </a:solidFill>
                <a:latin typeface="Poppins"/>
                <a:ea typeface="Poppins"/>
                <a:cs typeface="Poppins"/>
                <a:sym typeface="Poppins"/>
              </a:rPr>
              <a:t>$ 6.406.239.200</a:t>
            </a:r>
            <a:endParaRPr b="0"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7" name="Google Shape;437;p6"/>
          <p:cNvSpPr/>
          <p:nvPr/>
        </p:nvSpPr>
        <p:spPr>
          <a:xfrm>
            <a:off x="457200" y="2423160"/>
            <a:ext cx="3154680" cy="4114800"/>
          </a:xfrm>
          <a:prstGeom prst="roundRect">
            <a:avLst>
              <a:gd fmla="val 1739" name="adj"/>
            </a:avLst>
          </a:prstGeom>
          <a:solidFill>
            <a:srgbClr val="FFFFFF"/>
          </a:solidFill>
          <a:ln cap="flat" cmpd="sng" w="12700">
            <a:solidFill>
              <a:srgbClr val="D5DD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8" name="Google Shape;438;p6"/>
          <p:cNvSpPr txBox="1"/>
          <p:nvPr/>
        </p:nvSpPr>
        <p:spPr>
          <a:xfrm>
            <a:off x="640080" y="2560320"/>
            <a:ext cx="2788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1100"/>
              <a:buFont typeface="Calibri"/>
              <a:buNone/>
            </a:pPr>
            <a:r>
              <a:rPr b="1" i="0" lang="es-CO" sz="1100" u="none" cap="none" strike="noStrike">
                <a:solidFill>
                  <a:srgbClr val="2E7D4F"/>
                </a:solidFill>
                <a:latin typeface="Poppins"/>
                <a:ea typeface="Poppins"/>
                <a:cs typeface="Poppins"/>
                <a:sym typeface="Poppins"/>
              </a:rPr>
              <a:t>ESTRUCTURA DE PAVIMENTO</a:t>
            </a:r>
            <a:endParaRPr b="0" i="0" sz="11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9" name="Google Shape;439;p6"/>
          <p:cNvSpPr txBox="1"/>
          <p:nvPr/>
        </p:nvSpPr>
        <p:spPr>
          <a:xfrm>
            <a:off x="640080" y="2816352"/>
            <a:ext cx="2788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1" i="0" lang="es-CO" sz="10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San Vicente – El Peñol</a:t>
            </a:r>
            <a:endParaRPr b="0"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0" name="Google Shape;440;p6"/>
          <p:cNvSpPr txBox="1"/>
          <p:nvPr/>
        </p:nvSpPr>
        <p:spPr>
          <a:xfrm>
            <a:off x="640080" y="3172968"/>
            <a:ext cx="2788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LOTE 1 · Longitud: 18.150 m</a:t>
            </a:r>
            <a:br>
              <a:rPr b="0" i="0" lang="es-CO" sz="90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b="0" i="0" lang="es-CO" sz="90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Tránsito – Estructuración: 307.000</a:t>
            </a:r>
            <a:br>
              <a:rPr b="0" i="0" lang="es-CO" sz="90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b="0" i="0" lang="es-CO" sz="90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Tránsito – Diseño: 305.611</a:t>
            </a:r>
            <a:endParaRPr b="0" i="0" sz="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1" name="Google Shape;441;p6"/>
          <p:cNvSpPr txBox="1"/>
          <p:nvPr/>
        </p:nvSpPr>
        <p:spPr>
          <a:xfrm>
            <a:off x="457200" y="3794760"/>
            <a:ext cx="15773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1" i="0" lang="es-CO" sz="10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Teórica</a:t>
            </a:r>
            <a:endParaRPr b="0"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2" name="Google Shape;442;p6"/>
          <p:cNvSpPr/>
          <p:nvPr/>
        </p:nvSpPr>
        <p:spPr>
          <a:xfrm>
            <a:off x="560070" y="4087368"/>
            <a:ext cx="960120" cy="182880"/>
          </a:xfrm>
          <a:prstGeom prst="rect">
            <a:avLst/>
          </a:prstGeom>
          <a:solidFill>
            <a:srgbClr val="1F2A36"/>
          </a:solidFill>
          <a:ln cap="flat" cmpd="sng" w="12700">
            <a:solidFill>
              <a:srgbClr val="1F2A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3" name="Google Shape;443;p6"/>
          <p:cNvSpPr txBox="1"/>
          <p:nvPr/>
        </p:nvSpPr>
        <p:spPr>
          <a:xfrm>
            <a:off x="560070" y="4087368"/>
            <a:ext cx="9601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s-CO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TSD</a:t>
            </a:r>
            <a:endParaRPr b="0" i="0" sz="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4" name="Google Shape;444;p6"/>
          <p:cNvSpPr/>
          <p:nvPr/>
        </p:nvSpPr>
        <p:spPr>
          <a:xfrm>
            <a:off x="560070" y="4270248"/>
            <a:ext cx="960120" cy="1056132"/>
          </a:xfrm>
          <a:prstGeom prst="rect">
            <a:avLst/>
          </a:prstGeom>
          <a:solidFill>
            <a:srgbClr val="D9A44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5" name="Google Shape;445;p6"/>
          <p:cNvSpPr txBox="1"/>
          <p:nvPr/>
        </p:nvSpPr>
        <p:spPr>
          <a:xfrm>
            <a:off x="551657" y="4039036"/>
            <a:ext cx="960120" cy="105613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800"/>
              <a:buFont typeface="Calibri"/>
              <a:buNone/>
            </a:pPr>
            <a:r>
              <a:rPr b="1" i="0" lang="es-CO" sz="8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BGTC</a:t>
            </a:r>
            <a:endParaRPr b="0" i="0" sz="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6" name="Google Shape;446;p6"/>
          <p:cNvSpPr txBox="1"/>
          <p:nvPr/>
        </p:nvSpPr>
        <p:spPr>
          <a:xfrm>
            <a:off x="1575054" y="4270248"/>
            <a:ext cx="457200" cy="10561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28 cm</a:t>
            </a:r>
            <a:endParaRPr b="0" i="0" sz="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7" name="Google Shape;447;p6"/>
          <p:cNvSpPr/>
          <p:nvPr/>
        </p:nvSpPr>
        <p:spPr>
          <a:xfrm>
            <a:off x="560070" y="5326380"/>
            <a:ext cx="960120" cy="754380"/>
          </a:xfrm>
          <a:prstGeom prst="rect">
            <a:avLst/>
          </a:prstGeom>
          <a:solidFill>
            <a:srgbClr val="8C6A4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8" name="Google Shape;448;p6"/>
          <p:cNvSpPr txBox="1"/>
          <p:nvPr/>
        </p:nvSpPr>
        <p:spPr>
          <a:xfrm>
            <a:off x="560070" y="5326380"/>
            <a:ext cx="960120" cy="754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s-CO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Base tratada con cal</a:t>
            </a:r>
            <a:endParaRPr b="0" i="0" sz="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9" name="Google Shape;449;p6"/>
          <p:cNvSpPr txBox="1"/>
          <p:nvPr/>
        </p:nvSpPr>
        <p:spPr>
          <a:xfrm>
            <a:off x="1575054" y="5326380"/>
            <a:ext cx="457200" cy="754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20 cm</a:t>
            </a:r>
            <a:endParaRPr b="0" i="0" sz="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450" name="Google Shape;450;p6"/>
          <p:cNvCxnSpPr/>
          <p:nvPr/>
        </p:nvCxnSpPr>
        <p:spPr>
          <a:xfrm>
            <a:off x="468630" y="6080760"/>
            <a:ext cx="1143000" cy="0"/>
          </a:xfrm>
          <a:prstGeom prst="straightConnector1">
            <a:avLst/>
          </a:prstGeom>
          <a:noFill/>
          <a:ln cap="flat" cmpd="sng" w="12700">
            <a:solidFill>
              <a:srgbClr val="1D2B2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1" name="Google Shape;451;p6"/>
          <p:cNvSpPr txBox="1"/>
          <p:nvPr/>
        </p:nvSpPr>
        <p:spPr>
          <a:xfrm>
            <a:off x="457200" y="6153912"/>
            <a:ext cx="15773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10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Espesor total: </a:t>
            </a:r>
            <a:r>
              <a:rPr b="1" i="0" lang="es-CO" sz="10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48 cm</a:t>
            </a:r>
            <a:endParaRPr b="0"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52" name="Google Shape;452;p6"/>
          <p:cNvSpPr txBox="1"/>
          <p:nvPr/>
        </p:nvSpPr>
        <p:spPr>
          <a:xfrm>
            <a:off x="2034540" y="3794760"/>
            <a:ext cx="15773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1" i="0" lang="es-CO" sz="10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Aprobada</a:t>
            </a:r>
            <a:endParaRPr b="0"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53" name="Google Shape;453;p6"/>
          <p:cNvSpPr/>
          <p:nvPr/>
        </p:nvSpPr>
        <p:spPr>
          <a:xfrm>
            <a:off x="2137410" y="4087368"/>
            <a:ext cx="960120" cy="182880"/>
          </a:xfrm>
          <a:prstGeom prst="rect">
            <a:avLst/>
          </a:prstGeom>
          <a:solidFill>
            <a:srgbClr val="1F2A36"/>
          </a:solidFill>
          <a:ln cap="flat" cmpd="sng" w="12700">
            <a:solidFill>
              <a:srgbClr val="1F2A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54" name="Google Shape;454;p6"/>
          <p:cNvSpPr txBox="1"/>
          <p:nvPr/>
        </p:nvSpPr>
        <p:spPr>
          <a:xfrm>
            <a:off x="2137410" y="4087368"/>
            <a:ext cx="9601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s-CO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TSD</a:t>
            </a:r>
            <a:endParaRPr b="0" i="0" sz="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55" name="Google Shape;455;p6"/>
          <p:cNvSpPr/>
          <p:nvPr/>
        </p:nvSpPr>
        <p:spPr>
          <a:xfrm>
            <a:off x="2137410" y="4270248"/>
            <a:ext cx="960120" cy="1131570"/>
          </a:xfrm>
          <a:prstGeom prst="rect">
            <a:avLst/>
          </a:prstGeom>
          <a:solidFill>
            <a:srgbClr val="D9A44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56" name="Google Shape;456;p6"/>
          <p:cNvSpPr txBox="1"/>
          <p:nvPr/>
        </p:nvSpPr>
        <p:spPr>
          <a:xfrm>
            <a:off x="2137410" y="4270248"/>
            <a:ext cx="960120" cy="1131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800"/>
              <a:buFont typeface="Calibri"/>
              <a:buNone/>
            </a:pPr>
            <a:r>
              <a:rPr b="1" i="0" lang="es-CO" sz="8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MGTC</a:t>
            </a:r>
            <a:endParaRPr b="0" i="0" sz="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57" name="Google Shape;457;p6"/>
          <p:cNvSpPr txBox="1"/>
          <p:nvPr/>
        </p:nvSpPr>
        <p:spPr>
          <a:xfrm>
            <a:off x="3152394" y="4270248"/>
            <a:ext cx="457200" cy="1131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30 cm</a:t>
            </a:r>
            <a:endParaRPr b="0" i="0" sz="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58" name="Google Shape;458;p6"/>
          <p:cNvSpPr/>
          <p:nvPr/>
        </p:nvSpPr>
        <p:spPr>
          <a:xfrm>
            <a:off x="2137410" y="5401818"/>
            <a:ext cx="960120" cy="377190"/>
          </a:xfrm>
          <a:prstGeom prst="rect">
            <a:avLst/>
          </a:prstGeom>
          <a:solidFill>
            <a:srgbClr val="C9C29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59" name="Google Shape;459;p6"/>
          <p:cNvSpPr txBox="1"/>
          <p:nvPr/>
        </p:nvSpPr>
        <p:spPr>
          <a:xfrm>
            <a:off x="2137410" y="5401818"/>
            <a:ext cx="96012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800"/>
              <a:buFont typeface="Calibri"/>
              <a:buNone/>
            </a:pPr>
            <a:r>
              <a:rPr b="1" i="0" lang="es-CO" sz="8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Material granular existente</a:t>
            </a:r>
            <a:endParaRPr b="0" i="0" sz="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60" name="Google Shape;460;p6"/>
          <p:cNvSpPr txBox="1"/>
          <p:nvPr/>
        </p:nvSpPr>
        <p:spPr>
          <a:xfrm>
            <a:off x="3152394" y="5401818"/>
            <a:ext cx="45720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10 cm</a:t>
            </a:r>
            <a:endParaRPr b="0" i="0" sz="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461" name="Google Shape;461;p6"/>
          <p:cNvCxnSpPr/>
          <p:nvPr/>
        </p:nvCxnSpPr>
        <p:spPr>
          <a:xfrm>
            <a:off x="2045970" y="5779008"/>
            <a:ext cx="1143000" cy="0"/>
          </a:xfrm>
          <a:prstGeom prst="straightConnector1">
            <a:avLst/>
          </a:prstGeom>
          <a:noFill/>
          <a:ln cap="flat" cmpd="sng" w="12700">
            <a:solidFill>
              <a:srgbClr val="1D2B2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2" name="Google Shape;462;p6"/>
          <p:cNvSpPr txBox="1"/>
          <p:nvPr/>
        </p:nvSpPr>
        <p:spPr>
          <a:xfrm>
            <a:off x="2034540" y="5852160"/>
            <a:ext cx="15773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10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Espesor total: </a:t>
            </a:r>
            <a:r>
              <a:rPr b="1" i="0" lang="es-CO" sz="10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40 cm</a:t>
            </a:r>
            <a:endParaRPr b="0"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aphicFrame>
        <p:nvGraphicFramePr>
          <p:cNvPr id="463" name="Google Shape;463;p6"/>
          <p:cNvGraphicFramePr/>
          <p:nvPr/>
        </p:nvGraphicFramePr>
        <p:xfrm>
          <a:off x="3840480" y="24231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{2219430B-40B1-4F13-8D99-EA5D7966678A}</a:tableStyleId>
              </a:tblPr>
              <a:tblGrid>
                <a:gridCol w="2395725"/>
                <a:gridCol w="1097275"/>
                <a:gridCol w="603500"/>
                <a:gridCol w="1097275"/>
                <a:gridCol w="603500"/>
                <a:gridCol w="237750"/>
                <a:gridCol w="1097275"/>
                <a:gridCol w="758950"/>
              </a:tblGrid>
              <a:tr h="438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Grupo – actividad</a:t>
                      </a:r>
                      <a:endParaRPr sz="9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Valor contractual</a:t>
                      </a:r>
                      <a:endParaRPr sz="9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% sobre corredor</a:t>
                      </a:r>
                      <a:endParaRPr sz="9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Valor proyectado</a:t>
                      </a:r>
                      <a:endParaRPr sz="9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% sobre corredor</a:t>
                      </a:r>
                      <a:endParaRPr sz="9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Variación (valor adicional)</a:t>
                      </a:r>
                      <a:endParaRPr sz="9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% de variación</a:t>
                      </a:r>
                      <a:endParaRPr sz="9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Construcción alcantarilla</a:t>
                      </a:r>
                      <a:endParaRPr sz="9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$ 2.107.061.362</a:t>
                      </a:r>
                      <a:endParaRPr sz="9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11,94%</a:t>
                      </a:r>
                      <a:endParaRPr sz="9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$ 2.104.063.900</a:t>
                      </a:r>
                      <a:endParaRPr sz="9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8,75%</a:t>
                      </a:r>
                      <a:endParaRPr sz="9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900" u="none" cap="none" strike="noStrike">
                          <a:solidFill>
                            <a:srgbClr val="0B5D2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▼</a:t>
                      </a:r>
                      <a:endParaRPr sz="9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00" u="none" cap="none" strike="noStrike">
                          <a:solidFill>
                            <a:srgbClr val="0B5D2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–$ 2.997.462</a:t>
                      </a:r>
                      <a:endParaRPr sz="9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00" u="none" cap="none" strike="noStrike">
                          <a:solidFill>
                            <a:srgbClr val="0B5D2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–0,1 %</a:t>
                      </a:r>
                      <a:endParaRPr sz="9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Construcción cuneta</a:t>
                      </a:r>
                      <a:endParaRPr sz="9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$ 3.097.519.177</a:t>
                      </a:r>
                      <a:endParaRPr sz="9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17,55%</a:t>
                      </a:r>
                      <a:endParaRPr sz="9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$ 3.388.939.783</a:t>
                      </a:r>
                      <a:endParaRPr sz="9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14,09%</a:t>
                      </a:r>
                      <a:endParaRPr sz="9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900" u="none" cap="none" strike="noStrike">
                          <a:solidFill>
                            <a:srgbClr val="B3261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▲</a:t>
                      </a:r>
                      <a:endParaRPr sz="9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00" u="none" cap="none" strike="noStrike">
                          <a:solidFill>
                            <a:srgbClr val="B3261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$ 291.420.606</a:t>
                      </a:r>
                      <a:endParaRPr sz="9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00" u="none" cap="none" strike="noStrike">
                          <a:solidFill>
                            <a:srgbClr val="B3261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9,4 %</a:t>
                      </a:r>
                      <a:endParaRPr sz="9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Construcción filtro</a:t>
                      </a:r>
                      <a:endParaRPr sz="9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$ 3.280.173.270</a:t>
                      </a:r>
                      <a:endParaRPr sz="9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18,59%</a:t>
                      </a:r>
                      <a:endParaRPr sz="9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$ 2.637.466.000</a:t>
                      </a:r>
                      <a:endParaRPr sz="9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10,97%</a:t>
                      </a:r>
                      <a:endParaRPr sz="9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900" u="none" cap="none" strike="noStrike">
                          <a:solidFill>
                            <a:srgbClr val="0B5D2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▼</a:t>
                      </a:r>
                      <a:endParaRPr sz="9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00" u="none" cap="none" strike="noStrike">
                          <a:solidFill>
                            <a:srgbClr val="0B5D2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–$ 642.707.270</a:t>
                      </a:r>
                      <a:endParaRPr sz="9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00" u="none" cap="none" strike="noStrike">
                          <a:solidFill>
                            <a:srgbClr val="0B5D2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–19,6 %</a:t>
                      </a:r>
                      <a:endParaRPr sz="9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Construcción bordillos</a:t>
                      </a:r>
                      <a:endParaRPr sz="9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$ 466.105.520</a:t>
                      </a:r>
                      <a:endParaRPr sz="9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2,64%</a:t>
                      </a:r>
                      <a:endParaRPr sz="9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$ 866.821.200</a:t>
                      </a:r>
                      <a:endParaRPr sz="9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3,60%</a:t>
                      </a:r>
                      <a:endParaRPr sz="9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900" u="none" cap="none" strike="noStrike">
                          <a:solidFill>
                            <a:srgbClr val="B3261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▲</a:t>
                      </a:r>
                      <a:endParaRPr sz="9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00" u="none" cap="none" strike="noStrike">
                          <a:solidFill>
                            <a:srgbClr val="B3261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$ 400.715.680</a:t>
                      </a:r>
                      <a:endParaRPr sz="9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00" u="none" cap="none" strike="noStrike">
                          <a:solidFill>
                            <a:srgbClr val="B3261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86,0 %</a:t>
                      </a:r>
                      <a:endParaRPr sz="9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Construcción disipadores</a:t>
                      </a:r>
                      <a:endParaRPr sz="9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$ 342.721.665</a:t>
                      </a:r>
                      <a:endParaRPr sz="9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1,94%</a:t>
                      </a:r>
                      <a:endParaRPr sz="9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$ 342.721.665</a:t>
                      </a:r>
                      <a:endParaRPr sz="9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1,42%</a:t>
                      </a:r>
                      <a:endParaRPr sz="9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$ 0</a:t>
                      </a:r>
                      <a:endParaRPr sz="9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0,0 %</a:t>
                      </a:r>
                      <a:endParaRPr sz="9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Estabilización</a:t>
                      </a:r>
                      <a:endParaRPr sz="9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$ 8.072.574.897</a:t>
                      </a:r>
                      <a:endParaRPr sz="9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45,75%</a:t>
                      </a:r>
                      <a:endParaRPr sz="9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$ 14.491.765.743</a:t>
                      </a:r>
                      <a:endParaRPr sz="9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60,25%</a:t>
                      </a:r>
                      <a:endParaRPr sz="9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B3261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▲</a:t>
                      </a:r>
                      <a:endParaRPr sz="9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B3261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$ 6.419.190.846</a:t>
                      </a:r>
                      <a:endParaRPr sz="9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B3261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79,5 %</a:t>
                      </a:r>
                      <a:endParaRPr sz="9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Señalización vial</a:t>
                      </a:r>
                      <a:endParaRPr sz="9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$ 280.625.220</a:t>
                      </a:r>
                      <a:endParaRPr sz="9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1,59%</a:t>
                      </a:r>
                      <a:endParaRPr sz="9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$ 221.242.020</a:t>
                      </a:r>
                      <a:endParaRPr sz="9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0,92%</a:t>
                      </a:r>
                      <a:endParaRPr sz="9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900" u="none" cap="none" strike="noStrike">
                          <a:solidFill>
                            <a:srgbClr val="0B5D2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▼</a:t>
                      </a:r>
                      <a:endParaRPr sz="9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00" u="none" cap="none" strike="noStrike">
                          <a:solidFill>
                            <a:srgbClr val="0B5D2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–$ 59.383.200</a:t>
                      </a:r>
                      <a:endParaRPr sz="9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00" u="none" cap="none" strike="noStrike">
                          <a:solidFill>
                            <a:srgbClr val="0B5D2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–21,2 %</a:t>
                      </a:r>
                      <a:endParaRPr sz="9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TOTAL CORREDOR</a:t>
                      </a:r>
                      <a:endParaRPr sz="9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$ 17.646.781.111</a:t>
                      </a:r>
                      <a:endParaRPr sz="9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100%</a:t>
                      </a:r>
                      <a:endParaRPr sz="9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$ 24.053.020.311</a:t>
                      </a:r>
                      <a:endParaRPr sz="9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100%</a:t>
                      </a:r>
                      <a:endParaRPr sz="9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B3261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▲</a:t>
                      </a:r>
                      <a:endParaRPr sz="9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B3261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+$ 6.406.239.200</a:t>
                      </a:r>
                      <a:endParaRPr sz="9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B3261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36,3 %</a:t>
                      </a:r>
                      <a:endParaRPr sz="9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</a:tr>
            </a:tbl>
          </a:graphicData>
        </a:graphic>
      </p:graphicFrame>
      <p:sp>
        <p:nvSpPr>
          <p:cNvPr id="464" name="Google Shape;464;p6"/>
          <p:cNvSpPr txBox="1"/>
          <p:nvPr/>
        </p:nvSpPr>
        <p:spPr>
          <a:xfrm>
            <a:off x="3840480" y="5413248"/>
            <a:ext cx="78912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261E"/>
              </a:buClr>
              <a:buSzPts val="900"/>
              <a:buFont typeface="Arial"/>
              <a:buNone/>
            </a:pPr>
            <a:r>
              <a:rPr b="0" i="0" lang="es-CO" sz="900" u="none" cap="none" strike="noStrike">
                <a:solidFill>
                  <a:srgbClr val="B3261E"/>
                </a:solidFill>
                <a:latin typeface="Poppins"/>
                <a:ea typeface="Poppins"/>
                <a:cs typeface="Poppins"/>
                <a:sym typeface="Poppins"/>
              </a:rPr>
              <a:t>▲</a:t>
            </a:r>
            <a:r>
              <a:rPr b="0" i="0" lang="es-CO" sz="90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 Se requiere mayor valor     </a:t>
            </a:r>
            <a:r>
              <a:rPr b="0" i="0" lang="es-CO" sz="900" u="none" cap="none" strike="noStrike">
                <a:solidFill>
                  <a:srgbClr val="0B5D2E"/>
                </a:solidFill>
                <a:latin typeface="Poppins"/>
                <a:ea typeface="Poppins"/>
                <a:cs typeface="Poppins"/>
                <a:sym typeface="Poppins"/>
              </a:rPr>
              <a:t>▼</a:t>
            </a:r>
            <a:r>
              <a:rPr b="0" i="0" lang="es-CO" sz="90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 Sobra valor     % de variación = (valor proyectado – valor contractual) / valor contractual</a:t>
            </a:r>
            <a:endParaRPr b="0" i="0" sz="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65" name="Google Shape;465;p6"/>
          <p:cNvSpPr/>
          <p:nvPr/>
        </p:nvSpPr>
        <p:spPr>
          <a:xfrm>
            <a:off x="3803812" y="5687568"/>
            <a:ext cx="7891272" cy="850392"/>
          </a:xfrm>
          <a:prstGeom prst="roundRect">
            <a:avLst>
              <a:gd fmla="val 6452" name="adj"/>
            </a:avLst>
          </a:prstGeom>
          <a:solidFill>
            <a:srgbClr val="FFFFFF"/>
          </a:solidFill>
          <a:ln cap="flat" cmpd="sng" w="12700">
            <a:solidFill>
              <a:srgbClr val="9AA7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00" lIns="1000" spcFirstLastPara="1" rIns="1500" wrap="square" tIns="15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100"/>
              <a:buFont typeface="Calibri"/>
              <a:buNone/>
            </a:pPr>
            <a:r>
              <a:rPr b="1" i="0" lang="es-CO" sz="11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Notas:</a:t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100"/>
              <a:buFont typeface="Arial"/>
              <a:buChar char="•"/>
            </a:pPr>
            <a:r>
              <a:rPr b="0" i="0" lang="es-CO" sz="11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El alcance se reduce de 18,15 km a 12,75 km, descontando </a:t>
            </a:r>
            <a:r>
              <a:rPr b="1" i="0" lang="es-CO" sz="11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5,40 km </a:t>
            </a:r>
            <a:r>
              <a:rPr b="0" i="0" lang="es-CO" sz="11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de pavimento existente.</a:t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10160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66" name="Google Shape;466;p6"/>
          <p:cNvSpPr/>
          <p:nvPr/>
        </p:nvSpPr>
        <p:spPr>
          <a:xfrm>
            <a:off x="636403" y="4920718"/>
            <a:ext cx="832104" cy="367760"/>
          </a:xfrm>
          <a:prstGeom prst="rect">
            <a:avLst/>
          </a:prstGeom>
          <a:solidFill>
            <a:srgbClr val="F2D58E"/>
          </a:solidFill>
          <a:ln cap="flat" cmpd="sng" w="9525">
            <a:solidFill>
              <a:srgbClr val="A87B1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67" name="Google Shape;467;p6"/>
          <p:cNvSpPr txBox="1"/>
          <p:nvPr/>
        </p:nvSpPr>
        <p:spPr>
          <a:xfrm>
            <a:off x="636403" y="4920718"/>
            <a:ext cx="832104" cy="367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800"/>
              <a:buFont typeface="Calibri"/>
              <a:buNone/>
            </a:pPr>
            <a:r>
              <a:rPr b="0" i="0" lang="es-CO" sz="8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Subbase 13 cm</a:t>
            </a:r>
            <a:endParaRPr b="0" i="0" sz="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7"/>
          <p:cNvSpPr txBox="1"/>
          <p:nvPr/>
        </p:nvSpPr>
        <p:spPr>
          <a:xfrm>
            <a:off x="457200" y="320040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1200"/>
              <a:buFont typeface="Calibri"/>
              <a:buNone/>
            </a:pPr>
            <a:r>
              <a:rPr b="1" i="0" lang="es-CO" sz="1200" u="none" cap="none" strike="noStrike">
                <a:solidFill>
                  <a:srgbClr val="2E7D4F"/>
                </a:solidFill>
                <a:latin typeface="Poppins"/>
                <a:ea typeface="Poppins"/>
                <a:cs typeface="Poppins"/>
                <a:sym typeface="Poppins"/>
              </a:rPr>
              <a:t>INFORME DE EJECUCIÓN  ·  LOTE 1 – SUBREGIÓN ORIENTE</a:t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74" name="Google Shape;474;p7"/>
          <p:cNvSpPr txBox="1"/>
          <p:nvPr/>
        </p:nvSpPr>
        <p:spPr>
          <a:xfrm>
            <a:off x="457200" y="594360"/>
            <a:ext cx="9692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CO" sz="28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San Vicente – El Peñol</a:t>
            </a:r>
            <a:endParaRPr b="0" i="0" sz="2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descr="logo.png" id="475" name="Google Shape;47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78440" y="320040"/>
            <a:ext cx="1371600" cy="676656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7"/>
          <p:cNvSpPr/>
          <p:nvPr/>
        </p:nvSpPr>
        <p:spPr>
          <a:xfrm>
            <a:off x="457200" y="1234440"/>
            <a:ext cx="1765249" cy="658368"/>
          </a:xfrm>
          <a:prstGeom prst="roundRect">
            <a:avLst>
              <a:gd fmla="val 1111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77" name="Google Shape;477;p7"/>
          <p:cNvSpPr txBox="1"/>
          <p:nvPr/>
        </p:nvSpPr>
        <p:spPr>
          <a:xfrm>
            <a:off x="566928" y="1289304"/>
            <a:ext cx="154579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50"/>
              <a:buFont typeface="Calibri"/>
              <a:buNone/>
            </a:pPr>
            <a:r>
              <a:rPr b="0" i="0" lang="es-CO" sz="95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Longitud</a:t>
            </a:r>
            <a:endParaRPr b="0" i="0" sz="95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78" name="Google Shape;478;p7"/>
          <p:cNvSpPr txBox="1"/>
          <p:nvPr/>
        </p:nvSpPr>
        <p:spPr>
          <a:xfrm>
            <a:off x="566928" y="1453896"/>
            <a:ext cx="154579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18,15 km</a:t>
            </a:r>
            <a:endParaRPr b="0"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79" name="Google Shape;479;p7"/>
          <p:cNvSpPr txBox="1"/>
          <p:nvPr/>
        </p:nvSpPr>
        <p:spPr>
          <a:xfrm>
            <a:off x="566928" y="1700784"/>
            <a:ext cx="1545793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00"/>
              <a:buFont typeface="Calibri"/>
              <a:buNone/>
            </a:pPr>
            <a:r>
              <a:rPr b="0" i="1" lang="es-CO" sz="80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Alcance real 12,70 km · dif. 5,45 km</a:t>
            </a:r>
            <a:endParaRPr b="0" i="0" sz="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80" name="Google Shape;480;p7"/>
          <p:cNvSpPr/>
          <p:nvPr/>
        </p:nvSpPr>
        <p:spPr>
          <a:xfrm>
            <a:off x="2359609" y="1234440"/>
            <a:ext cx="1765249" cy="658368"/>
          </a:xfrm>
          <a:prstGeom prst="roundRect">
            <a:avLst>
              <a:gd fmla="val 1111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81" name="Google Shape;481;p7"/>
          <p:cNvSpPr txBox="1"/>
          <p:nvPr/>
        </p:nvSpPr>
        <p:spPr>
          <a:xfrm>
            <a:off x="2469337" y="1289304"/>
            <a:ext cx="154579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50"/>
              <a:buFont typeface="Calibri"/>
              <a:buNone/>
            </a:pPr>
            <a:r>
              <a:rPr b="0" i="0" lang="es-CO" sz="95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Valor total del corredor</a:t>
            </a:r>
            <a:endParaRPr b="0" i="0" sz="95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82" name="Google Shape;482;p7"/>
          <p:cNvSpPr txBox="1"/>
          <p:nvPr/>
        </p:nvSpPr>
        <p:spPr>
          <a:xfrm>
            <a:off x="2469337" y="1453896"/>
            <a:ext cx="154579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$ 17.646.781.111</a:t>
            </a:r>
            <a:endParaRPr b="0"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83" name="Google Shape;483;p7"/>
          <p:cNvSpPr txBox="1"/>
          <p:nvPr/>
        </p:nvSpPr>
        <p:spPr>
          <a:xfrm>
            <a:off x="2469337" y="1700784"/>
            <a:ext cx="1545793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00"/>
              <a:buFont typeface="Calibri"/>
              <a:buNone/>
            </a:pPr>
            <a:r>
              <a:rPr b="0" i="1" lang="es-CO" sz="80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$ 972.274.441 por km</a:t>
            </a:r>
            <a:endParaRPr b="0" i="0" sz="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84" name="Google Shape;484;p7"/>
          <p:cNvSpPr/>
          <p:nvPr/>
        </p:nvSpPr>
        <p:spPr>
          <a:xfrm>
            <a:off x="4262018" y="1234440"/>
            <a:ext cx="1765249" cy="658368"/>
          </a:xfrm>
          <a:prstGeom prst="roundRect">
            <a:avLst>
              <a:gd fmla="val 11111" name="adj"/>
            </a:avLst>
          </a:prstGeom>
          <a:solidFill>
            <a:srgbClr val="EEF0EF"/>
          </a:solidFill>
          <a:ln cap="flat" cmpd="sng" w="12700">
            <a:solidFill>
              <a:srgbClr val="EEF0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85" name="Google Shape;485;p7"/>
          <p:cNvSpPr txBox="1"/>
          <p:nvPr/>
        </p:nvSpPr>
        <p:spPr>
          <a:xfrm>
            <a:off x="4371746" y="1289304"/>
            <a:ext cx="154579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50"/>
              <a:buFont typeface="Calibri"/>
              <a:buNone/>
            </a:pPr>
            <a:r>
              <a:rPr b="0" i="0" lang="es-CO" sz="95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Avance físico</a:t>
            </a:r>
            <a:endParaRPr b="0" i="0" sz="95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86" name="Google Shape;486;p7"/>
          <p:cNvSpPr txBox="1"/>
          <p:nvPr/>
        </p:nvSpPr>
        <p:spPr>
          <a:xfrm>
            <a:off x="4371746" y="1453896"/>
            <a:ext cx="154579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Sin dato</a:t>
            </a:r>
            <a:endParaRPr b="0"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87" name="Google Shape;487;p7"/>
          <p:cNvSpPr txBox="1"/>
          <p:nvPr/>
        </p:nvSpPr>
        <p:spPr>
          <a:xfrm>
            <a:off x="4371746" y="1700784"/>
            <a:ext cx="1545793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00"/>
              <a:buFont typeface="Calibri"/>
              <a:buNone/>
            </a:pPr>
            <a:r>
              <a:rPr b="0" i="1" lang="es-CO" sz="80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Pendiente de reporte</a:t>
            </a:r>
            <a:endParaRPr b="0" i="0" sz="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88" name="Google Shape;488;p7"/>
          <p:cNvSpPr/>
          <p:nvPr/>
        </p:nvSpPr>
        <p:spPr>
          <a:xfrm>
            <a:off x="6164428" y="1234440"/>
            <a:ext cx="1765249" cy="658368"/>
          </a:xfrm>
          <a:prstGeom prst="roundRect">
            <a:avLst>
              <a:gd fmla="val 1111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89" name="Google Shape;489;p7"/>
          <p:cNvSpPr txBox="1"/>
          <p:nvPr/>
        </p:nvSpPr>
        <p:spPr>
          <a:xfrm>
            <a:off x="6274156" y="1289304"/>
            <a:ext cx="154579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50"/>
              <a:buFont typeface="Calibri"/>
              <a:buNone/>
            </a:pPr>
            <a:r>
              <a:rPr b="0" i="0" lang="es-CO" sz="95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Avance financiero</a:t>
            </a:r>
            <a:endParaRPr b="0" i="0" sz="95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90" name="Google Shape;490;p7"/>
          <p:cNvSpPr txBox="1"/>
          <p:nvPr/>
        </p:nvSpPr>
        <p:spPr>
          <a:xfrm>
            <a:off x="6274156" y="1453896"/>
            <a:ext cx="154579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Sin dato</a:t>
            </a:r>
            <a:endParaRPr b="0"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91" name="Google Shape;491;p7"/>
          <p:cNvSpPr/>
          <p:nvPr/>
        </p:nvSpPr>
        <p:spPr>
          <a:xfrm>
            <a:off x="8066837" y="1234440"/>
            <a:ext cx="1765249" cy="658368"/>
          </a:xfrm>
          <a:prstGeom prst="roundRect">
            <a:avLst>
              <a:gd fmla="val 1111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92" name="Google Shape;492;p7"/>
          <p:cNvSpPr txBox="1"/>
          <p:nvPr/>
        </p:nvSpPr>
        <p:spPr>
          <a:xfrm>
            <a:off x="8176565" y="1289304"/>
            <a:ext cx="154579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50"/>
              <a:buFont typeface="Calibri"/>
              <a:buNone/>
            </a:pPr>
            <a:r>
              <a:rPr b="0" i="0" lang="es-CO" sz="95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Plazo transcurrido</a:t>
            </a:r>
            <a:endParaRPr b="0" i="0" sz="95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93" name="Google Shape;493;p7"/>
          <p:cNvSpPr txBox="1"/>
          <p:nvPr/>
        </p:nvSpPr>
        <p:spPr>
          <a:xfrm>
            <a:off x="8176565" y="1453896"/>
            <a:ext cx="154579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38,1 %</a:t>
            </a:r>
            <a:endParaRPr b="0"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94" name="Google Shape;494;p7"/>
          <p:cNvSpPr txBox="1"/>
          <p:nvPr/>
        </p:nvSpPr>
        <p:spPr>
          <a:xfrm>
            <a:off x="8176565" y="1700784"/>
            <a:ext cx="1545793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00"/>
              <a:buFont typeface="Calibri"/>
              <a:buNone/>
            </a:pPr>
            <a:r>
              <a:rPr b="0" i="1" lang="es-CO" sz="80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4 de 10,6 meses (al 02/10/2026)</a:t>
            </a:r>
            <a:endParaRPr b="0" i="0" sz="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95" name="Google Shape;495;p7"/>
          <p:cNvSpPr/>
          <p:nvPr/>
        </p:nvSpPr>
        <p:spPr>
          <a:xfrm>
            <a:off x="9969246" y="1234440"/>
            <a:ext cx="1765249" cy="658368"/>
          </a:xfrm>
          <a:prstGeom prst="roundRect">
            <a:avLst>
              <a:gd fmla="val 1111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96" name="Google Shape;496;p7"/>
          <p:cNvSpPr txBox="1"/>
          <p:nvPr/>
        </p:nvSpPr>
        <p:spPr>
          <a:xfrm>
            <a:off x="10078974" y="1289304"/>
            <a:ext cx="1545793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Inicio: </a:t>
            </a:r>
            <a:r>
              <a:rPr b="1" i="0" lang="es-CO" sz="9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01/06/2026</a:t>
            </a:r>
            <a:endParaRPr b="0" i="0" sz="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Terminación: </a:t>
            </a:r>
            <a:r>
              <a:rPr b="1" i="0" lang="es-CO" sz="9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20/04/2027</a:t>
            </a:r>
            <a:endParaRPr b="0" i="0" sz="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Corte: </a:t>
            </a:r>
            <a:r>
              <a:rPr b="1" i="0" lang="es-CO" sz="9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25/09/2026</a:t>
            </a:r>
            <a:endParaRPr b="0" i="0" sz="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97" name="Google Shape;497;p7"/>
          <p:cNvSpPr txBox="1"/>
          <p:nvPr/>
        </p:nvSpPr>
        <p:spPr>
          <a:xfrm>
            <a:off x="457200" y="1956816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1000"/>
              <a:buFont typeface="Calibri"/>
              <a:buNone/>
            </a:pPr>
            <a:r>
              <a:rPr b="1" i="0" lang="es-CO" sz="1000" u="none" cap="none" strike="noStrike">
                <a:solidFill>
                  <a:srgbClr val="2E7D4F"/>
                </a:solidFill>
                <a:latin typeface="Poppins"/>
                <a:ea typeface="Poppins"/>
                <a:cs typeface="Poppins"/>
                <a:sym typeface="Poppins"/>
              </a:rPr>
              <a:t>AVANCE POR ABSCISA</a:t>
            </a:r>
            <a:endParaRPr b="0"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498" name="Google Shape;498;p7"/>
          <p:cNvCxnSpPr/>
          <p:nvPr/>
        </p:nvCxnSpPr>
        <p:spPr>
          <a:xfrm>
            <a:off x="2103120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9" name="Google Shape;499;p7"/>
          <p:cNvCxnSpPr/>
          <p:nvPr/>
        </p:nvCxnSpPr>
        <p:spPr>
          <a:xfrm>
            <a:off x="2601883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0" name="Google Shape;500;p7"/>
          <p:cNvCxnSpPr/>
          <p:nvPr/>
        </p:nvCxnSpPr>
        <p:spPr>
          <a:xfrm>
            <a:off x="3100647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1" name="Google Shape;501;p7"/>
          <p:cNvCxnSpPr/>
          <p:nvPr/>
        </p:nvCxnSpPr>
        <p:spPr>
          <a:xfrm>
            <a:off x="3599410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2" name="Google Shape;502;p7"/>
          <p:cNvCxnSpPr/>
          <p:nvPr/>
        </p:nvCxnSpPr>
        <p:spPr>
          <a:xfrm>
            <a:off x="4098174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3" name="Google Shape;503;p7"/>
          <p:cNvCxnSpPr/>
          <p:nvPr/>
        </p:nvCxnSpPr>
        <p:spPr>
          <a:xfrm>
            <a:off x="4596938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4" name="Google Shape;504;p7"/>
          <p:cNvCxnSpPr/>
          <p:nvPr/>
        </p:nvCxnSpPr>
        <p:spPr>
          <a:xfrm>
            <a:off x="5095701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5" name="Google Shape;505;p7"/>
          <p:cNvCxnSpPr/>
          <p:nvPr/>
        </p:nvCxnSpPr>
        <p:spPr>
          <a:xfrm>
            <a:off x="5594465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6" name="Google Shape;506;p7"/>
          <p:cNvCxnSpPr/>
          <p:nvPr/>
        </p:nvCxnSpPr>
        <p:spPr>
          <a:xfrm>
            <a:off x="6093229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7" name="Google Shape;507;p7"/>
          <p:cNvCxnSpPr/>
          <p:nvPr/>
        </p:nvCxnSpPr>
        <p:spPr>
          <a:xfrm>
            <a:off x="6591992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8" name="Google Shape;508;p7"/>
          <p:cNvCxnSpPr/>
          <p:nvPr/>
        </p:nvCxnSpPr>
        <p:spPr>
          <a:xfrm>
            <a:off x="7090756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9" name="Google Shape;509;p7"/>
          <p:cNvCxnSpPr/>
          <p:nvPr/>
        </p:nvCxnSpPr>
        <p:spPr>
          <a:xfrm>
            <a:off x="7589520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0" name="Google Shape;510;p7"/>
          <p:cNvCxnSpPr/>
          <p:nvPr/>
        </p:nvCxnSpPr>
        <p:spPr>
          <a:xfrm>
            <a:off x="8088283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1" name="Google Shape;511;p7"/>
          <p:cNvCxnSpPr/>
          <p:nvPr/>
        </p:nvCxnSpPr>
        <p:spPr>
          <a:xfrm>
            <a:off x="8587047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2" name="Google Shape;512;p7"/>
          <p:cNvCxnSpPr/>
          <p:nvPr/>
        </p:nvCxnSpPr>
        <p:spPr>
          <a:xfrm>
            <a:off x="9085810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3" name="Google Shape;513;p7"/>
          <p:cNvCxnSpPr/>
          <p:nvPr/>
        </p:nvCxnSpPr>
        <p:spPr>
          <a:xfrm>
            <a:off x="9584574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4" name="Google Shape;514;p7"/>
          <p:cNvCxnSpPr/>
          <p:nvPr/>
        </p:nvCxnSpPr>
        <p:spPr>
          <a:xfrm>
            <a:off x="10083338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5" name="Google Shape;515;p7"/>
          <p:cNvCxnSpPr/>
          <p:nvPr/>
        </p:nvCxnSpPr>
        <p:spPr>
          <a:xfrm>
            <a:off x="10582101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6" name="Google Shape;516;p7"/>
          <p:cNvCxnSpPr/>
          <p:nvPr/>
        </p:nvCxnSpPr>
        <p:spPr>
          <a:xfrm>
            <a:off x="11080865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7" name="Google Shape;517;p7"/>
          <p:cNvSpPr txBox="1"/>
          <p:nvPr/>
        </p:nvSpPr>
        <p:spPr>
          <a:xfrm>
            <a:off x="1874519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K0</a:t>
            </a:r>
            <a:endParaRPr b="0" i="0" sz="85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18" name="Google Shape;518;p7"/>
          <p:cNvSpPr txBox="1"/>
          <p:nvPr/>
        </p:nvSpPr>
        <p:spPr>
          <a:xfrm>
            <a:off x="2872047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K2</a:t>
            </a:r>
            <a:endParaRPr b="0" i="0" sz="85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19" name="Google Shape;519;p7"/>
          <p:cNvSpPr txBox="1"/>
          <p:nvPr/>
        </p:nvSpPr>
        <p:spPr>
          <a:xfrm>
            <a:off x="3869574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K4</a:t>
            </a:r>
            <a:endParaRPr b="0" i="0" sz="85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20" name="Google Shape;520;p7"/>
          <p:cNvSpPr txBox="1"/>
          <p:nvPr/>
        </p:nvSpPr>
        <p:spPr>
          <a:xfrm>
            <a:off x="4867101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K6</a:t>
            </a:r>
            <a:endParaRPr b="0" i="0" sz="85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21" name="Google Shape;521;p7"/>
          <p:cNvSpPr txBox="1"/>
          <p:nvPr/>
        </p:nvSpPr>
        <p:spPr>
          <a:xfrm>
            <a:off x="5864629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K8</a:t>
            </a:r>
            <a:endParaRPr b="0" i="0" sz="85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22" name="Google Shape;522;p7"/>
          <p:cNvSpPr txBox="1"/>
          <p:nvPr/>
        </p:nvSpPr>
        <p:spPr>
          <a:xfrm>
            <a:off x="6862156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K10</a:t>
            </a:r>
            <a:endParaRPr b="0" i="0" sz="85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23" name="Google Shape;523;p7"/>
          <p:cNvSpPr txBox="1"/>
          <p:nvPr/>
        </p:nvSpPr>
        <p:spPr>
          <a:xfrm>
            <a:off x="7859683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K12</a:t>
            </a:r>
            <a:endParaRPr b="0" i="0" sz="85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24" name="Google Shape;524;p7"/>
          <p:cNvSpPr txBox="1"/>
          <p:nvPr/>
        </p:nvSpPr>
        <p:spPr>
          <a:xfrm>
            <a:off x="8857210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K14</a:t>
            </a:r>
            <a:endParaRPr b="0" i="0" sz="85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25" name="Google Shape;525;p7"/>
          <p:cNvSpPr txBox="1"/>
          <p:nvPr/>
        </p:nvSpPr>
        <p:spPr>
          <a:xfrm>
            <a:off x="9854738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K16</a:t>
            </a:r>
            <a:endParaRPr b="0" i="0" sz="85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26" name="Google Shape;526;p7"/>
          <p:cNvSpPr txBox="1"/>
          <p:nvPr/>
        </p:nvSpPr>
        <p:spPr>
          <a:xfrm>
            <a:off x="10835640" y="2139696"/>
            <a:ext cx="54864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K18+150</a:t>
            </a:r>
            <a:endParaRPr b="0" i="0" sz="85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27" name="Google Shape;527;p7"/>
          <p:cNvSpPr/>
          <p:nvPr/>
        </p:nvSpPr>
        <p:spPr>
          <a:xfrm>
            <a:off x="2103120" y="2359152"/>
            <a:ext cx="9052560" cy="73152"/>
          </a:xfrm>
          <a:prstGeom prst="rect">
            <a:avLst/>
          </a:prstGeom>
          <a:solidFill>
            <a:srgbClr val="1F2A36"/>
          </a:solidFill>
          <a:ln cap="flat" cmpd="sng" w="12700">
            <a:solidFill>
              <a:srgbClr val="1F2A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528" name="Google Shape;528;p7"/>
          <p:cNvCxnSpPr/>
          <p:nvPr/>
        </p:nvCxnSpPr>
        <p:spPr>
          <a:xfrm>
            <a:off x="2139696" y="2395728"/>
            <a:ext cx="8979408" cy="0"/>
          </a:xfrm>
          <a:prstGeom prst="straightConnector1">
            <a:avLst/>
          </a:prstGeom>
          <a:noFill/>
          <a:ln cap="flat" cmpd="sng" w="9525">
            <a:solidFill>
              <a:srgbClr val="F2C94C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529" name="Google Shape;529;p7"/>
          <p:cNvCxnSpPr/>
          <p:nvPr/>
        </p:nvCxnSpPr>
        <p:spPr>
          <a:xfrm>
            <a:off x="731520" y="2487168"/>
            <a:ext cx="0" cy="338328"/>
          </a:xfrm>
          <a:prstGeom prst="straightConnector1">
            <a:avLst/>
          </a:prstGeom>
          <a:noFill/>
          <a:ln cap="flat" cmpd="sng" w="19050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0" name="Google Shape;530;p7"/>
          <p:cNvSpPr txBox="1"/>
          <p:nvPr/>
        </p:nvSpPr>
        <p:spPr>
          <a:xfrm rot="-5400000">
            <a:off x="260604" y="2574036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700"/>
              <a:buFont typeface="Calibri"/>
              <a:buNone/>
            </a:pPr>
            <a:r>
              <a:rPr b="1" i="0" lang="es-CO" sz="700" u="none" cap="none" strike="noStrike">
                <a:solidFill>
                  <a:srgbClr val="2E7D4F"/>
                </a:solidFill>
                <a:latin typeface="Poppins"/>
                <a:ea typeface="Poppins"/>
                <a:cs typeface="Poppins"/>
                <a:sym typeface="Poppins"/>
              </a:rPr>
              <a:t>CAMPO</a:t>
            </a:r>
            <a:endParaRPr b="0" i="0" sz="7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31" name="Google Shape;531;p7"/>
          <p:cNvSpPr txBox="1"/>
          <p:nvPr/>
        </p:nvSpPr>
        <p:spPr>
          <a:xfrm>
            <a:off x="777240" y="2487168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Topografía</a:t>
            </a:r>
            <a:endParaRPr b="0" i="0" sz="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32" name="Google Shape;532;p7"/>
          <p:cNvSpPr/>
          <p:nvPr/>
        </p:nvSpPr>
        <p:spPr>
          <a:xfrm>
            <a:off x="2103120" y="2487168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33" name="Google Shape;533;p7"/>
          <p:cNvSpPr txBox="1"/>
          <p:nvPr/>
        </p:nvSpPr>
        <p:spPr>
          <a:xfrm>
            <a:off x="11201400" y="2487168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55 %</a:t>
            </a:r>
            <a:endParaRPr b="0" i="0" sz="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34" name="Google Shape;534;p7"/>
          <p:cNvSpPr txBox="1"/>
          <p:nvPr/>
        </p:nvSpPr>
        <p:spPr>
          <a:xfrm>
            <a:off x="777240" y="2670048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Apiques</a:t>
            </a:r>
            <a:endParaRPr b="0" i="0" sz="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35" name="Google Shape;535;p7"/>
          <p:cNvSpPr/>
          <p:nvPr/>
        </p:nvSpPr>
        <p:spPr>
          <a:xfrm>
            <a:off x="2103120" y="2670048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36" name="Google Shape;536;p7"/>
          <p:cNvSpPr txBox="1"/>
          <p:nvPr/>
        </p:nvSpPr>
        <p:spPr>
          <a:xfrm>
            <a:off x="11201400" y="2670048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100 %</a:t>
            </a:r>
            <a:endParaRPr b="0" i="0" sz="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537" name="Google Shape;537;p7"/>
          <p:cNvCxnSpPr/>
          <p:nvPr/>
        </p:nvCxnSpPr>
        <p:spPr>
          <a:xfrm>
            <a:off x="731520" y="2953512"/>
            <a:ext cx="0" cy="466344"/>
          </a:xfrm>
          <a:prstGeom prst="straightConnector1">
            <a:avLst/>
          </a:prstGeom>
          <a:noFill/>
          <a:ln cap="flat" cmpd="sng" w="19050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8" name="Google Shape;538;p7"/>
          <p:cNvSpPr txBox="1"/>
          <p:nvPr/>
        </p:nvSpPr>
        <p:spPr>
          <a:xfrm rot="-5400000">
            <a:off x="260604" y="3104388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700"/>
              <a:buFont typeface="Calibri"/>
              <a:buNone/>
            </a:pPr>
            <a:r>
              <a:rPr b="1" i="0" lang="es-CO" sz="700" u="none" cap="none" strike="noStrike">
                <a:solidFill>
                  <a:srgbClr val="2E7D4F"/>
                </a:solidFill>
                <a:latin typeface="Poppins"/>
                <a:ea typeface="Poppins"/>
                <a:cs typeface="Poppins"/>
                <a:sym typeface="Poppins"/>
              </a:rPr>
              <a:t>ESTRUCTURA</a:t>
            </a:r>
            <a:endParaRPr b="0" i="0" sz="7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39" name="Google Shape;539;p7"/>
          <p:cNvSpPr txBox="1"/>
          <p:nvPr/>
        </p:nvSpPr>
        <p:spPr>
          <a:xfrm>
            <a:off x="777240" y="2953512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Rodadura</a:t>
            </a:r>
            <a:endParaRPr b="0" i="0" sz="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40" name="Google Shape;540;p7"/>
          <p:cNvSpPr/>
          <p:nvPr/>
        </p:nvSpPr>
        <p:spPr>
          <a:xfrm>
            <a:off x="2103120" y="2953512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41" name="Google Shape;541;p7"/>
          <p:cNvSpPr txBox="1"/>
          <p:nvPr/>
        </p:nvSpPr>
        <p:spPr>
          <a:xfrm>
            <a:off x="11201400" y="2953512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0 %</a:t>
            </a:r>
            <a:endParaRPr b="0" i="0" sz="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42" name="Google Shape;542;p7"/>
          <p:cNvSpPr txBox="1"/>
          <p:nvPr/>
        </p:nvSpPr>
        <p:spPr>
          <a:xfrm>
            <a:off x="777240" y="3108960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Capa granular</a:t>
            </a:r>
            <a:endParaRPr b="0" i="0" sz="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43" name="Google Shape;543;p7"/>
          <p:cNvSpPr/>
          <p:nvPr/>
        </p:nvSpPr>
        <p:spPr>
          <a:xfrm>
            <a:off x="2103120" y="3108960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44" name="Google Shape;544;p7"/>
          <p:cNvSpPr txBox="1"/>
          <p:nvPr/>
        </p:nvSpPr>
        <p:spPr>
          <a:xfrm>
            <a:off x="11201400" y="3108960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0 %</a:t>
            </a:r>
            <a:endParaRPr b="0" i="0" sz="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45" name="Google Shape;545;p7"/>
          <p:cNvSpPr txBox="1"/>
          <p:nvPr/>
        </p:nvSpPr>
        <p:spPr>
          <a:xfrm>
            <a:off x="777240" y="3264408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Subrasante</a:t>
            </a:r>
            <a:endParaRPr b="0" i="0" sz="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46" name="Google Shape;546;p7"/>
          <p:cNvSpPr/>
          <p:nvPr/>
        </p:nvSpPr>
        <p:spPr>
          <a:xfrm>
            <a:off x="2103120" y="3264408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47" name="Google Shape;547;p7"/>
          <p:cNvSpPr txBox="1"/>
          <p:nvPr/>
        </p:nvSpPr>
        <p:spPr>
          <a:xfrm>
            <a:off x="11201400" y="3264408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1,4 %</a:t>
            </a:r>
            <a:endParaRPr b="0" i="0" sz="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548" name="Google Shape;548;p7"/>
          <p:cNvCxnSpPr/>
          <p:nvPr/>
        </p:nvCxnSpPr>
        <p:spPr>
          <a:xfrm>
            <a:off x="731520" y="3511296"/>
            <a:ext cx="0" cy="521208"/>
          </a:xfrm>
          <a:prstGeom prst="straightConnector1">
            <a:avLst/>
          </a:prstGeom>
          <a:noFill/>
          <a:ln cap="flat" cmpd="sng" w="19050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9" name="Google Shape;549;p7"/>
          <p:cNvSpPr txBox="1"/>
          <p:nvPr/>
        </p:nvSpPr>
        <p:spPr>
          <a:xfrm rot="-5400000">
            <a:off x="260604" y="3689604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700"/>
              <a:buFont typeface="Calibri"/>
              <a:buNone/>
            </a:pPr>
            <a:r>
              <a:rPr b="1" i="0" lang="es-CO" sz="700" u="none" cap="none" strike="noStrike">
                <a:solidFill>
                  <a:srgbClr val="2E7D4F"/>
                </a:solidFill>
                <a:latin typeface="Poppins"/>
                <a:ea typeface="Poppins"/>
                <a:cs typeface="Poppins"/>
                <a:sym typeface="Poppins"/>
              </a:rPr>
              <a:t>DRENAJE</a:t>
            </a:r>
            <a:endParaRPr b="0" i="0" sz="7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50" name="Google Shape;550;p7"/>
          <p:cNvSpPr txBox="1"/>
          <p:nvPr/>
        </p:nvSpPr>
        <p:spPr>
          <a:xfrm>
            <a:off x="777240" y="3511296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Cunetas</a:t>
            </a:r>
            <a:endParaRPr b="0" i="0" sz="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51" name="Google Shape;551;p7"/>
          <p:cNvSpPr/>
          <p:nvPr/>
        </p:nvSpPr>
        <p:spPr>
          <a:xfrm>
            <a:off x="2103120" y="3511296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52" name="Google Shape;552;p7"/>
          <p:cNvSpPr txBox="1"/>
          <p:nvPr/>
        </p:nvSpPr>
        <p:spPr>
          <a:xfrm>
            <a:off x="11201400" y="3511296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0 %</a:t>
            </a:r>
            <a:endParaRPr b="0" i="0" sz="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53" name="Google Shape;553;p7"/>
          <p:cNvSpPr txBox="1"/>
          <p:nvPr/>
        </p:nvSpPr>
        <p:spPr>
          <a:xfrm>
            <a:off x="777240" y="3694176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Filtros</a:t>
            </a:r>
            <a:endParaRPr b="0" i="0" sz="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54" name="Google Shape;554;p7"/>
          <p:cNvSpPr txBox="1"/>
          <p:nvPr/>
        </p:nvSpPr>
        <p:spPr>
          <a:xfrm>
            <a:off x="1920240" y="3694176"/>
            <a:ext cx="137160" cy="777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700"/>
              <a:buFont typeface="Calibri"/>
              <a:buNone/>
            </a:pPr>
            <a:r>
              <a:rPr b="0" i="0" lang="es-CO" sz="70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endParaRPr b="0" i="0" sz="7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55" name="Google Shape;555;p7"/>
          <p:cNvSpPr txBox="1"/>
          <p:nvPr/>
        </p:nvSpPr>
        <p:spPr>
          <a:xfrm>
            <a:off x="1920240" y="3771900"/>
            <a:ext cx="137160" cy="777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700"/>
              <a:buFont typeface="Calibri"/>
              <a:buNone/>
            </a:pPr>
            <a:r>
              <a:rPr b="0" i="0" lang="es-CO" sz="70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endParaRPr b="0" i="0" sz="7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56" name="Google Shape;556;p7"/>
          <p:cNvSpPr/>
          <p:nvPr/>
        </p:nvSpPr>
        <p:spPr>
          <a:xfrm>
            <a:off x="2103120" y="3694176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557" name="Google Shape;557;p7"/>
          <p:cNvCxnSpPr/>
          <p:nvPr/>
        </p:nvCxnSpPr>
        <p:spPr>
          <a:xfrm>
            <a:off x="2103120" y="3771900"/>
            <a:ext cx="9052560" cy="0"/>
          </a:xfrm>
          <a:prstGeom prst="straightConnector1">
            <a:avLst/>
          </a:prstGeom>
          <a:noFill/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8" name="Google Shape;558;p7"/>
          <p:cNvSpPr txBox="1"/>
          <p:nvPr/>
        </p:nvSpPr>
        <p:spPr>
          <a:xfrm>
            <a:off x="11201400" y="3694176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—</a:t>
            </a:r>
            <a:endParaRPr b="0" i="0" sz="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59" name="Google Shape;559;p7"/>
          <p:cNvSpPr txBox="1"/>
          <p:nvPr/>
        </p:nvSpPr>
        <p:spPr>
          <a:xfrm>
            <a:off x="777240" y="3877056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Alcantarillas</a:t>
            </a:r>
            <a:endParaRPr b="0" i="0" sz="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60" name="Google Shape;560;p7"/>
          <p:cNvSpPr/>
          <p:nvPr/>
        </p:nvSpPr>
        <p:spPr>
          <a:xfrm>
            <a:off x="2103120" y="3877056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61" name="Google Shape;561;p7"/>
          <p:cNvSpPr txBox="1"/>
          <p:nvPr/>
        </p:nvSpPr>
        <p:spPr>
          <a:xfrm>
            <a:off x="11201400" y="3877056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—</a:t>
            </a:r>
            <a:endParaRPr b="0" i="0" sz="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62" name="Google Shape;562;p7"/>
          <p:cNvSpPr txBox="1"/>
          <p:nvPr/>
        </p:nvSpPr>
        <p:spPr>
          <a:xfrm>
            <a:off x="457200" y="4078224"/>
            <a:ext cx="11277295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D9A6"/>
              </a:buClr>
              <a:buSzPts val="800"/>
              <a:buFont typeface="Calibri"/>
              <a:buNone/>
            </a:pPr>
            <a:r>
              <a:rPr b="0" i="0" lang="es-CO" sz="800" u="none" cap="none" strike="noStrike">
                <a:solidFill>
                  <a:srgbClr val="EBD9A6"/>
                </a:solidFill>
                <a:latin typeface="Poppins"/>
                <a:ea typeface="Poppins"/>
                <a:cs typeface="Poppins"/>
                <a:sym typeface="Poppins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Natural    </a:t>
            </a:r>
            <a:r>
              <a:rPr b="0" i="0" lang="es-CO" sz="800" u="none" cap="none" strike="noStrike">
                <a:solidFill>
                  <a:srgbClr val="8C6A4F"/>
                </a:solidFill>
                <a:latin typeface="Poppins"/>
                <a:ea typeface="Poppins"/>
                <a:cs typeface="Poppins"/>
                <a:sym typeface="Poppins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Cal    </a:t>
            </a:r>
            <a:r>
              <a:rPr b="0" i="0" lang="es-CO" sz="800" u="none" cap="none" strike="noStrike">
                <a:solidFill>
                  <a:srgbClr val="D9A441"/>
                </a:solidFill>
                <a:latin typeface="Poppins"/>
                <a:ea typeface="Poppins"/>
                <a:cs typeface="Poppins"/>
                <a:sym typeface="Poppins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Cemento    </a:t>
            </a:r>
            <a:r>
              <a:rPr b="0" i="0" lang="es-CO" sz="800" u="none" cap="none" strike="noStrike">
                <a:solidFill>
                  <a:srgbClr val="1F2A36"/>
                </a:solidFill>
                <a:latin typeface="Poppins"/>
                <a:ea typeface="Poppins"/>
                <a:cs typeface="Poppins"/>
                <a:sym typeface="Poppins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TSD    </a:t>
            </a:r>
            <a:r>
              <a:rPr b="0" i="0" lang="es-CO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MDC-19    </a:t>
            </a:r>
            <a:r>
              <a:rPr b="0" i="0" lang="es-CO" sz="800" u="none" cap="none" strike="noStrike">
                <a:solidFill>
                  <a:srgbClr val="2E7D4F"/>
                </a:solidFill>
                <a:latin typeface="Poppins"/>
                <a:ea typeface="Poppins"/>
                <a:cs typeface="Poppins"/>
                <a:sym typeface="Poppins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Ejecutado    </a:t>
            </a:r>
            <a:r>
              <a:rPr b="0" i="0" lang="es-CO" sz="800" u="none" cap="none" strike="noStrike">
                <a:solidFill>
                  <a:srgbClr val="A9C7B3"/>
                </a:solidFill>
                <a:latin typeface="Poppins"/>
                <a:ea typeface="Poppins"/>
                <a:cs typeface="Poppins"/>
                <a:sym typeface="Poppins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Limpieza alcantarillas    </a:t>
            </a:r>
            <a:r>
              <a:rPr b="0" i="0" lang="es-CO" sz="800" u="none" cap="none" strike="noStrike">
                <a:solidFill>
                  <a:srgbClr val="2F6FB0"/>
                </a:solidFill>
                <a:latin typeface="Poppins"/>
                <a:ea typeface="Poppins"/>
                <a:cs typeface="Poppins"/>
                <a:sym typeface="Poppins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Alcantarilla nueva    </a:t>
            </a:r>
            <a:r>
              <a:rPr b="0" i="0" lang="es-CO" sz="800" u="none" cap="none" strike="noStrike">
                <a:solidFill>
                  <a:srgbClr val="E07B24"/>
                </a:solidFill>
                <a:latin typeface="Poppins"/>
                <a:ea typeface="Poppins"/>
                <a:cs typeface="Poppins"/>
                <a:sym typeface="Poppins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Reemplazada    </a:t>
            </a:r>
            <a:endParaRPr b="0" i="0" sz="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63" name="Google Shape;563;p7"/>
          <p:cNvSpPr txBox="1"/>
          <p:nvPr/>
        </p:nvSpPr>
        <p:spPr>
          <a:xfrm>
            <a:off x="457200" y="4301688"/>
            <a:ext cx="5486400" cy="165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1000"/>
              <a:buFont typeface="Calibri"/>
              <a:buNone/>
            </a:pPr>
            <a:r>
              <a:rPr b="1" i="0" lang="es-CO" sz="900" u="none" cap="none" strike="noStrike">
                <a:solidFill>
                  <a:srgbClr val="2E7D4F"/>
                </a:solidFill>
                <a:latin typeface="Poppins"/>
                <a:ea typeface="Poppins"/>
                <a:cs typeface="Poppins"/>
                <a:sym typeface="Poppins"/>
              </a:rPr>
              <a:t>AVANCE POR ACTIVIDAD</a:t>
            </a:r>
            <a:endParaRPr b="0" i="0" sz="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64" name="Google Shape;564;p7"/>
          <p:cNvSpPr txBox="1"/>
          <p:nvPr/>
        </p:nvSpPr>
        <p:spPr>
          <a:xfrm>
            <a:off x="457200" y="4716326"/>
            <a:ext cx="2011680" cy="257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Alcantarillas</a:t>
            </a:r>
            <a:endParaRPr b="0" i="0" sz="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65" name="Google Shape;565;p7"/>
          <p:cNvSpPr txBox="1"/>
          <p:nvPr/>
        </p:nvSpPr>
        <p:spPr>
          <a:xfrm>
            <a:off x="457200" y="4989987"/>
            <a:ext cx="2011680" cy="257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Cunetas</a:t>
            </a:r>
            <a:endParaRPr b="0" i="0" sz="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66" name="Google Shape;566;p7"/>
          <p:cNvSpPr txBox="1"/>
          <p:nvPr/>
        </p:nvSpPr>
        <p:spPr>
          <a:xfrm>
            <a:off x="457200" y="5263648"/>
            <a:ext cx="2011680" cy="257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Filtros</a:t>
            </a:r>
            <a:endParaRPr b="0" i="0" sz="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67" name="Google Shape;567;p7"/>
          <p:cNvSpPr txBox="1"/>
          <p:nvPr/>
        </p:nvSpPr>
        <p:spPr>
          <a:xfrm>
            <a:off x="457200" y="5537309"/>
            <a:ext cx="2011680" cy="257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Bordillos</a:t>
            </a:r>
            <a:endParaRPr b="0" i="0" sz="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68" name="Google Shape;568;p7"/>
          <p:cNvSpPr txBox="1"/>
          <p:nvPr/>
        </p:nvSpPr>
        <p:spPr>
          <a:xfrm>
            <a:off x="457200" y="5810970"/>
            <a:ext cx="2011680" cy="257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Estabilización</a:t>
            </a:r>
            <a:endParaRPr b="0" i="0" sz="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69" name="Google Shape;569;p7"/>
          <p:cNvSpPr txBox="1"/>
          <p:nvPr/>
        </p:nvSpPr>
        <p:spPr>
          <a:xfrm>
            <a:off x="457200" y="6084631"/>
            <a:ext cx="2011680" cy="257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Señalización</a:t>
            </a:r>
            <a:endParaRPr b="0" i="0" sz="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70" name="Google Shape;570;p7"/>
          <p:cNvSpPr txBox="1"/>
          <p:nvPr/>
        </p:nvSpPr>
        <p:spPr>
          <a:xfrm>
            <a:off x="2651760" y="4517299"/>
            <a:ext cx="2926080" cy="2077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s-CO" sz="750" u="none" cap="none" strike="noStrike">
                <a:solidFill>
                  <a:srgbClr val="192D23"/>
                </a:solidFill>
                <a:latin typeface="Poppins"/>
                <a:ea typeface="Poppins"/>
                <a:cs typeface="Poppins"/>
                <a:sym typeface="Poppins"/>
              </a:rPr>
              <a:t>Presupuestada  </a:t>
            </a:r>
            <a:r>
              <a:rPr b="0" i="0" lang="es-CO" sz="750" u="none" cap="none" strike="noStrike">
                <a:solidFill>
                  <a:srgbClr val="A9C7B3"/>
                </a:solidFill>
                <a:latin typeface="Poppins"/>
                <a:ea typeface="Poppins"/>
                <a:cs typeface="Poppins"/>
                <a:sym typeface="Poppins"/>
              </a:rPr>
              <a:t>■</a:t>
            </a:r>
            <a:r>
              <a:rPr b="0" i="0" lang="es-CO" sz="750" u="none" cap="none" strike="noStrike">
                <a:solidFill>
                  <a:srgbClr val="192D23"/>
                </a:solidFill>
                <a:latin typeface="Poppins"/>
                <a:ea typeface="Poppins"/>
                <a:cs typeface="Poppins"/>
                <a:sym typeface="Poppins"/>
              </a:rPr>
              <a:t>    Real  </a:t>
            </a:r>
            <a:r>
              <a:rPr b="0" i="0" lang="es-CO" sz="750" u="none" cap="none" strike="noStrike">
                <a:solidFill>
                  <a:srgbClr val="2E7D4F"/>
                </a:solidFill>
                <a:latin typeface="Poppins"/>
                <a:ea typeface="Poppins"/>
                <a:cs typeface="Poppins"/>
                <a:sym typeface="Poppins"/>
              </a:rPr>
              <a:t>■</a:t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71" name="Google Shape;571;p7"/>
          <p:cNvSpPr/>
          <p:nvPr/>
        </p:nvSpPr>
        <p:spPr>
          <a:xfrm>
            <a:off x="2551176" y="4732910"/>
            <a:ext cx="4096512" cy="62195"/>
          </a:xfrm>
          <a:prstGeom prst="rect">
            <a:avLst/>
          </a:prstGeom>
          <a:solidFill>
            <a:srgbClr val="A9C7B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72" name="Google Shape;572;p7"/>
          <p:cNvSpPr/>
          <p:nvPr/>
        </p:nvSpPr>
        <p:spPr>
          <a:xfrm>
            <a:off x="2551176" y="5006571"/>
            <a:ext cx="4049656" cy="62195"/>
          </a:xfrm>
          <a:prstGeom prst="rect">
            <a:avLst/>
          </a:prstGeom>
          <a:solidFill>
            <a:srgbClr val="A9C7B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73" name="Google Shape;573;p7"/>
          <p:cNvSpPr/>
          <p:nvPr/>
        </p:nvSpPr>
        <p:spPr>
          <a:xfrm>
            <a:off x="2551176" y="5280232"/>
            <a:ext cx="4096512" cy="62195"/>
          </a:xfrm>
          <a:prstGeom prst="rect">
            <a:avLst/>
          </a:prstGeom>
          <a:solidFill>
            <a:srgbClr val="A9C7B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74" name="Google Shape;574;p7"/>
          <p:cNvSpPr/>
          <p:nvPr/>
        </p:nvSpPr>
        <p:spPr>
          <a:xfrm>
            <a:off x="2551176" y="5553894"/>
            <a:ext cx="2124334" cy="62195"/>
          </a:xfrm>
          <a:prstGeom prst="rect">
            <a:avLst/>
          </a:prstGeom>
          <a:solidFill>
            <a:srgbClr val="A9C7B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75" name="Google Shape;575;p7"/>
          <p:cNvSpPr/>
          <p:nvPr/>
        </p:nvSpPr>
        <p:spPr>
          <a:xfrm>
            <a:off x="2551176" y="5827555"/>
            <a:ext cx="4096512" cy="62195"/>
          </a:xfrm>
          <a:prstGeom prst="rect">
            <a:avLst/>
          </a:prstGeom>
          <a:solidFill>
            <a:srgbClr val="A9C7B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76" name="Google Shape;576;p7"/>
          <p:cNvSpPr/>
          <p:nvPr/>
        </p:nvSpPr>
        <p:spPr>
          <a:xfrm>
            <a:off x="2551176" y="6101217"/>
            <a:ext cx="4096512" cy="62195"/>
          </a:xfrm>
          <a:prstGeom prst="rect">
            <a:avLst/>
          </a:prstGeom>
          <a:solidFill>
            <a:srgbClr val="A9C7B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77" name="Google Shape;577;p7"/>
          <p:cNvSpPr/>
          <p:nvPr/>
        </p:nvSpPr>
        <p:spPr>
          <a:xfrm>
            <a:off x="2551176" y="4803399"/>
            <a:ext cx="4096512" cy="62195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78" name="Google Shape;578;p7"/>
          <p:cNvSpPr/>
          <p:nvPr/>
        </p:nvSpPr>
        <p:spPr>
          <a:xfrm>
            <a:off x="2551176" y="5077060"/>
            <a:ext cx="4096512" cy="62195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79" name="Google Shape;579;p7"/>
          <p:cNvSpPr/>
          <p:nvPr/>
        </p:nvSpPr>
        <p:spPr>
          <a:xfrm>
            <a:off x="2551176" y="5350721"/>
            <a:ext cx="2937377" cy="62195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0" name="Google Shape;580;p7"/>
          <p:cNvSpPr/>
          <p:nvPr/>
        </p:nvSpPr>
        <p:spPr>
          <a:xfrm>
            <a:off x="2551176" y="5624382"/>
            <a:ext cx="4096512" cy="62195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1" name="Google Shape;581;p7"/>
          <p:cNvSpPr/>
          <p:nvPr/>
        </p:nvSpPr>
        <p:spPr>
          <a:xfrm>
            <a:off x="2551176" y="5898043"/>
            <a:ext cx="3103418" cy="62195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2" name="Google Shape;582;p7"/>
          <p:cNvSpPr/>
          <p:nvPr/>
        </p:nvSpPr>
        <p:spPr>
          <a:xfrm>
            <a:off x="2551176" y="6171705"/>
            <a:ext cx="2866429" cy="62195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3" name="Google Shape;583;p7"/>
          <p:cNvSpPr/>
          <p:nvPr/>
        </p:nvSpPr>
        <p:spPr>
          <a:xfrm>
            <a:off x="5095701" y="2670048"/>
            <a:ext cx="6059978" cy="155448"/>
          </a:xfrm>
          <a:prstGeom prst="rect">
            <a:avLst/>
          </a:prstGeom>
          <a:solidFill>
            <a:srgbClr val="2E7D4F"/>
          </a:solidFill>
          <a:ln cap="flat" cmpd="sng" w="9525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4" name="Google Shape;584;p7"/>
          <p:cNvSpPr/>
          <p:nvPr/>
        </p:nvSpPr>
        <p:spPr>
          <a:xfrm>
            <a:off x="6591991" y="2489961"/>
            <a:ext cx="4563689" cy="155448"/>
          </a:xfrm>
          <a:prstGeom prst="rect">
            <a:avLst/>
          </a:prstGeom>
          <a:solidFill>
            <a:srgbClr val="2E7D4F"/>
          </a:solidFill>
          <a:ln cap="flat" cmpd="sng" w="9525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aphicFrame>
        <p:nvGraphicFramePr>
          <p:cNvPr id="585" name="Google Shape;585;p7"/>
          <p:cNvGraphicFramePr/>
          <p:nvPr/>
        </p:nvGraphicFramePr>
        <p:xfrm>
          <a:off x="6766560" y="44841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{9EE2CB2E-1363-49F8-B8BA-952F5347F8D7}</a:tableStyleId>
              </a:tblPr>
              <a:tblGrid>
                <a:gridCol w="457200"/>
                <a:gridCol w="841250"/>
                <a:gridCol w="841250"/>
                <a:gridCol w="914400"/>
                <a:gridCol w="914400"/>
                <a:gridCol w="850400"/>
              </a:tblGrid>
              <a:tr h="299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1" lang="es-CO" sz="7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Unidad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1" lang="es-CO" sz="7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Presupuestada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1" lang="es-CO" sz="7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Real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1" lang="es-CO" sz="7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Ejec. anterior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1" lang="es-CO" sz="7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Ejec. actual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1" lang="es-CO" sz="7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Δ semana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</a:tr>
              <a:tr h="263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s-CO" sz="700" u="none" cap="none" strike="noStrike">
                          <a:solidFill>
                            <a:srgbClr val="5F6B6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und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s-CO" sz="7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54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s-CO" sz="7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54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s-CO" sz="700" u="none" cap="none" strike="noStrike">
                          <a:solidFill>
                            <a:srgbClr val="5F6B66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6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O" sz="7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6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s-CO" sz="700" u="none" cap="none" strike="noStrike">
                          <a:solidFill>
                            <a:srgbClr val="8A948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63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s-CO" sz="700" u="none" cap="none" strike="noStrike">
                          <a:solidFill>
                            <a:srgbClr val="5F6B6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ml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s-CO" sz="7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18.150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s-CO" sz="7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18.360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s-CO" sz="700" u="none" cap="none" strike="noStrike">
                          <a:solidFill>
                            <a:srgbClr val="5F6B66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O" sz="7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s-CO" sz="700" u="none" cap="none" strike="noStrike">
                          <a:solidFill>
                            <a:srgbClr val="8A948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263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s-CO" sz="700" u="none" cap="none" strike="noStrike">
                          <a:solidFill>
                            <a:srgbClr val="5F6B6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ml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s-CO" sz="7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18.130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s-CO" sz="7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13.000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s-CO" sz="700" u="none" cap="none" strike="noStrike">
                          <a:solidFill>
                            <a:srgbClr val="5F6B66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O" sz="7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s-CO" sz="700" u="none" cap="none" strike="noStrike">
                          <a:solidFill>
                            <a:srgbClr val="8A948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63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s-CO" sz="700" u="none" cap="none" strike="noStrike">
                          <a:solidFill>
                            <a:srgbClr val="5F6B6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ml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s-CO" sz="7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3.630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s-CO" sz="7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7.000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s-CO" sz="700" u="none" cap="none" strike="noStrike">
                          <a:solidFill>
                            <a:srgbClr val="5F6B66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O" sz="7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s.r.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s-CO" sz="700" u="none" cap="none" strike="noStrike">
                          <a:solidFill>
                            <a:srgbClr val="8A948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—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263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s-CO" sz="700" u="none" cap="none" strike="noStrike">
                          <a:solidFill>
                            <a:srgbClr val="5F6B6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m²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s-CO" sz="7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90.750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s-CO" sz="7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68.750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s-CO" sz="700" u="none" cap="none" strike="noStrike">
                          <a:solidFill>
                            <a:srgbClr val="5F6B66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1.295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O" sz="7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1.295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s-CO" sz="700" u="none" cap="none" strike="noStrike">
                          <a:solidFill>
                            <a:srgbClr val="8A948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63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s-CO" sz="700" u="none" cap="none" strike="noStrike">
                          <a:solidFill>
                            <a:srgbClr val="5F6B6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ml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s-CO" sz="7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18.150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s-CO" sz="7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12.700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s-CO" sz="700" u="none" cap="none" strike="noStrike">
                          <a:solidFill>
                            <a:srgbClr val="5F6B66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O" sz="7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s.r.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s-CO" sz="700" u="none" cap="none" strike="noStrike">
                          <a:solidFill>
                            <a:srgbClr val="8A948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—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</a:tbl>
          </a:graphicData>
        </a:graphic>
      </p:graphicFrame>
      <p:sp>
        <p:nvSpPr>
          <p:cNvPr id="586" name="Google Shape;586;p7"/>
          <p:cNvSpPr/>
          <p:nvPr/>
        </p:nvSpPr>
        <p:spPr>
          <a:xfrm>
            <a:off x="10969888" y="3264408"/>
            <a:ext cx="180000" cy="155448"/>
          </a:xfrm>
          <a:prstGeom prst="rect">
            <a:avLst/>
          </a:prstGeom>
          <a:solidFill>
            <a:srgbClr val="2E7D4F"/>
          </a:solidFill>
          <a:ln cap="flat" cmpd="sng" w="9525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7" name="Google Shape;587;p7"/>
          <p:cNvSpPr txBox="1"/>
          <p:nvPr/>
        </p:nvSpPr>
        <p:spPr>
          <a:xfrm>
            <a:off x="457200" y="6400000"/>
            <a:ext cx="5000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s-CO" sz="900" u="none" cap="none" strike="noStrike">
                <a:solidFill>
                  <a:srgbClr val="2E7D4F"/>
                </a:solidFill>
                <a:latin typeface="Poppins"/>
                <a:ea typeface="Poppins"/>
                <a:cs typeface="Poppins"/>
                <a:sym typeface="Poppins"/>
              </a:rPr>
              <a:t>TIEMPO TRANSCURRIDO DEL PLAZO CONTRACTUAL</a:t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8" name="Google Shape;588;p7"/>
          <p:cNvSpPr txBox="1"/>
          <p:nvPr/>
        </p:nvSpPr>
        <p:spPr>
          <a:xfrm>
            <a:off x="5000000" y="6400000"/>
            <a:ext cx="6734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-CO" sz="80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Inicio: </a:t>
            </a:r>
            <a:r>
              <a:rPr b="1" i="0" lang="es-CO" sz="8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01/06/2026</a:t>
            </a:r>
            <a:r>
              <a:rPr b="0" i="0" lang="es-CO" sz="80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   ·   Terminación: </a:t>
            </a:r>
            <a:r>
              <a:rPr b="1" i="0" lang="es-CO" sz="8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20/04/2027</a:t>
            </a:r>
            <a:r>
              <a:rPr b="0" i="0" lang="es-CO" sz="80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   ·   Al: </a:t>
            </a:r>
            <a:r>
              <a:rPr b="1" i="0" lang="es-CO" sz="8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02/10/2026</a:t>
            </a:r>
            <a:r>
              <a:rPr b="0" i="1" lang="es-CO" sz="80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   ·   123 de 323 días</a:t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9" name="Google Shape;589;p7"/>
          <p:cNvSpPr/>
          <p:nvPr/>
        </p:nvSpPr>
        <p:spPr>
          <a:xfrm>
            <a:off x="457200" y="6598920"/>
            <a:ext cx="11277600" cy="164592"/>
          </a:xfrm>
          <a:prstGeom prst="roundRect">
            <a:avLst>
              <a:gd fmla="val 50000" name="adj"/>
            </a:avLst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0" name="Google Shape;590;p7"/>
          <p:cNvSpPr/>
          <p:nvPr/>
        </p:nvSpPr>
        <p:spPr>
          <a:xfrm>
            <a:off x="457200" y="6598920"/>
            <a:ext cx="4294565" cy="164592"/>
          </a:xfrm>
          <a:prstGeom prst="roundRect">
            <a:avLst>
              <a:gd fmla="val 50000" name="adj"/>
            </a:avLst>
          </a:prstGeom>
          <a:solidFill>
            <a:srgbClr val="2E7D4F"/>
          </a:solidFill>
          <a:ln cap="flat" cmpd="sng" w="9525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s-CO" sz="8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38,1 %</a:t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591" name="Google Shape;591;p7"/>
          <p:cNvCxnSpPr/>
          <p:nvPr/>
        </p:nvCxnSpPr>
        <p:spPr>
          <a:xfrm>
            <a:off x="1504655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2" name="Google Shape;592;p7"/>
          <p:cNvCxnSpPr/>
          <p:nvPr/>
        </p:nvCxnSpPr>
        <p:spPr>
          <a:xfrm>
            <a:off x="2587025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3" name="Google Shape;593;p7"/>
          <p:cNvCxnSpPr/>
          <p:nvPr/>
        </p:nvCxnSpPr>
        <p:spPr>
          <a:xfrm>
            <a:off x="3669395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4" name="Google Shape;594;p7"/>
          <p:cNvCxnSpPr/>
          <p:nvPr/>
        </p:nvCxnSpPr>
        <p:spPr>
          <a:xfrm>
            <a:off x="4716850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5" name="Google Shape;595;p7"/>
          <p:cNvCxnSpPr/>
          <p:nvPr/>
        </p:nvCxnSpPr>
        <p:spPr>
          <a:xfrm>
            <a:off x="5799221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6" name="Google Shape;596;p7"/>
          <p:cNvCxnSpPr/>
          <p:nvPr/>
        </p:nvCxnSpPr>
        <p:spPr>
          <a:xfrm>
            <a:off x="6846676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7" name="Google Shape;597;p7"/>
          <p:cNvCxnSpPr/>
          <p:nvPr/>
        </p:nvCxnSpPr>
        <p:spPr>
          <a:xfrm>
            <a:off x="7929046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8" name="Google Shape;598;p7"/>
          <p:cNvCxnSpPr/>
          <p:nvPr/>
        </p:nvCxnSpPr>
        <p:spPr>
          <a:xfrm>
            <a:off x="9011416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9" name="Google Shape;599;p7"/>
          <p:cNvCxnSpPr/>
          <p:nvPr/>
        </p:nvCxnSpPr>
        <p:spPr>
          <a:xfrm>
            <a:off x="9989041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0" name="Google Shape;600;p7"/>
          <p:cNvCxnSpPr/>
          <p:nvPr/>
        </p:nvCxnSpPr>
        <p:spPr>
          <a:xfrm>
            <a:off x="11071411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1" name="Google Shape;601;p7"/>
          <p:cNvCxnSpPr/>
          <p:nvPr/>
        </p:nvCxnSpPr>
        <p:spPr>
          <a:xfrm>
            <a:off x="4751765" y="6562344"/>
            <a:ext cx="0" cy="237744"/>
          </a:xfrm>
          <a:prstGeom prst="straightConnector1">
            <a:avLst/>
          </a:prstGeom>
          <a:noFill/>
          <a:ln cap="flat" cmpd="sng" w="19050">
            <a:solidFill>
              <a:srgbClr val="B3261E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8"/>
          <p:cNvSpPr txBox="1"/>
          <p:nvPr/>
        </p:nvSpPr>
        <p:spPr>
          <a:xfrm>
            <a:off x="457200" y="320040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1200"/>
              <a:buFont typeface="Calibri"/>
              <a:buNone/>
            </a:pPr>
            <a:r>
              <a:rPr b="1" i="0" lang="es-CO" sz="1200" u="none" cap="none" strike="noStrike">
                <a:solidFill>
                  <a:srgbClr val="2E7D4F"/>
                </a:solidFill>
                <a:latin typeface="Poppins"/>
                <a:ea typeface="Poppins"/>
                <a:cs typeface="Poppins"/>
                <a:sym typeface="Poppins"/>
              </a:rPr>
              <a:t>CONSOLIDADO DE VARIACIÓN DE ALCANCES  ·  LOTE 1 – SUBREGIÓN ORIENTE</a:t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08" name="Google Shape;608;p8"/>
          <p:cNvSpPr txBox="1"/>
          <p:nvPr/>
        </p:nvSpPr>
        <p:spPr>
          <a:xfrm>
            <a:off x="457200" y="594360"/>
            <a:ext cx="9692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2800"/>
              <a:buFont typeface="Calibri"/>
              <a:buNone/>
            </a:pPr>
            <a:r>
              <a:rPr b="1" i="0" lang="es-CO" sz="28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Consolidado Lote 1 – Oriente</a:t>
            </a:r>
            <a:endParaRPr b="0" i="0" sz="2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descr="logo.png" id="609" name="Google Shape;60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78440" y="320040"/>
            <a:ext cx="1371600" cy="676656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8"/>
          <p:cNvSpPr/>
          <p:nvPr/>
        </p:nvSpPr>
        <p:spPr>
          <a:xfrm>
            <a:off x="457200" y="128016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1" name="Google Shape;611;p8"/>
          <p:cNvSpPr txBox="1"/>
          <p:nvPr/>
        </p:nvSpPr>
        <p:spPr>
          <a:xfrm>
            <a:off x="594360" y="1353312"/>
            <a:ext cx="1834835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050"/>
              <a:buFont typeface="Calibri"/>
              <a:buNone/>
            </a:pPr>
            <a:r>
              <a:rPr b="0" i="0" lang="es-CO" sz="105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Km contratados</a:t>
            </a:r>
            <a:endParaRPr b="0" i="0" sz="105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2" name="Google Shape;612;p8"/>
          <p:cNvSpPr txBox="1"/>
          <p:nvPr/>
        </p:nvSpPr>
        <p:spPr>
          <a:xfrm>
            <a:off x="594360" y="1581912"/>
            <a:ext cx="183483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99,22 km</a:t>
            </a:r>
            <a:endParaRPr b="0"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3" name="Google Shape;613;p8"/>
          <p:cNvSpPr txBox="1"/>
          <p:nvPr/>
        </p:nvSpPr>
        <p:spPr>
          <a:xfrm>
            <a:off x="594360" y="1901952"/>
            <a:ext cx="1834835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1" lang="es-CO" sz="85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7 corredores</a:t>
            </a:r>
            <a:endParaRPr b="0" i="0" sz="85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4" name="Google Shape;614;p8"/>
          <p:cNvSpPr/>
          <p:nvPr/>
        </p:nvSpPr>
        <p:spPr>
          <a:xfrm>
            <a:off x="2749235" y="128016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5" name="Google Shape;615;p8"/>
          <p:cNvSpPr txBox="1"/>
          <p:nvPr/>
        </p:nvSpPr>
        <p:spPr>
          <a:xfrm>
            <a:off x="2886395" y="1353312"/>
            <a:ext cx="1834835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050"/>
              <a:buFont typeface="Calibri"/>
              <a:buNone/>
            </a:pPr>
            <a:r>
              <a:rPr b="0" i="0" lang="es-CO" sz="105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Km que se alcanzan</a:t>
            </a:r>
            <a:endParaRPr b="0" i="0" sz="105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6" name="Google Shape;616;p8"/>
          <p:cNvSpPr txBox="1"/>
          <p:nvPr/>
        </p:nvSpPr>
        <p:spPr>
          <a:xfrm>
            <a:off x="2886395" y="1581912"/>
            <a:ext cx="183483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D2E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0B5D2E"/>
                </a:solidFill>
                <a:latin typeface="Poppins"/>
                <a:ea typeface="Poppins"/>
                <a:cs typeface="Poppins"/>
                <a:sym typeface="Poppins"/>
              </a:rPr>
              <a:t>53,04 km</a:t>
            </a:r>
            <a:endParaRPr b="0"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7" name="Google Shape;617;p8"/>
          <p:cNvSpPr txBox="1"/>
          <p:nvPr/>
        </p:nvSpPr>
        <p:spPr>
          <a:xfrm>
            <a:off x="2886395" y="1901952"/>
            <a:ext cx="1834835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1" lang="es-CO" sz="85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Cobertura 52,1 % del valor proyectado</a:t>
            </a:r>
            <a:endParaRPr b="0" i="0" sz="85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8" name="Google Shape;618;p8"/>
          <p:cNvSpPr/>
          <p:nvPr/>
        </p:nvSpPr>
        <p:spPr>
          <a:xfrm>
            <a:off x="5041270" y="128016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9" name="Google Shape;619;p8"/>
          <p:cNvSpPr txBox="1"/>
          <p:nvPr/>
        </p:nvSpPr>
        <p:spPr>
          <a:xfrm>
            <a:off x="5178430" y="1353312"/>
            <a:ext cx="1834835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050"/>
              <a:buFont typeface="Calibri"/>
              <a:buNone/>
            </a:pPr>
            <a:r>
              <a:rPr b="0" i="0" lang="es-CO" sz="105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Valor contractual</a:t>
            </a:r>
            <a:endParaRPr b="0" i="0" sz="105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20" name="Google Shape;620;p8"/>
          <p:cNvSpPr txBox="1"/>
          <p:nvPr/>
        </p:nvSpPr>
        <p:spPr>
          <a:xfrm>
            <a:off x="5178430" y="1581912"/>
            <a:ext cx="183483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$ 95.269.158.634</a:t>
            </a:r>
            <a:endParaRPr b="0"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21" name="Google Shape;621;p8"/>
          <p:cNvSpPr txBox="1"/>
          <p:nvPr/>
        </p:nvSpPr>
        <p:spPr>
          <a:xfrm>
            <a:off x="5178430" y="1901952"/>
            <a:ext cx="1834835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1" lang="es-CO" sz="85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$ 960.180.998 por km</a:t>
            </a:r>
            <a:endParaRPr b="0" i="0" sz="85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22" name="Google Shape;622;p8"/>
          <p:cNvSpPr/>
          <p:nvPr/>
        </p:nvSpPr>
        <p:spPr>
          <a:xfrm>
            <a:off x="7333305" y="128016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23" name="Google Shape;623;p8"/>
          <p:cNvSpPr txBox="1"/>
          <p:nvPr/>
        </p:nvSpPr>
        <p:spPr>
          <a:xfrm>
            <a:off x="7470465" y="1353312"/>
            <a:ext cx="1834835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050"/>
              <a:buFont typeface="Calibri"/>
              <a:buNone/>
            </a:pPr>
            <a:r>
              <a:rPr b="0" i="0" lang="es-CO" sz="105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Valor proyectado</a:t>
            </a:r>
            <a:endParaRPr b="0" i="0" sz="105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24" name="Google Shape;624;p8"/>
          <p:cNvSpPr txBox="1"/>
          <p:nvPr/>
        </p:nvSpPr>
        <p:spPr>
          <a:xfrm>
            <a:off x="7470465" y="1581912"/>
            <a:ext cx="183483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$ 182.803.527.436</a:t>
            </a:r>
            <a:endParaRPr b="0"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25" name="Google Shape;625;p8"/>
          <p:cNvSpPr txBox="1"/>
          <p:nvPr/>
        </p:nvSpPr>
        <p:spPr>
          <a:xfrm>
            <a:off x="7470465" y="1901952"/>
            <a:ext cx="1834835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1" lang="es-CO" sz="85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$ 1.842.406.041 por km</a:t>
            </a:r>
            <a:endParaRPr b="0" i="0" sz="85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26" name="Google Shape;626;p8"/>
          <p:cNvSpPr/>
          <p:nvPr/>
        </p:nvSpPr>
        <p:spPr>
          <a:xfrm>
            <a:off x="9625340" y="128016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FBEAEA"/>
          </a:solidFill>
          <a:ln cap="flat" cmpd="sng" w="12700">
            <a:solidFill>
              <a:srgbClr val="FBEA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27" name="Google Shape;627;p8"/>
          <p:cNvSpPr txBox="1"/>
          <p:nvPr/>
        </p:nvSpPr>
        <p:spPr>
          <a:xfrm>
            <a:off x="9762500" y="1353312"/>
            <a:ext cx="1834835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050"/>
              <a:buFont typeface="Calibri"/>
              <a:buNone/>
            </a:pPr>
            <a:r>
              <a:rPr b="0" i="0" lang="es-CO" sz="105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Adición estimada</a:t>
            </a:r>
            <a:endParaRPr b="0" i="0" sz="105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28" name="Google Shape;628;p8"/>
          <p:cNvSpPr txBox="1"/>
          <p:nvPr/>
        </p:nvSpPr>
        <p:spPr>
          <a:xfrm>
            <a:off x="9762500" y="1581912"/>
            <a:ext cx="183483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261E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B3261E"/>
                </a:solidFill>
                <a:latin typeface="Poppins"/>
                <a:ea typeface="Poppins"/>
                <a:cs typeface="Poppins"/>
                <a:sym typeface="Poppins"/>
              </a:rPr>
              <a:t>▲ $ </a:t>
            </a:r>
            <a:r>
              <a:rPr b="1" i="0" lang="es-CO" sz="1400" u="none" cap="none" strike="noStrike">
                <a:solidFill>
                  <a:srgbClr val="B3261E"/>
                </a:solidFill>
                <a:latin typeface="Poppins"/>
                <a:ea typeface="Poppins"/>
                <a:cs typeface="Poppins"/>
                <a:sym typeface="Poppins"/>
              </a:rPr>
              <a:t>87.534.368.802</a:t>
            </a:r>
            <a:endParaRPr b="0"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29" name="Google Shape;629;p8"/>
          <p:cNvSpPr txBox="1"/>
          <p:nvPr/>
        </p:nvSpPr>
        <p:spPr>
          <a:xfrm>
            <a:off x="9762500" y="1901952"/>
            <a:ext cx="1834835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1" lang="es-CO" sz="85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+91,9 % sobre lo contractual</a:t>
            </a:r>
            <a:endParaRPr b="0" i="0" sz="85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aphicFrame>
        <p:nvGraphicFramePr>
          <p:cNvPr id="630" name="Google Shape;630;p8"/>
          <p:cNvGraphicFramePr/>
          <p:nvPr/>
        </p:nvGraphicFramePr>
        <p:xfrm>
          <a:off x="485030" y="23774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{2219430B-40B1-4F13-8D99-EA5D7966678A}</a:tableStyleId>
              </a:tblPr>
              <a:tblGrid>
                <a:gridCol w="2715375"/>
                <a:gridCol w="621800"/>
                <a:gridCol w="1280150"/>
                <a:gridCol w="1005850"/>
                <a:gridCol w="1280150"/>
                <a:gridCol w="1005850"/>
                <a:gridCol w="795525"/>
                <a:gridCol w="1280150"/>
                <a:gridCol w="640075"/>
                <a:gridCol w="62180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s-CO" sz="7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Corredor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s-CO" sz="7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Longitud (km)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s-CO" sz="7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Valor contractual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s-CO" sz="7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$/km contractual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s-CO" sz="7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Valor proyectado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s-CO" sz="7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$/km proyectado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s-CO" sz="7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Longitud probable (km)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s-CO" sz="7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Variación (valor adicional)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s-CO" sz="7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% variación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s-CO" sz="7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Cobertura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</a:tr>
              <a:tr h="260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8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Abejorral – Santa Bárbara – El Cairo – La Elvira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8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23,77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8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$ 19.969.185.040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8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$ 840.100.338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8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$ 48.829.785.964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8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$ 2.054.261.084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8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9,72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800" u="none" cap="none" strike="noStrike">
                          <a:solidFill>
                            <a:srgbClr val="B3261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▲ $ 28.860.600.924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800" u="none" cap="none" strike="noStrike">
                          <a:solidFill>
                            <a:srgbClr val="B3261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144,5 %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8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40,9 %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60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8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La Frontera (Ruta 56) – Mesopotamia – Abejorral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8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25,49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8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$ 23.070.485.659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8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$ 905.079.861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8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$ 47.630.680.065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8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$ 1.868.602.592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8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12,35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800" u="none" cap="none" strike="noStrike">
                          <a:solidFill>
                            <a:srgbClr val="B3261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▲ $ 24.560.194.406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800" u="none" cap="none" strike="noStrike">
                          <a:solidFill>
                            <a:srgbClr val="B3261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106,5 %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8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48,4 %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260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8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San Vicente – El Peñol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8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18,15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8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$ 17.646.781.111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8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$ 972.274.441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8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$ 24.053.020.311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8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$ 1.325.235.279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8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13,32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800" u="none" cap="none" strike="noStrike">
                          <a:solidFill>
                            <a:srgbClr val="B3261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▲ $ 6.406.239.200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800" u="none" cap="none" strike="noStrike">
                          <a:solidFill>
                            <a:srgbClr val="B3261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36,3 %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8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73,4 %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60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8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SUBTOTAL CORREDORES CON PROYECCIÓN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8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67,41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8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$ 60.686.451.810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8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$ 900.258.891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8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$ 120.513.486.340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8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$ 1.787.768.674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8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35,38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800" u="none" cap="none" strike="noStrike">
                          <a:solidFill>
                            <a:srgbClr val="B3261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▲ $ 59.827.034.530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800" u="none" cap="none" strike="noStrike">
                          <a:solidFill>
                            <a:srgbClr val="B3261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98,6 %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8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50,4 %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</a:tr>
              <a:tr h="260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B65"/>
                        </a:buClr>
                        <a:buSzPts val="950"/>
                        <a:buFont typeface="Calibri"/>
                        <a:buNone/>
                      </a:pPr>
                      <a:r>
                        <a:rPr i="1" lang="es-CO" sz="800" u="none" cap="none" strike="noStrike">
                          <a:solidFill>
                            <a:srgbClr val="5F6B6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San Rafael – San Roque – Santo Domingo – Alejandría *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B65"/>
                        </a:buClr>
                        <a:buSzPts val="950"/>
                        <a:buFont typeface="Calibri"/>
                        <a:buNone/>
                      </a:pPr>
                      <a:r>
                        <a:rPr i="1" lang="es-CO" sz="800" u="none" cap="none" strike="noStrike">
                          <a:solidFill>
                            <a:srgbClr val="5F6B6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2,26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B65"/>
                        </a:buClr>
                        <a:buSzPts val="950"/>
                        <a:buFont typeface="Calibri"/>
                        <a:buNone/>
                      </a:pPr>
                      <a:r>
                        <a:rPr i="1" lang="es-CO" sz="800" u="none" cap="none" strike="noStrike">
                          <a:solidFill>
                            <a:srgbClr val="5F6B6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$ 2.707.438.687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B65"/>
                        </a:buClr>
                        <a:buSzPts val="950"/>
                        <a:buFont typeface="Calibri"/>
                        <a:buNone/>
                      </a:pPr>
                      <a:r>
                        <a:rPr i="1" lang="es-CO" sz="800" u="none" cap="none" strike="noStrike">
                          <a:solidFill>
                            <a:srgbClr val="5F6B6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$ 1.197.981.720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B65"/>
                        </a:buClr>
                        <a:buSzPts val="950"/>
                        <a:buFont typeface="Calibri"/>
                        <a:buNone/>
                      </a:pPr>
                      <a:r>
                        <a:rPr i="1" lang="es-CO" sz="800" u="none" cap="none" strike="noStrike">
                          <a:solidFill>
                            <a:srgbClr val="5F6B6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$ 4.425.510.622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B65"/>
                        </a:buClr>
                        <a:buSzPts val="950"/>
                        <a:buFont typeface="Calibri"/>
                        <a:buNone/>
                      </a:pPr>
                      <a:r>
                        <a:rPr i="1" lang="es-CO" sz="800" u="none" cap="none" strike="noStrike">
                          <a:solidFill>
                            <a:srgbClr val="5F6B6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$ 1.958.190.541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B65"/>
                        </a:buClr>
                        <a:buSzPts val="950"/>
                        <a:buFont typeface="Calibri"/>
                        <a:buNone/>
                      </a:pPr>
                      <a:r>
                        <a:rPr b="1" i="1" lang="es-CO" sz="800" u="none" cap="none" strike="noStrike">
                          <a:solidFill>
                            <a:srgbClr val="5F6B6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1,38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i="1" lang="es-CO" sz="800" u="none" cap="none" strike="noStrike">
                          <a:solidFill>
                            <a:srgbClr val="B3261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▲ $ 1.718.071.935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i="1" lang="es-CO" sz="800" u="none" cap="none" strike="noStrike">
                          <a:solidFill>
                            <a:srgbClr val="B3261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63,5 %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B65"/>
                        </a:buClr>
                        <a:buSzPts val="950"/>
                        <a:buFont typeface="Calibri"/>
                        <a:buNone/>
                      </a:pPr>
                      <a:r>
                        <a:rPr i="1" lang="es-CO" sz="800" u="none" cap="none" strike="noStrike">
                          <a:solidFill>
                            <a:srgbClr val="5F6B6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61,2 %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60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B65"/>
                        </a:buClr>
                        <a:buSzPts val="950"/>
                        <a:buFont typeface="Calibri"/>
                        <a:buNone/>
                      </a:pPr>
                      <a:r>
                        <a:rPr i="1" lang="es-CO" sz="800" u="none" cap="none" strike="noStrike">
                          <a:solidFill>
                            <a:srgbClr val="5F6B6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La Quiebra – Santa Ana *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B65"/>
                        </a:buClr>
                        <a:buSzPts val="950"/>
                        <a:buFont typeface="Calibri"/>
                        <a:buNone/>
                      </a:pPr>
                      <a:r>
                        <a:rPr i="1" lang="es-CO" sz="800" u="none" cap="none" strike="noStrike">
                          <a:solidFill>
                            <a:srgbClr val="5F6B6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5,33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B65"/>
                        </a:buClr>
                        <a:buSzPts val="950"/>
                        <a:buFont typeface="Calibri"/>
                        <a:buNone/>
                      </a:pPr>
                      <a:r>
                        <a:rPr i="1" lang="es-CO" sz="800" u="none" cap="none" strike="noStrike">
                          <a:solidFill>
                            <a:srgbClr val="5F6B6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$ 6.342.396.909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B65"/>
                        </a:buClr>
                        <a:buSzPts val="950"/>
                        <a:buFont typeface="Calibri"/>
                        <a:buNone/>
                      </a:pPr>
                      <a:r>
                        <a:rPr i="1" lang="es-CO" sz="800" u="none" cap="none" strike="noStrike">
                          <a:solidFill>
                            <a:srgbClr val="5F6B6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$ 1.189.943.135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B65"/>
                        </a:buClr>
                        <a:buSzPts val="950"/>
                        <a:buFont typeface="Calibri"/>
                        <a:buNone/>
                      </a:pPr>
                      <a:r>
                        <a:rPr i="1" lang="es-CO" sz="800" u="none" cap="none" strike="noStrike">
                          <a:solidFill>
                            <a:srgbClr val="5F6B6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$ 10.437.155.581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B65"/>
                        </a:buClr>
                        <a:buSzPts val="950"/>
                        <a:buFont typeface="Calibri"/>
                        <a:buNone/>
                      </a:pPr>
                      <a:r>
                        <a:rPr i="1" lang="es-CO" sz="800" u="none" cap="none" strike="noStrike">
                          <a:solidFill>
                            <a:srgbClr val="5F6B6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$ 1.958.190.541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B65"/>
                        </a:buClr>
                        <a:buSzPts val="950"/>
                        <a:buFont typeface="Calibri"/>
                        <a:buNone/>
                      </a:pPr>
                      <a:r>
                        <a:rPr b="1" i="1" lang="es-CO" sz="800" u="none" cap="none" strike="noStrike">
                          <a:solidFill>
                            <a:srgbClr val="5F6B6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3,24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i="1" lang="es-CO" sz="800" u="none" cap="none" strike="noStrike">
                          <a:solidFill>
                            <a:srgbClr val="B3261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▲ $ 4.094.758.672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i="1" lang="es-CO" sz="800" u="none" cap="none" strike="noStrike">
                          <a:solidFill>
                            <a:srgbClr val="B3261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64,6 %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B65"/>
                        </a:buClr>
                        <a:buSzPts val="950"/>
                        <a:buFont typeface="Calibri"/>
                        <a:buNone/>
                      </a:pPr>
                      <a:r>
                        <a:rPr i="1" lang="es-CO" sz="800" u="none" cap="none" strike="noStrike">
                          <a:solidFill>
                            <a:srgbClr val="5F6B6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60,8 %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60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B65"/>
                        </a:buClr>
                        <a:buSzPts val="950"/>
                        <a:buFont typeface="Calibri"/>
                        <a:buNone/>
                      </a:pPr>
                      <a:r>
                        <a:rPr i="1" lang="es-CO" sz="800" u="none" cap="none" strike="noStrike">
                          <a:solidFill>
                            <a:srgbClr val="5F6B6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Sonsón – Aguadas (Puente San Rafael) *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B65"/>
                        </a:buClr>
                        <a:buSzPts val="950"/>
                        <a:buFont typeface="Calibri"/>
                        <a:buNone/>
                      </a:pPr>
                      <a:r>
                        <a:rPr i="1" lang="es-CO" sz="800" u="none" cap="none" strike="noStrike">
                          <a:solidFill>
                            <a:srgbClr val="5F6B6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19,22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B65"/>
                        </a:buClr>
                        <a:buSzPts val="950"/>
                        <a:buFont typeface="Calibri"/>
                        <a:buNone/>
                      </a:pPr>
                      <a:r>
                        <a:rPr i="1" lang="es-CO" sz="800" u="none" cap="none" strike="noStrike">
                          <a:solidFill>
                            <a:srgbClr val="5F6B6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$ 20.422.716.723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B65"/>
                        </a:buClr>
                        <a:buSzPts val="950"/>
                        <a:buFont typeface="Calibri"/>
                        <a:buNone/>
                      </a:pPr>
                      <a:r>
                        <a:rPr i="1" lang="es-CO" sz="800" u="none" cap="none" strike="noStrike">
                          <a:solidFill>
                            <a:srgbClr val="5F6B6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$ 1.062.576.312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B65"/>
                        </a:buClr>
                        <a:buSzPts val="950"/>
                        <a:buFont typeface="Calibri"/>
                        <a:buNone/>
                      </a:pPr>
                      <a:r>
                        <a:rPr i="1" lang="es-CO" sz="800" u="none" cap="none" strike="noStrike">
                          <a:solidFill>
                            <a:srgbClr val="5F6B6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$ 37.636.422.190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B65"/>
                        </a:buClr>
                        <a:buSzPts val="950"/>
                        <a:buFont typeface="Calibri"/>
                        <a:buNone/>
                      </a:pPr>
                      <a:r>
                        <a:rPr i="1" lang="es-CO" sz="800" u="none" cap="none" strike="noStrike">
                          <a:solidFill>
                            <a:srgbClr val="5F6B6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$ 1.958.190.541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B65"/>
                        </a:buClr>
                        <a:buSzPts val="950"/>
                        <a:buFont typeface="Calibri"/>
                        <a:buNone/>
                      </a:pPr>
                      <a:r>
                        <a:rPr b="1" i="1" lang="es-CO" sz="800" u="none" cap="none" strike="noStrike">
                          <a:solidFill>
                            <a:srgbClr val="5F6B6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10,43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i="1" lang="es-CO" sz="800" u="none" cap="none" strike="noStrike">
                          <a:solidFill>
                            <a:srgbClr val="B3261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▲ $ 17.213.705.467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i="1" lang="es-CO" sz="800" u="none" cap="none" strike="noStrike">
                          <a:solidFill>
                            <a:srgbClr val="B3261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84,3 %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B65"/>
                        </a:buClr>
                        <a:buSzPts val="950"/>
                        <a:buFont typeface="Calibri"/>
                        <a:buNone/>
                      </a:pPr>
                      <a:r>
                        <a:rPr i="1" lang="es-CO" sz="800" u="none" cap="none" strike="noStrike">
                          <a:solidFill>
                            <a:srgbClr val="5F6B6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54,3 %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60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B65"/>
                        </a:buClr>
                        <a:buSzPts val="950"/>
                        <a:buFont typeface="Calibri"/>
                        <a:buNone/>
                      </a:pPr>
                      <a:r>
                        <a:rPr i="1" lang="es-CO" sz="800" u="none" cap="none" strike="noStrike">
                          <a:solidFill>
                            <a:srgbClr val="5F6B6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Guarne – Yolombal *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B65"/>
                        </a:buClr>
                        <a:buSzPts val="950"/>
                        <a:buFont typeface="Calibri"/>
                        <a:buNone/>
                      </a:pPr>
                      <a:r>
                        <a:rPr i="1" lang="es-CO" sz="800" u="none" cap="none" strike="noStrike">
                          <a:solidFill>
                            <a:srgbClr val="5F6B6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5,00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B65"/>
                        </a:buClr>
                        <a:buSzPts val="950"/>
                        <a:buFont typeface="Calibri"/>
                        <a:buNone/>
                      </a:pPr>
                      <a:r>
                        <a:rPr i="1" lang="es-CO" sz="800" u="none" cap="none" strike="noStrike">
                          <a:solidFill>
                            <a:srgbClr val="5F6B6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$ 5.110.154.505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B65"/>
                        </a:buClr>
                        <a:buSzPts val="950"/>
                        <a:buFont typeface="Calibri"/>
                        <a:buNone/>
                      </a:pPr>
                      <a:r>
                        <a:rPr i="1" lang="es-CO" sz="800" u="none" cap="none" strike="noStrike">
                          <a:solidFill>
                            <a:srgbClr val="5F6B6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$ 1.022.030.901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B65"/>
                        </a:buClr>
                        <a:buSzPts val="950"/>
                        <a:buFont typeface="Calibri"/>
                        <a:buNone/>
                      </a:pPr>
                      <a:r>
                        <a:rPr i="1" lang="es-CO" sz="800" u="none" cap="none" strike="noStrike">
                          <a:solidFill>
                            <a:srgbClr val="5F6B6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$ 9.790.952.703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B65"/>
                        </a:buClr>
                        <a:buSzPts val="950"/>
                        <a:buFont typeface="Calibri"/>
                        <a:buNone/>
                      </a:pPr>
                      <a:r>
                        <a:rPr i="1" lang="es-CO" sz="800" u="none" cap="none" strike="noStrike">
                          <a:solidFill>
                            <a:srgbClr val="5F6B6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$ 1.958.190.541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B65"/>
                        </a:buClr>
                        <a:buSzPts val="950"/>
                        <a:buFont typeface="Calibri"/>
                        <a:buNone/>
                      </a:pPr>
                      <a:r>
                        <a:rPr b="1" i="1" lang="es-CO" sz="800" u="none" cap="none" strike="noStrike">
                          <a:solidFill>
                            <a:srgbClr val="5F6B6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2,61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i="1" lang="es-CO" sz="800" u="none" cap="none" strike="noStrike">
                          <a:solidFill>
                            <a:srgbClr val="B3261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▲ $ 4.680.798.198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i="1" lang="es-CO" sz="800" u="none" cap="none" strike="noStrike">
                          <a:solidFill>
                            <a:srgbClr val="B3261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91,6 %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B65"/>
                        </a:buClr>
                        <a:buSzPts val="950"/>
                        <a:buFont typeface="Calibri"/>
                        <a:buNone/>
                      </a:pPr>
                      <a:r>
                        <a:rPr i="1" lang="es-CO" sz="800" u="none" cap="none" strike="noStrike">
                          <a:solidFill>
                            <a:srgbClr val="5F6B6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52,2 %</a:t>
                      </a:r>
                      <a:endParaRPr sz="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60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TOTAL LOTE</a:t>
                      </a:r>
                      <a:endParaRPr sz="9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99,22</a:t>
                      </a:r>
                      <a:endParaRPr sz="9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$ 95.269.158.634</a:t>
                      </a:r>
                      <a:endParaRPr sz="9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$ 960.180.998</a:t>
                      </a:r>
                      <a:endParaRPr sz="9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$ 182.803.527.436</a:t>
                      </a:r>
                      <a:endParaRPr sz="9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$ 1.842.406.041</a:t>
                      </a:r>
                      <a:endParaRPr sz="9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53,04</a:t>
                      </a:r>
                      <a:endParaRPr sz="9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▲ $ 87.534.368.802</a:t>
                      </a:r>
                      <a:endParaRPr sz="9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91,9 %</a:t>
                      </a:r>
                      <a:endParaRPr sz="9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52,1 %</a:t>
                      </a:r>
                      <a:endParaRPr sz="9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</a:tr>
            </a:tbl>
          </a:graphicData>
        </a:graphic>
      </p:graphicFrame>
      <p:sp>
        <p:nvSpPr>
          <p:cNvPr id="631" name="Google Shape;631;p8"/>
          <p:cNvSpPr txBox="1"/>
          <p:nvPr/>
        </p:nvSpPr>
        <p:spPr>
          <a:xfrm>
            <a:off x="457198" y="5250739"/>
            <a:ext cx="1127455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CO" sz="70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Valor contractual según presupuesto del oferente; valor proyectado estimado con el promedio del valor por km proyectado de Abejorral–Santa Bárbara–El Cairo–La Elvira y La Frontera–Mesopotamia–Abejorral, excluyendo San Vicente–El Peñol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CO" sz="70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($ 1.958.190.541).</a:t>
            </a:r>
            <a:endParaRPr b="0" i="0" sz="7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2" name="Google Shape;632;p8"/>
          <p:cNvSpPr txBox="1"/>
          <p:nvPr/>
        </p:nvSpPr>
        <p:spPr>
          <a:xfrm>
            <a:off x="457198" y="5424475"/>
            <a:ext cx="1127455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00"/>
              <a:buFont typeface="Calibri"/>
              <a:buNone/>
            </a:pPr>
            <a:r>
              <a:rPr b="0" i="1" lang="es-CO" sz="70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Valor total del contrato $ 103.221.085.667 · Valor contractual de obra $ 95.269.158.634 · Valores reembolsables $ 7.951.927.033.</a:t>
            </a:r>
            <a:endParaRPr b="0" i="0" sz="7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3" name="Google Shape;633;p8"/>
          <p:cNvSpPr txBox="1"/>
          <p:nvPr/>
        </p:nvSpPr>
        <p:spPr>
          <a:xfrm>
            <a:off x="457198" y="5598211"/>
            <a:ext cx="1127455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00"/>
              <a:buFont typeface="Calibri"/>
              <a:buNone/>
            </a:pPr>
            <a:r>
              <a:rPr b="0" i="1" lang="es-CO" sz="70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Longitud probable = longitud × valor contractual ÷ valor proyectado · Cobertura = valor contractual ÷ valor proyectado.</a:t>
            </a:r>
            <a:endParaRPr b="0" i="0" sz="7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4" name="Google Shape;634;p8"/>
          <p:cNvSpPr txBox="1"/>
          <p:nvPr/>
        </p:nvSpPr>
        <p:spPr>
          <a:xfrm>
            <a:off x="457200" y="5833872"/>
            <a:ext cx="112745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950"/>
              <a:buFont typeface="Calibri"/>
              <a:buNone/>
            </a:pPr>
            <a:r>
              <a:rPr b="1" i="0" lang="es-CO" sz="950" u="none" cap="none" strike="noStrike">
                <a:solidFill>
                  <a:srgbClr val="2E7D4F"/>
                </a:solidFill>
                <a:latin typeface="Poppins"/>
                <a:ea typeface="Poppins"/>
                <a:cs typeface="Poppins"/>
                <a:sym typeface="Poppins"/>
              </a:rPr>
              <a:t>KILÓMETROS DEL LOTE QUE SE CUBREN CON EL VALOR CONTRACTUAL</a:t>
            </a:r>
            <a:endParaRPr b="0" i="0" sz="95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5" name="Google Shape;635;p8"/>
          <p:cNvSpPr/>
          <p:nvPr/>
        </p:nvSpPr>
        <p:spPr>
          <a:xfrm>
            <a:off x="457200" y="6071616"/>
            <a:ext cx="6027033" cy="384048"/>
          </a:xfrm>
          <a:prstGeom prst="rect">
            <a:avLst/>
          </a:prstGeom>
          <a:solidFill>
            <a:srgbClr val="2E7D4F"/>
          </a:solidFill>
          <a:ln cap="flat" cmpd="sng" w="12700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6" name="Google Shape;636;p8"/>
          <p:cNvSpPr/>
          <p:nvPr/>
        </p:nvSpPr>
        <p:spPr>
          <a:xfrm>
            <a:off x="6484233" y="6071616"/>
            <a:ext cx="5247518" cy="384048"/>
          </a:xfrm>
          <a:prstGeom prst="rect">
            <a:avLst/>
          </a:prstGeom>
          <a:solidFill>
            <a:srgbClr val="B3261E"/>
          </a:solidFill>
          <a:ln cap="flat" cmpd="sng" w="12700">
            <a:solidFill>
              <a:srgbClr val="B326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7" name="Google Shape;637;p8"/>
          <p:cNvSpPr txBox="1"/>
          <p:nvPr/>
        </p:nvSpPr>
        <p:spPr>
          <a:xfrm>
            <a:off x="566928" y="6071616"/>
            <a:ext cx="5807577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s-CO" sz="11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53,04 km  ·  53,5 % se alcanza</a:t>
            </a:r>
            <a:endParaRPr b="0" i="0" sz="11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8" name="Google Shape;638;p8"/>
          <p:cNvSpPr txBox="1"/>
          <p:nvPr/>
        </p:nvSpPr>
        <p:spPr>
          <a:xfrm>
            <a:off x="6593961" y="6071616"/>
            <a:ext cx="502806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s-CO" sz="11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46,18 km  ·  46,5 % pendiente</a:t>
            </a:r>
            <a:endParaRPr b="0" i="0" sz="11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9"/>
          <p:cNvSpPr txBox="1"/>
          <p:nvPr/>
        </p:nvSpPr>
        <p:spPr>
          <a:xfrm>
            <a:off x="457200" y="320040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1200"/>
              <a:buFont typeface="Calibri"/>
              <a:buNone/>
            </a:pPr>
            <a:r>
              <a:rPr b="1" i="0" lang="es-CO" sz="1200" u="none" cap="none" strike="noStrike">
                <a:solidFill>
                  <a:srgbClr val="2E7D4F"/>
                </a:solidFill>
                <a:latin typeface="Poppins"/>
                <a:ea typeface="Poppins"/>
                <a:cs typeface="Poppins"/>
                <a:sym typeface="Poppins"/>
              </a:rPr>
              <a:t>INFORME DE VARIACIÓN DE ALCANCES  ·  LOTE 2 – SUBREGIÓN OCCIDENTE</a:t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5" name="Google Shape;645;p9"/>
          <p:cNvSpPr txBox="1"/>
          <p:nvPr/>
        </p:nvSpPr>
        <p:spPr>
          <a:xfrm>
            <a:off x="457200" y="594360"/>
            <a:ext cx="9692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2800"/>
              <a:buFont typeface="Calibri"/>
              <a:buNone/>
            </a:pPr>
            <a:r>
              <a:rPr b="1" i="0" lang="es-CO" sz="28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Miserenga – Ebéjico</a:t>
            </a:r>
            <a:endParaRPr b="0" i="0" sz="2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descr="logo.png" id="646" name="Google Shape;64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78440" y="320040"/>
            <a:ext cx="1371600" cy="676656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9"/>
          <p:cNvSpPr/>
          <p:nvPr/>
        </p:nvSpPr>
        <p:spPr>
          <a:xfrm>
            <a:off x="457200" y="132588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8" name="Google Shape;648;p9"/>
          <p:cNvSpPr txBox="1"/>
          <p:nvPr/>
        </p:nvSpPr>
        <p:spPr>
          <a:xfrm>
            <a:off x="594360" y="1417320"/>
            <a:ext cx="183483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100"/>
              <a:buFont typeface="Calibri"/>
              <a:buNone/>
            </a:pPr>
            <a:r>
              <a:rPr b="0" i="0" lang="es-CO" sz="110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Longitud contractual</a:t>
            </a:r>
            <a:endParaRPr b="0" i="0" sz="11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9" name="Google Shape;649;p9"/>
          <p:cNvSpPr txBox="1"/>
          <p:nvPr/>
        </p:nvSpPr>
        <p:spPr>
          <a:xfrm>
            <a:off x="594360" y="1691640"/>
            <a:ext cx="183483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700"/>
              <a:buFont typeface="Calibri"/>
              <a:buNone/>
            </a:pPr>
            <a:r>
              <a:rPr b="1" i="0" lang="es-CO" sz="17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1,00 km</a:t>
            </a:r>
            <a:endParaRPr b="0" i="0" sz="17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50" name="Google Shape;650;p9"/>
          <p:cNvSpPr/>
          <p:nvPr/>
        </p:nvSpPr>
        <p:spPr>
          <a:xfrm>
            <a:off x="2749235" y="132588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51" name="Google Shape;651;p9"/>
          <p:cNvSpPr txBox="1"/>
          <p:nvPr/>
        </p:nvSpPr>
        <p:spPr>
          <a:xfrm>
            <a:off x="2886395" y="1417320"/>
            <a:ext cx="183483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100"/>
              <a:buFont typeface="Calibri"/>
              <a:buNone/>
            </a:pPr>
            <a:r>
              <a:rPr b="0" i="0" lang="es-CO" sz="110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Longitud probable a cubrir</a:t>
            </a:r>
            <a:endParaRPr b="0" i="0" sz="11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52" name="Google Shape;652;p9"/>
          <p:cNvSpPr txBox="1"/>
          <p:nvPr/>
        </p:nvSpPr>
        <p:spPr>
          <a:xfrm>
            <a:off x="2886395" y="1691640"/>
            <a:ext cx="183483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700"/>
              <a:buFont typeface="Calibri"/>
              <a:buNone/>
            </a:pPr>
            <a:r>
              <a:rPr b="1" i="0" lang="es-CO" sz="17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0,81 km</a:t>
            </a:r>
            <a:endParaRPr b="0" i="0" sz="17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53" name="Google Shape;653;p9"/>
          <p:cNvSpPr/>
          <p:nvPr/>
        </p:nvSpPr>
        <p:spPr>
          <a:xfrm>
            <a:off x="5041270" y="132588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54" name="Google Shape;654;p9"/>
          <p:cNvSpPr txBox="1"/>
          <p:nvPr/>
        </p:nvSpPr>
        <p:spPr>
          <a:xfrm>
            <a:off x="5178430" y="1417320"/>
            <a:ext cx="183483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100"/>
              <a:buFont typeface="Calibri"/>
              <a:buNone/>
            </a:pPr>
            <a:r>
              <a:rPr b="0" i="0" lang="es-CO" sz="110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Valor por km contractual</a:t>
            </a:r>
            <a:endParaRPr b="0" i="0" sz="11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55" name="Google Shape;655;p9"/>
          <p:cNvSpPr txBox="1"/>
          <p:nvPr/>
        </p:nvSpPr>
        <p:spPr>
          <a:xfrm>
            <a:off x="5178430" y="1691640"/>
            <a:ext cx="183483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700"/>
              <a:buFont typeface="Calibri"/>
              <a:buNone/>
            </a:pPr>
            <a:r>
              <a:rPr b="1" i="0" lang="es-CO" sz="17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$ 1.244.564.034</a:t>
            </a:r>
            <a:endParaRPr b="0" i="0" sz="17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56" name="Google Shape;656;p9"/>
          <p:cNvSpPr/>
          <p:nvPr/>
        </p:nvSpPr>
        <p:spPr>
          <a:xfrm>
            <a:off x="7333305" y="132588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57" name="Google Shape;657;p9"/>
          <p:cNvSpPr txBox="1"/>
          <p:nvPr/>
        </p:nvSpPr>
        <p:spPr>
          <a:xfrm>
            <a:off x="7470465" y="1417320"/>
            <a:ext cx="183483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100"/>
              <a:buFont typeface="Calibri"/>
              <a:buNone/>
            </a:pPr>
            <a:r>
              <a:rPr b="0" i="0" lang="es-CO" sz="110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Valor por km proyectado</a:t>
            </a:r>
            <a:endParaRPr b="0" i="0" sz="11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58" name="Google Shape;658;p9"/>
          <p:cNvSpPr txBox="1"/>
          <p:nvPr/>
        </p:nvSpPr>
        <p:spPr>
          <a:xfrm>
            <a:off x="7470465" y="1691640"/>
            <a:ext cx="183483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700"/>
              <a:buFont typeface="Calibri"/>
              <a:buNone/>
            </a:pPr>
            <a:r>
              <a:rPr b="1" i="0" lang="es-CO" sz="17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$ 1.539.355.914</a:t>
            </a:r>
            <a:endParaRPr b="0" i="0" sz="17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59" name="Google Shape;659;p9"/>
          <p:cNvSpPr/>
          <p:nvPr/>
        </p:nvSpPr>
        <p:spPr>
          <a:xfrm>
            <a:off x="9625340" y="132588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FBEAEA"/>
          </a:solidFill>
          <a:ln cap="flat" cmpd="sng" w="12700">
            <a:solidFill>
              <a:srgbClr val="FBEA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0" name="Google Shape;660;p9"/>
          <p:cNvSpPr txBox="1"/>
          <p:nvPr/>
        </p:nvSpPr>
        <p:spPr>
          <a:xfrm>
            <a:off x="9762500" y="1417320"/>
            <a:ext cx="183483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100"/>
              <a:buFont typeface="Calibri"/>
              <a:buNone/>
            </a:pPr>
            <a:r>
              <a:rPr b="0" i="0" lang="es-CO" sz="110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Variación total (valor adicional)</a:t>
            </a:r>
            <a:endParaRPr b="0" i="0" sz="11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1" name="Google Shape;661;p9"/>
          <p:cNvSpPr txBox="1"/>
          <p:nvPr/>
        </p:nvSpPr>
        <p:spPr>
          <a:xfrm>
            <a:off x="9762500" y="1691640"/>
            <a:ext cx="183483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261E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B3261E"/>
                </a:solidFill>
                <a:latin typeface="Poppins"/>
                <a:ea typeface="Poppins"/>
                <a:cs typeface="Poppins"/>
                <a:sym typeface="Poppins"/>
              </a:rPr>
              <a:t>▲ </a:t>
            </a:r>
            <a:r>
              <a:rPr b="1" i="0" lang="es-CO" sz="1500" u="none" cap="none" strike="noStrike">
                <a:solidFill>
                  <a:srgbClr val="B3261E"/>
                </a:solidFill>
                <a:latin typeface="Poppins"/>
                <a:ea typeface="Poppins"/>
                <a:cs typeface="Poppins"/>
                <a:sym typeface="Poppins"/>
              </a:rPr>
              <a:t>$ 294.791.880</a:t>
            </a:r>
            <a:endParaRPr b="0"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2" name="Google Shape;662;p9"/>
          <p:cNvSpPr/>
          <p:nvPr/>
        </p:nvSpPr>
        <p:spPr>
          <a:xfrm>
            <a:off x="457200" y="2423160"/>
            <a:ext cx="3154680" cy="4114800"/>
          </a:xfrm>
          <a:prstGeom prst="roundRect">
            <a:avLst>
              <a:gd fmla="val 1739" name="adj"/>
            </a:avLst>
          </a:prstGeom>
          <a:solidFill>
            <a:srgbClr val="FFFFFF"/>
          </a:solidFill>
          <a:ln cap="flat" cmpd="sng" w="12700">
            <a:solidFill>
              <a:srgbClr val="D5DD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3" name="Google Shape;663;p9"/>
          <p:cNvSpPr txBox="1"/>
          <p:nvPr/>
        </p:nvSpPr>
        <p:spPr>
          <a:xfrm>
            <a:off x="640080" y="2560320"/>
            <a:ext cx="2788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1100"/>
              <a:buFont typeface="Calibri"/>
              <a:buNone/>
            </a:pPr>
            <a:r>
              <a:rPr b="1" i="0" lang="es-CO" sz="1100" u="none" cap="none" strike="noStrike">
                <a:solidFill>
                  <a:srgbClr val="2E7D4F"/>
                </a:solidFill>
                <a:latin typeface="Poppins"/>
                <a:ea typeface="Poppins"/>
                <a:cs typeface="Poppins"/>
                <a:sym typeface="Poppins"/>
              </a:rPr>
              <a:t>ESTRUCTURA DE PAVIMENTO</a:t>
            </a:r>
            <a:endParaRPr b="0" i="0" sz="11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4" name="Google Shape;664;p9"/>
          <p:cNvSpPr txBox="1"/>
          <p:nvPr/>
        </p:nvSpPr>
        <p:spPr>
          <a:xfrm>
            <a:off x="640080" y="2816352"/>
            <a:ext cx="2788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1" i="0" lang="es-CO" sz="10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Miserenga – Ebéjico</a:t>
            </a:r>
            <a:endParaRPr b="0"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5" name="Google Shape;665;p9"/>
          <p:cNvSpPr txBox="1"/>
          <p:nvPr/>
        </p:nvSpPr>
        <p:spPr>
          <a:xfrm>
            <a:off x="640080" y="3172968"/>
            <a:ext cx="2788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LOTE 2 · Longitud: 1.000 m</a:t>
            </a:r>
            <a:endParaRPr b="0" i="0" sz="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Tránsito – Estructuración: </a:t>
            </a:r>
            <a:r>
              <a:rPr b="0" i="0" lang="es-CO" sz="90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307.000</a:t>
            </a:r>
            <a:endParaRPr b="0" i="0" sz="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Tránsito – Diseño: </a:t>
            </a:r>
            <a:r>
              <a:rPr b="0" i="0" lang="es-CO" sz="90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1.123.751</a:t>
            </a:r>
            <a:endParaRPr b="0" i="0" sz="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6" name="Google Shape;666;p9"/>
          <p:cNvSpPr txBox="1"/>
          <p:nvPr/>
        </p:nvSpPr>
        <p:spPr>
          <a:xfrm>
            <a:off x="457200" y="3794760"/>
            <a:ext cx="15773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1" i="0" lang="es-CO" sz="10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Teórica</a:t>
            </a:r>
            <a:endParaRPr b="0"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7" name="Google Shape;667;p9"/>
          <p:cNvSpPr/>
          <p:nvPr/>
        </p:nvSpPr>
        <p:spPr>
          <a:xfrm>
            <a:off x="560070" y="4087368"/>
            <a:ext cx="960120" cy="182880"/>
          </a:xfrm>
          <a:prstGeom prst="rect">
            <a:avLst/>
          </a:prstGeom>
          <a:solidFill>
            <a:srgbClr val="1F2A36"/>
          </a:solidFill>
          <a:ln cap="flat" cmpd="sng" w="12700">
            <a:solidFill>
              <a:srgbClr val="1F2A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8" name="Google Shape;668;p9"/>
          <p:cNvSpPr txBox="1"/>
          <p:nvPr/>
        </p:nvSpPr>
        <p:spPr>
          <a:xfrm>
            <a:off x="560070" y="4087368"/>
            <a:ext cx="9601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s-CO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TSD</a:t>
            </a:r>
            <a:endParaRPr b="0" i="0" sz="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9" name="Google Shape;669;p9"/>
          <p:cNvSpPr/>
          <p:nvPr/>
        </p:nvSpPr>
        <p:spPr>
          <a:xfrm>
            <a:off x="560070" y="4270248"/>
            <a:ext cx="960120" cy="1056132"/>
          </a:xfrm>
          <a:prstGeom prst="rect">
            <a:avLst/>
          </a:prstGeom>
          <a:solidFill>
            <a:srgbClr val="D9A44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70" name="Google Shape;670;p9"/>
          <p:cNvSpPr txBox="1"/>
          <p:nvPr/>
        </p:nvSpPr>
        <p:spPr>
          <a:xfrm>
            <a:off x="560070" y="4270248"/>
            <a:ext cx="960120" cy="52920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800"/>
              <a:buFont typeface="Calibri"/>
              <a:buNone/>
            </a:pPr>
            <a:r>
              <a:rPr b="1" i="0" lang="es-CO" sz="8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Estabilización con cemento</a:t>
            </a:r>
            <a:endParaRPr b="0" i="0" sz="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71" name="Google Shape;671;p9"/>
          <p:cNvSpPr/>
          <p:nvPr/>
        </p:nvSpPr>
        <p:spPr>
          <a:xfrm>
            <a:off x="624078" y="4799457"/>
            <a:ext cx="832104" cy="490347"/>
          </a:xfrm>
          <a:prstGeom prst="rect">
            <a:avLst/>
          </a:prstGeom>
          <a:solidFill>
            <a:srgbClr val="F2D58E"/>
          </a:solidFill>
          <a:ln cap="flat" cmpd="sng" w="9525">
            <a:solidFill>
              <a:srgbClr val="A87B1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72" name="Google Shape;672;p9"/>
          <p:cNvSpPr txBox="1"/>
          <p:nvPr/>
        </p:nvSpPr>
        <p:spPr>
          <a:xfrm>
            <a:off x="624078" y="4799457"/>
            <a:ext cx="832104" cy="490347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800"/>
              <a:buFont typeface="Calibri"/>
              <a:buNone/>
            </a:pPr>
            <a:r>
              <a:rPr b="0" i="0" lang="es-CO" sz="8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Subbase 13 cm</a:t>
            </a:r>
            <a:endParaRPr b="0" i="0" sz="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73" name="Google Shape;673;p9"/>
          <p:cNvSpPr txBox="1"/>
          <p:nvPr/>
        </p:nvSpPr>
        <p:spPr>
          <a:xfrm>
            <a:off x="1575054" y="4270248"/>
            <a:ext cx="457200" cy="10561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28 cm</a:t>
            </a:r>
            <a:endParaRPr b="0" i="0" sz="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74" name="Google Shape;674;p9"/>
          <p:cNvSpPr/>
          <p:nvPr/>
        </p:nvSpPr>
        <p:spPr>
          <a:xfrm>
            <a:off x="560070" y="5326380"/>
            <a:ext cx="960120" cy="754380"/>
          </a:xfrm>
          <a:prstGeom prst="rect">
            <a:avLst/>
          </a:prstGeom>
          <a:solidFill>
            <a:srgbClr val="8C6A4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75" name="Google Shape;675;p9"/>
          <p:cNvSpPr txBox="1"/>
          <p:nvPr/>
        </p:nvSpPr>
        <p:spPr>
          <a:xfrm>
            <a:off x="560070" y="5326380"/>
            <a:ext cx="960120" cy="754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s-CO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Subrasante estabilizada con cal</a:t>
            </a:r>
            <a:endParaRPr b="0" i="0" sz="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76" name="Google Shape;676;p9"/>
          <p:cNvSpPr txBox="1"/>
          <p:nvPr/>
        </p:nvSpPr>
        <p:spPr>
          <a:xfrm>
            <a:off x="1575054" y="5326380"/>
            <a:ext cx="457200" cy="754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20 cm</a:t>
            </a:r>
            <a:endParaRPr b="0" i="0" sz="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677" name="Google Shape;677;p9"/>
          <p:cNvCxnSpPr/>
          <p:nvPr/>
        </p:nvCxnSpPr>
        <p:spPr>
          <a:xfrm>
            <a:off x="468630" y="6080760"/>
            <a:ext cx="1143000" cy="0"/>
          </a:xfrm>
          <a:prstGeom prst="straightConnector1">
            <a:avLst/>
          </a:prstGeom>
          <a:noFill/>
          <a:ln cap="flat" cmpd="sng" w="12700">
            <a:solidFill>
              <a:srgbClr val="1D2B2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8" name="Google Shape;678;p9"/>
          <p:cNvSpPr txBox="1"/>
          <p:nvPr/>
        </p:nvSpPr>
        <p:spPr>
          <a:xfrm>
            <a:off x="457200" y="6153912"/>
            <a:ext cx="15773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10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Espesor total: </a:t>
            </a:r>
            <a:r>
              <a:rPr b="1" i="0" lang="es-CO" sz="10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48 cm</a:t>
            </a:r>
            <a:endParaRPr b="0"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79" name="Google Shape;679;p9"/>
          <p:cNvSpPr txBox="1"/>
          <p:nvPr/>
        </p:nvSpPr>
        <p:spPr>
          <a:xfrm>
            <a:off x="2034540" y="3794760"/>
            <a:ext cx="15773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1" i="0" lang="es-CO" sz="10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Aprobada</a:t>
            </a:r>
            <a:endParaRPr b="0"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80" name="Google Shape;680;p9"/>
          <p:cNvSpPr/>
          <p:nvPr/>
        </p:nvSpPr>
        <p:spPr>
          <a:xfrm>
            <a:off x="2137410" y="4087368"/>
            <a:ext cx="960120" cy="414909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81" name="Google Shape;681;p9"/>
          <p:cNvSpPr txBox="1"/>
          <p:nvPr/>
        </p:nvSpPr>
        <p:spPr>
          <a:xfrm>
            <a:off x="2137410" y="4087368"/>
            <a:ext cx="960120" cy="4149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s-CO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MDC-19</a:t>
            </a:r>
            <a:endParaRPr b="0" i="0" sz="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82" name="Google Shape;682;p9"/>
          <p:cNvSpPr txBox="1"/>
          <p:nvPr/>
        </p:nvSpPr>
        <p:spPr>
          <a:xfrm>
            <a:off x="3152394" y="4087368"/>
            <a:ext cx="457200" cy="4149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11 cm</a:t>
            </a:r>
            <a:endParaRPr b="0" i="0" sz="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83" name="Google Shape;683;p9"/>
          <p:cNvSpPr/>
          <p:nvPr/>
        </p:nvSpPr>
        <p:spPr>
          <a:xfrm>
            <a:off x="2137410" y="4502277"/>
            <a:ext cx="960120" cy="1056132"/>
          </a:xfrm>
          <a:prstGeom prst="rect">
            <a:avLst/>
          </a:prstGeom>
          <a:solidFill>
            <a:srgbClr val="D9A44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84" name="Google Shape;684;p9"/>
          <p:cNvSpPr txBox="1"/>
          <p:nvPr/>
        </p:nvSpPr>
        <p:spPr>
          <a:xfrm>
            <a:off x="2137410" y="4502277"/>
            <a:ext cx="960120" cy="105613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800"/>
              <a:buFont typeface="Calibri"/>
              <a:buNone/>
            </a:pPr>
            <a:r>
              <a:rPr b="1" i="0" lang="es-CO" sz="8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BGTC</a:t>
            </a:r>
            <a:endParaRPr b="0" i="0" sz="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85" name="Google Shape;685;p9"/>
          <p:cNvSpPr txBox="1"/>
          <p:nvPr/>
        </p:nvSpPr>
        <p:spPr>
          <a:xfrm>
            <a:off x="3152394" y="4502277"/>
            <a:ext cx="457200" cy="10561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28 cm</a:t>
            </a:r>
            <a:endParaRPr b="0" i="0" sz="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686" name="Google Shape;686;p9"/>
          <p:cNvCxnSpPr/>
          <p:nvPr/>
        </p:nvCxnSpPr>
        <p:spPr>
          <a:xfrm>
            <a:off x="2045970" y="5558409"/>
            <a:ext cx="1143000" cy="0"/>
          </a:xfrm>
          <a:prstGeom prst="straightConnector1">
            <a:avLst/>
          </a:prstGeom>
          <a:noFill/>
          <a:ln cap="flat" cmpd="sng" w="12700">
            <a:solidFill>
              <a:srgbClr val="1D2B2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7" name="Google Shape;687;p9"/>
          <p:cNvSpPr txBox="1"/>
          <p:nvPr/>
        </p:nvSpPr>
        <p:spPr>
          <a:xfrm>
            <a:off x="2034540" y="5631561"/>
            <a:ext cx="15773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10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Espesor total: </a:t>
            </a:r>
            <a:r>
              <a:rPr b="1" i="0" lang="es-CO" sz="10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39 cm</a:t>
            </a:r>
            <a:endParaRPr b="0"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aphicFrame>
        <p:nvGraphicFramePr>
          <p:cNvPr id="688" name="Google Shape;688;p9"/>
          <p:cNvGraphicFramePr/>
          <p:nvPr/>
        </p:nvGraphicFramePr>
        <p:xfrm>
          <a:off x="3840480" y="24231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{2219430B-40B1-4F13-8D99-EA5D7966678A}</a:tableStyleId>
              </a:tblPr>
              <a:tblGrid>
                <a:gridCol w="2395725"/>
                <a:gridCol w="1097275"/>
                <a:gridCol w="603500"/>
                <a:gridCol w="1097275"/>
                <a:gridCol w="603500"/>
                <a:gridCol w="237750"/>
                <a:gridCol w="1097275"/>
                <a:gridCol w="758950"/>
              </a:tblGrid>
              <a:tr h="438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Grupo – actividad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Valor contractual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 sobre corredor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Valor proyectado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 sobre corredor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Variación (valor adicional)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 de variación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</a:tr>
              <a:tr h="27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Construcción alcantarilla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$ 361.776.290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29%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$ 36.901.785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>
                          <a:solidFill>
                            <a:srgbClr val="0B5D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▼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0B5D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–$ 324.874.505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0B5D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–89,8 %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Construcción cuneta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$ 156.594.148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$ 170.528.373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>
                          <a:solidFill>
                            <a:srgbClr val="B32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▲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$ 13.934.225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8,9 %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27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Construcción filtro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$ 161.153.080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$ 151.661.752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>
                          <a:solidFill>
                            <a:srgbClr val="0B5D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▼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0B5D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–$ 9.491.328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0B5D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–5,9 %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Construcción bordillos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$ 24.366.012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–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>
                          <a:solidFill>
                            <a:srgbClr val="0B5D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▼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0B5D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–$ 24.366.012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0B5D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–100,0 %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27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Construcción disipadores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$ 61.862.380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–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>
                          <a:solidFill>
                            <a:srgbClr val="0B5D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▼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0B5D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–$ 61.862.380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0B5D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–100,0 %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Estabilización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$ 464.103.369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37%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$ 132.568.320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0B5D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▼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0B5D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–$ 331.535.049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0B5D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–71,4 %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27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Señalización vial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$ 14.708.755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$ 11.259.755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>
                          <a:solidFill>
                            <a:srgbClr val="0B5D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▼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0B5D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–$ 3.449.000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0B5D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–23,4 %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Obras no previstas (realces, MDC-19)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–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$ 1.036.435.929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67%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>
                          <a:solidFill>
                            <a:srgbClr val="B32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▲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$ 1.036.435.929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B65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N/A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27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CORREDOR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$ 1.244.564.034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100%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$ 1.539.355.914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100%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B32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▲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+$ 294.791.880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23,7 %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</a:tr>
            </a:tbl>
          </a:graphicData>
        </a:graphic>
      </p:graphicFrame>
      <p:sp>
        <p:nvSpPr>
          <p:cNvPr id="689" name="Google Shape;689;p9"/>
          <p:cNvSpPr txBox="1"/>
          <p:nvPr/>
        </p:nvSpPr>
        <p:spPr>
          <a:xfrm>
            <a:off x="3840480" y="5413248"/>
            <a:ext cx="78912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261E"/>
              </a:buClr>
              <a:buSzPts val="900"/>
              <a:buFont typeface="Arial"/>
              <a:buNone/>
            </a:pPr>
            <a:r>
              <a:rPr b="0" i="0" lang="es-CO" sz="900" u="none" cap="none" strike="noStrike">
                <a:solidFill>
                  <a:srgbClr val="B3261E"/>
                </a:solidFill>
                <a:latin typeface="Poppins"/>
                <a:ea typeface="Poppins"/>
                <a:cs typeface="Poppins"/>
                <a:sym typeface="Poppins"/>
              </a:rPr>
              <a:t>▲</a:t>
            </a:r>
            <a:r>
              <a:rPr b="0" i="0" lang="es-CO" sz="90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 Se requiere mayor valor     </a:t>
            </a:r>
            <a:r>
              <a:rPr b="0" i="0" lang="es-CO" sz="900" u="none" cap="none" strike="noStrike">
                <a:solidFill>
                  <a:srgbClr val="0B5D2E"/>
                </a:solidFill>
                <a:latin typeface="Poppins"/>
                <a:ea typeface="Poppins"/>
                <a:cs typeface="Poppins"/>
                <a:sym typeface="Poppins"/>
              </a:rPr>
              <a:t>▼</a:t>
            </a:r>
            <a:r>
              <a:rPr b="0" i="0" lang="es-CO" sz="900" u="none" cap="none" strike="noStrike">
                <a:solidFill>
                  <a:srgbClr val="5F6B65"/>
                </a:solidFill>
                <a:latin typeface="Poppins"/>
                <a:ea typeface="Poppins"/>
                <a:cs typeface="Poppins"/>
                <a:sym typeface="Poppins"/>
              </a:rPr>
              <a:t> Sobra valor     % de variación = (valor proyectado – valor contractual) / valor contractual</a:t>
            </a:r>
            <a:endParaRPr b="0" i="0" sz="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90" name="Google Shape;690;p9"/>
          <p:cNvSpPr/>
          <p:nvPr/>
        </p:nvSpPr>
        <p:spPr>
          <a:xfrm>
            <a:off x="3840480" y="5687568"/>
            <a:ext cx="7891272" cy="850392"/>
          </a:xfrm>
          <a:prstGeom prst="roundRect">
            <a:avLst>
              <a:gd fmla="val 6452" name="adj"/>
            </a:avLst>
          </a:prstGeom>
          <a:solidFill>
            <a:srgbClr val="FFFFFF"/>
          </a:solidFill>
          <a:ln cap="flat" cmpd="sng" w="12700">
            <a:solidFill>
              <a:srgbClr val="9AA7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00" lIns="1000" spcFirstLastPara="1" rIns="1500" wrap="square" tIns="15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CO" sz="105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Notas:</a:t>
            </a:r>
            <a:br>
              <a:rPr b="1" i="0" lang="es-CO" sz="105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b="1" i="0" lang="es-CO" sz="1400" u="none" cap="none" strike="noStrike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Cambio de estructura de pavimento de TSD a MDC19  </a:t>
            </a:r>
            <a:endParaRPr b="0" i="0" sz="105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10"/>
          <p:cNvSpPr txBox="1"/>
          <p:nvPr/>
        </p:nvSpPr>
        <p:spPr>
          <a:xfrm>
            <a:off x="457200" y="320040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1200"/>
              <a:buFont typeface="Calibri"/>
              <a:buNone/>
            </a:pPr>
            <a:r>
              <a:rPr b="1" i="0" lang="es-CO" sz="1200" u="none" cap="none" strike="noStrike">
                <a:solidFill>
                  <a:srgbClr val="2E7D4F"/>
                </a:solidFill>
                <a:latin typeface="Poppins"/>
                <a:ea typeface="Poppins"/>
                <a:cs typeface="Poppins"/>
                <a:sym typeface="Poppins"/>
              </a:rPr>
              <a:t>INFORME DE EJECUCIÓN  ·  LOTE 2 – SUBREGIÓN OCCIDENTE</a:t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97" name="Google Shape;697;p10"/>
          <p:cNvSpPr txBox="1"/>
          <p:nvPr/>
        </p:nvSpPr>
        <p:spPr>
          <a:xfrm>
            <a:off x="457200" y="594360"/>
            <a:ext cx="9692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2800"/>
              <a:buFont typeface="Calibri"/>
              <a:buNone/>
            </a:pPr>
            <a:r>
              <a:rPr b="1" i="0" lang="es-CO" sz="28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Miserenga – Ebéjico</a:t>
            </a:r>
            <a:endParaRPr b="0" i="0" sz="2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descr="logo.png" id="698" name="Google Shape;69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78440" y="320040"/>
            <a:ext cx="1371600" cy="676656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10"/>
          <p:cNvSpPr/>
          <p:nvPr/>
        </p:nvSpPr>
        <p:spPr>
          <a:xfrm>
            <a:off x="457200" y="1234440"/>
            <a:ext cx="1765249" cy="658368"/>
          </a:xfrm>
          <a:prstGeom prst="roundRect">
            <a:avLst>
              <a:gd fmla="val 1111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10"/>
          <p:cNvSpPr txBox="1"/>
          <p:nvPr/>
        </p:nvSpPr>
        <p:spPr>
          <a:xfrm>
            <a:off x="566928" y="1289304"/>
            <a:ext cx="154579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50"/>
              <a:buFont typeface="Calibri"/>
              <a:buNone/>
            </a:pPr>
            <a:r>
              <a:rPr b="0" i="0" lang="es-CO" sz="9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Longitud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10"/>
          <p:cNvSpPr txBox="1"/>
          <p:nvPr/>
        </p:nvSpPr>
        <p:spPr>
          <a:xfrm>
            <a:off x="566928" y="1453896"/>
            <a:ext cx="154579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1,00 km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10"/>
          <p:cNvSpPr txBox="1"/>
          <p:nvPr/>
        </p:nvSpPr>
        <p:spPr>
          <a:xfrm>
            <a:off x="566928" y="1700784"/>
            <a:ext cx="1545793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00"/>
              <a:buFont typeface="Calibri"/>
              <a:buNone/>
            </a:pP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Alcance real 0,81 km · dif. 0,19 km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10"/>
          <p:cNvSpPr/>
          <p:nvPr/>
        </p:nvSpPr>
        <p:spPr>
          <a:xfrm>
            <a:off x="2359609" y="1234440"/>
            <a:ext cx="1765249" cy="658368"/>
          </a:xfrm>
          <a:prstGeom prst="roundRect">
            <a:avLst>
              <a:gd fmla="val 1111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10"/>
          <p:cNvSpPr txBox="1"/>
          <p:nvPr/>
        </p:nvSpPr>
        <p:spPr>
          <a:xfrm>
            <a:off x="2469337" y="1289304"/>
            <a:ext cx="154579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50"/>
              <a:buFont typeface="Calibri"/>
              <a:buNone/>
            </a:pPr>
            <a:r>
              <a:rPr b="0" i="0" lang="es-CO" sz="9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Valor total del corredor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10"/>
          <p:cNvSpPr txBox="1"/>
          <p:nvPr/>
        </p:nvSpPr>
        <p:spPr>
          <a:xfrm>
            <a:off x="2469337" y="1453896"/>
            <a:ext cx="154579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$ 1.244.564.034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10"/>
          <p:cNvSpPr txBox="1"/>
          <p:nvPr/>
        </p:nvSpPr>
        <p:spPr>
          <a:xfrm>
            <a:off x="2469337" y="1700784"/>
            <a:ext cx="1545793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00"/>
              <a:buFont typeface="Calibri"/>
              <a:buNone/>
            </a:pP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$ 1.244.564.034 por km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10"/>
          <p:cNvSpPr/>
          <p:nvPr/>
        </p:nvSpPr>
        <p:spPr>
          <a:xfrm>
            <a:off x="4262018" y="1234440"/>
            <a:ext cx="1765249" cy="658368"/>
          </a:xfrm>
          <a:prstGeom prst="roundRect">
            <a:avLst>
              <a:gd fmla="val 11111" name="adj"/>
            </a:avLst>
          </a:prstGeom>
          <a:solidFill>
            <a:srgbClr val="FBEAEA"/>
          </a:solidFill>
          <a:ln cap="flat" cmpd="sng" w="12700">
            <a:solidFill>
              <a:srgbClr val="FBEA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10"/>
          <p:cNvSpPr txBox="1"/>
          <p:nvPr/>
        </p:nvSpPr>
        <p:spPr>
          <a:xfrm>
            <a:off x="4371746" y="1289304"/>
            <a:ext cx="154579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50"/>
              <a:buFont typeface="Calibri"/>
              <a:buNone/>
            </a:pPr>
            <a:r>
              <a:rPr b="0" i="0" lang="es-CO" sz="9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Avance físico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10"/>
          <p:cNvSpPr txBox="1"/>
          <p:nvPr/>
        </p:nvSpPr>
        <p:spPr>
          <a:xfrm>
            <a:off x="4371746" y="1453896"/>
            <a:ext cx="154579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500" u="none" cap="none" strike="noStrike">
                <a:solidFill>
                  <a:srgbClr val="B3261E"/>
                </a:solidFill>
                <a:latin typeface="Calibri"/>
                <a:ea typeface="Calibri"/>
                <a:cs typeface="Calibri"/>
                <a:sym typeface="Calibri"/>
              </a:rPr>
              <a:t>4,93%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10"/>
          <p:cNvSpPr txBox="1"/>
          <p:nvPr/>
        </p:nvSpPr>
        <p:spPr>
          <a:xfrm>
            <a:off x="4371746" y="1700784"/>
            <a:ext cx="1545793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00"/>
              <a:buFont typeface="Calibri"/>
              <a:buNone/>
            </a:pP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Frente a 42,9 % del plazo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10"/>
          <p:cNvSpPr/>
          <p:nvPr/>
        </p:nvSpPr>
        <p:spPr>
          <a:xfrm>
            <a:off x="6164428" y="1234440"/>
            <a:ext cx="1765249" cy="658368"/>
          </a:xfrm>
          <a:prstGeom prst="roundRect">
            <a:avLst>
              <a:gd fmla="val 1111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10"/>
          <p:cNvSpPr txBox="1"/>
          <p:nvPr/>
        </p:nvSpPr>
        <p:spPr>
          <a:xfrm>
            <a:off x="6274156" y="1289304"/>
            <a:ext cx="154579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50"/>
              <a:buFont typeface="Calibri"/>
              <a:buNone/>
            </a:pPr>
            <a:r>
              <a:rPr b="0" i="0" lang="es-CO" sz="9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Avance financiero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10"/>
          <p:cNvSpPr txBox="1"/>
          <p:nvPr/>
        </p:nvSpPr>
        <p:spPr>
          <a:xfrm>
            <a:off x="6274156" y="1453896"/>
            <a:ext cx="154579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4,93 %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10"/>
          <p:cNvSpPr/>
          <p:nvPr/>
        </p:nvSpPr>
        <p:spPr>
          <a:xfrm>
            <a:off x="8066837" y="1234440"/>
            <a:ext cx="1765249" cy="658368"/>
          </a:xfrm>
          <a:prstGeom prst="roundRect">
            <a:avLst>
              <a:gd fmla="val 1111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10"/>
          <p:cNvSpPr txBox="1"/>
          <p:nvPr/>
        </p:nvSpPr>
        <p:spPr>
          <a:xfrm>
            <a:off x="8176565" y="1289304"/>
            <a:ext cx="154579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50"/>
              <a:buFont typeface="Calibri"/>
              <a:buNone/>
            </a:pPr>
            <a:r>
              <a:rPr b="0" i="0" lang="es-CO" sz="9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Plazo transcurrido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10"/>
          <p:cNvSpPr txBox="1"/>
          <p:nvPr/>
        </p:nvSpPr>
        <p:spPr>
          <a:xfrm>
            <a:off x="8176565" y="1453896"/>
            <a:ext cx="154579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42,9 %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10"/>
          <p:cNvSpPr txBox="1"/>
          <p:nvPr/>
        </p:nvSpPr>
        <p:spPr>
          <a:xfrm>
            <a:off x="8176565" y="1700784"/>
            <a:ext cx="1545793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00"/>
              <a:buFont typeface="Calibri"/>
              <a:buNone/>
            </a:pP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7,7 de 18 meses (al 02/10/2026)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10"/>
          <p:cNvSpPr/>
          <p:nvPr/>
        </p:nvSpPr>
        <p:spPr>
          <a:xfrm>
            <a:off x="9969246" y="1234440"/>
            <a:ext cx="1765249" cy="658368"/>
          </a:xfrm>
          <a:prstGeom prst="roundRect">
            <a:avLst>
              <a:gd fmla="val 1111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10"/>
          <p:cNvSpPr txBox="1"/>
          <p:nvPr/>
        </p:nvSpPr>
        <p:spPr>
          <a:xfrm>
            <a:off x="10078974" y="1289304"/>
            <a:ext cx="1545793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Inicio: </a:t>
            </a: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10/02/2026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Terminación: </a:t>
            </a: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10/08/2027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Corte: </a:t>
            </a: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25/09/2026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10"/>
          <p:cNvSpPr txBox="1"/>
          <p:nvPr/>
        </p:nvSpPr>
        <p:spPr>
          <a:xfrm>
            <a:off x="457200" y="1956816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1000"/>
              <a:buFont typeface="Calibri"/>
              <a:buNone/>
            </a:pPr>
            <a:r>
              <a:rPr b="1" i="0" lang="es-CO" sz="10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AVANCE POR ABSCISA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21" name="Google Shape;721;p10"/>
          <p:cNvCxnSpPr/>
          <p:nvPr/>
        </p:nvCxnSpPr>
        <p:spPr>
          <a:xfrm>
            <a:off x="2103120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2" name="Google Shape;722;p10"/>
          <p:cNvCxnSpPr/>
          <p:nvPr/>
        </p:nvCxnSpPr>
        <p:spPr>
          <a:xfrm>
            <a:off x="11155680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3" name="Google Shape;723;p10"/>
          <p:cNvSpPr txBox="1"/>
          <p:nvPr/>
        </p:nvSpPr>
        <p:spPr>
          <a:xfrm>
            <a:off x="1874520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10"/>
          <p:cNvSpPr txBox="1"/>
          <p:nvPr/>
        </p:nvSpPr>
        <p:spPr>
          <a:xfrm>
            <a:off x="10835640" y="2139696"/>
            <a:ext cx="54864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K1+000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10"/>
          <p:cNvSpPr/>
          <p:nvPr/>
        </p:nvSpPr>
        <p:spPr>
          <a:xfrm>
            <a:off x="2103120" y="2359152"/>
            <a:ext cx="9052560" cy="73152"/>
          </a:xfrm>
          <a:prstGeom prst="rect">
            <a:avLst/>
          </a:prstGeom>
          <a:solidFill>
            <a:srgbClr val="1F2A36"/>
          </a:solidFill>
          <a:ln cap="flat" cmpd="sng" w="12700">
            <a:solidFill>
              <a:srgbClr val="1F2A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26" name="Google Shape;726;p10"/>
          <p:cNvCxnSpPr/>
          <p:nvPr/>
        </p:nvCxnSpPr>
        <p:spPr>
          <a:xfrm>
            <a:off x="2139696" y="2395728"/>
            <a:ext cx="8979408" cy="0"/>
          </a:xfrm>
          <a:prstGeom prst="straightConnector1">
            <a:avLst/>
          </a:prstGeom>
          <a:noFill/>
          <a:ln cap="flat" cmpd="sng" w="9525">
            <a:solidFill>
              <a:srgbClr val="F2C94C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727" name="Google Shape;727;p10"/>
          <p:cNvCxnSpPr/>
          <p:nvPr/>
        </p:nvCxnSpPr>
        <p:spPr>
          <a:xfrm>
            <a:off x="731520" y="2487168"/>
            <a:ext cx="0" cy="338328"/>
          </a:xfrm>
          <a:prstGeom prst="straightConnector1">
            <a:avLst/>
          </a:prstGeom>
          <a:noFill/>
          <a:ln cap="flat" cmpd="sng" w="19050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8" name="Google Shape;728;p10"/>
          <p:cNvSpPr txBox="1"/>
          <p:nvPr/>
        </p:nvSpPr>
        <p:spPr>
          <a:xfrm rot="-5400000">
            <a:off x="260604" y="2574036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700"/>
              <a:buFont typeface="Calibri"/>
              <a:buNone/>
            </a:pPr>
            <a:r>
              <a:rPr b="1" i="0" lang="es-CO" sz="7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CAMPO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10"/>
          <p:cNvSpPr txBox="1"/>
          <p:nvPr/>
        </p:nvSpPr>
        <p:spPr>
          <a:xfrm>
            <a:off x="777240" y="2487168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Topografía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10"/>
          <p:cNvSpPr/>
          <p:nvPr/>
        </p:nvSpPr>
        <p:spPr>
          <a:xfrm>
            <a:off x="2103120" y="2487168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10"/>
          <p:cNvSpPr/>
          <p:nvPr/>
        </p:nvSpPr>
        <p:spPr>
          <a:xfrm>
            <a:off x="2103120" y="2487168"/>
            <a:ext cx="9052560" cy="155448"/>
          </a:xfrm>
          <a:prstGeom prst="rect">
            <a:avLst/>
          </a:prstGeom>
          <a:solidFill>
            <a:srgbClr val="2E7D4F"/>
          </a:solidFill>
          <a:ln cap="flat" cmpd="sng" w="9525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10"/>
          <p:cNvSpPr txBox="1"/>
          <p:nvPr/>
        </p:nvSpPr>
        <p:spPr>
          <a:xfrm>
            <a:off x="11201400" y="2487168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100 %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10"/>
          <p:cNvSpPr txBox="1"/>
          <p:nvPr/>
        </p:nvSpPr>
        <p:spPr>
          <a:xfrm>
            <a:off x="777240" y="2670048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Apiques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10"/>
          <p:cNvSpPr/>
          <p:nvPr/>
        </p:nvSpPr>
        <p:spPr>
          <a:xfrm>
            <a:off x="2103120" y="2670048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10"/>
          <p:cNvSpPr/>
          <p:nvPr/>
        </p:nvSpPr>
        <p:spPr>
          <a:xfrm>
            <a:off x="2103120" y="2670048"/>
            <a:ext cx="9052560" cy="155448"/>
          </a:xfrm>
          <a:prstGeom prst="rect">
            <a:avLst/>
          </a:prstGeom>
          <a:solidFill>
            <a:srgbClr val="2E7D4F"/>
          </a:solidFill>
          <a:ln cap="flat" cmpd="sng" w="9525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10"/>
          <p:cNvSpPr txBox="1"/>
          <p:nvPr/>
        </p:nvSpPr>
        <p:spPr>
          <a:xfrm>
            <a:off x="11201400" y="2670048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100 %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37" name="Google Shape;737;p10"/>
          <p:cNvCxnSpPr/>
          <p:nvPr/>
        </p:nvCxnSpPr>
        <p:spPr>
          <a:xfrm>
            <a:off x="731520" y="2953512"/>
            <a:ext cx="0" cy="466344"/>
          </a:xfrm>
          <a:prstGeom prst="straightConnector1">
            <a:avLst/>
          </a:prstGeom>
          <a:noFill/>
          <a:ln cap="flat" cmpd="sng" w="19050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38" name="Google Shape;738;p10"/>
          <p:cNvSpPr txBox="1"/>
          <p:nvPr/>
        </p:nvSpPr>
        <p:spPr>
          <a:xfrm rot="-5400000">
            <a:off x="260604" y="3104388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700"/>
              <a:buFont typeface="Calibri"/>
              <a:buNone/>
            </a:pPr>
            <a:r>
              <a:rPr b="1" i="0" lang="es-CO" sz="7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ESTRUCTURA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10"/>
          <p:cNvSpPr txBox="1"/>
          <p:nvPr/>
        </p:nvSpPr>
        <p:spPr>
          <a:xfrm>
            <a:off x="777240" y="2953512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Rodadura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10"/>
          <p:cNvSpPr/>
          <p:nvPr/>
        </p:nvSpPr>
        <p:spPr>
          <a:xfrm>
            <a:off x="2103120" y="2953512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10"/>
          <p:cNvSpPr txBox="1"/>
          <p:nvPr/>
        </p:nvSpPr>
        <p:spPr>
          <a:xfrm>
            <a:off x="11201400" y="2953512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10"/>
          <p:cNvSpPr txBox="1"/>
          <p:nvPr/>
        </p:nvSpPr>
        <p:spPr>
          <a:xfrm>
            <a:off x="777240" y="3108960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Capa granular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10"/>
          <p:cNvSpPr/>
          <p:nvPr/>
        </p:nvSpPr>
        <p:spPr>
          <a:xfrm>
            <a:off x="2103120" y="3108960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10"/>
          <p:cNvSpPr txBox="1"/>
          <p:nvPr/>
        </p:nvSpPr>
        <p:spPr>
          <a:xfrm>
            <a:off x="11201400" y="3108960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10"/>
          <p:cNvSpPr txBox="1"/>
          <p:nvPr/>
        </p:nvSpPr>
        <p:spPr>
          <a:xfrm>
            <a:off x="777240" y="3264408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Subrasante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10"/>
          <p:cNvSpPr/>
          <p:nvPr/>
        </p:nvSpPr>
        <p:spPr>
          <a:xfrm>
            <a:off x="2103120" y="3264408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10"/>
          <p:cNvSpPr txBox="1"/>
          <p:nvPr/>
        </p:nvSpPr>
        <p:spPr>
          <a:xfrm>
            <a:off x="11201400" y="3264408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48" name="Google Shape;748;p10"/>
          <p:cNvCxnSpPr/>
          <p:nvPr/>
        </p:nvCxnSpPr>
        <p:spPr>
          <a:xfrm>
            <a:off x="731520" y="3511296"/>
            <a:ext cx="0" cy="521208"/>
          </a:xfrm>
          <a:prstGeom prst="straightConnector1">
            <a:avLst/>
          </a:prstGeom>
          <a:noFill/>
          <a:ln cap="flat" cmpd="sng" w="19050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9" name="Google Shape;749;p10"/>
          <p:cNvSpPr txBox="1"/>
          <p:nvPr/>
        </p:nvSpPr>
        <p:spPr>
          <a:xfrm rot="-5400000">
            <a:off x="260604" y="3689604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700"/>
              <a:buFont typeface="Calibri"/>
              <a:buNone/>
            </a:pPr>
            <a:r>
              <a:rPr b="1" i="0" lang="es-CO" sz="7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DRENAJE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10"/>
          <p:cNvSpPr txBox="1"/>
          <p:nvPr/>
        </p:nvSpPr>
        <p:spPr>
          <a:xfrm>
            <a:off x="777240" y="3511296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Cunetas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10"/>
          <p:cNvSpPr/>
          <p:nvPr/>
        </p:nvSpPr>
        <p:spPr>
          <a:xfrm>
            <a:off x="2103120" y="3511296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10"/>
          <p:cNvSpPr txBox="1"/>
          <p:nvPr/>
        </p:nvSpPr>
        <p:spPr>
          <a:xfrm>
            <a:off x="11201400" y="3511296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10"/>
          <p:cNvSpPr txBox="1"/>
          <p:nvPr/>
        </p:nvSpPr>
        <p:spPr>
          <a:xfrm>
            <a:off x="777240" y="3694176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Filtros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10"/>
          <p:cNvSpPr txBox="1"/>
          <p:nvPr/>
        </p:nvSpPr>
        <p:spPr>
          <a:xfrm>
            <a:off x="1920240" y="3694176"/>
            <a:ext cx="137160" cy="777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700"/>
              <a:buFont typeface="Calibri"/>
              <a:buNone/>
            </a:pPr>
            <a:r>
              <a:rPr b="0" i="0" lang="es-CO" sz="7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10"/>
          <p:cNvSpPr txBox="1"/>
          <p:nvPr/>
        </p:nvSpPr>
        <p:spPr>
          <a:xfrm>
            <a:off x="1920240" y="3771900"/>
            <a:ext cx="137160" cy="777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700"/>
              <a:buFont typeface="Calibri"/>
              <a:buNone/>
            </a:pPr>
            <a:r>
              <a:rPr b="0" i="0" lang="es-CO" sz="7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10"/>
          <p:cNvSpPr/>
          <p:nvPr/>
        </p:nvSpPr>
        <p:spPr>
          <a:xfrm>
            <a:off x="2103120" y="3694176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57" name="Google Shape;757;p10"/>
          <p:cNvCxnSpPr/>
          <p:nvPr/>
        </p:nvCxnSpPr>
        <p:spPr>
          <a:xfrm>
            <a:off x="2103120" y="3771900"/>
            <a:ext cx="9052560" cy="0"/>
          </a:xfrm>
          <a:prstGeom prst="straightConnector1">
            <a:avLst/>
          </a:prstGeom>
          <a:noFill/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58" name="Google Shape;758;p10"/>
          <p:cNvSpPr txBox="1"/>
          <p:nvPr/>
        </p:nvSpPr>
        <p:spPr>
          <a:xfrm>
            <a:off x="11201400" y="3694176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10"/>
          <p:cNvSpPr txBox="1"/>
          <p:nvPr/>
        </p:nvSpPr>
        <p:spPr>
          <a:xfrm>
            <a:off x="777240" y="3877056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Alcantarillas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10"/>
          <p:cNvSpPr/>
          <p:nvPr/>
        </p:nvSpPr>
        <p:spPr>
          <a:xfrm>
            <a:off x="2103120" y="3877056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10"/>
          <p:cNvSpPr txBox="1"/>
          <p:nvPr/>
        </p:nvSpPr>
        <p:spPr>
          <a:xfrm>
            <a:off x="2194560" y="3877056"/>
            <a:ext cx="886968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00"/>
              <a:buFont typeface="Calibri"/>
              <a:buNone/>
            </a:pP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Limpieza no iniciada · cantidad por definir; no se requieren obras nuevas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10"/>
          <p:cNvSpPr txBox="1"/>
          <p:nvPr/>
        </p:nvSpPr>
        <p:spPr>
          <a:xfrm>
            <a:off x="11201400" y="3877056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10"/>
          <p:cNvSpPr txBox="1"/>
          <p:nvPr/>
        </p:nvSpPr>
        <p:spPr>
          <a:xfrm>
            <a:off x="457200" y="4078224"/>
            <a:ext cx="11277295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D9A6"/>
              </a:buClr>
              <a:buSzPts val="800"/>
              <a:buFont typeface="Calibri"/>
              <a:buNone/>
            </a:pPr>
            <a:r>
              <a:rPr b="0" i="0" lang="es-CO" sz="800" u="none" cap="none" strike="noStrike">
                <a:solidFill>
                  <a:srgbClr val="EBD9A6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Natural    </a:t>
            </a:r>
            <a:r>
              <a:rPr b="0" i="0" lang="es-CO" sz="800" u="none" cap="none" strike="noStrike">
                <a:solidFill>
                  <a:srgbClr val="8C6A4F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Cal    </a:t>
            </a:r>
            <a:r>
              <a:rPr b="0" i="0" lang="es-CO" sz="800" u="none" cap="none" strike="noStrike">
                <a:solidFill>
                  <a:srgbClr val="D9A441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Cemento    </a:t>
            </a:r>
            <a:r>
              <a:rPr b="0" i="0" lang="es-CO" sz="800" u="none" cap="none" strike="noStrike">
                <a:solidFill>
                  <a:srgbClr val="1F2A36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TSD    </a:t>
            </a:r>
            <a:r>
              <a:rPr b="0" i="0" lang="es-CO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MDC-19    </a:t>
            </a:r>
            <a:r>
              <a:rPr b="0" i="0" lang="es-CO" sz="8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Ejecutado    </a:t>
            </a:r>
            <a:r>
              <a:rPr b="0" i="0" lang="es-CO" sz="800" u="none" cap="none" strike="noStrike">
                <a:solidFill>
                  <a:srgbClr val="A9C7B3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Limpieza alcantarillas    </a:t>
            </a:r>
            <a:r>
              <a:rPr b="0" i="0" lang="es-CO" sz="800" u="none" cap="none" strike="noStrike">
                <a:solidFill>
                  <a:srgbClr val="2F6FB0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Alcantarilla nueva    </a:t>
            </a:r>
            <a:r>
              <a:rPr b="0" i="0" lang="es-CO" sz="800" u="none" cap="none" strike="noStrike">
                <a:solidFill>
                  <a:srgbClr val="E07B24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Reemplazada    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10"/>
          <p:cNvSpPr txBox="1"/>
          <p:nvPr/>
        </p:nvSpPr>
        <p:spPr>
          <a:xfrm>
            <a:off x="457200" y="4301688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1000"/>
              <a:buFont typeface="Calibri"/>
              <a:buNone/>
            </a:pPr>
            <a:r>
              <a:rPr b="1" i="0" lang="es-CO" sz="10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AVANCE POR ACTIVIDAD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10"/>
          <p:cNvSpPr txBox="1"/>
          <p:nvPr/>
        </p:nvSpPr>
        <p:spPr>
          <a:xfrm>
            <a:off x="457200" y="4758888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Construcción alcantarilla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10"/>
          <p:cNvSpPr txBox="1"/>
          <p:nvPr/>
        </p:nvSpPr>
        <p:spPr>
          <a:xfrm>
            <a:off x="457200" y="4960056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Construcción cuneta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10"/>
          <p:cNvSpPr txBox="1"/>
          <p:nvPr/>
        </p:nvSpPr>
        <p:spPr>
          <a:xfrm>
            <a:off x="457200" y="5161224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Construcción filtro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10"/>
          <p:cNvSpPr txBox="1"/>
          <p:nvPr/>
        </p:nvSpPr>
        <p:spPr>
          <a:xfrm>
            <a:off x="457200" y="5362392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Construcción bordillos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10"/>
          <p:cNvSpPr txBox="1"/>
          <p:nvPr/>
        </p:nvSpPr>
        <p:spPr>
          <a:xfrm>
            <a:off x="457200" y="5563560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Estabilización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10"/>
          <p:cNvSpPr txBox="1"/>
          <p:nvPr/>
        </p:nvSpPr>
        <p:spPr>
          <a:xfrm>
            <a:off x="457200" y="5764728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Señalización vial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10"/>
          <p:cNvSpPr txBox="1"/>
          <p:nvPr/>
        </p:nvSpPr>
        <p:spPr>
          <a:xfrm>
            <a:off x="457200" y="5965896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MDC-19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10"/>
          <p:cNvSpPr txBox="1"/>
          <p:nvPr/>
        </p:nvSpPr>
        <p:spPr>
          <a:xfrm>
            <a:off x="2651760" y="4539432"/>
            <a:ext cx="2926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-CO" sz="800" u="none" cap="none" strike="noStrike">
                <a:solidFill>
                  <a:srgbClr val="192D23"/>
                </a:solidFill>
                <a:latin typeface="Arial"/>
                <a:ea typeface="Arial"/>
                <a:cs typeface="Arial"/>
                <a:sym typeface="Arial"/>
              </a:rPr>
              <a:t>Presupuestada  </a:t>
            </a:r>
            <a:r>
              <a:rPr b="0" i="0" lang="es-CO" sz="800" u="none" cap="none" strike="noStrike">
                <a:solidFill>
                  <a:srgbClr val="A9C7B3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r>
              <a:rPr b="0" i="0" lang="es-CO" sz="800" u="none" cap="none" strike="noStrike">
                <a:solidFill>
                  <a:srgbClr val="192D23"/>
                </a:solidFill>
                <a:latin typeface="Arial"/>
                <a:ea typeface="Arial"/>
                <a:cs typeface="Arial"/>
                <a:sym typeface="Arial"/>
              </a:rPr>
              <a:t>    Real  </a:t>
            </a:r>
            <a:r>
              <a:rPr b="0" i="0" lang="es-CO" sz="800" u="none" cap="none" strike="noStrike">
                <a:solidFill>
                  <a:srgbClr val="2E7D4F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p10"/>
          <p:cNvSpPr/>
          <p:nvPr/>
        </p:nvSpPr>
        <p:spPr>
          <a:xfrm>
            <a:off x="2551176" y="4777175"/>
            <a:ext cx="4096512" cy="68580"/>
          </a:xfrm>
          <a:prstGeom prst="rect">
            <a:avLst/>
          </a:prstGeom>
          <a:solidFill>
            <a:srgbClr val="A9C7B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10"/>
          <p:cNvSpPr/>
          <p:nvPr/>
        </p:nvSpPr>
        <p:spPr>
          <a:xfrm>
            <a:off x="2551176" y="4978344"/>
            <a:ext cx="4096512" cy="68580"/>
          </a:xfrm>
          <a:prstGeom prst="rect">
            <a:avLst/>
          </a:prstGeom>
          <a:solidFill>
            <a:srgbClr val="A9C7B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10"/>
          <p:cNvSpPr/>
          <p:nvPr/>
        </p:nvSpPr>
        <p:spPr>
          <a:xfrm>
            <a:off x="2551176" y="5056068"/>
            <a:ext cx="4096512" cy="6858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10"/>
          <p:cNvSpPr/>
          <p:nvPr/>
        </p:nvSpPr>
        <p:spPr>
          <a:xfrm>
            <a:off x="2551176" y="5179512"/>
            <a:ext cx="4096512" cy="68580"/>
          </a:xfrm>
          <a:prstGeom prst="rect">
            <a:avLst/>
          </a:prstGeom>
          <a:solidFill>
            <a:srgbClr val="A9C7B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10"/>
          <p:cNvSpPr/>
          <p:nvPr/>
        </p:nvSpPr>
        <p:spPr>
          <a:xfrm>
            <a:off x="2551176" y="5257236"/>
            <a:ext cx="4096512" cy="6858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10"/>
          <p:cNvSpPr/>
          <p:nvPr/>
        </p:nvSpPr>
        <p:spPr>
          <a:xfrm>
            <a:off x="2551176" y="5380679"/>
            <a:ext cx="4096512" cy="68580"/>
          </a:xfrm>
          <a:prstGeom prst="rect">
            <a:avLst/>
          </a:prstGeom>
          <a:solidFill>
            <a:srgbClr val="A9C7B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10"/>
          <p:cNvSpPr/>
          <p:nvPr/>
        </p:nvSpPr>
        <p:spPr>
          <a:xfrm>
            <a:off x="2551176" y="5581848"/>
            <a:ext cx="4096512" cy="68580"/>
          </a:xfrm>
          <a:prstGeom prst="rect">
            <a:avLst/>
          </a:prstGeom>
          <a:solidFill>
            <a:srgbClr val="A9C7B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10"/>
          <p:cNvSpPr/>
          <p:nvPr/>
        </p:nvSpPr>
        <p:spPr>
          <a:xfrm>
            <a:off x="2551176" y="5783016"/>
            <a:ext cx="4096512" cy="68580"/>
          </a:xfrm>
          <a:prstGeom prst="rect">
            <a:avLst/>
          </a:prstGeom>
          <a:solidFill>
            <a:srgbClr val="A9C7B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10"/>
          <p:cNvSpPr/>
          <p:nvPr/>
        </p:nvSpPr>
        <p:spPr>
          <a:xfrm>
            <a:off x="2551176" y="5860740"/>
            <a:ext cx="2731008" cy="6858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10"/>
          <p:cNvSpPr/>
          <p:nvPr/>
        </p:nvSpPr>
        <p:spPr>
          <a:xfrm>
            <a:off x="2551176" y="6061907"/>
            <a:ext cx="4096512" cy="6858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10"/>
          <p:cNvSpPr txBox="1"/>
          <p:nvPr/>
        </p:nvSpPr>
        <p:spPr>
          <a:xfrm>
            <a:off x="9293655" y="5042352"/>
            <a:ext cx="1238597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10"/>
          <p:cNvSpPr txBox="1"/>
          <p:nvPr/>
        </p:nvSpPr>
        <p:spPr>
          <a:xfrm>
            <a:off x="9293655" y="5645856"/>
            <a:ext cx="1238597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85" name="Google Shape;785;p10"/>
          <p:cNvGraphicFramePr/>
          <p:nvPr/>
        </p:nvGraphicFramePr>
        <p:xfrm>
          <a:off x="6766560" y="450285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{9EE2CB2E-1363-49F8-B8BA-952F5347F8D7}</a:tableStyleId>
              </a:tblPr>
              <a:tblGrid>
                <a:gridCol w="457200"/>
                <a:gridCol w="841250"/>
                <a:gridCol w="841250"/>
                <a:gridCol w="914400"/>
                <a:gridCol w="914400"/>
                <a:gridCol w="850400"/>
              </a:tblGrid>
              <a:tr h="236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s-CO" sz="65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Unidad</a:t>
                      </a:r>
                      <a:endParaRPr sz="6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s-CO" sz="65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Presupuestada</a:t>
                      </a:r>
                      <a:endParaRPr sz="6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s-CO" sz="65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Real</a:t>
                      </a:r>
                      <a:endParaRPr sz="6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s-CO" sz="65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Ejec. anterior</a:t>
                      </a:r>
                      <a:endParaRPr sz="6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s-CO" sz="65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Ejec. actual</a:t>
                      </a:r>
                      <a:endParaRPr sz="6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s-CO" sz="65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Δ semana</a:t>
                      </a:r>
                      <a:endParaRPr sz="65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</a:tr>
              <a:tr h="208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CO" sz="700" u="none" cap="none" strike="noStrike">
                          <a:solidFill>
                            <a:srgbClr val="5F6B6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und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CO" sz="7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10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CO" sz="7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CO" sz="700" u="none" cap="none" strike="noStrike">
                          <a:solidFill>
                            <a:srgbClr val="5F6B66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s-CO" sz="7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CO" sz="700" u="none" cap="none" strike="noStrike">
                          <a:solidFill>
                            <a:srgbClr val="8A948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8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CO" sz="700" u="none" cap="none" strike="noStrike">
                          <a:solidFill>
                            <a:srgbClr val="5F6B6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CO" sz="7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1.000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CO" sz="7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1.000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CO" sz="700" u="none" cap="none" strike="noStrike">
                          <a:solidFill>
                            <a:srgbClr val="5F6B66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s-CO" sz="7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CO" sz="700" u="none" cap="none" strike="noStrike">
                          <a:solidFill>
                            <a:srgbClr val="8A948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—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208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CO" sz="700" u="none" cap="none" strike="noStrike">
                          <a:solidFill>
                            <a:srgbClr val="5F6B6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CO" sz="7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1.000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CO" sz="7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1.000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CO" sz="700" u="none" cap="none" strike="noStrike">
                          <a:solidFill>
                            <a:srgbClr val="5F6B66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s-CO" sz="7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CO" sz="700" u="none" cap="none" strike="noStrike">
                          <a:solidFill>
                            <a:srgbClr val="8A948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—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8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CO" sz="700" u="none" cap="none" strike="noStrike">
                          <a:solidFill>
                            <a:srgbClr val="5F6B6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CO" sz="7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200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CO" sz="7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CO" sz="700" u="none" cap="none" strike="noStrike">
                          <a:solidFill>
                            <a:srgbClr val="5F6B66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s-CO" sz="7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CO" sz="700" u="none" cap="none" strike="noStrike">
                          <a:solidFill>
                            <a:srgbClr val="8A948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208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CO" sz="700" u="none" cap="none" strike="noStrike">
                          <a:solidFill>
                            <a:srgbClr val="5F6B6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m²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CO" sz="7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5.000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CO" sz="7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CO" sz="700" u="none" cap="none" strike="noStrike">
                          <a:solidFill>
                            <a:srgbClr val="5F6B66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s-CO" sz="7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CO" sz="700" u="none" cap="none" strike="noStrike">
                          <a:solidFill>
                            <a:srgbClr val="8A948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—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8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CO" sz="700" u="none" cap="none" strike="noStrike">
                          <a:solidFill>
                            <a:srgbClr val="5F6B6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CO" sz="7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3.000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CO" sz="7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2.000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CO" sz="700" u="none" cap="none" strike="noStrike">
                          <a:solidFill>
                            <a:srgbClr val="5F6B66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s-CO" sz="7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CO" sz="700" u="none" cap="none" strike="noStrike">
                          <a:solidFill>
                            <a:srgbClr val="8A948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—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208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CO" sz="700" u="none" cap="none" strike="noStrike">
                          <a:solidFill>
                            <a:srgbClr val="5F6B6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m³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CO" sz="7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—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CO" sz="7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528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CO" sz="700" u="none" cap="none" strike="noStrike">
                          <a:solidFill>
                            <a:srgbClr val="5F6B66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s-CO" sz="7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CO" sz="700" u="none" cap="none" strike="noStrike">
                          <a:solidFill>
                            <a:srgbClr val="8A948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—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86" name="Google Shape;786;p10"/>
          <p:cNvSpPr txBox="1"/>
          <p:nvPr/>
        </p:nvSpPr>
        <p:spPr>
          <a:xfrm>
            <a:off x="457200" y="6400000"/>
            <a:ext cx="5000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s-CO" sz="9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TIEMPO TRANSCURRIDO DEL PLAZO CONTRACTUAL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p10"/>
          <p:cNvSpPr txBox="1"/>
          <p:nvPr/>
        </p:nvSpPr>
        <p:spPr>
          <a:xfrm>
            <a:off x="5000000" y="6400000"/>
            <a:ext cx="6734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Inicio: </a:t>
            </a:r>
            <a:r>
              <a:rPr b="1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10/02/2026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   ·   Terminación: </a:t>
            </a:r>
            <a:r>
              <a:rPr b="1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10/08/2027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   ·   Al: </a:t>
            </a:r>
            <a:r>
              <a:rPr b="1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02/10/2026</a:t>
            </a: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   ·   234 de 546 días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8" name="Google Shape;788;p10"/>
          <p:cNvSpPr/>
          <p:nvPr/>
        </p:nvSpPr>
        <p:spPr>
          <a:xfrm>
            <a:off x="457200" y="6598920"/>
            <a:ext cx="11277600" cy="164592"/>
          </a:xfrm>
          <a:prstGeom prst="roundRect">
            <a:avLst>
              <a:gd fmla="val 50000" name="adj"/>
            </a:avLst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9" name="Google Shape;789;p10"/>
          <p:cNvSpPr/>
          <p:nvPr/>
        </p:nvSpPr>
        <p:spPr>
          <a:xfrm>
            <a:off x="457200" y="6598920"/>
            <a:ext cx="4833257" cy="164592"/>
          </a:xfrm>
          <a:prstGeom prst="roundRect">
            <a:avLst>
              <a:gd fmla="val 50000" name="adj"/>
            </a:avLst>
          </a:prstGeom>
          <a:solidFill>
            <a:srgbClr val="2E7D4F"/>
          </a:solidFill>
          <a:ln cap="flat" cmpd="sng" w="9525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s-CO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42,9 %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90" name="Google Shape;790;p10"/>
          <p:cNvCxnSpPr/>
          <p:nvPr/>
        </p:nvCxnSpPr>
        <p:spPr>
          <a:xfrm>
            <a:off x="849643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1" name="Google Shape;791;p10"/>
          <p:cNvCxnSpPr/>
          <p:nvPr/>
        </p:nvCxnSpPr>
        <p:spPr>
          <a:xfrm>
            <a:off x="1489947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2" name="Google Shape;792;p10"/>
          <p:cNvCxnSpPr/>
          <p:nvPr/>
        </p:nvCxnSpPr>
        <p:spPr>
          <a:xfrm>
            <a:off x="2109595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3" name="Google Shape;793;p10"/>
          <p:cNvCxnSpPr/>
          <p:nvPr/>
        </p:nvCxnSpPr>
        <p:spPr>
          <a:xfrm>
            <a:off x="2749898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4" name="Google Shape;794;p10"/>
          <p:cNvCxnSpPr/>
          <p:nvPr/>
        </p:nvCxnSpPr>
        <p:spPr>
          <a:xfrm>
            <a:off x="3369547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5" name="Google Shape;795;p10"/>
          <p:cNvCxnSpPr/>
          <p:nvPr/>
        </p:nvCxnSpPr>
        <p:spPr>
          <a:xfrm>
            <a:off x="4009850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6" name="Google Shape;796;p10"/>
          <p:cNvCxnSpPr/>
          <p:nvPr/>
        </p:nvCxnSpPr>
        <p:spPr>
          <a:xfrm>
            <a:off x="4650153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7" name="Google Shape;797;p10"/>
          <p:cNvCxnSpPr/>
          <p:nvPr/>
        </p:nvCxnSpPr>
        <p:spPr>
          <a:xfrm>
            <a:off x="5269802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8" name="Google Shape;798;p10"/>
          <p:cNvCxnSpPr/>
          <p:nvPr/>
        </p:nvCxnSpPr>
        <p:spPr>
          <a:xfrm>
            <a:off x="5910105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9" name="Google Shape;799;p10"/>
          <p:cNvCxnSpPr/>
          <p:nvPr/>
        </p:nvCxnSpPr>
        <p:spPr>
          <a:xfrm>
            <a:off x="6529753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00" name="Google Shape;800;p10"/>
          <p:cNvCxnSpPr/>
          <p:nvPr/>
        </p:nvCxnSpPr>
        <p:spPr>
          <a:xfrm>
            <a:off x="7170057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01" name="Google Shape;801;p10"/>
          <p:cNvCxnSpPr/>
          <p:nvPr/>
        </p:nvCxnSpPr>
        <p:spPr>
          <a:xfrm>
            <a:off x="7810360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02" name="Google Shape;802;p10"/>
          <p:cNvCxnSpPr/>
          <p:nvPr/>
        </p:nvCxnSpPr>
        <p:spPr>
          <a:xfrm>
            <a:off x="8388698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03" name="Google Shape;803;p10"/>
          <p:cNvCxnSpPr/>
          <p:nvPr/>
        </p:nvCxnSpPr>
        <p:spPr>
          <a:xfrm>
            <a:off x="9029002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04" name="Google Shape;804;p10"/>
          <p:cNvCxnSpPr/>
          <p:nvPr/>
        </p:nvCxnSpPr>
        <p:spPr>
          <a:xfrm>
            <a:off x="9648650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05" name="Google Shape;805;p10"/>
          <p:cNvCxnSpPr/>
          <p:nvPr/>
        </p:nvCxnSpPr>
        <p:spPr>
          <a:xfrm>
            <a:off x="10288953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06" name="Google Shape;806;p10"/>
          <p:cNvCxnSpPr/>
          <p:nvPr/>
        </p:nvCxnSpPr>
        <p:spPr>
          <a:xfrm>
            <a:off x="10908602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07" name="Google Shape;807;p10"/>
          <p:cNvCxnSpPr/>
          <p:nvPr/>
        </p:nvCxnSpPr>
        <p:spPr>
          <a:xfrm>
            <a:off x="11548905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08" name="Google Shape;808;p10"/>
          <p:cNvCxnSpPr/>
          <p:nvPr/>
        </p:nvCxnSpPr>
        <p:spPr>
          <a:xfrm>
            <a:off x="5290457" y="6562344"/>
            <a:ext cx="0" cy="237744"/>
          </a:xfrm>
          <a:prstGeom prst="straightConnector1">
            <a:avLst/>
          </a:prstGeom>
          <a:noFill/>
          <a:ln cap="flat" cmpd="sng" w="19050">
            <a:solidFill>
              <a:srgbClr val="B3261E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11"/>
          <p:cNvSpPr txBox="1"/>
          <p:nvPr/>
        </p:nvSpPr>
        <p:spPr>
          <a:xfrm>
            <a:off x="457200" y="320040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1200"/>
              <a:buFont typeface="Calibri"/>
              <a:buNone/>
            </a:pPr>
            <a:r>
              <a:rPr b="1" i="0" lang="es-CO" sz="1200" u="none" cap="none" strike="noStrike">
                <a:solidFill>
                  <a:srgbClr val="2E7D4F"/>
                </a:solidFill>
                <a:latin typeface="Poppins"/>
                <a:ea typeface="Poppins"/>
                <a:cs typeface="Poppins"/>
                <a:sym typeface="Poppins"/>
              </a:rPr>
              <a:t>INFORME DE VARIACIÓN DE ALCANCES  ·  LOTE 2 – SUBREGIÓN OCCIDENTE</a:t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5" name="Google Shape;815;p11"/>
          <p:cNvSpPr txBox="1"/>
          <p:nvPr/>
        </p:nvSpPr>
        <p:spPr>
          <a:xfrm>
            <a:off x="457200" y="594360"/>
            <a:ext cx="9692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2800"/>
              <a:buFont typeface="Calibri"/>
              <a:buNone/>
            </a:pPr>
            <a:r>
              <a:rPr b="1" i="0" lang="es-CO" sz="28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El Botón – Paso Ancho – Frontino</a:t>
            </a:r>
            <a:endParaRPr b="0" i="0" sz="2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descr="logo.png" id="816" name="Google Shape;81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78440" y="320040"/>
            <a:ext cx="1371600" cy="676656"/>
          </a:xfrm>
          <a:prstGeom prst="rect">
            <a:avLst/>
          </a:prstGeom>
          <a:noFill/>
          <a:ln>
            <a:noFill/>
          </a:ln>
        </p:spPr>
      </p:pic>
      <p:sp>
        <p:nvSpPr>
          <p:cNvPr id="817" name="Google Shape;817;p11"/>
          <p:cNvSpPr/>
          <p:nvPr/>
        </p:nvSpPr>
        <p:spPr>
          <a:xfrm>
            <a:off x="457200" y="132588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11"/>
          <p:cNvSpPr txBox="1"/>
          <p:nvPr/>
        </p:nvSpPr>
        <p:spPr>
          <a:xfrm>
            <a:off x="594360" y="1417320"/>
            <a:ext cx="183483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100"/>
              <a:buFont typeface="Calibri"/>
              <a:buNone/>
            </a:pPr>
            <a:r>
              <a:rPr b="0" i="0" lang="es-CO" sz="11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Longitud contractual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11"/>
          <p:cNvSpPr txBox="1"/>
          <p:nvPr/>
        </p:nvSpPr>
        <p:spPr>
          <a:xfrm>
            <a:off x="594360" y="1691640"/>
            <a:ext cx="183483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700"/>
              <a:buFont typeface="Calibri"/>
              <a:buNone/>
            </a:pPr>
            <a:r>
              <a:rPr b="1" i="0" lang="es-CO" sz="17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25,00 km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11"/>
          <p:cNvSpPr/>
          <p:nvPr/>
        </p:nvSpPr>
        <p:spPr>
          <a:xfrm>
            <a:off x="2749235" y="132588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11"/>
          <p:cNvSpPr txBox="1"/>
          <p:nvPr/>
        </p:nvSpPr>
        <p:spPr>
          <a:xfrm>
            <a:off x="2886395" y="1417320"/>
            <a:ext cx="183483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100"/>
              <a:buFont typeface="Calibri"/>
              <a:buNone/>
            </a:pPr>
            <a:r>
              <a:rPr b="0" i="0" lang="es-CO" sz="11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Longitud probable a cubrir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11"/>
          <p:cNvSpPr txBox="1"/>
          <p:nvPr/>
        </p:nvSpPr>
        <p:spPr>
          <a:xfrm>
            <a:off x="2886395" y="1691640"/>
            <a:ext cx="183483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700"/>
              <a:buFont typeface="Calibri"/>
              <a:buNone/>
            </a:pPr>
            <a:r>
              <a:rPr b="1" i="0" lang="es-CO" sz="17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14,87 km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11"/>
          <p:cNvSpPr/>
          <p:nvPr/>
        </p:nvSpPr>
        <p:spPr>
          <a:xfrm>
            <a:off x="5041270" y="132588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11"/>
          <p:cNvSpPr txBox="1"/>
          <p:nvPr/>
        </p:nvSpPr>
        <p:spPr>
          <a:xfrm>
            <a:off x="5178430" y="1417320"/>
            <a:ext cx="183483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100"/>
              <a:buFont typeface="Calibri"/>
              <a:buNone/>
            </a:pPr>
            <a:r>
              <a:rPr b="0" i="0" lang="es-CO" sz="11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Valor por km contractual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11"/>
          <p:cNvSpPr txBox="1"/>
          <p:nvPr/>
        </p:nvSpPr>
        <p:spPr>
          <a:xfrm>
            <a:off x="5178430" y="1691640"/>
            <a:ext cx="183483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700"/>
              <a:buFont typeface="Calibri"/>
              <a:buNone/>
            </a:pPr>
            <a:r>
              <a:rPr b="1" i="0" lang="es-CO" sz="17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$ 1.182.756.962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11"/>
          <p:cNvSpPr/>
          <p:nvPr/>
        </p:nvSpPr>
        <p:spPr>
          <a:xfrm>
            <a:off x="7333305" y="132588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11"/>
          <p:cNvSpPr txBox="1"/>
          <p:nvPr/>
        </p:nvSpPr>
        <p:spPr>
          <a:xfrm>
            <a:off x="7470465" y="1417320"/>
            <a:ext cx="183483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100"/>
              <a:buFont typeface="Calibri"/>
              <a:buNone/>
            </a:pPr>
            <a:r>
              <a:rPr b="0" i="0" lang="es-CO" sz="11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Valor por km proyectado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11"/>
          <p:cNvSpPr txBox="1"/>
          <p:nvPr/>
        </p:nvSpPr>
        <p:spPr>
          <a:xfrm>
            <a:off x="7470465" y="1691640"/>
            <a:ext cx="183483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700"/>
              <a:buFont typeface="Calibri"/>
              <a:buNone/>
            </a:pPr>
            <a:r>
              <a:rPr b="1" i="0" lang="es-CO" sz="17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$ 1.988.019.114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11"/>
          <p:cNvSpPr/>
          <p:nvPr/>
        </p:nvSpPr>
        <p:spPr>
          <a:xfrm>
            <a:off x="9625340" y="132588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FBEAEA"/>
          </a:solidFill>
          <a:ln cap="flat" cmpd="sng" w="12700">
            <a:solidFill>
              <a:srgbClr val="FBEA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11"/>
          <p:cNvSpPr txBox="1"/>
          <p:nvPr/>
        </p:nvSpPr>
        <p:spPr>
          <a:xfrm>
            <a:off x="9762500" y="1417320"/>
            <a:ext cx="183483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100"/>
              <a:buFont typeface="Calibri"/>
              <a:buNone/>
            </a:pPr>
            <a:r>
              <a:rPr b="0" i="0" lang="es-CO" sz="11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Variación total (valor adicional)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11"/>
          <p:cNvSpPr txBox="1"/>
          <p:nvPr/>
        </p:nvSpPr>
        <p:spPr>
          <a:xfrm>
            <a:off x="9762500" y="1691640"/>
            <a:ext cx="183483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261E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B3261E"/>
                </a:solidFill>
                <a:latin typeface="Arial"/>
                <a:ea typeface="Arial"/>
                <a:cs typeface="Arial"/>
                <a:sym typeface="Arial"/>
              </a:rPr>
              <a:t>▲ </a:t>
            </a:r>
            <a:r>
              <a:rPr b="1" i="0" lang="es-CO" sz="1500" u="none" cap="none" strike="noStrike">
                <a:solidFill>
                  <a:srgbClr val="B3261E"/>
                </a:solidFill>
                <a:latin typeface="Calibri"/>
                <a:ea typeface="Calibri"/>
                <a:cs typeface="Calibri"/>
                <a:sym typeface="Calibri"/>
              </a:rPr>
              <a:t>$ 20.131.553.811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11"/>
          <p:cNvSpPr/>
          <p:nvPr/>
        </p:nvSpPr>
        <p:spPr>
          <a:xfrm>
            <a:off x="457200" y="2423160"/>
            <a:ext cx="3154680" cy="4114800"/>
          </a:xfrm>
          <a:prstGeom prst="roundRect">
            <a:avLst>
              <a:gd fmla="val 1739" name="adj"/>
            </a:avLst>
          </a:prstGeom>
          <a:solidFill>
            <a:srgbClr val="FFFFFF"/>
          </a:solidFill>
          <a:ln cap="flat" cmpd="sng" w="12700">
            <a:solidFill>
              <a:srgbClr val="D5DD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11"/>
          <p:cNvSpPr txBox="1"/>
          <p:nvPr/>
        </p:nvSpPr>
        <p:spPr>
          <a:xfrm>
            <a:off x="640080" y="2560320"/>
            <a:ext cx="2788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1100"/>
              <a:buFont typeface="Calibri"/>
              <a:buNone/>
            </a:pPr>
            <a:r>
              <a:rPr b="1" i="0" lang="es-CO" sz="11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ESTRUCTURA DE PAVIMENTO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11"/>
          <p:cNvSpPr txBox="1"/>
          <p:nvPr/>
        </p:nvSpPr>
        <p:spPr>
          <a:xfrm>
            <a:off x="640080" y="2816352"/>
            <a:ext cx="2788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1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El Botón – Paso Ancho – Frontino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11"/>
          <p:cNvSpPr txBox="1"/>
          <p:nvPr/>
        </p:nvSpPr>
        <p:spPr>
          <a:xfrm>
            <a:off x="640080" y="3172968"/>
            <a:ext cx="2788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LOTE 2 · Longitud: 25.000 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Tránsito – Estructuración: </a:t>
            </a: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231.000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Tránsito – Diseño: </a:t>
            </a: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783.410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11"/>
          <p:cNvSpPr txBox="1"/>
          <p:nvPr/>
        </p:nvSpPr>
        <p:spPr>
          <a:xfrm>
            <a:off x="457200" y="3794760"/>
            <a:ext cx="15773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1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Teórica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11"/>
          <p:cNvSpPr/>
          <p:nvPr/>
        </p:nvSpPr>
        <p:spPr>
          <a:xfrm>
            <a:off x="560070" y="4087368"/>
            <a:ext cx="960120" cy="182880"/>
          </a:xfrm>
          <a:prstGeom prst="rect">
            <a:avLst/>
          </a:prstGeom>
          <a:solidFill>
            <a:srgbClr val="1F2A36"/>
          </a:solidFill>
          <a:ln cap="flat" cmpd="sng" w="12700">
            <a:solidFill>
              <a:srgbClr val="1F2A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11"/>
          <p:cNvSpPr txBox="1"/>
          <p:nvPr/>
        </p:nvSpPr>
        <p:spPr>
          <a:xfrm>
            <a:off x="560070" y="4087368"/>
            <a:ext cx="9601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s-CO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TSD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11"/>
          <p:cNvSpPr/>
          <p:nvPr/>
        </p:nvSpPr>
        <p:spPr>
          <a:xfrm>
            <a:off x="560070" y="4270248"/>
            <a:ext cx="960120" cy="1056132"/>
          </a:xfrm>
          <a:prstGeom prst="rect">
            <a:avLst/>
          </a:prstGeom>
          <a:solidFill>
            <a:srgbClr val="D9A44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11"/>
          <p:cNvSpPr txBox="1"/>
          <p:nvPr/>
        </p:nvSpPr>
        <p:spPr>
          <a:xfrm>
            <a:off x="560070" y="4270248"/>
            <a:ext cx="960120" cy="52920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800"/>
              <a:buFont typeface="Calibri"/>
              <a:buNone/>
            </a:pPr>
            <a:r>
              <a:rPr b="1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Estabilización con cemento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11"/>
          <p:cNvSpPr/>
          <p:nvPr/>
        </p:nvSpPr>
        <p:spPr>
          <a:xfrm>
            <a:off x="624078" y="4799457"/>
            <a:ext cx="832104" cy="490347"/>
          </a:xfrm>
          <a:prstGeom prst="rect">
            <a:avLst/>
          </a:prstGeom>
          <a:solidFill>
            <a:srgbClr val="F2D58E"/>
          </a:solidFill>
          <a:ln cap="flat" cmpd="sng" w="9525">
            <a:solidFill>
              <a:srgbClr val="A87B1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11"/>
          <p:cNvSpPr txBox="1"/>
          <p:nvPr/>
        </p:nvSpPr>
        <p:spPr>
          <a:xfrm>
            <a:off x="624078" y="4799457"/>
            <a:ext cx="832104" cy="490347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800"/>
              <a:buFont typeface="Calibri"/>
              <a:buNone/>
            </a:pPr>
            <a:r>
              <a:rPr b="0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Subbase 13 cm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11"/>
          <p:cNvSpPr txBox="1"/>
          <p:nvPr/>
        </p:nvSpPr>
        <p:spPr>
          <a:xfrm>
            <a:off x="1575054" y="4270248"/>
            <a:ext cx="457200" cy="10561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28 cm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11"/>
          <p:cNvSpPr/>
          <p:nvPr/>
        </p:nvSpPr>
        <p:spPr>
          <a:xfrm>
            <a:off x="560070" y="5326380"/>
            <a:ext cx="960120" cy="754380"/>
          </a:xfrm>
          <a:prstGeom prst="rect">
            <a:avLst/>
          </a:prstGeom>
          <a:solidFill>
            <a:srgbClr val="8C6A4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11"/>
          <p:cNvSpPr txBox="1"/>
          <p:nvPr/>
        </p:nvSpPr>
        <p:spPr>
          <a:xfrm>
            <a:off x="560070" y="5326380"/>
            <a:ext cx="960120" cy="754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s-CO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Subrasante estabilizada con cal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" name="Google Shape;846;p11"/>
          <p:cNvSpPr txBox="1"/>
          <p:nvPr/>
        </p:nvSpPr>
        <p:spPr>
          <a:xfrm>
            <a:off x="1575054" y="5326380"/>
            <a:ext cx="457200" cy="754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20 cm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47" name="Google Shape;847;p11"/>
          <p:cNvCxnSpPr/>
          <p:nvPr/>
        </p:nvCxnSpPr>
        <p:spPr>
          <a:xfrm>
            <a:off x="468630" y="6080760"/>
            <a:ext cx="1143000" cy="0"/>
          </a:xfrm>
          <a:prstGeom prst="straightConnector1">
            <a:avLst/>
          </a:prstGeom>
          <a:noFill/>
          <a:ln cap="flat" cmpd="sng" w="12700">
            <a:solidFill>
              <a:srgbClr val="1D2B2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8" name="Google Shape;848;p11"/>
          <p:cNvSpPr txBox="1"/>
          <p:nvPr/>
        </p:nvSpPr>
        <p:spPr>
          <a:xfrm>
            <a:off x="457200" y="6153912"/>
            <a:ext cx="15773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Espesor total: </a:t>
            </a:r>
            <a:r>
              <a:rPr b="1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48 cm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11"/>
          <p:cNvSpPr txBox="1"/>
          <p:nvPr/>
        </p:nvSpPr>
        <p:spPr>
          <a:xfrm>
            <a:off x="2034540" y="3794760"/>
            <a:ext cx="15773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1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Presupuesto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11"/>
          <p:cNvSpPr/>
          <p:nvPr/>
        </p:nvSpPr>
        <p:spPr>
          <a:xfrm>
            <a:off x="2137410" y="4087368"/>
            <a:ext cx="960120" cy="182880"/>
          </a:xfrm>
          <a:prstGeom prst="rect">
            <a:avLst/>
          </a:prstGeom>
          <a:solidFill>
            <a:srgbClr val="1F2A36"/>
          </a:solidFill>
          <a:ln cap="flat" cmpd="sng" w="12700">
            <a:solidFill>
              <a:srgbClr val="1F2A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11"/>
          <p:cNvSpPr txBox="1"/>
          <p:nvPr/>
        </p:nvSpPr>
        <p:spPr>
          <a:xfrm>
            <a:off x="2137410" y="4087368"/>
            <a:ext cx="9601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s-CO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TSD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p11"/>
          <p:cNvSpPr/>
          <p:nvPr/>
        </p:nvSpPr>
        <p:spPr>
          <a:xfrm>
            <a:off x="2137410" y="4270248"/>
            <a:ext cx="960120" cy="942975"/>
          </a:xfrm>
          <a:prstGeom prst="rect">
            <a:avLst/>
          </a:prstGeom>
          <a:solidFill>
            <a:srgbClr val="D9A44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p11"/>
          <p:cNvSpPr txBox="1"/>
          <p:nvPr/>
        </p:nvSpPr>
        <p:spPr>
          <a:xfrm>
            <a:off x="2137410" y="4270248"/>
            <a:ext cx="960120" cy="942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800"/>
              <a:buFont typeface="Calibri"/>
              <a:buNone/>
            </a:pPr>
            <a:r>
              <a:rPr b="1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Estabilización con cemento (MGTC)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11"/>
          <p:cNvSpPr txBox="1"/>
          <p:nvPr/>
        </p:nvSpPr>
        <p:spPr>
          <a:xfrm>
            <a:off x="3152394" y="4270248"/>
            <a:ext cx="457200" cy="942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25 cm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11"/>
          <p:cNvSpPr/>
          <p:nvPr/>
        </p:nvSpPr>
        <p:spPr>
          <a:xfrm>
            <a:off x="2137410" y="5213223"/>
            <a:ext cx="960120" cy="754380"/>
          </a:xfrm>
          <a:prstGeom prst="rect">
            <a:avLst/>
          </a:prstGeom>
          <a:solidFill>
            <a:srgbClr val="8C6A4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11"/>
          <p:cNvSpPr txBox="1"/>
          <p:nvPr/>
        </p:nvSpPr>
        <p:spPr>
          <a:xfrm>
            <a:off x="2137410" y="5213223"/>
            <a:ext cx="960120" cy="754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s-CO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Subrasante estabilizada con cal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11"/>
          <p:cNvSpPr txBox="1"/>
          <p:nvPr/>
        </p:nvSpPr>
        <p:spPr>
          <a:xfrm>
            <a:off x="3152394" y="5213223"/>
            <a:ext cx="457200" cy="754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20 cm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58" name="Google Shape;858;p11"/>
          <p:cNvCxnSpPr/>
          <p:nvPr/>
        </p:nvCxnSpPr>
        <p:spPr>
          <a:xfrm>
            <a:off x="2045970" y="5967603"/>
            <a:ext cx="1143000" cy="0"/>
          </a:xfrm>
          <a:prstGeom prst="straightConnector1">
            <a:avLst/>
          </a:prstGeom>
          <a:noFill/>
          <a:ln cap="flat" cmpd="sng" w="12700">
            <a:solidFill>
              <a:srgbClr val="1D2B2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59" name="Google Shape;859;p11"/>
          <p:cNvSpPr txBox="1"/>
          <p:nvPr/>
        </p:nvSpPr>
        <p:spPr>
          <a:xfrm>
            <a:off x="2034540" y="6040755"/>
            <a:ext cx="15773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Espesor total: </a:t>
            </a:r>
            <a:r>
              <a:rPr b="1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45 cm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60" name="Google Shape;860;p11"/>
          <p:cNvGraphicFramePr/>
          <p:nvPr/>
        </p:nvGraphicFramePr>
        <p:xfrm>
          <a:off x="3840480" y="24231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{2219430B-40B1-4F13-8D99-EA5D7966678A}</a:tableStyleId>
              </a:tblPr>
              <a:tblGrid>
                <a:gridCol w="2395725"/>
                <a:gridCol w="1097275"/>
                <a:gridCol w="603500"/>
                <a:gridCol w="1097275"/>
                <a:gridCol w="603500"/>
                <a:gridCol w="237750"/>
                <a:gridCol w="1097275"/>
                <a:gridCol w="758950"/>
              </a:tblGrid>
              <a:tr h="438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Grupo – actividad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Valor contractual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 sobre corredor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Valor proyectado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 sobre corredor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Variación (valor adicional)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 de variación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</a:tr>
              <a:tr h="27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Construcción alcantarilla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$ 3.604.988.222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$ 4.667.886.071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>
                          <a:solidFill>
                            <a:srgbClr val="B32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▲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$ 1.062.897.849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29,5 %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Construcción cuneta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$ 4.099.740.649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$ 6.943.612.851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>
                          <a:solidFill>
                            <a:srgbClr val="B32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▲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$ 2.843.872.202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69,4 %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27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Construcción filtro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$ 4.671.931.000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$ 4.671.598.360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>
                          <a:solidFill>
                            <a:srgbClr val="0B5D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▼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0B5D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–$ 332.640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0B5D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0,0 %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Construcción bordillos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$ 609.150.300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$ 181.606.867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>
                          <a:solidFill>
                            <a:srgbClr val="0B5D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▼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0B5D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–$ 427.543.433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0B5D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–70,2 %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27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Construcción disipadores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$ 541.257.606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$ 272.514.567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>
                          <a:solidFill>
                            <a:srgbClr val="0B5D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▼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0B5D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–$ 268.743.039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0B5D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–49,7 %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Estabilización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$ 15.674.137.390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53%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$ 28.753.838.878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58%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B32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▲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$ 13.079.701.488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83,4 %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27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Señalización vial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$ 367.718.875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$ 281.493.875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>
                          <a:solidFill>
                            <a:srgbClr val="0B5D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▼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0B5D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–$ 86.225.000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0B5D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–23,4 %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Obras no previstas (excavación, conformación, realces, colocación de subbase)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–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$ 3.927.926.384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>
                          <a:solidFill>
                            <a:srgbClr val="B32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▲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$ 3.927.926.384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B65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N/A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27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CORREDOR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$ 29.568.924.042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100%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$ 49.700.477.853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100%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B32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▲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+$ 20.131.553.811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68,1 %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</a:tr>
            </a:tbl>
          </a:graphicData>
        </a:graphic>
      </p:graphicFrame>
      <p:sp>
        <p:nvSpPr>
          <p:cNvPr id="861" name="Google Shape;861;p11"/>
          <p:cNvSpPr txBox="1"/>
          <p:nvPr/>
        </p:nvSpPr>
        <p:spPr>
          <a:xfrm>
            <a:off x="3840480" y="5413248"/>
            <a:ext cx="78912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261E"/>
              </a:buClr>
              <a:buSzPts val="900"/>
              <a:buFont typeface="Arial"/>
              <a:buNone/>
            </a:pPr>
            <a:r>
              <a:rPr b="0" i="0" lang="es-CO" sz="900" u="none" cap="none" strike="noStrike">
                <a:solidFill>
                  <a:srgbClr val="B3261E"/>
                </a:solidFill>
                <a:latin typeface="Arial"/>
                <a:ea typeface="Arial"/>
                <a:cs typeface="Arial"/>
                <a:sym typeface="Arial"/>
              </a:rPr>
              <a:t>▲</a:t>
            </a: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 Se requiere mayor valor     </a:t>
            </a:r>
            <a:r>
              <a:rPr b="0" i="0" lang="es-CO" sz="900" u="none" cap="none" strike="noStrike">
                <a:solidFill>
                  <a:srgbClr val="0B5D2E"/>
                </a:solidFill>
                <a:latin typeface="Arial"/>
                <a:ea typeface="Arial"/>
                <a:cs typeface="Arial"/>
                <a:sym typeface="Arial"/>
              </a:rPr>
              <a:t>▼</a:t>
            </a: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 Sobra valor     % de variación = (valor proyectado – valor contractual) / valor contractual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" name="Google Shape;862;p11"/>
          <p:cNvSpPr/>
          <p:nvPr/>
        </p:nvSpPr>
        <p:spPr>
          <a:xfrm>
            <a:off x="3840480" y="5687568"/>
            <a:ext cx="7891272" cy="850392"/>
          </a:xfrm>
          <a:prstGeom prst="roundRect">
            <a:avLst>
              <a:gd fmla="val 6452" name="adj"/>
            </a:avLst>
          </a:prstGeom>
          <a:solidFill>
            <a:srgbClr val="FFFFFF"/>
          </a:solidFill>
          <a:ln cap="flat" cmpd="sng" w="12700">
            <a:solidFill>
              <a:srgbClr val="9AA7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00" lIns="1000" spcFirstLastPara="1" rIns="1500" wrap="square" tIns="15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100"/>
              <a:buFont typeface="Calibri"/>
              <a:buNone/>
            </a:pPr>
            <a:r>
              <a:rPr b="1" i="0" lang="es-CO" sz="11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Notas: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12"/>
          <p:cNvSpPr txBox="1"/>
          <p:nvPr/>
        </p:nvSpPr>
        <p:spPr>
          <a:xfrm>
            <a:off x="457200" y="320040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1200"/>
              <a:buFont typeface="Calibri"/>
              <a:buNone/>
            </a:pPr>
            <a:r>
              <a:rPr b="1" i="0" lang="es-CO" sz="1200" u="none" cap="none" strike="noStrike">
                <a:solidFill>
                  <a:srgbClr val="2E7D4F"/>
                </a:solidFill>
                <a:latin typeface="Poppins"/>
                <a:ea typeface="Poppins"/>
                <a:cs typeface="Poppins"/>
                <a:sym typeface="Poppins"/>
              </a:rPr>
              <a:t>INFORME DE EJECUCIÓN  ·  LOTE 2 – SUBREGIÓN OCCIDENTE</a:t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69" name="Google Shape;869;p12"/>
          <p:cNvSpPr txBox="1"/>
          <p:nvPr/>
        </p:nvSpPr>
        <p:spPr>
          <a:xfrm>
            <a:off x="457200" y="594360"/>
            <a:ext cx="9692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2800"/>
              <a:buFont typeface="Calibri"/>
              <a:buNone/>
            </a:pPr>
            <a:r>
              <a:rPr b="1" i="0" lang="es-CO" sz="28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El Botón – Paso Ancho – Frontino</a:t>
            </a:r>
            <a:endParaRPr b="0" i="0" sz="2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descr="logo.png" id="870" name="Google Shape;87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78440" y="320040"/>
            <a:ext cx="1371600" cy="676656"/>
          </a:xfrm>
          <a:prstGeom prst="rect">
            <a:avLst/>
          </a:prstGeom>
          <a:noFill/>
          <a:ln>
            <a:noFill/>
          </a:ln>
        </p:spPr>
      </p:pic>
      <p:sp>
        <p:nvSpPr>
          <p:cNvPr id="871" name="Google Shape;871;p12"/>
          <p:cNvSpPr/>
          <p:nvPr/>
        </p:nvSpPr>
        <p:spPr>
          <a:xfrm>
            <a:off x="457200" y="1234440"/>
            <a:ext cx="1765249" cy="658368"/>
          </a:xfrm>
          <a:prstGeom prst="roundRect">
            <a:avLst>
              <a:gd fmla="val 1111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12"/>
          <p:cNvSpPr txBox="1"/>
          <p:nvPr/>
        </p:nvSpPr>
        <p:spPr>
          <a:xfrm>
            <a:off x="566928" y="1289304"/>
            <a:ext cx="154579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50"/>
              <a:buFont typeface="Calibri"/>
              <a:buNone/>
            </a:pPr>
            <a:r>
              <a:rPr b="0" i="0" lang="es-CO" sz="9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Longitud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3" name="Google Shape;873;p12"/>
          <p:cNvSpPr txBox="1"/>
          <p:nvPr/>
        </p:nvSpPr>
        <p:spPr>
          <a:xfrm>
            <a:off x="566928" y="1453896"/>
            <a:ext cx="154579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25,00 km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p12"/>
          <p:cNvSpPr txBox="1"/>
          <p:nvPr/>
        </p:nvSpPr>
        <p:spPr>
          <a:xfrm>
            <a:off x="566928" y="1700784"/>
            <a:ext cx="1545793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00"/>
              <a:buFont typeface="Calibri"/>
              <a:buNone/>
            </a:pP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Alcance real 14,87 km · dif. 10,13 km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5" name="Google Shape;875;p12"/>
          <p:cNvSpPr/>
          <p:nvPr/>
        </p:nvSpPr>
        <p:spPr>
          <a:xfrm>
            <a:off x="2359609" y="1234440"/>
            <a:ext cx="1765249" cy="658368"/>
          </a:xfrm>
          <a:prstGeom prst="roundRect">
            <a:avLst>
              <a:gd fmla="val 1111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12"/>
          <p:cNvSpPr txBox="1"/>
          <p:nvPr/>
        </p:nvSpPr>
        <p:spPr>
          <a:xfrm>
            <a:off x="2469337" y="1289304"/>
            <a:ext cx="154579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50"/>
              <a:buFont typeface="Calibri"/>
              <a:buNone/>
            </a:pPr>
            <a:r>
              <a:rPr b="0" i="0" lang="es-CO" sz="9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Valor total del corredor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p12"/>
          <p:cNvSpPr txBox="1"/>
          <p:nvPr/>
        </p:nvSpPr>
        <p:spPr>
          <a:xfrm>
            <a:off x="2469337" y="1453896"/>
            <a:ext cx="154579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$ 29.568.924.042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12"/>
          <p:cNvSpPr txBox="1"/>
          <p:nvPr/>
        </p:nvSpPr>
        <p:spPr>
          <a:xfrm>
            <a:off x="2469337" y="1700784"/>
            <a:ext cx="1545793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00"/>
              <a:buFont typeface="Calibri"/>
              <a:buNone/>
            </a:pP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$ 1.182.756.962 por km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12"/>
          <p:cNvSpPr/>
          <p:nvPr/>
        </p:nvSpPr>
        <p:spPr>
          <a:xfrm>
            <a:off x="4262018" y="1234440"/>
            <a:ext cx="1765249" cy="658368"/>
          </a:xfrm>
          <a:prstGeom prst="roundRect">
            <a:avLst>
              <a:gd fmla="val 11111" name="adj"/>
            </a:avLst>
          </a:prstGeom>
          <a:solidFill>
            <a:srgbClr val="FBEAEA"/>
          </a:solidFill>
          <a:ln cap="flat" cmpd="sng" w="12700">
            <a:solidFill>
              <a:srgbClr val="FBEA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12"/>
          <p:cNvSpPr txBox="1"/>
          <p:nvPr/>
        </p:nvSpPr>
        <p:spPr>
          <a:xfrm>
            <a:off x="4371746" y="1289304"/>
            <a:ext cx="154579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50"/>
              <a:buFont typeface="Calibri"/>
              <a:buNone/>
            </a:pPr>
            <a:r>
              <a:rPr b="0" i="0" lang="es-CO" sz="9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Avance físico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p12"/>
          <p:cNvSpPr txBox="1"/>
          <p:nvPr/>
        </p:nvSpPr>
        <p:spPr>
          <a:xfrm>
            <a:off x="4371746" y="1453896"/>
            <a:ext cx="154579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261E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B3261E"/>
                </a:solidFill>
                <a:latin typeface="Calibri"/>
                <a:ea typeface="Calibri"/>
                <a:cs typeface="Calibri"/>
                <a:sym typeface="Calibri"/>
              </a:rPr>
              <a:t>18,25 %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2" name="Google Shape;882;p12"/>
          <p:cNvSpPr txBox="1"/>
          <p:nvPr/>
        </p:nvSpPr>
        <p:spPr>
          <a:xfrm>
            <a:off x="4371746" y="1700784"/>
            <a:ext cx="1545793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00"/>
              <a:buFont typeface="Calibri"/>
              <a:buNone/>
            </a:pP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Frente a 42,9 % del plazo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12"/>
          <p:cNvSpPr/>
          <p:nvPr/>
        </p:nvSpPr>
        <p:spPr>
          <a:xfrm>
            <a:off x="6164428" y="1234440"/>
            <a:ext cx="1765249" cy="658368"/>
          </a:xfrm>
          <a:prstGeom prst="roundRect">
            <a:avLst>
              <a:gd fmla="val 1111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4" name="Google Shape;884;p12"/>
          <p:cNvSpPr txBox="1"/>
          <p:nvPr/>
        </p:nvSpPr>
        <p:spPr>
          <a:xfrm>
            <a:off x="6274156" y="1289304"/>
            <a:ext cx="154579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50"/>
              <a:buFont typeface="Calibri"/>
              <a:buNone/>
            </a:pPr>
            <a:r>
              <a:rPr b="0" i="0" lang="es-CO" sz="9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Avance financiero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5" name="Google Shape;885;p12"/>
          <p:cNvSpPr txBox="1"/>
          <p:nvPr/>
        </p:nvSpPr>
        <p:spPr>
          <a:xfrm>
            <a:off x="6274156" y="1453896"/>
            <a:ext cx="154579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18,25%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p12"/>
          <p:cNvSpPr/>
          <p:nvPr/>
        </p:nvSpPr>
        <p:spPr>
          <a:xfrm>
            <a:off x="8066837" y="1234440"/>
            <a:ext cx="1765249" cy="658368"/>
          </a:xfrm>
          <a:prstGeom prst="roundRect">
            <a:avLst>
              <a:gd fmla="val 1111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7" name="Google Shape;887;p12"/>
          <p:cNvSpPr txBox="1"/>
          <p:nvPr/>
        </p:nvSpPr>
        <p:spPr>
          <a:xfrm>
            <a:off x="8176565" y="1289304"/>
            <a:ext cx="154579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50"/>
              <a:buFont typeface="Calibri"/>
              <a:buNone/>
            </a:pPr>
            <a:r>
              <a:rPr b="0" i="0" lang="es-CO" sz="9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Plazo transcurrido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12"/>
          <p:cNvSpPr txBox="1"/>
          <p:nvPr/>
        </p:nvSpPr>
        <p:spPr>
          <a:xfrm>
            <a:off x="8176565" y="1453896"/>
            <a:ext cx="154579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42,9 %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p12"/>
          <p:cNvSpPr txBox="1"/>
          <p:nvPr/>
        </p:nvSpPr>
        <p:spPr>
          <a:xfrm>
            <a:off x="8176565" y="1700784"/>
            <a:ext cx="1545793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00"/>
              <a:buFont typeface="Calibri"/>
              <a:buNone/>
            </a:pP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7,7 de 18 meses (al 02/10/2026)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0" name="Google Shape;890;p12"/>
          <p:cNvSpPr/>
          <p:nvPr/>
        </p:nvSpPr>
        <p:spPr>
          <a:xfrm>
            <a:off x="9969246" y="1234440"/>
            <a:ext cx="1765249" cy="658368"/>
          </a:xfrm>
          <a:prstGeom prst="roundRect">
            <a:avLst>
              <a:gd fmla="val 1111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p12"/>
          <p:cNvSpPr txBox="1"/>
          <p:nvPr/>
        </p:nvSpPr>
        <p:spPr>
          <a:xfrm>
            <a:off x="10078974" y="1289304"/>
            <a:ext cx="1545793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Inicio: </a:t>
            </a: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10/02/2026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Terminación: </a:t>
            </a: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10/08/2027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Corte: </a:t>
            </a: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25/09/2026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2" name="Google Shape;892;p12"/>
          <p:cNvSpPr txBox="1"/>
          <p:nvPr/>
        </p:nvSpPr>
        <p:spPr>
          <a:xfrm>
            <a:off x="457200" y="1956816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1000"/>
              <a:buFont typeface="Calibri"/>
              <a:buNone/>
            </a:pPr>
            <a:r>
              <a:rPr b="1" i="0" lang="es-CO" sz="10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AVANCE POR ABSCISA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93" name="Google Shape;893;p12"/>
          <p:cNvCxnSpPr/>
          <p:nvPr/>
        </p:nvCxnSpPr>
        <p:spPr>
          <a:xfrm>
            <a:off x="2103120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94" name="Google Shape;894;p12"/>
          <p:cNvCxnSpPr/>
          <p:nvPr/>
        </p:nvCxnSpPr>
        <p:spPr>
          <a:xfrm>
            <a:off x="2465222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95" name="Google Shape;895;p12"/>
          <p:cNvCxnSpPr/>
          <p:nvPr/>
        </p:nvCxnSpPr>
        <p:spPr>
          <a:xfrm>
            <a:off x="2827325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96" name="Google Shape;896;p12"/>
          <p:cNvCxnSpPr/>
          <p:nvPr/>
        </p:nvCxnSpPr>
        <p:spPr>
          <a:xfrm>
            <a:off x="3189427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97" name="Google Shape;897;p12"/>
          <p:cNvCxnSpPr/>
          <p:nvPr/>
        </p:nvCxnSpPr>
        <p:spPr>
          <a:xfrm>
            <a:off x="3551530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98" name="Google Shape;898;p12"/>
          <p:cNvCxnSpPr/>
          <p:nvPr/>
        </p:nvCxnSpPr>
        <p:spPr>
          <a:xfrm>
            <a:off x="3913632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99" name="Google Shape;899;p12"/>
          <p:cNvCxnSpPr/>
          <p:nvPr/>
        </p:nvCxnSpPr>
        <p:spPr>
          <a:xfrm>
            <a:off x="4275734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00" name="Google Shape;900;p12"/>
          <p:cNvCxnSpPr/>
          <p:nvPr/>
        </p:nvCxnSpPr>
        <p:spPr>
          <a:xfrm>
            <a:off x="4637837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01" name="Google Shape;901;p12"/>
          <p:cNvCxnSpPr/>
          <p:nvPr/>
        </p:nvCxnSpPr>
        <p:spPr>
          <a:xfrm>
            <a:off x="4999939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02" name="Google Shape;902;p12"/>
          <p:cNvCxnSpPr/>
          <p:nvPr/>
        </p:nvCxnSpPr>
        <p:spPr>
          <a:xfrm>
            <a:off x="5362042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03" name="Google Shape;903;p12"/>
          <p:cNvCxnSpPr/>
          <p:nvPr/>
        </p:nvCxnSpPr>
        <p:spPr>
          <a:xfrm>
            <a:off x="5724144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04" name="Google Shape;904;p12"/>
          <p:cNvCxnSpPr/>
          <p:nvPr/>
        </p:nvCxnSpPr>
        <p:spPr>
          <a:xfrm>
            <a:off x="6086246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05" name="Google Shape;905;p12"/>
          <p:cNvCxnSpPr/>
          <p:nvPr/>
        </p:nvCxnSpPr>
        <p:spPr>
          <a:xfrm>
            <a:off x="6448349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06" name="Google Shape;906;p12"/>
          <p:cNvCxnSpPr/>
          <p:nvPr/>
        </p:nvCxnSpPr>
        <p:spPr>
          <a:xfrm>
            <a:off x="6810451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07" name="Google Shape;907;p12"/>
          <p:cNvCxnSpPr/>
          <p:nvPr/>
        </p:nvCxnSpPr>
        <p:spPr>
          <a:xfrm>
            <a:off x="7172554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08" name="Google Shape;908;p12"/>
          <p:cNvCxnSpPr/>
          <p:nvPr/>
        </p:nvCxnSpPr>
        <p:spPr>
          <a:xfrm>
            <a:off x="7534656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09" name="Google Shape;909;p12"/>
          <p:cNvCxnSpPr/>
          <p:nvPr/>
        </p:nvCxnSpPr>
        <p:spPr>
          <a:xfrm>
            <a:off x="7896758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10" name="Google Shape;910;p12"/>
          <p:cNvCxnSpPr/>
          <p:nvPr/>
        </p:nvCxnSpPr>
        <p:spPr>
          <a:xfrm>
            <a:off x="8258861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11" name="Google Shape;911;p12"/>
          <p:cNvCxnSpPr/>
          <p:nvPr/>
        </p:nvCxnSpPr>
        <p:spPr>
          <a:xfrm>
            <a:off x="8620963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12" name="Google Shape;912;p12"/>
          <p:cNvCxnSpPr/>
          <p:nvPr/>
        </p:nvCxnSpPr>
        <p:spPr>
          <a:xfrm>
            <a:off x="8983066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13" name="Google Shape;913;p12"/>
          <p:cNvCxnSpPr/>
          <p:nvPr/>
        </p:nvCxnSpPr>
        <p:spPr>
          <a:xfrm>
            <a:off x="9345168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14" name="Google Shape;914;p12"/>
          <p:cNvCxnSpPr/>
          <p:nvPr/>
        </p:nvCxnSpPr>
        <p:spPr>
          <a:xfrm>
            <a:off x="9707270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15" name="Google Shape;915;p12"/>
          <p:cNvCxnSpPr/>
          <p:nvPr/>
        </p:nvCxnSpPr>
        <p:spPr>
          <a:xfrm>
            <a:off x="10069373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16" name="Google Shape;916;p12"/>
          <p:cNvCxnSpPr/>
          <p:nvPr/>
        </p:nvCxnSpPr>
        <p:spPr>
          <a:xfrm>
            <a:off x="10431475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17" name="Google Shape;917;p12"/>
          <p:cNvCxnSpPr/>
          <p:nvPr/>
        </p:nvCxnSpPr>
        <p:spPr>
          <a:xfrm>
            <a:off x="10793578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18" name="Google Shape;918;p12"/>
          <p:cNvCxnSpPr/>
          <p:nvPr/>
        </p:nvCxnSpPr>
        <p:spPr>
          <a:xfrm>
            <a:off x="11155680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19" name="Google Shape;919;p12"/>
          <p:cNvSpPr txBox="1"/>
          <p:nvPr/>
        </p:nvSpPr>
        <p:spPr>
          <a:xfrm>
            <a:off x="1874520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0" name="Google Shape;920;p12"/>
          <p:cNvSpPr txBox="1"/>
          <p:nvPr/>
        </p:nvSpPr>
        <p:spPr>
          <a:xfrm>
            <a:off x="2598725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1" name="Google Shape;921;p12"/>
          <p:cNvSpPr txBox="1"/>
          <p:nvPr/>
        </p:nvSpPr>
        <p:spPr>
          <a:xfrm>
            <a:off x="3322930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K4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" name="Google Shape;922;p12"/>
          <p:cNvSpPr txBox="1"/>
          <p:nvPr/>
        </p:nvSpPr>
        <p:spPr>
          <a:xfrm>
            <a:off x="4047134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" name="Google Shape;923;p12"/>
          <p:cNvSpPr txBox="1"/>
          <p:nvPr/>
        </p:nvSpPr>
        <p:spPr>
          <a:xfrm>
            <a:off x="4771339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K8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4" name="Google Shape;924;p12"/>
          <p:cNvSpPr txBox="1"/>
          <p:nvPr/>
        </p:nvSpPr>
        <p:spPr>
          <a:xfrm>
            <a:off x="5495544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K10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5" name="Google Shape;925;p12"/>
          <p:cNvSpPr txBox="1"/>
          <p:nvPr/>
        </p:nvSpPr>
        <p:spPr>
          <a:xfrm>
            <a:off x="6219749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K12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6" name="Google Shape;926;p12"/>
          <p:cNvSpPr txBox="1"/>
          <p:nvPr/>
        </p:nvSpPr>
        <p:spPr>
          <a:xfrm>
            <a:off x="6943954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K14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7" name="Google Shape;927;p12"/>
          <p:cNvSpPr txBox="1"/>
          <p:nvPr/>
        </p:nvSpPr>
        <p:spPr>
          <a:xfrm>
            <a:off x="7668158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K16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8" name="Google Shape;928;p12"/>
          <p:cNvSpPr txBox="1"/>
          <p:nvPr/>
        </p:nvSpPr>
        <p:spPr>
          <a:xfrm>
            <a:off x="8392363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K18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9" name="Google Shape;929;p12"/>
          <p:cNvSpPr txBox="1"/>
          <p:nvPr/>
        </p:nvSpPr>
        <p:spPr>
          <a:xfrm>
            <a:off x="9116568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K20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0" name="Google Shape;930;p12"/>
          <p:cNvSpPr txBox="1"/>
          <p:nvPr/>
        </p:nvSpPr>
        <p:spPr>
          <a:xfrm>
            <a:off x="9840773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K22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1" name="Google Shape;931;p12"/>
          <p:cNvSpPr txBox="1"/>
          <p:nvPr/>
        </p:nvSpPr>
        <p:spPr>
          <a:xfrm>
            <a:off x="10835640" y="2139696"/>
            <a:ext cx="54864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K25+000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2" name="Google Shape;932;p12"/>
          <p:cNvSpPr/>
          <p:nvPr/>
        </p:nvSpPr>
        <p:spPr>
          <a:xfrm>
            <a:off x="2103120" y="2359152"/>
            <a:ext cx="9052560" cy="73152"/>
          </a:xfrm>
          <a:prstGeom prst="rect">
            <a:avLst/>
          </a:prstGeom>
          <a:solidFill>
            <a:srgbClr val="1F2A36"/>
          </a:solidFill>
          <a:ln cap="flat" cmpd="sng" w="12700">
            <a:solidFill>
              <a:srgbClr val="1F2A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33" name="Google Shape;933;p12"/>
          <p:cNvCxnSpPr/>
          <p:nvPr/>
        </p:nvCxnSpPr>
        <p:spPr>
          <a:xfrm>
            <a:off x="2139696" y="2395728"/>
            <a:ext cx="8979408" cy="0"/>
          </a:xfrm>
          <a:prstGeom prst="straightConnector1">
            <a:avLst/>
          </a:prstGeom>
          <a:noFill/>
          <a:ln cap="flat" cmpd="sng" w="9525">
            <a:solidFill>
              <a:srgbClr val="F2C94C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934" name="Google Shape;934;p12"/>
          <p:cNvCxnSpPr/>
          <p:nvPr/>
        </p:nvCxnSpPr>
        <p:spPr>
          <a:xfrm>
            <a:off x="731520" y="2487168"/>
            <a:ext cx="0" cy="338328"/>
          </a:xfrm>
          <a:prstGeom prst="straightConnector1">
            <a:avLst/>
          </a:prstGeom>
          <a:noFill/>
          <a:ln cap="flat" cmpd="sng" w="19050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5" name="Google Shape;935;p12"/>
          <p:cNvSpPr txBox="1"/>
          <p:nvPr/>
        </p:nvSpPr>
        <p:spPr>
          <a:xfrm rot="-5400000">
            <a:off x="260604" y="2574036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700"/>
              <a:buFont typeface="Calibri"/>
              <a:buNone/>
            </a:pPr>
            <a:r>
              <a:rPr b="1" i="0" lang="es-CO" sz="7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CAMPO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6" name="Google Shape;936;p12"/>
          <p:cNvSpPr txBox="1"/>
          <p:nvPr/>
        </p:nvSpPr>
        <p:spPr>
          <a:xfrm>
            <a:off x="777240" y="2487168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Topografía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7" name="Google Shape;937;p12"/>
          <p:cNvSpPr/>
          <p:nvPr/>
        </p:nvSpPr>
        <p:spPr>
          <a:xfrm>
            <a:off x="2103120" y="2487168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8" name="Google Shape;938;p12"/>
          <p:cNvSpPr txBox="1"/>
          <p:nvPr/>
        </p:nvSpPr>
        <p:spPr>
          <a:xfrm>
            <a:off x="11201400" y="2487168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56 %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9" name="Google Shape;939;p12"/>
          <p:cNvSpPr txBox="1"/>
          <p:nvPr/>
        </p:nvSpPr>
        <p:spPr>
          <a:xfrm>
            <a:off x="777240" y="2670048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Apiques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0" name="Google Shape;940;p12"/>
          <p:cNvSpPr/>
          <p:nvPr/>
        </p:nvSpPr>
        <p:spPr>
          <a:xfrm>
            <a:off x="2103120" y="2670048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1" name="Google Shape;941;p12"/>
          <p:cNvSpPr txBox="1"/>
          <p:nvPr/>
        </p:nvSpPr>
        <p:spPr>
          <a:xfrm>
            <a:off x="11201400" y="2670048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94 %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42" name="Google Shape;942;p12"/>
          <p:cNvCxnSpPr/>
          <p:nvPr/>
        </p:nvCxnSpPr>
        <p:spPr>
          <a:xfrm>
            <a:off x="731520" y="2953512"/>
            <a:ext cx="0" cy="466344"/>
          </a:xfrm>
          <a:prstGeom prst="straightConnector1">
            <a:avLst/>
          </a:prstGeom>
          <a:noFill/>
          <a:ln cap="flat" cmpd="sng" w="19050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3" name="Google Shape;943;p12"/>
          <p:cNvSpPr txBox="1"/>
          <p:nvPr/>
        </p:nvSpPr>
        <p:spPr>
          <a:xfrm rot="-5400000">
            <a:off x="260604" y="3104388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700"/>
              <a:buFont typeface="Calibri"/>
              <a:buNone/>
            </a:pPr>
            <a:r>
              <a:rPr b="1" i="0" lang="es-CO" sz="7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ESTRUCTURA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4" name="Google Shape;944;p12"/>
          <p:cNvSpPr txBox="1"/>
          <p:nvPr/>
        </p:nvSpPr>
        <p:spPr>
          <a:xfrm>
            <a:off x="777240" y="2953512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Rodadura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5" name="Google Shape;945;p12"/>
          <p:cNvSpPr/>
          <p:nvPr/>
        </p:nvSpPr>
        <p:spPr>
          <a:xfrm>
            <a:off x="2103120" y="2953512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6" name="Google Shape;946;p12"/>
          <p:cNvSpPr txBox="1"/>
          <p:nvPr/>
        </p:nvSpPr>
        <p:spPr>
          <a:xfrm>
            <a:off x="11201400" y="2953512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7" name="Google Shape;947;p12"/>
          <p:cNvSpPr txBox="1"/>
          <p:nvPr/>
        </p:nvSpPr>
        <p:spPr>
          <a:xfrm>
            <a:off x="777240" y="3108960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Capa granular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8" name="Google Shape;948;p12"/>
          <p:cNvSpPr/>
          <p:nvPr/>
        </p:nvSpPr>
        <p:spPr>
          <a:xfrm>
            <a:off x="2103120" y="3108960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9" name="Google Shape;949;p12"/>
          <p:cNvSpPr txBox="1"/>
          <p:nvPr/>
        </p:nvSpPr>
        <p:spPr>
          <a:xfrm>
            <a:off x="11201400" y="3108960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0" name="Google Shape;950;p12"/>
          <p:cNvSpPr txBox="1"/>
          <p:nvPr/>
        </p:nvSpPr>
        <p:spPr>
          <a:xfrm>
            <a:off x="777240" y="3264408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Subrasante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1" name="Google Shape;951;p12"/>
          <p:cNvSpPr/>
          <p:nvPr/>
        </p:nvSpPr>
        <p:spPr>
          <a:xfrm>
            <a:off x="2103120" y="3264408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2" name="Google Shape;952;p12"/>
          <p:cNvSpPr txBox="1"/>
          <p:nvPr/>
        </p:nvSpPr>
        <p:spPr>
          <a:xfrm>
            <a:off x="11201400" y="3264408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3" name="Google Shape;953;p12"/>
          <p:cNvCxnSpPr/>
          <p:nvPr/>
        </p:nvCxnSpPr>
        <p:spPr>
          <a:xfrm>
            <a:off x="731520" y="3511296"/>
            <a:ext cx="0" cy="521208"/>
          </a:xfrm>
          <a:prstGeom prst="straightConnector1">
            <a:avLst/>
          </a:prstGeom>
          <a:noFill/>
          <a:ln cap="flat" cmpd="sng" w="19050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54" name="Google Shape;954;p12"/>
          <p:cNvSpPr txBox="1"/>
          <p:nvPr/>
        </p:nvSpPr>
        <p:spPr>
          <a:xfrm rot="-5400000">
            <a:off x="260604" y="3689604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700"/>
              <a:buFont typeface="Calibri"/>
              <a:buNone/>
            </a:pPr>
            <a:r>
              <a:rPr b="1" i="0" lang="es-CO" sz="7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DRENAJE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5" name="Google Shape;955;p12"/>
          <p:cNvSpPr txBox="1"/>
          <p:nvPr/>
        </p:nvSpPr>
        <p:spPr>
          <a:xfrm>
            <a:off x="777240" y="3511296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Cunetas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6" name="Google Shape;956;p12"/>
          <p:cNvSpPr/>
          <p:nvPr/>
        </p:nvSpPr>
        <p:spPr>
          <a:xfrm>
            <a:off x="2103120" y="3511296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7" name="Google Shape;957;p12"/>
          <p:cNvSpPr txBox="1"/>
          <p:nvPr/>
        </p:nvSpPr>
        <p:spPr>
          <a:xfrm>
            <a:off x="11201400" y="3511296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8" name="Google Shape;958;p12"/>
          <p:cNvSpPr txBox="1"/>
          <p:nvPr/>
        </p:nvSpPr>
        <p:spPr>
          <a:xfrm>
            <a:off x="777240" y="3694176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Filtros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9" name="Google Shape;959;p12"/>
          <p:cNvSpPr txBox="1"/>
          <p:nvPr/>
        </p:nvSpPr>
        <p:spPr>
          <a:xfrm>
            <a:off x="1920240" y="3694176"/>
            <a:ext cx="137160" cy="777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700"/>
              <a:buFont typeface="Calibri"/>
              <a:buNone/>
            </a:pPr>
            <a:r>
              <a:rPr b="0" i="0" lang="es-CO" sz="7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0" name="Google Shape;960;p12"/>
          <p:cNvSpPr txBox="1"/>
          <p:nvPr/>
        </p:nvSpPr>
        <p:spPr>
          <a:xfrm>
            <a:off x="1920240" y="3771900"/>
            <a:ext cx="137160" cy="777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700"/>
              <a:buFont typeface="Calibri"/>
              <a:buNone/>
            </a:pPr>
            <a:r>
              <a:rPr b="0" i="0" lang="es-CO" sz="7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1" name="Google Shape;961;p12"/>
          <p:cNvSpPr/>
          <p:nvPr/>
        </p:nvSpPr>
        <p:spPr>
          <a:xfrm>
            <a:off x="2103120" y="3694176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62" name="Google Shape;962;p12"/>
          <p:cNvCxnSpPr/>
          <p:nvPr/>
        </p:nvCxnSpPr>
        <p:spPr>
          <a:xfrm>
            <a:off x="2103120" y="3771900"/>
            <a:ext cx="9052560" cy="0"/>
          </a:xfrm>
          <a:prstGeom prst="straightConnector1">
            <a:avLst/>
          </a:prstGeom>
          <a:noFill/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63" name="Google Shape;963;p12"/>
          <p:cNvSpPr/>
          <p:nvPr/>
        </p:nvSpPr>
        <p:spPr>
          <a:xfrm>
            <a:off x="7147206" y="3776472"/>
            <a:ext cx="27432" cy="73152"/>
          </a:xfrm>
          <a:prstGeom prst="rect">
            <a:avLst/>
          </a:prstGeom>
          <a:solidFill>
            <a:srgbClr val="2E7D4F"/>
          </a:solidFill>
          <a:ln cap="flat" cmpd="sng" w="9525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4" name="Google Shape;964;p12"/>
          <p:cNvSpPr txBox="1"/>
          <p:nvPr/>
        </p:nvSpPr>
        <p:spPr>
          <a:xfrm>
            <a:off x="11201400" y="3694176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1,5 %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5" name="Google Shape;965;p12"/>
          <p:cNvSpPr txBox="1"/>
          <p:nvPr/>
        </p:nvSpPr>
        <p:spPr>
          <a:xfrm>
            <a:off x="777240" y="3877056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Alcantarillas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6" name="Google Shape;966;p12"/>
          <p:cNvSpPr/>
          <p:nvPr/>
        </p:nvSpPr>
        <p:spPr>
          <a:xfrm>
            <a:off x="2103120" y="3877056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7" name="Google Shape;967;p12"/>
          <p:cNvSpPr/>
          <p:nvPr/>
        </p:nvSpPr>
        <p:spPr>
          <a:xfrm>
            <a:off x="2103120" y="3877056"/>
            <a:ext cx="9052560" cy="155448"/>
          </a:xfrm>
          <a:prstGeom prst="rect">
            <a:avLst/>
          </a:prstGeom>
          <a:solidFill>
            <a:srgbClr val="A9C7B3"/>
          </a:solidFill>
          <a:ln cap="flat" cmpd="sng" w="9525">
            <a:solidFill>
              <a:srgbClr val="A9C7B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8" name="Google Shape;968;p12"/>
          <p:cNvSpPr txBox="1"/>
          <p:nvPr/>
        </p:nvSpPr>
        <p:spPr>
          <a:xfrm>
            <a:off x="11201400" y="3877056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100 %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9" name="Google Shape;969;p12"/>
          <p:cNvSpPr txBox="1"/>
          <p:nvPr/>
        </p:nvSpPr>
        <p:spPr>
          <a:xfrm>
            <a:off x="457200" y="4078224"/>
            <a:ext cx="11277295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D9A6"/>
              </a:buClr>
              <a:buSzPts val="800"/>
              <a:buFont typeface="Calibri"/>
              <a:buNone/>
            </a:pPr>
            <a:r>
              <a:rPr b="0" i="0" lang="es-CO" sz="800" u="none" cap="none" strike="noStrike">
                <a:solidFill>
                  <a:srgbClr val="EBD9A6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Natural    </a:t>
            </a:r>
            <a:r>
              <a:rPr b="0" i="0" lang="es-CO" sz="800" u="none" cap="none" strike="noStrike">
                <a:solidFill>
                  <a:srgbClr val="8C6A4F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Cal    </a:t>
            </a:r>
            <a:r>
              <a:rPr b="0" i="0" lang="es-CO" sz="800" u="none" cap="none" strike="noStrike">
                <a:solidFill>
                  <a:srgbClr val="D9A441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Cemento    </a:t>
            </a:r>
            <a:r>
              <a:rPr b="0" i="0" lang="es-CO" sz="800" u="none" cap="none" strike="noStrike">
                <a:solidFill>
                  <a:srgbClr val="1F2A36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TSD    </a:t>
            </a:r>
            <a:r>
              <a:rPr b="0" i="0" lang="es-CO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MDC-19    </a:t>
            </a:r>
            <a:r>
              <a:rPr b="0" i="0" lang="es-CO" sz="8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Ejecutado    </a:t>
            </a:r>
            <a:r>
              <a:rPr b="0" i="0" lang="es-CO" sz="800" u="none" cap="none" strike="noStrike">
                <a:solidFill>
                  <a:srgbClr val="A9C7B3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Limpieza alcantarillas    </a:t>
            </a:r>
            <a:r>
              <a:rPr b="0" i="0" lang="es-CO" sz="800" u="none" cap="none" strike="noStrike">
                <a:solidFill>
                  <a:srgbClr val="2F6FB0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Alcantarilla nueva    </a:t>
            </a:r>
            <a:r>
              <a:rPr b="0" i="0" lang="es-CO" sz="800" u="none" cap="none" strike="noStrike">
                <a:solidFill>
                  <a:srgbClr val="E07B24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Reemplazada    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0" name="Google Shape;970;p12"/>
          <p:cNvSpPr txBox="1"/>
          <p:nvPr/>
        </p:nvSpPr>
        <p:spPr>
          <a:xfrm>
            <a:off x="457200" y="4301688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1000"/>
              <a:buFont typeface="Calibri"/>
              <a:buNone/>
            </a:pPr>
            <a:r>
              <a:rPr b="1" i="0" lang="es-CO" sz="10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AVANCE POR ACTIVIDAD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1" name="Google Shape;971;p12"/>
          <p:cNvSpPr txBox="1"/>
          <p:nvPr/>
        </p:nvSpPr>
        <p:spPr>
          <a:xfrm>
            <a:off x="457200" y="4758888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Construcción alcantarilla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2" name="Google Shape;972;p12"/>
          <p:cNvSpPr txBox="1"/>
          <p:nvPr/>
        </p:nvSpPr>
        <p:spPr>
          <a:xfrm>
            <a:off x="457200" y="4960056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Construcción cuneta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3" name="Google Shape;973;p12"/>
          <p:cNvSpPr txBox="1"/>
          <p:nvPr/>
        </p:nvSpPr>
        <p:spPr>
          <a:xfrm>
            <a:off x="457200" y="5161224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Construcción filtro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4" name="Google Shape;974;p12"/>
          <p:cNvSpPr txBox="1"/>
          <p:nvPr/>
        </p:nvSpPr>
        <p:spPr>
          <a:xfrm>
            <a:off x="457200" y="5362392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Construcción bordillos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5" name="Google Shape;975;p12"/>
          <p:cNvSpPr txBox="1"/>
          <p:nvPr/>
        </p:nvSpPr>
        <p:spPr>
          <a:xfrm>
            <a:off x="457200" y="5563560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Estabilización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6" name="Google Shape;976;p12"/>
          <p:cNvSpPr txBox="1"/>
          <p:nvPr/>
        </p:nvSpPr>
        <p:spPr>
          <a:xfrm>
            <a:off x="457200" y="5764728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Señalización vial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7" name="Google Shape;977;p12"/>
          <p:cNvSpPr txBox="1"/>
          <p:nvPr/>
        </p:nvSpPr>
        <p:spPr>
          <a:xfrm>
            <a:off x="2651760" y="4539432"/>
            <a:ext cx="2926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-CO" sz="800" u="none" cap="none" strike="noStrike">
                <a:solidFill>
                  <a:srgbClr val="192D23"/>
                </a:solidFill>
                <a:latin typeface="Arial"/>
                <a:ea typeface="Arial"/>
                <a:cs typeface="Arial"/>
                <a:sym typeface="Arial"/>
              </a:rPr>
              <a:t>Presupuestada  </a:t>
            </a:r>
            <a:r>
              <a:rPr b="0" i="0" lang="es-CO" sz="800" u="none" cap="none" strike="noStrike">
                <a:solidFill>
                  <a:srgbClr val="A9C7B3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r>
              <a:rPr b="0" i="0" lang="es-CO" sz="800" u="none" cap="none" strike="noStrike">
                <a:solidFill>
                  <a:srgbClr val="192D23"/>
                </a:solidFill>
                <a:latin typeface="Arial"/>
                <a:ea typeface="Arial"/>
                <a:cs typeface="Arial"/>
                <a:sym typeface="Arial"/>
              </a:rPr>
              <a:t>    Real  </a:t>
            </a:r>
            <a:r>
              <a:rPr b="0" i="0" lang="es-CO" sz="800" u="none" cap="none" strike="noStrike">
                <a:solidFill>
                  <a:srgbClr val="2E7D4F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8" name="Google Shape;978;p12"/>
          <p:cNvSpPr/>
          <p:nvPr/>
        </p:nvSpPr>
        <p:spPr>
          <a:xfrm>
            <a:off x="2551176" y="4777175"/>
            <a:ext cx="3798583" cy="68580"/>
          </a:xfrm>
          <a:prstGeom prst="rect">
            <a:avLst/>
          </a:prstGeom>
          <a:solidFill>
            <a:srgbClr val="A9C7B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9" name="Google Shape;979;p12"/>
          <p:cNvSpPr/>
          <p:nvPr/>
        </p:nvSpPr>
        <p:spPr>
          <a:xfrm>
            <a:off x="2551176" y="4854900"/>
            <a:ext cx="4096512" cy="6858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0" name="Google Shape;980;p12"/>
          <p:cNvSpPr/>
          <p:nvPr/>
        </p:nvSpPr>
        <p:spPr>
          <a:xfrm>
            <a:off x="2551176" y="4978344"/>
            <a:ext cx="2926080" cy="68580"/>
          </a:xfrm>
          <a:prstGeom prst="rect">
            <a:avLst/>
          </a:prstGeom>
          <a:solidFill>
            <a:srgbClr val="A9C7B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1" name="Google Shape;981;p12"/>
          <p:cNvSpPr/>
          <p:nvPr/>
        </p:nvSpPr>
        <p:spPr>
          <a:xfrm>
            <a:off x="2551176" y="5056068"/>
            <a:ext cx="4096512" cy="6858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2" name="Google Shape;982;p12"/>
          <p:cNvSpPr/>
          <p:nvPr/>
        </p:nvSpPr>
        <p:spPr>
          <a:xfrm>
            <a:off x="2551176" y="5179512"/>
            <a:ext cx="4096512" cy="68580"/>
          </a:xfrm>
          <a:prstGeom prst="rect">
            <a:avLst/>
          </a:prstGeom>
          <a:solidFill>
            <a:srgbClr val="A9C7B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3" name="Google Shape;983;p12"/>
          <p:cNvSpPr/>
          <p:nvPr/>
        </p:nvSpPr>
        <p:spPr>
          <a:xfrm>
            <a:off x="2551176" y="5257236"/>
            <a:ext cx="4096512" cy="6858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4" name="Google Shape;984;p12"/>
          <p:cNvSpPr/>
          <p:nvPr/>
        </p:nvSpPr>
        <p:spPr>
          <a:xfrm>
            <a:off x="2551176" y="5380679"/>
            <a:ext cx="4096512" cy="68580"/>
          </a:xfrm>
          <a:prstGeom prst="rect">
            <a:avLst/>
          </a:prstGeom>
          <a:solidFill>
            <a:srgbClr val="A9C7B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5" name="Google Shape;985;p12"/>
          <p:cNvSpPr/>
          <p:nvPr/>
        </p:nvSpPr>
        <p:spPr>
          <a:xfrm>
            <a:off x="2551176" y="5458404"/>
            <a:ext cx="1228953" cy="6858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6" name="Google Shape;986;p12"/>
          <p:cNvSpPr/>
          <p:nvPr/>
        </p:nvSpPr>
        <p:spPr>
          <a:xfrm>
            <a:off x="2551176" y="5581848"/>
            <a:ext cx="4096512" cy="68580"/>
          </a:xfrm>
          <a:prstGeom prst="rect">
            <a:avLst/>
          </a:prstGeom>
          <a:solidFill>
            <a:srgbClr val="A9C7B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7" name="Google Shape;987;p12"/>
          <p:cNvSpPr/>
          <p:nvPr/>
        </p:nvSpPr>
        <p:spPr>
          <a:xfrm>
            <a:off x="2551176" y="5659572"/>
            <a:ext cx="4096512" cy="6858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8" name="Google Shape;988;p12"/>
          <p:cNvSpPr/>
          <p:nvPr/>
        </p:nvSpPr>
        <p:spPr>
          <a:xfrm>
            <a:off x="2551176" y="5783016"/>
            <a:ext cx="4096512" cy="68580"/>
          </a:xfrm>
          <a:prstGeom prst="rect">
            <a:avLst/>
          </a:prstGeom>
          <a:solidFill>
            <a:srgbClr val="A9C7B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9" name="Google Shape;989;p12"/>
          <p:cNvSpPr/>
          <p:nvPr/>
        </p:nvSpPr>
        <p:spPr>
          <a:xfrm>
            <a:off x="2551176" y="5860740"/>
            <a:ext cx="2731008" cy="6858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0" name="Google Shape;990;p12"/>
          <p:cNvSpPr/>
          <p:nvPr/>
        </p:nvSpPr>
        <p:spPr>
          <a:xfrm>
            <a:off x="2103120" y="2670048"/>
            <a:ext cx="8941647" cy="155448"/>
          </a:xfrm>
          <a:prstGeom prst="rect">
            <a:avLst/>
          </a:prstGeom>
          <a:solidFill>
            <a:srgbClr val="2E7D4F"/>
          </a:solidFill>
          <a:ln cap="flat" cmpd="sng" w="9525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1" name="Google Shape;991;p12"/>
          <p:cNvSpPr/>
          <p:nvPr/>
        </p:nvSpPr>
        <p:spPr>
          <a:xfrm>
            <a:off x="2094722" y="2487168"/>
            <a:ext cx="4607704" cy="155448"/>
          </a:xfrm>
          <a:prstGeom prst="rect">
            <a:avLst/>
          </a:prstGeom>
          <a:solidFill>
            <a:srgbClr val="2E7D4F"/>
          </a:solidFill>
          <a:ln cap="flat" cmpd="sng" w="9525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92" name="Google Shape;992;p12"/>
          <p:cNvGraphicFramePr/>
          <p:nvPr/>
        </p:nvGraphicFramePr>
        <p:xfrm>
          <a:off x="6766560" y="450285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{9EE2CB2E-1363-49F8-B8BA-952F5347F8D7}</a:tableStyleId>
              </a:tblPr>
              <a:tblGrid>
                <a:gridCol w="457200"/>
                <a:gridCol w="832050"/>
                <a:gridCol w="841250"/>
                <a:gridCol w="914400"/>
                <a:gridCol w="914400"/>
                <a:gridCol w="850400"/>
              </a:tblGrid>
              <a:tr h="238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s-CO" sz="7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Unidad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s-CO" sz="7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Presupuestada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s-CO" sz="7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Real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s-CO" sz="7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Ejec. anterior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s-CO" sz="7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Ejec. actual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s-CO" sz="7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Δ semana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</a:tr>
              <a:tr h="209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700" u="none" cap="none" strike="noStrike">
                          <a:solidFill>
                            <a:srgbClr val="5F6B6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und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7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102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7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94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CO" sz="700">
                          <a:solidFill>
                            <a:srgbClr val="5F6B66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87</a:t>
                      </a:r>
                      <a:endParaRPr sz="700">
                        <a:solidFill>
                          <a:srgbClr val="5F6B66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CO" sz="700">
                          <a:solidFill>
                            <a:srgbClr val="5F6B66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94</a:t>
                      </a:r>
                      <a:endParaRPr sz="700">
                        <a:solidFill>
                          <a:srgbClr val="5F6B66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9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700" u="none" cap="none" strike="noStrike">
                          <a:solidFill>
                            <a:srgbClr val="5F6B6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7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25.000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7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25.000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700" u="none" cap="none" strike="noStrike">
                          <a:solidFill>
                            <a:srgbClr val="5F6B66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s-CO" sz="7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700" u="none" cap="none" strike="noStrike">
                          <a:solidFill>
                            <a:srgbClr val="8A948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209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700" u="none" cap="none" strike="noStrike">
                          <a:solidFill>
                            <a:srgbClr val="5F6B6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7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25.000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7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25.000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700" u="none" cap="none" strike="noStrike">
                          <a:solidFill>
                            <a:srgbClr val="5F6B66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70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700" u="none" cap="none" strike="noStrike">
                          <a:solidFill>
                            <a:srgbClr val="5F6B66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100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700" u="none" cap="none" strike="noStrike">
                          <a:solidFill>
                            <a:srgbClr val="8A948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9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700" u="none" cap="none" strike="noStrike">
                          <a:solidFill>
                            <a:srgbClr val="5F6B6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7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5.000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7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1.500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700" u="none" cap="none" strike="noStrike">
                          <a:solidFill>
                            <a:srgbClr val="5F6B66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s-CO" sz="7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700" u="none" cap="none" strike="noStrike">
                          <a:solidFill>
                            <a:srgbClr val="8A948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209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700" u="none" cap="none" strike="noStrike">
                          <a:solidFill>
                            <a:srgbClr val="5F6B6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m²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7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125.000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7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125.000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700" u="none" cap="none" strike="noStrike">
                          <a:solidFill>
                            <a:srgbClr val="5F6B66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s-CO" sz="7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700" u="none" cap="none" strike="noStrike">
                          <a:solidFill>
                            <a:srgbClr val="8A948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9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700" u="none" cap="none" strike="noStrike">
                          <a:solidFill>
                            <a:srgbClr val="5F6B6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7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75.000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7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50.000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700" u="none" cap="none" strike="noStrike">
                          <a:solidFill>
                            <a:srgbClr val="5F6B66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s-CO" sz="700" u="none" cap="none" strike="noStrike">
                          <a:solidFill>
                            <a:srgbClr val="1D2B2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700" u="none" cap="none" strike="noStrike">
                          <a:solidFill>
                            <a:srgbClr val="8A948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</a:t>
                      </a:r>
                      <a:endParaRPr sz="7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</a:tbl>
          </a:graphicData>
        </a:graphic>
      </p:graphicFrame>
      <p:sp>
        <p:nvSpPr>
          <p:cNvPr id="993" name="Google Shape;993;p12"/>
          <p:cNvSpPr txBox="1"/>
          <p:nvPr/>
        </p:nvSpPr>
        <p:spPr>
          <a:xfrm>
            <a:off x="457200" y="6400000"/>
            <a:ext cx="5000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s-CO" sz="9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TIEMPO TRANSCURRIDO DEL PLAZO CONTRACTUAL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4" name="Google Shape;994;p12"/>
          <p:cNvSpPr txBox="1"/>
          <p:nvPr/>
        </p:nvSpPr>
        <p:spPr>
          <a:xfrm>
            <a:off x="5000000" y="6400000"/>
            <a:ext cx="6734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Inicio: </a:t>
            </a:r>
            <a:r>
              <a:rPr b="1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10/02/2026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   ·   Terminación: </a:t>
            </a:r>
            <a:r>
              <a:rPr b="1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10/08/2027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   ·   Al: </a:t>
            </a:r>
            <a:r>
              <a:rPr b="1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02/10/2026</a:t>
            </a: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   ·   234 de 546 días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5" name="Google Shape;995;p12"/>
          <p:cNvSpPr/>
          <p:nvPr/>
        </p:nvSpPr>
        <p:spPr>
          <a:xfrm>
            <a:off x="457200" y="6598920"/>
            <a:ext cx="11277600" cy="164592"/>
          </a:xfrm>
          <a:prstGeom prst="roundRect">
            <a:avLst>
              <a:gd fmla="val 50000" name="adj"/>
            </a:avLst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6" name="Google Shape;996;p12"/>
          <p:cNvSpPr/>
          <p:nvPr/>
        </p:nvSpPr>
        <p:spPr>
          <a:xfrm>
            <a:off x="457200" y="6598920"/>
            <a:ext cx="4833257" cy="164592"/>
          </a:xfrm>
          <a:prstGeom prst="roundRect">
            <a:avLst>
              <a:gd fmla="val 50000" name="adj"/>
            </a:avLst>
          </a:prstGeom>
          <a:solidFill>
            <a:srgbClr val="2E7D4F"/>
          </a:solidFill>
          <a:ln cap="flat" cmpd="sng" w="9525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s-CO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42,9 %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97" name="Google Shape;997;p12"/>
          <p:cNvCxnSpPr/>
          <p:nvPr/>
        </p:nvCxnSpPr>
        <p:spPr>
          <a:xfrm>
            <a:off x="849643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8" name="Google Shape;998;p12"/>
          <p:cNvCxnSpPr/>
          <p:nvPr/>
        </p:nvCxnSpPr>
        <p:spPr>
          <a:xfrm>
            <a:off x="1489947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9" name="Google Shape;999;p12"/>
          <p:cNvCxnSpPr/>
          <p:nvPr/>
        </p:nvCxnSpPr>
        <p:spPr>
          <a:xfrm>
            <a:off x="2109595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0" name="Google Shape;1000;p12"/>
          <p:cNvCxnSpPr/>
          <p:nvPr/>
        </p:nvCxnSpPr>
        <p:spPr>
          <a:xfrm>
            <a:off x="2749898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1" name="Google Shape;1001;p12"/>
          <p:cNvCxnSpPr/>
          <p:nvPr/>
        </p:nvCxnSpPr>
        <p:spPr>
          <a:xfrm>
            <a:off x="3369547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2" name="Google Shape;1002;p12"/>
          <p:cNvCxnSpPr/>
          <p:nvPr/>
        </p:nvCxnSpPr>
        <p:spPr>
          <a:xfrm>
            <a:off x="4009850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3" name="Google Shape;1003;p12"/>
          <p:cNvCxnSpPr/>
          <p:nvPr/>
        </p:nvCxnSpPr>
        <p:spPr>
          <a:xfrm>
            <a:off x="4650153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4" name="Google Shape;1004;p12"/>
          <p:cNvCxnSpPr/>
          <p:nvPr/>
        </p:nvCxnSpPr>
        <p:spPr>
          <a:xfrm>
            <a:off x="5269802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5" name="Google Shape;1005;p12"/>
          <p:cNvCxnSpPr/>
          <p:nvPr/>
        </p:nvCxnSpPr>
        <p:spPr>
          <a:xfrm>
            <a:off x="5910105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6" name="Google Shape;1006;p12"/>
          <p:cNvCxnSpPr/>
          <p:nvPr/>
        </p:nvCxnSpPr>
        <p:spPr>
          <a:xfrm>
            <a:off x="6529753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7" name="Google Shape;1007;p12"/>
          <p:cNvCxnSpPr/>
          <p:nvPr/>
        </p:nvCxnSpPr>
        <p:spPr>
          <a:xfrm>
            <a:off x="7170057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8" name="Google Shape;1008;p12"/>
          <p:cNvCxnSpPr/>
          <p:nvPr/>
        </p:nvCxnSpPr>
        <p:spPr>
          <a:xfrm>
            <a:off x="7810360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9" name="Google Shape;1009;p12"/>
          <p:cNvCxnSpPr/>
          <p:nvPr/>
        </p:nvCxnSpPr>
        <p:spPr>
          <a:xfrm>
            <a:off x="8388698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0" name="Google Shape;1010;p12"/>
          <p:cNvCxnSpPr/>
          <p:nvPr/>
        </p:nvCxnSpPr>
        <p:spPr>
          <a:xfrm>
            <a:off x="9029002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1" name="Google Shape;1011;p12"/>
          <p:cNvCxnSpPr/>
          <p:nvPr/>
        </p:nvCxnSpPr>
        <p:spPr>
          <a:xfrm>
            <a:off x="9648650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2" name="Google Shape;1012;p12"/>
          <p:cNvCxnSpPr/>
          <p:nvPr/>
        </p:nvCxnSpPr>
        <p:spPr>
          <a:xfrm>
            <a:off x="10288953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3" name="Google Shape;1013;p12"/>
          <p:cNvCxnSpPr/>
          <p:nvPr/>
        </p:nvCxnSpPr>
        <p:spPr>
          <a:xfrm>
            <a:off x="10908602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4" name="Google Shape;1014;p12"/>
          <p:cNvCxnSpPr/>
          <p:nvPr/>
        </p:nvCxnSpPr>
        <p:spPr>
          <a:xfrm>
            <a:off x="11548905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5" name="Google Shape;1015;p12"/>
          <p:cNvCxnSpPr/>
          <p:nvPr/>
        </p:nvCxnSpPr>
        <p:spPr>
          <a:xfrm>
            <a:off x="5290457" y="6562344"/>
            <a:ext cx="0" cy="237744"/>
          </a:xfrm>
          <a:prstGeom prst="straightConnector1">
            <a:avLst/>
          </a:prstGeom>
          <a:noFill/>
          <a:ln cap="flat" cmpd="sng" w="19050">
            <a:solidFill>
              <a:srgbClr val="B3261E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p13"/>
          <p:cNvSpPr txBox="1"/>
          <p:nvPr/>
        </p:nvSpPr>
        <p:spPr>
          <a:xfrm>
            <a:off x="457200" y="320040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1200"/>
              <a:buFont typeface="Calibri"/>
              <a:buNone/>
            </a:pPr>
            <a:r>
              <a:rPr b="1" i="0" lang="es-CO" sz="1200" u="none" cap="none" strike="noStrike">
                <a:solidFill>
                  <a:srgbClr val="2E7D4F"/>
                </a:solidFill>
                <a:latin typeface="Poppins"/>
                <a:ea typeface="Poppins"/>
                <a:cs typeface="Poppins"/>
                <a:sym typeface="Poppins"/>
              </a:rPr>
              <a:t>INFORME DE VARIACIÓN DE ALCANCES  ·  LOTE 2 – SUBREGIÓN OCCIDENTE</a:t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22" name="Google Shape;1022;p13"/>
          <p:cNvSpPr txBox="1"/>
          <p:nvPr/>
        </p:nvSpPr>
        <p:spPr>
          <a:xfrm>
            <a:off x="457200" y="594360"/>
            <a:ext cx="9692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2800"/>
              <a:buFont typeface="Calibri"/>
              <a:buNone/>
            </a:pPr>
            <a:r>
              <a:rPr b="1" i="0" lang="es-CO" sz="28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Ebéjico – Heliconia – Medellín</a:t>
            </a:r>
            <a:endParaRPr b="0" i="0" sz="2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descr="logo.png" id="1023" name="Google Shape;102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78440" y="320040"/>
            <a:ext cx="1371600" cy="676656"/>
          </a:xfrm>
          <a:prstGeom prst="rect">
            <a:avLst/>
          </a:prstGeom>
          <a:noFill/>
          <a:ln>
            <a:noFill/>
          </a:ln>
        </p:spPr>
      </p:pic>
      <p:sp>
        <p:nvSpPr>
          <p:cNvPr id="1024" name="Google Shape;1024;p13"/>
          <p:cNvSpPr/>
          <p:nvPr/>
        </p:nvSpPr>
        <p:spPr>
          <a:xfrm>
            <a:off x="457200" y="132588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5" name="Google Shape;1025;p13"/>
          <p:cNvSpPr txBox="1"/>
          <p:nvPr/>
        </p:nvSpPr>
        <p:spPr>
          <a:xfrm>
            <a:off x="594360" y="1417320"/>
            <a:ext cx="183483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100"/>
              <a:buFont typeface="Calibri"/>
              <a:buNone/>
            </a:pPr>
            <a:r>
              <a:rPr b="0" i="0" lang="es-CO" sz="11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Longitud contractual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6" name="Google Shape;1026;p13"/>
          <p:cNvSpPr txBox="1"/>
          <p:nvPr/>
        </p:nvSpPr>
        <p:spPr>
          <a:xfrm>
            <a:off x="594360" y="1691640"/>
            <a:ext cx="183483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700"/>
              <a:buFont typeface="Calibri"/>
              <a:buNone/>
            </a:pPr>
            <a:r>
              <a:rPr b="1" i="0" lang="es-CO" sz="17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28,76 km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7" name="Google Shape;1027;p13"/>
          <p:cNvSpPr/>
          <p:nvPr/>
        </p:nvSpPr>
        <p:spPr>
          <a:xfrm>
            <a:off x="2749235" y="132588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8" name="Google Shape;1028;p13"/>
          <p:cNvSpPr txBox="1"/>
          <p:nvPr/>
        </p:nvSpPr>
        <p:spPr>
          <a:xfrm>
            <a:off x="2886395" y="1417320"/>
            <a:ext cx="183483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100"/>
              <a:buFont typeface="Calibri"/>
              <a:buNone/>
            </a:pPr>
            <a:r>
              <a:rPr b="0" i="0" lang="es-CO" sz="11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Longitud probable a cubrir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9" name="Google Shape;1029;p13"/>
          <p:cNvSpPr txBox="1"/>
          <p:nvPr/>
        </p:nvSpPr>
        <p:spPr>
          <a:xfrm>
            <a:off x="2886395" y="1691640"/>
            <a:ext cx="183483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700"/>
              <a:buFont typeface="Calibri"/>
              <a:buNone/>
            </a:pPr>
            <a:r>
              <a:rPr b="1" i="0" lang="es-CO" sz="17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17,95 km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0" name="Google Shape;1030;p13"/>
          <p:cNvSpPr/>
          <p:nvPr/>
        </p:nvSpPr>
        <p:spPr>
          <a:xfrm>
            <a:off x="5041270" y="132588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1" name="Google Shape;1031;p13"/>
          <p:cNvSpPr txBox="1"/>
          <p:nvPr/>
        </p:nvSpPr>
        <p:spPr>
          <a:xfrm>
            <a:off x="5178430" y="1417320"/>
            <a:ext cx="183483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100"/>
              <a:buFont typeface="Calibri"/>
              <a:buNone/>
            </a:pPr>
            <a:r>
              <a:rPr b="0" i="0" lang="es-CO" sz="11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Valor por km contractual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2" name="Google Shape;1032;p13"/>
          <p:cNvSpPr txBox="1"/>
          <p:nvPr/>
        </p:nvSpPr>
        <p:spPr>
          <a:xfrm>
            <a:off x="5178430" y="1691640"/>
            <a:ext cx="183483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700"/>
              <a:buFont typeface="Calibri"/>
              <a:buNone/>
            </a:pPr>
            <a:r>
              <a:rPr b="1" i="0" lang="es-CO" sz="17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$ 973.940.066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3" name="Google Shape;1033;p13"/>
          <p:cNvSpPr/>
          <p:nvPr/>
        </p:nvSpPr>
        <p:spPr>
          <a:xfrm>
            <a:off x="7333305" y="132588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4" name="Google Shape;1034;p13"/>
          <p:cNvSpPr txBox="1"/>
          <p:nvPr/>
        </p:nvSpPr>
        <p:spPr>
          <a:xfrm>
            <a:off x="7470465" y="1417320"/>
            <a:ext cx="183483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100"/>
              <a:buFont typeface="Calibri"/>
              <a:buNone/>
            </a:pPr>
            <a:r>
              <a:rPr b="0" i="0" lang="es-CO" sz="11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Valor por km proyectado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5" name="Google Shape;1035;p13"/>
          <p:cNvSpPr txBox="1"/>
          <p:nvPr/>
        </p:nvSpPr>
        <p:spPr>
          <a:xfrm>
            <a:off x="7470465" y="1691640"/>
            <a:ext cx="183483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700"/>
              <a:buFont typeface="Calibri"/>
              <a:buNone/>
            </a:pPr>
            <a:r>
              <a:rPr b="1" i="0" lang="es-CO" sz="17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$ 1.560.279.819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6" name="Google Shape;1036;p13"/>
          <p:cNvSpPr/>
          <p:nvPr/>
        </p:nvSpPr>
        <p:spPr>
          <a:xfrm>
            <a:off x="9625340" y="132588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FBEAEA"/>
          </a:solidFill>
          <a:ln cap="flat" cmpd="sng" w="12700">
            <a:solidFill>
              <a:srgbClr val="FBEA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7" name="Google Shape;1037;p13"/>
          <p:cNvSpPr txBox="1"/>
          <p:nvPr/>
        </p:nvSpPr>
        <p:spPr>
          <a:xfrm>
            <a:off x="9762500" y="1417320"/>
            <a:ext cx="183483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100"/>
              <a:buFont typeface="Calibri"/>
              <a:buNone/>
            </a:pPr>
            <a:r>
              <a:rPr b="0" i="0" lang="es-CO" sz="11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Variación total (valor adicional)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8" name="Google Shape;1038;p13"/>
          <p:cNvSpPr txBox="1"/>
          <p:nvPr/>
        </p:nvSpPr>
        <p:spPr>
          <a:xfrm>
            <a:off x="9762500" y="1691640"/>
            <a:ext cx="183483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261E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B3261E"/>
                </a:solidFill>
                <a:latin typeface="Arial"/>
                <a:ea typeface="Arial"/>
                <a:cs typeface="Arial"/>
                <a:sym typeface="Arial"/>
              </a:rPr>
              <a:t>▲ </a:t>
            </a:r>
            <a:r>
              <a:rPr b="1" i="0" lang="es-CO" sz="1500" u="none" cap="none" strike="noStrike">
                <a:solidFill>
                  <a:srgbClr val="B3261E"/>
                </a:solidFill>
                <a:latin typeface="Calibri"/>
                <a:ea typeface="Calibri"/>
                <a:cs typeface="Calibri"/>
                <a:sym typeface="Calibri"/>
              </a:rPr>
              <a:t>$ 16.863.131.317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9" name="Google Shape;1039;p13"/>
          <p:cNvSpPr/>
          <p:nvPr/>
        </p:nvSpPr>
        <p:spPr>
          <a:xfrm>
            <a:off x="457200" y="2423160"/>
            <a:ext cx="3154680" cy="4114800"/>
          </a:xfrm>
          <a:prstGeom prst="roundRect">
            <a:avLst>
              <a:gd fmla="val 1739" name="adj"/>
            </a:avLst>
          </a:prstGeom>
          <a:solidFill>
            <a:srgbClr val="FFFFFF"/>
          </a:solidFill>
          <a:ln cap="flat" cmpd="sng" w="12700">
            <a:solidFill>
              <a:srgbClr val="D5DD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0" name="Google Shape;1040;p13"/>
          <p:cNvSpPr txBox="1"/>
          <p:nvPr/>
        </p:nvSpPr>
        <p:spPr>
          <a:xfrm>
            <a:off x="640080" y="2560320"/>
            <a:ext cx="2788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1100"/>
              <a:buFont typeface="Calibri"/>
              <a:buNone/>
            </a:pPr>
            <a:r>
              <a:rPr b="1" i="0" lang="es-CO" sz="11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ESTRUCTURA DE PAVIMENTO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1" name="Google Shape;1041;p13"/>
          <p:cNvSpPr txBox="1"/>
          <p:nvPr/>
        </p:nvSpPr>
        <p:spPr>
          <a:xfrm>
            <a:off x="640080" y="2816352"/>
            <a:ext cx="2788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1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Ebéjico – Heliconia – Medellín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2" name="Google Shape;1042;p13"/>
          <p:cNvSpPr txBox="1"/>
          <p:nvPr/>
        </p:nvSpPr>
        <p:spPr>
          <a:xfrm>
            <a:off x="640080" y="3172968"/>
            <a:ext cx="2788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LOTE 2 · Longitud: 28.760 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Tránsito – Estructuración: </a:t>
            </a: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307.000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Tránsito – Diseño: </a:t>
            </a: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516.336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3" name="Google Shape;1043;p13"/>
          <p:cNvSpPr txBox="1"/>
          <p:nvPr/>
        </p:nvSpPr>
        <p:spPr>
          <a:xfrm>
            <a:off x="457200" y="3794760"/>
            <a:ext cx="15773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1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Teórica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4" name="Google Shape;1044;p13"/>
          <p:cNvSpPr/>
          <p:nvPr/>
        </p:nvSpPr>
        <p:spPr>
          <a:xfrm>
            <a:off x="560070" y="4087368"/>
            <a:ext cx="960120" cy="182880"/>
          </a:xfrm>
          <a:prstGeom prst="rect">
            <a:avLst/>
          </a:prstGeom>
          <a:solidFill>
            <a:srgbClr val="1F2A36"/>
          </a:solidFill>
          <a:ln cap="flat" cmpd="sng" w="12700">
            <a:solidFill>
              <a:srgbClr val="1F2A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5" name="Google Shape;1045;p13"/>
          <p:cNvSpPr txBox="1"/>
          <p:nvPr/>
        </p:nvSpPr>
        <p:spPr>
          <a:xfrm>
            <a:off x="560070" y="4087368"/>
            <a:ext cx="9601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s-CO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TSD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6" name="Google Shape;1046;p13"/>
          <p:cNvSpPr/>
          <p:nvPr/>
        </p:nvSpPr>
        <p:spPr>
          <a:xfrm>
            <a:off x="560070" y="4270248"/>
            <a:ext cx="960120" cy="1056132"/>
          </a:xfrm>
          <a:prstGeom prst="rect">
            <a:avLst/>
          </a:prstGeom>
          <a:solidFill>
            <a:srgbClr val="D9A44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7" name="Google Shape;1047;p13"/>
          <p:cNvSpPr txBox="1"/>
          <p:nvPr/>
        </p:nvSpPr>
        <p:spPr>
          <a:xfrm>
            <a:off x="560070" y="4270248"/>
            <a:ext cx="960120" cy="52920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800"/>
              <a:buFont typeface="Calibri"/>
              <a:buNone/>
            </a:pPr>
            <a:r>
              <a:rPr b="1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Estabilización con cemento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" name="Google Shape;1048;p13"/>
          <p:cNvSpPr/>
          <p:nvPr/>
        </p:nvSpPr>
        <p:spPr>
          <a:xfrm>
            <a:off x="624078" y="4799457"/>
            <a:ext cx="832104" cy="490347"/>
          </a:xfrm>
          <a:prstGeom prst="rect">
            <a:avLst/>
          </a:prstGeom>
          <a:solidFill>
            <a:srgbClr val="F2D58E"/>
          </a:solidFill>
          <a:ln cap="flat" cmpd="sng" w="9525">
            <a:solidFill>
              <a:srgbClr val="A87B1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9" name="Google Shape;1049;p13"/>
          <p:cNvSpPr txBox="1"/>
          <p:nvPr/>
        </p:nvSpPr>
        <p:spPr>
          <a:xfrm>
            <a:off x="624078" y="4799457"/>
            <a:ext cx="832104" cy="490347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800"/>
              <a:buFont typeface="Calibri"/>
              <a:buNone/>
            </a:pPr>
            <a:r>
              <a:rPr b="0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Subbase 13 cm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0" name="Google Shape;1050;p13"/>
          <p:cNvSpPr txBox="1"/>
          <p:nvPr/>
        </p:nvSpPr>
        <p:spPr>
          <a:xfrm>
            <a:off x="1575054" y="4270248"/>
            <a:ext cx="457200" cy="10561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28 cm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1" name="Google Shape;1051;p13"/>
          <p:cNvSpPr/>
          <p:nvPr/>
        </p:nvSpPr>
        <p:spPr>
          <a:xfrm>
            <a:off x="560070" y="5326380"/>
            <a:ext cx="960120" cy="754380"/>
          </a:xfrm>
          <a:prstGeom prst="rect">
            <a:avLst/>
          </a:prstGeom>
          <a:solidFill>
            <a:srgbClr val="8C6A4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2" name="Google Shape;1052;p13"/>
          <p:cNvSpPr txBox="1"/>
          <p:nvPr/>
        </p:nvSpPr>
        <p:spPr>
          <a:xfrm>
            <a:off x="560070" y="5326380"/>
            <a:ext cx="960120" cy="754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s-CO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Subrasante estabilizada con cal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3" name="Google Shape;1053;p13"/>
          <p:cNvSpPr txBox="1"/>
          <p:nvPr/>
        </p:nvSpPr>
        <p:spPr>
          <a:xfrm>
            <a:off x="1575054" y="5326380"/>
            <a:ext cx="457200" cy="754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20 cm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54" name="Google Shape;1054;p13"/>
          <p:cNvCxnSpPr/>
          <p:nvPr/>
        </p:nvCxnSpPr>
        <p:spPr>
          <a:xfrm>
            <a:off x="468630" y="6080760"/>
            <a:ext cx="1143000" cy="0"/>
          </a:xfrm>
          <a:prstGeom prst="straightConnector1">
            <a:avLst/>
          </a:prstGeom>
          <a:noFill/>
          <a:ln cap="flat" cmpd="sng" w="12700">
            <a:solidFill>
              <a:srgbClr val="1D2B2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55" name="Google Shape;1055;p13"/>
          <p:cNvSpPr txBox="1"/>
          <p:nvPr/>
        </p:nvSpPr>
        <p:spPr>
          <a:xfrm>
            <a:off x="457200" y="6153912"/>
            <a:ext cx="15773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Espesor total: </a:t>
            </a:r>
            <a:r>
              <a:rPr b="1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48 cm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6" name="Google Shape;1056;p13"/>
          <p:cNvSpPr txBox="1"/>
          <p:nvPr/>
        </p:nvSpPr>
        <p:spPr>
          <a:xfrm>
            <a:off x="2034540" y="3794760"/>
            <a:ext cx="15773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1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Presupuesto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7" name="Google Shape;1057;p13"/>
          <p:cNvSpPr/>
          <p:nvPr/>
        </p:nvSpPr>
        <p:spPr>
          <a:xfrm>
            <a:off x="2137410" y="4087368"/>
            <a:ext cx="960120" cy="182880"/>
          </a:xfrm>
          <a:prstGeom prst="rect">
            <a:avLst/>
          </a:prstGeom>
          <a:solidFill>
            <a:srgbClr val="1F2A36"/>
          </a:solidFill>
          <a:ln cap="flat" cmpd="sng" w="12700">
            <a:solidFill>
              <a:srgbClr val="1F2A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8" name="Google Shape;1058;p13"/>
          <p:cNvSpPr txBox="1"/>
          <p:nvPr/>
        </p:nvSpPr>
        <p:spPr>
          <a:xfrm>
            <a:off x="2137410" y="4087368"/>
            <a:ext cx="9601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s-CO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TSD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9" name="Google Shape;1059;p13"/>
          <p:cNvSpPr/>
          <p:nvPr/>
        </p:nvSpPr>
        <p:spPr>
          <a:xfrm>
            <a:off x="2137410" y="4270248"/>
            <a:ext cx="960120" cy="942975"/>
          </a:xfrm>
          <a:prstGeom prst="rect">
            <a:avLst/>
          </a:prstGeom>
          <a:solidFill>
            <a:srgbClr val="D9A44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0" name="Google Shape;1060;p13"/>
          <p:cNvSpPr txBox="1"/>
          <p:nvPr/>
        </p:nvSpPr>
        <p:spPr>
          <a:xfrm>
            <a:off x="2137410" y="4270248"/>
            <a:ext cx="960120" cy="942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800"/>
              <a:buFont typeface="Calibri"/>
              <a:buNone/>
            </a:pPr>
            <a:r>
              <a:rPr b="1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Estabilización con cemento (MGTC)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1" name="Google Shape;1061;p13"/>
          <p:cNvSpPr txBox="1"/>
          <p:nvPr/>
        </p:nvSpPr>
        <p:spPr>
          <a:xfrm>
            <a:off x="3152394" y="4270248"/>
            <a:ext cx="457200" cy="942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25 cm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2" name="Google Shape;1062;p13"/>
          <p:cNvSpPr/>
          <p:nvPr/>
        </p:nvSpPr>
        <p:spPr>
          <a:xfrm>
            <a:off x="2137410" y="5213223"/>
            <a:ext cx="960120" cy="754380"/>
          </a:xfrm>
          <a:prstGeom prst="rect">
            <a:avLst/>
          </a:prstGeom>
          <a:solidFill>
            <a:srgbClr val="8C6A4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3" name="Google Shape;1063;p13"/>
          <p:cNvSpPr txBox="1"/>
          <p:nvPr/>
        </p:nvSpPr>
        <p:spPr>
          <a:xfrm>
            <a:off x="2137410" y="5213223"/>
            <a:ext cx="960120" cy="754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s-CO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Subrasante estabilizada con cal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4" name="Google Shape;1064;p13"/>
          <p:cNvSpPr txBox="1"/>
          <p:nvPr/>
        </p:nvSpPr>
        <p:spPr>
          <a:xfrm>
            <a:off x="3152394" y="5213223"/>
            <a:ext cx="457200" cy="754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20 cm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65" name="Google Shape;1065;p13"/>
          <p:cNvCxnSpPr/>
          <p:nvPr/>
        </p:nvCxnSpPr>
        <p:spPr>
          <a:xfrm>
            <a:off x="2045970" y="5967603"/>
            <a:ext cx="1143000" cy="0"/>
          </a:xfrm>
          <a:prstGeom prst="straightConnector1">
            <a:avLst/>
          </a:prstGeom>
          <a:noFill/>
          <a:ln cap="flat" cmpd="sng" w="12700">
            <a:solidFill>
              <a:srgbClr val="1D2B2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66" name="Google Shape;1066;p13"/>
          <p:cNvSpPr txBox="1"/>
          <p:nvPr/>
        </p:nvSpPr>
        <p:spPr>
          <a:xfrm>
            <a:off x="2034540" y="6040755"/>
            <a:ext cx="15773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Espesor total: </a:t>
            </a:r>
            <a:r>
              <a:rPr b="1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45 cm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67" name="Google Shape;1067;p13"/>
          <p:cNvGraphicFramePr/>
          <p:nvPr/>
        </p:nvGraphicFramePr>
        <p:xfrm>
          <a:off x="3840480" y="24231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{2219430B-40B1-4F13-8D99-EA5D7966678A}</a:tableStyleId>
              </a:tblPr>
              <a:tblGrid>
                <a:gridCol w="2395725"/>
                <a:gridCol w="1097275"/>
                <a:gridCol w="603500"/>
                <a:gridCol w="1097275"/>
                <a:gridCol w="603500"/>
                <a:gridCol w="237750"/>
                <a:gridCol w="1097275"/>
                <a:gridCol w="758950"/>
              </a:tblGrid>
              <a:tr h="438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Grupo – actividad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Valor contractual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 sobre corredor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Valor proyectado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 sobre corredor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Variación (valor adicional)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 de variación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</a:tr>
              <a:tr h="27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Construcción alcantarilla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$ 5.253.525.304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$ 5.868.207.403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>
                          <a:solidFill>
                            <a:srgbClr val="B32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▲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$ 614.682.099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11,7 %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Construcción cuneta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$ 4.151.305.282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$ 6.862.495.198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>
                          <a:solidFill>
                            <a:srgbClr val="B32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▲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$ 2.711.189.916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65,3 %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27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Construcción filtro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$ 4.775.074.568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$ 4.894.995.054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>
                          <a:solidFill>
                            <a:srgbClr val="B32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▲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$ 119.920.486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2,5 %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Construcción bordillos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$ 700.753.645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$ 674.609.015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>
                          <a:solidFill>
                            <a:srgbClr val="0B5D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▼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0B5D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–$ 26.144.630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0B5D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–3,7 %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27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Construcción disipadores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$ 820.089.216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$ 1.014.201.375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>
                          <a:solidFill>
                            <a:srgbClr val="B32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▲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$ 194.112.159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23,7 %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Estabilización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$ 11.885.697.656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42%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$ 20.606.136.871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46%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B32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▲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$ 8.720.439.215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73,4 %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27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Señalización vial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$ 424.070.615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$ 324.987.743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>
                          <a:solidFill>
                            <a:srgbClr val="0B5D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▼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0B5D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–$ 99.082.872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0B5D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–23,4 %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Obras no previstas (excavación, conformación, realces, colocación de subbase)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–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$ 4.628.014.944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>
                          <a:solidFill>
                            <a:srgbClr val="B32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▲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$ 4.628.014.944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B65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N/A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27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CORREDOR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$ 28.010.516.286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100%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$ 44.873.647.603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100%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B32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▲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+$ 16.863.131.317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60,2 %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</a:tr>
            </a:tbl>
          </a:graphicData>
        </a:graphic>
      </p:graphicFrame>
      <p:sp>
        <p:nvSpPr>
          <p:cNvPr id="1068" name="Google Shape;1068;p13"/>
          <p:cNvSpPr txBox="1"/>
          <p:nvPr/>
        </p:nvSpPr>
        <p:spPr>
          <a:xfrm>
            <a:off x="3840480" y="5413248"/>
            <a:ext cx="78912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261E"/>
              </a:buClr>
              <a:buSzPts val="900"/>
              <a:buFont typeface="Arial"/>
              <a:buNone/>
            </a:pPr>
            <a:r>
              <a:rPr b="0" i="0" lang="es-CO" sz="900" u="none" cap="none" strike="noStrike">
                <a:solidFill>
                  <a:srgbClr val="B3261E"/>
                </a:solidFill>
                <a:latin typeface="Arial"/>
                <a:ea typeface="Arial"/>
                <a:cs typeface="Arial"/>
                <a:sym typeface="Arial"/>
              </a:rPr>
              <a:t>▲</a:t>
            </a: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 Se requiere mayor valor     </a:t>
            </a:r>
            <a:r>
              <a:rPr b="0" i="0" lang="es-CO" sz="900" u="none" cap="none" strike="noStrike">
                <a:solidFill>
                  <a:srgbClr val="0B5D2E"/>
                </a:solidFill>
                <a:latin typeface="Arial"/>
                <a:ea typeface="Arial"/>
                <a:cs typeface="Arial"/>
                <a:sym typeface="Arial"/>
              </a:rPr>
              <a:t>▼</a:t>
            </a: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 Sobra valor     % de variación = (valor proyectado – valor contractual) / valor contractual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9" name="Google Shape;1069;p13"/>
          <p:cNvSpPr/>
          <p:nvPr/>
        </p:nvSpPr>
        <p:spPr>
          <a:xfrm>
            <a:off x="3840480" y="5687568"/>
            <a:ext cx="7891272" cy="850392"/>
          </a:xfrm>
          <a:prstGeom prst="roundRect">
            <a:avLst>
              <a:gd fmla="val 6452" name="adj"/>
            </a:avLst>
          </a:prstGeom>
          <a:solidFill>
            <a:srgbClr val="FFFFFF"/>
          </a:solidFill>
          <a:ln cap="flat" cmpd="sng" w="12700">
            <a:solidFill>
              <a:srgbClr val="9AA7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00" lIns="1000" spcFirstLastPara="1" rIns="1500" wrap="square" tIns="15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100"/>
              <a:buFont typeface="Calibri"/>
              <a:buNone/>
            </a:pPr>
            <a:r>
              <a:rPr b="1" i="0" lang="es-CO" sz="11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Notas: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74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p14"/>
          <p:cNvSpPr txBox="1"/>
          <p:nvPr/>
        </p:nvSpPr>
        <p:spPr>
          <a:xfrm>
            <a:off x="457200" y="320040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1200"/>
              <a:buFont typeface="Calibri"/>
              <a:buNone/>
            </a:pPr>
            <a:r>
              <a:rPr b="1" i="0" lang="es-CO" sz="1200" u="none" cap="none" strike="noStrike">
                <a:solidFill>
                  <a:srgbClr val="2E7D4F"/>
                </a:solidFill>
                <a:latin typeface="Poppins"/>
                <a:ea typeface="Poppins"/>
                <a:cs typeface="Poppins"/>
                <a:sym typeface="Poppins"/>
              </a:rPr>
              <a:t>INFORME DE EJECUCIÓN  ·  LOTE 2 – SUBREGIÓN OCCIDENTE</a:t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76" name="Google Shape;1076;p14"/>
          <p:cNvSpPr txBox="1"/>
          <p:nvPr/>
        </p:nvSpPr>
        <p:spPr>
          <a:xfrm>
            <a:off x="457200" y="594360"/>
            <a:ext cx="9692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2800"/>
              <a:buFont typeface="Calibri"/>
              <a:buNone/>
            </a:pPr>
            <a:r>
              <a:rPr b="1" i="0" lang="es-CO" sz="28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Ebéjico – Heliconia – Medellín</a:t>
            </a:r>
            <a:endParaRPr b="0" i="0" sz="2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descr="logo.png" id="1077" name="Google Shape;107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78440" y="320040"/>
            <a:ext cx="1371600" cy="676656"/>
          </a:xfrm>
          <a:prstGeom prst="rect">
            <a:avLst/>
          </a:prstGeom>
          <a:noFill/>
          <a:ln>
            <a:noFill/>
          </a:ln>
        </p:spPr>
      </p:pic>
      <p:sp>
        <p:nvSpPr>
          <p:cNvPr id="1078" name="Google Shape;1078;p14"/>
          <p:cNvSpPr/>
          <p:nvPr/>
        </p:nvSpPr>
        <p:spPr>
          <a:xfrm>
            <a:off x="457200" y="1234440"/>
            <a:ext cx="1765249" cy="658368"/>
          </a:xfrm>
          <a:prstGeom prst="roundRect">
            <a:avLst>
              <a:gd fmla="val 1111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9" name="Google Shape;1079;p14"/>
          <p:cNvSpPr txBox="1"/>
          <p:nvPr/>
        </p:nvSpPr>
        <p:spPr>
          <a:xfrm>
            <a:off x="566928" y="1289304"/>
            <a:ext cx="154579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50"/>
              <a:buFont typeface="Calibri"/>
              <a:buNone/>
            </a:pPr>
            <a:r>
              <a:rPr b="0" i="0" lang="es-CO" sz="9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Longitud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0" name="Google Shape;1080;p14"/>
          <p:cNvSpPr txBox="1"/>
          <p:nvPr/>
        </p:nvSpPr>
        <p:spPr>
          <a:xfrm>
            <a:off x="566928" y="1453896"/>
            <a:ext cx="154579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28,76 km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1" name="Google Shape;1081;p14"/>
          <p:cNvSpPr txBox="1"/>
          <p:nvPr/>
        </p:nvSpPr>
        <p:spPr>
          <a:xfrm>
            <a:off x="566928" y="1700784"/>
            <a:ext cx="1545793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00"/>
              <a:buFont typeface="Calibri"/>
              <a:buNone/>
            </a:pP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Alcance real 17,95 km · dif. 10,81 km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2" name="Google Shape;1082;p14"/>
          <p:cNvSpPr/>
          <p:nvPr/>
        </p:nvSpPr>
        <p:spPr>
          <a:xfrm>
            <a:off x="2359609" y="1234440"/>
            <a:ext cx="1765249" cy="658368"/>
          </a:xfrm>
          <a:prstGeom prst="roundRect">
            <a:avLst>
              <a:gd fmla="val 1111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3" name="Google Shape;1083;p14"/>
          <p:cNvSpPr txBox="1"/>
          <p:nvPr/>
        </p:nvSpPr>
        <p:spPr>
          <a:xfrm>
            <a:off x="2469337" y="1289304"/>
            <a:ext cx="154579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50"/>
              <a:buFont typeface="Calibri"/>
              <a:buNone/>
            </a:pPr>
            <a:r>
              <a:rPr b="0" i="0" lang="es-CO" sz="9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Valor total del corredor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4" name="Google Shape;1084;p14"/>
          <p:cNvSpPr txBox="1"/>
          <p:nvPr/>
        </p:nvSpPr>
        <p:spPr>
          <a:xfrm>
            <a:off x="2469337" y="1453896"/>
            <a:ext cx="154579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$ 28.010.516.286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5" name="Google Shape;1085;p14"/>
          <p:cNvSpPr txBox="1"/>
          <p:nvPr/>
        </p:nvSpPr>
        <p:spPr>
          <a:xfrm>
            <a:off x="2469337" y="1700784"/>
            <a:ext cx="1545793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00"/>
              <a:buFont typeface="Calibri"/>
              <a:buNone/>
            </a:pP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$ 973.940.066 por km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6" name="Google Shape;1086;p14"/>
          <p:cNvSpPr/>
          <p:nvPr/>
        </p:nvSpPr>
        <p:spPr>
          <a:xfrm>
            <a:off x="4262018" y="1234440"/>
            <a:ext cx="1765249" cy="658368"/>
          </a:xfrm>
          <a:prstGeom prst="roundRect">
            <a:avLst>
              <a:gd fmla="val 11111" name="adj"/>
            </a:avLst>
          </a:prstGeom>
          <a:solidFill>
            <a:srgbClr val="FBEAEA"/>
          </a:solidFill>
          <a:ln cap="flat" cmpd="sng" w="12700">
            <a:solidFill>
              <a:srgbClr val="FBEA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7" name="Google Shape;1087;p14"/>
          <p:cNvSpPr txBox="1"/>
          <p:nvPr/>
        </p:nvSpPr>
        <p:spPr>
          <a:xfrm>
            <a:off x="4371746" y="1289304"/>
            <a:ext cx="154579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50"/>
              <a:buFont typeface="Calibri"/>
              <a:buNone/>
            </a:pPr>
            <a:r>
              <a:rPr b="0" i="0" lang="es-CO" sz="9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Avance físico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8" name="Google Shape;1088;p14"/>
          <p:cNvSpPr txBox="1"/>
          <p:nvPr/>
        </p:nvSpPr>
        <p:spPr>
          <a:xfrm>
            <a:off x="4371746" y="1453896"/>
            <a:ext cx="154579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261E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B3261E"/>
                </a:solidFill>
                <a:latin typeface="Calibri"/>
                <a:ea typeface="Calibri"/>
                <a:cs typeface="Calibri"/>
                <a:sym typeface="Calibri"/>
              </a:rPr>
              <a:t>14,74%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9" name="Google Shape;1089;p14"/>
          <p:cNvSpPr txBox="1"/>
          <p:nvPr/>
        </p:nvSpPr>
        <p:spPr>
          <a:xfrm>
            <a:off x="4371746" y="1700784"/>
            <a:ext cx="1545793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00"/>
              <a:buFont typeface="Calibri"/>
              <a:buNone/>
            </a:pP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Frente a 42,9 % del plazo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0" name="Google Shape;1090;p14"/>
          <p:cNvSpPr/>
          <p:nvPr/>
        </p:nvSpPr>
        <p:spPr>
          <a:xfrm>
            <a:off x="6164428" y="1234440"/>
            <a:ext cx="1765249" cy="658368"/>
          </a:xfrm>
          <a:prstGeom prst="roundRect">
            <a:avLst>
              <a:gd fmla="val 1111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1" name="Google Shape;1091;p14"/>
          <p:cNvSpPr txBox="1"/>
          <p:nvPr/>
        </p:nvSpPr>
        <p:spPr>
          <a:xfrm>
            <a:off x="6274156" y="1289304"/>
            <a:ext cx="154579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50"/>
              <a:buFont typeface="Calibri"/>
              <a:buNone/>
            </a:pPr>
            <a:r>
              <a:rPr b="0" i="0" lang="es-CO" sz="9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Avance financiero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2" name="Google Shape;1092;p14"/>
          <p:cNvSpPr txBox="1"/>
          <p:nvPr/>
        </p:nvSpPr>
        <p:spPr>
          <a:xfrm>
            <a:off x="6274156" y="1453896"/>
            <a:ext cx="154579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14,74 %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3" name="Google Shape;1093;p14"/>
          <p:cNvSpPr/>
          <p:nvPr/>
        </p:nvSpPr>
        <p:spPr>
          <a:xfrm>
            <a:off x="8066837" y="1234440"/>
            <a:ext cx="1765249" cy="658368"/>
          </a:xfrm>
          <a:prstGeom prst="roundRect">
            <a:avLst>
              <a:gd fmla="val 1111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4" name="Google Shape;1094;p14"/>
          <p:cNvSpPr txBox="1"/>
          <p:nvPr/>
        </p:nvSpPr>
        <p:spPr>
          <a:xfrm>
            <a:off x="8176565" y="1289304"/>
            <a:ext cx="154579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50"/>
              <a:buFont typeface="Calibri"/>
              <a:buNone/>
            </a:pPr>
            <a:r>
              <a:rPr b="0" i="0" lang="es-CO" sz="9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Plazo transcurrido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5" name="Google Shape;1095;p14"/>
          <p:cNvSpPr txBox="1"/>
          <p:nvPr/>
        </p:nvSpPr>
        <p:spPr>
          <a:xfrm>
            <a:off x="8176565" y="1453896"/>
            <a:ext cx="154579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42,9 %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6" name="Google Shape;1096;p14"/>
          <p:cNvSpPr txBox="1"/>
          <p:nvPr/>
        </p:nvSpPr>
        <p:spPr>
          <a:xfrm>
            <a:off x="8176565" y="1700784"/>
            <a:ext cx="1545793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00"/>
              <a:buFont typeface="Calibri"/>
              <a:buNone/>
            </a:pP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7,7 de 18 meses (al 02/10/2026)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7" name="Google Shape;1097;p14"/>
          <p:cNvSpPr/>
          <p:nvPr/>
        </p:nvSpPr>
        <p:spPr>
          <a:xfrm>
            <a:off x="9969246" y="1234440"/>
            <a:ext cx="1765249" cy="658368"/>
          </a:xfrm>
          <a:prstGeom prst="roundRect">
            <a:avLst>
              <a:gd fmla="val 1111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8" name="Google Shape;1098;p14"/>
          <p:cNvSpPr txBox="1"/>
          <p:nvPr/>
        </p:nvSpPr>
        <p:spPr>
          <a:xfrm>
            <a:off x="10078974" y="1289304"/>
            <a:ext cx="1545793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Inicio: </a:t>
            </a: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10/02/2026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Terminación: </a:t>
            </a: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10/08/2027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Corte: </a:t>
            </a: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25/09/2026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9" name="Google Shape;1099;p14"/>
          <p:cNvSpPr txBox="1"/>
          <p:nvPr/>
        </p:nvSpPr>
        <p:spPr>
          <a:xfrm>
            <a:off x="457200" y="1956816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1000"/>
              <a:buFont typeface="Calibri"/>
              <a:buNone/>
            </a:pPr>
            <a:r>
              <a:rPr b="1" i="0" lang="es-CO" sz="10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AVANCE POR ABSCISA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00" name="Google Shape;1100;p14"/>
          <p:cNvCxnSpPr/>
          <p:nvPr/>
        </p:nvCxnSpPr>
        <p:spPr>
          <a:xfrm>
            <a:off x="2103120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01" name="Google Shape;1101;p14"/>
          <p:cNvCxnSpPr/>
          <p:nvPr/>
        </p:nvCxnSpPr>
        <p:spPr>
          <a:xfrm>
            <a:off x="2417882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02" name="Google Shape;1102;p14"/>
          <p:cNvCxnSpPr/>
          <p:nvPr/>
        </p:nvCxnSpPr>
        <p:spPr>
          <a:xfrm>
            <a:off x="2732644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03" name="Google Shape;1103;p14"/>
          <p:cNvCxnSpPr/>
          <p:nvPr/>
        </p:nvCxnSpPr>
        <p:spPr>
          <a:xfrm>
            <a:off x="3047407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04" name="Google Shape;1104;p14"/>
          <p:cNvCxnSpPr/>
          <p:nvPr/>
        </p:nvCxnSpPr>
        <p:spPr>
          <a:xfrm>
            <a:off x="3362169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05" name="Google Shape;1105;p14"/>
          <p:cNvCxnSpPr/>
          <p:nvPr/>
        </p:nvCxnSpPr>
        <p:spPr>
          <a:xfrm>
            <a:off x="3676931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06" name="Google Shape;1106;p14"/>
          <p:cNvCxnSpPr/>
          <p:nvPr/>
        </p:nvCxnSpPr>
        <p:spPr>
          <a:xfrm>
            <a:off x="3991693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07" name="Google Shape;1107;p14"/>
          <p:cNvCxnSpPr/>
          <p:nvPr/>
        </p:nvCxnSpPr>
        <p:spPr>
          <a:xfrm>
            <a:off x="4306455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08" name="Google Shape;1108;p14"/>
          <p:cNvCxnSpPr/>
          <p:nvPr/>
        </p:nvCxnSpPr>
        <p:spPr>
          <a:xfrm>
            <a:off x="4621217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09" name="Google Shape;1109;p14"/>
          <p:cNvCxnSpPr/>
          <p:nvPr/>
        </p:nvCxnSpPr>
        <p:spPr>
          <a:xfrm>
            <a:off x="4935980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0" name="Google Shape;1110;p14"/>
          <p:cNvCxnSpPr/>
          <p:nvPr/>
        </p:nvCxnSpPr>
        <p:spPr>
          <a:xfrm>
            <a:off x="5250742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1" name="Google Shape;1111;p14"/>
          <p:cNvCxnSpPr/>
          <p:nvPr/>
        </p:nvCxnSpPr>
        <p:spPr>
          <a:xfrm>
            <a:off x="5565504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2" name="Google Shape;1112;p14"/>
          <p:cNvCxnSpPr/>
          <p:nvPr/>
        </p:nvCxnSpPr>
        <p:spPr>
          <a:xfrm>
            <a:off x="5880266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3" name="Google Shape;1113;p14"/>
          <p:cNvCxnSpPr/>
          <p:nvPr/>
        </p:nvCxnSpPr>
        <p:spPr>
          <a:xfrm>
            <a:off x="6195028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4" name="Google Shape;1114;p14"/>
          <p:cNvCxnSpPr/>
          <p:nvPr/>
        </p:nvCxnSpPr>
        <p:spPr>
          <a:xfrm>
            <a:off x="6509790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5" name="Google Shape;1115;p14"/>
          <p:cNvCxnSpPr/>
          <p:nvPr/>
        </p:nvCxnSpPr>
        <p:spPr>
          <a:xfrm>
            <a:off x="6824553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6" name="Google Shape;1116;p14"/>
          <p:cNvCxnSpPr/>
          <p:nvPr/>
        </p:nvCxnSpPr>
        <p:spPr>
          <a:xfrm>
            <a:off x="7139315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7" name="Google Shape;1117;p14"/>
          <p:cNvCxnSpPr/>
          <p:nvPr/>
        </p:nvCxnSpPr>
        <p:spPr>
          <a:xfrm>
            <a:off x="7454077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8" name="Google Shape;1118;p14"/>
          <p:cNvCxnSpPr/>
          <p:nvPr/>
        </p:nvCxnSpPr>
        <p:spPr>
          <a:xfrm>
            <a:off x="7768839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9" name="Google Shape;1119;p14"/>
          <p:cNvCxnSpPr/>
          <p:nvPr/>
        </p:nvCxnSpPr>
        <p:spPr>
          <a:xfrm>
            <a:off x="8083601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20" name="Google Shape;1120;p14"/>
          <p:cNvCxnSpPr/>
          <p:nvPr/>
        </p:nvCxnSpPr>
        <p:spPr>
          <a:xfrm>
            <a:off x="8398363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21" name="Google Shape;1121;p14"/>
          <p:cNvCxnSpPr/>
          <p:nvPr/>
        </p:nvCxnSpPr>
        <p:spPr>
          <a:xfrm>
            <a:off x="8713126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22" name="Google Shape;1122;p14"/>
          <p:cNvCxnSpPr/>
          <p:nvPr/>
        </p:nvCxnSpPr>
        <p:spPr>
          <a:xfrm>
            <a:off x="9027888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23" name="Google Shape;1123;p14"/>
          <p:cNvCxnSpPr/>
          <p:nvPr/>
        </p:nvCxnSpPr>
        <p:spPr>
          <a:xfrm>
            <a:off x="9342650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24" name="Google Shape;1124;p14"/>
          <p:cNvCxnSpPr/>
          <p:nvPr/>
        </p:nvCxnSpPr>
        <p:spPr>
          <a:xfrm>
            <a:off x="9657412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25" name="Google Shape;1125;p14"/>
          <p:cNvCxnSpPr/>
          <p:nvPr/>
        </p:nvCxnSpPr>
        <p:spPr>
          <a:xfrm>
            <a:off x="9972174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26" name="Google Shape;1126;p14"/>
          <p:cNvCxnSpPr/>
          <p:nvPr/>
        </p:nvCxnSpPr>
        <p:spPr>
          <a:xfrm>
            <a:off x="10286936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27" name="Google Shape;1127;p14"/>
          <p:cNvCxnSpPr/>
          <p:nvPr/>
        </p:nvCxnSpPr>
        <p:spPr>
          <a:xfrm>
            <a:off x="10601699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28" name="Google Shape;1128;p14"/>
          <p:cNvCxnSpPr/>
          <p:nvPr/>
        </p:nvCxnSpPr>
        <p:spPr>
          <a:xfrm>
            <a:off x="10916461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9" name="Google Shape;1129;p14"/>
          <p:cNvSpPr txBox="1"/>
          <p:nvPr/>
        </p:nvSpPr>
        <p:spPr>
          <a:xfrm>
            <a:off x="1874520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0" name="Google Shape;1130;p14"/>
          <p:cNvSpPr txBox="1"/>
          <p:nvPr/>
        </p:nvSpPr>
        <p:spPr>
          <a:xfrm>
            <a:off x="2504044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1" name="Google Shape;1131;p14"/>
          <p:cNvSpPr txBox="1"/>
          <p:nvPr/>
        </p:nvSpPr>
        <p:spPr>
          <a:xfrm>
            <a:off x="3133569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K4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2" name="Google Shape;1132;p14"/>
          <p:cNvSpPr txBox="1"/>
          <p:nvPr/>
        </p:nvSpPr>
        <p:spPr>
          <a:xfrm>
            <a:off x="3763093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3" name="Google Shape;1133;p14"/>
          <p:cNvSpPr txBox="1"/>
          <p:nvPr/>
        </p:nvSpPr>
        <p:spPr>
          <a:xfrm>
            <a:off x="4392617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K8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4" name="Google Shape;1134;p14"/>
          <p:cNvSpPr txBox="1"/>
          <p:nvPr/>
        </p:nvSpPr>
        <p:spPr>
          <a:xfrm>
            <a:off x="5022142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K10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5" name="Google Shape;1135;p14"/>
          <p:cNvSpPr txBox="1"/>
          <p:nvPr/>
        </p:nvSpPr>
        <p:spPr>
          <a:xfrm>
            <a:off x="5651666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K12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6" name="Google Shape;1136;p14"/>
          <p:cNvSpPr txBox="1"/>
          <p:nvPr/>
        </p:nvSpPr>
        <p:spPr>
          <a:xfrm>
            <a:off x="6281190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K14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7" name="Google Shape;1137;p14"/>
          <p:cNvSpPr txBox="1"/>
          <p:nvPr/>
        </p:nvSpPr>
        <p:spPr>
          <a:xfrm>
            <a:off x="6910715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K16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8" name="Google Shape;1138;p14"/>
          <p:cNvSpPr txBox="1"/>
          <p:nvPr/>
        </p:nvSpPr>
        <p:spPr>
          <a:xfrm>
            <a:off x="7540239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K18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9" name="Google Shape;1139;p14"/>
          <p:cNvSpPr txBox="1"/>
          <p:nvPr/>
        </p:nvSpPr>
        <p:spPr>
          <a:xfrm>
            <a:off x="8169763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K20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0" name="Google Shape;1140;p14"/>
          <p:cNvSpPr txBox="1"/>
          <p:nvPr/>
        </p:nvSpPr>
        <p:spPr>
          <a:xfrm>
            <a:off x="8799288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K22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1" name="Google Shape;1141;p14"/>
          <p:cNvSpPr txBox="1"/>
          <p:nvPr/>
        </p:nvSpPr>
        <p:spPr>
          <a:xfrm>
            <a:off x="9428812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K24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2" name="Google Shape;1142;p14"/>
          <p:cNvSpPr txBox="1"/>
          <p:nvPr/>
        </p:nvSpPr>
        <p:spPr>
          <a:xfrm>
            <a:off x="10058336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K26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3" name="Google Shape;1143;p14"/>
          <p:cNvSpPr txBox="1"/>
          <p:nvPr/>
        </p:nvSpPr>
        <p:spPr>
          <a:xfrm>
            <a:off x="10835640" y="2139696"/>
            <a:ext cx="54864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K28+760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4" name="Google Shape;1144;p14"/>
          <p:cNvSpPr/>
          <p:nvPr/>
        </p:nvSpPr>
        <p:spPr>
          <a:xfrm>
            <a:off x="2103120" y="2359152"/>
            <a:ext cx="9052560" cy="73152"/>
          </a:xfrm>
          <a:prstGeom prst="rect">
            <a:avLst/>
          </a:prstGeom>
          <a:solidFill>
            <a:srgbClr val="1F2A36"/>
          </a:solidFill>
          <a:ln cap="flat" cmpd="sng" w="12700">
            <a:solidFill>
              <a:srgbClr val="1F2A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45" name="Google Shape;1145;p14"/>
          <p:cNvCxnSpPr/>
          <p:nvPr/>
        </p:nvCxnSpPr>
        <p:spPr>
          <a:xfrm>
            <a:off x="2139696" y="2395728"/>
            <a:ext cx="8979408" cy="0"/>
          </a:xfrm>
          <a:prstGeom prst="straightConnector1">
            <a:avLst/>
          </a:prstGeom>
          <a:noFill/>
          <a:ln cap="flat" cmpd="sng" w="9525">
            <a:solidFill>
              <a:srgbClr val="F2C94C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146" name="Google Shape;1146;p14"/>
          <p:cNvCxnSpPr/>
          <p:nvPr/>
        </p:nvCxnSpPr>
        <p:spPr>
          <a:xfrm>
            <a:off x="731520" y="2487168"/>
            <a:ext cx="0" cy="338328"/>
          </a:xfrm>
          <a:prstGeom prst="straightConnector1">
            <a:avLst/>
          </a:prstGeom>
          <a:noFill/>
          <a:ln cap="flat" cmpd="sng" w="19050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47" name="Google Shape;1147;p14"/>
          <p:cNvSpPr txBox="1"/>
          <p:nvPr/>
        </p:nvSpPr>
        <p:spPr>
          <a:xfrm rot="-5400000">
            <a:off x="260604" y="2574036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700"/>
              <a:buFont typeface="Calibri"/>
              <a:buNone/>
            </a:pPr>
            <a:r>
              <a:rPr b="1" i="0" lang="es-CO" sz="7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CAMPO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8" name="Google Shape;1148;p14"/>
          <p:cNvSpPr txBox="1"/>
          <p:nvPr/>
        </p:nvSpPr>
        <p:spPr>
          <a:xfrm>
            <a:off x="777240" y="2487168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Topografía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9" name="Google Shape;1149;p14"/>
          <p:cNvSpPr/>
          <p:nvPr/>
        </p:nvSpPr>
        <p:spPr>
          <a:xfrm>
            <a:off x="2103120" y="2487168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0" name="Google Shape;1150;p14"/>
          <p:cNvSpPr/>
          <p:nvPr/>
        </p:nvSpPr>
        <p:spPr>
          <a:xfrm>
            <a:off x="2103120" y="2487168"/>
            <a:ext cx="3399431" cy="155448"/>
          </a:xfrm>
          <a:prstGeom prst="rect">
            <a:avLst/>
          </a:prstGeom>
          <a:solidFill>
            <a:srgbClr val="2E7D4F"/>
          </a:solidFill>
          <a:ln cap="flat" cmpd="sng" w="9525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1" name="Google Shape;1151;p14"/>
          <p:cNvSpPr txBox="1"/>
          <p:nvPr/>
        </p:nvSpPr>
        <p:spPr>
          <a:xfrm>
            <a:off x="11201400" y="2487168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24 %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2" name="Google Shape;1152;p14"/>
          <p:cNvSpPr txBox="1"/>
          <p:nvPr/>
        </p:nvSpPr>
        <p:spPr>
          <a:xfrm>
            <a:off x="777240" y="2670048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Apiques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3" name="Google Shape;1153;p14"/>
          <p:cNvSpPr/>
          <p:nvPr/>
        </p:nvSpPr>
        <p:spPr>
          <a:xfrm>
            <a:off x="2103120" y="2670048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4" name="Google Shape;1154;p14"/>
          <p:cNvSpPr/>
          <p:nvPr/>
        </p:nvSpPr>
        <p:spPr>
          <a:xfrm>
            <a:off x="2103120" y="2670048"/>
            <a:ext cx="9052560" cy="155448"/>
          </a:xfrm>
          <a:prstGeom prst="rect">
            <a:avLst/>
          </a:prstGeom>
          <a:solidFill>
            <a:srgbClr val="2E7D4F"/>
          </a:solidFill>
          <a:ln cap="flat" cmpd="sng" w="9525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5" name="Google Shape;1155;p14"/>
          <p:cNvSpPr txBox="1"/>
          <p:nvPr/>
        </p:nvSpPr>
        <p:spPr>
          <a:xfrm>
            <a:off x="11201400" y="2670048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100 %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56" name="Google Shape;1156;p14"/>
          <p:cNvCxnSpPr/>
          <p:nvPr/>
        </p:nvCxnSpPr>
        <p:spPr>
          <a:xfrm>
            <a:off x="731520" y="2953512"/>
            <a:ext cx="0" cy="466344"/>
          </a:xfrm>
          <a:prstGeom prst="straightConnector1">
            <a:avLst/>
          </a:prstGeom>
          <a:noFill/>
          <a:ln cap="flat" cmpd="sng" w="19050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57" name="Google Shape;1157;p14"/>
          <p:cNvSpPr txBox="1"/>
          <p:nvPr/>
        </p:nvSpPr>
        <p:spPr>
          <a:xfrm rot="-5400000">
            <a:off x="260604" y="3104388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700"/>
              <a:buFont typeface="Calibri"/>
              <a:buNone/>
            </a:pPr>
            <a:r>
              <a:rPr b="1" i="0" lang="es-CO" sz="7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ESTRUCTURA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8" name="Google Shape;1158;p14"/>
          <p:cNvSpPr txBox="1"/>
          <p:nvPr/>
        </p:nvSpPr>
        <p:spPr>
          <a:xfrm>
            <a:off x="777240" y="2953512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Rodadura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9" name="Google Shape;1159;p14"/>
          <p:cNvSpPr/>
          <p:nvPr/>
        </p:nvSpPr>
        <p:spPr>
          <a:xfrm>
            <a:off x="2103120" y="2953512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0" name="Google Shape;1160;p14"/>
          <p:cNvSpPr txBox="1"/>
          <p:nvPr/>
        </p:nvSpPr>
        <p:spPr>
          <a:xfrm>
            <a:off x="11201400" y="2953512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1" name="Google Shape;1161;p14"/>
          <p:cNvSpPr txBox="1"/>
          <p:nvPr/>
        </p:nvSpPr>
        <p:spPr>
          <a:xfrm>
            <a:off x="777240" y="3108960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Capa granular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2" name="Google Shape;1162;p14"/>
          <p:cNvSpPr/>
          <p:nvPr/>
        </p:nvSpPr>
        <p:spPr>
          <a:xfrm>
            <a:off x="2103120" y="3108960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3" name="Google Shape;1163;p14"/>
          <p:cNvSpPr txBox="1"/>
          <p:nvPr/>
        </p:nvSpPr>
        <p:spPr>
          <a:xfrm>
            <a:off x="11201400" y="3108960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4" name="Google Shape;1164;p14"/>
          <p:cNvSpPr txBox="1"/>
          <p:nvPr/>
        </p:nvSpPr>
        <p:spPr>
          <a:xfrm>
            <a:off x="777240" y="3264408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Subrasante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5" name="Google Shape;1165;p14"/>
          <p:cNvSpPr/>
          <p:nvPr/>
        </p:nvSpPr>
        <p:spPr>
          <a:xfrm>
            <a:off x="2103120" y="3264408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6" name="Google Shape;1166;p14"/>
          <p:cNvSpPr txBox="1"/>
          <p:nvPr/>
        </p:nvSpPr>
        <p:spPr>
          <a:xfrm>
            <a:off x="11201400" y="3264408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67" name="Google Shape;1167;p14"/>
          <p:cNvCxnSpPr/>
          <p:nvPr/>
        </p:nvCxnSpPr>
        <p:spPr>
          <a:xfrm>
            <a:off x="731520" y="3511296"/>
            <a:ext cx="0" cy="521208"/>
          </a:xfrm>
          <a:prstGeom prst="straightConnector1">
            <a:avLst/>
          </a:prstGeom>
          <a:noFill/>
          <a:ln cap="flat" cmpd="sng" w="19050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68" name="Google Shape;1168;p14"/>
          <p:cNvSpPr txBox="1"/>
          <p:nvPr/>
        </p:nvSpPr>
        <p:spPr>
          <a:xfrm rot="-5400000">
            <a:off x="260604" y="3689604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700"/>
              <a:buFont typeface="Calibri"/>
              <a:buNone/>
            </a:pPr>
            <a:r>
              <a:rPr b="1" i="0" lang="es-CO" sz="7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DRENAJE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9" name="Google Shape;1169;p14"/>
          <p:cNvSpPr txBox="1"/>
          <p:nvPr/>
        </p:nvSpPr>
        <p:spPr>
          <a:xfrm>
            <a:off x="777240" y="3511296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Cunetas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0" name="Google Shape;1170;p14"/>
          <p:cNvSpPr/>
          <p:nvPr/>
        </p:nvSpPr>
        <p:spPr>
          <a:xfrm>
            <a:off x="2103120" y="3511296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1" name="Google Shape;1171;p14"/>
          <p:cNvSpPr txBox="1"/>
          <p:nvPr/>
        </p:nvSpPr>
        <p:spPr>
          <a:xfrm>
            <a:off x="11201400" y="3511296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2" name="Google Shape;1172;p14"/>
          <p:cNvSpPr txBox="1"/>
          <p:nvPr/>
        </p:nvSpPr>
        <p:spPr>
          <a:xfrm>
            <a:off x="777240" y="3694176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Filtros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3" name="Google Shape;1173;p14"/>
          <p:cNvSpPr txBox="1"/>
          <p:nvPr/>
        </p:nvSpPr>
        <p:spPr>
          <a:xfrm>
            <a:off x="1920240" y="3694176"/>
            <a:ext cx="137160" cy="777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700"/>
              <a:buFont typeface="Calibri"/>
              <a:buNone/>
            </a:pPr>
            <a:r>
              <a:rPr b="0" i="0" lang="es-CO" sz="7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4" name="Google Shape;1174;p14"/>
          <p:cNvSpPr txBox="1"/>
          <p:nvPr/>
        </p:nvSpPr>
        <p:spPr>
          <a:xfrm>
            <a:off x="1920240" y="3771900"/>
            <a:ext cx="137160" cy="777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700"/>
              <a:buFont typeface="Calibri"/>
              <a:buNone/>
            </a:pPr>
            <a:r>
              <a:rPr b="0" i="0" lang="es-CO" sz="7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5" name="Google Shape;1175;p14"/>
          <p:cNvSpPr/>
          <p:nvPr/>
        </p:nvSpPr>
        <p:spPr>
          <a:xfrm>
            <a:off x="2103120" y="3694176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76" name="Google Shape;1176;p14"/>
          <p:cNvCxnSpPr/>
          <p:nvPr/>
        </p:nvCxnSpPr>
        <p:spPr>
          <a:xfrm>
            <a:off x="2103120" y="3771900"/>
            <a:ext cx="9052560" cy="0"/>
          </a:xfrm>
          <a:prstGeom prst="straightConnector1">
            <a:avLst/>
          </a:prstGeom>
          <a:noFill/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77" name="Google Shape;1177;p14"/>
          <p:cNvSpPr txBox="1"/>
          <p:nvPr/>
        </p:nvSpPr>
        <p:spPr>
          <a:xfrm>
            <a:off x="11201400" y="3694176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2,2 %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8" name="Google Shape;1178;p14"/>
          <p:cNvSpPr txBox="1"/>
          <p:nvPr/>
        </p:nvSpPr>
        <p:spPr>
          <a:xfrm>
            <a:off x="777240" y="3877056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Alcantarillas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9" name="Google Shape;1179;p14"/>
          <p:cNvSpPr/>
          <p:nvPr/>
        </p:nvSpPr>
        <p:spPr>
          <a:xfrm>
            <a:off x="2103120" y="3877056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0" name="Google Shape;1180;p14"/>
          <p:cNvSpPr/>
          <p:nvPr/>
        </p:nvSpPr>
        <p:spPr>
          <a:xfrm>
            <a:off x="2103120" y="3877056"/>
            <a:ext cx="9052560" cy="155448"/>
          </a:xfrm>
          <a:prstGeom prst="rect">
            <a:avLst/>
          </a:prstGeom>
          <a:solidFill>
            <a:srgbClr val="A9C7B3"/>
          </a:solidFill>
          <a:ln cap="flat" cmpd="sng" w="9525">
            <a:solidFill>
              <a:srgbClr val="A9C7B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1" name="Google Shape;1181;p14"/>
          <p:cNvSpPr txBox="1"/>
          <p:nvPr/>
        </p:nvSpPr>
        <p:spPr>
          <a:xfrm>
            <a:off x="11201400" y="3877056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100 %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2" name="Google Shape;1182;p14"/>
          <p:cNvSpPr txBox="1"/>
          <p:nvPr/>
        </p:nvSpPr>
        <p:spPr>
          <a:xfrm>
            <a:off x="457200" y="4078224"/>
            <a:ext cx="11277295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D9A6"/>
              </a:buClr>
              <a:buSzPts val="800"/>
              <a:buFont typeface="Calibri"/>
              <a:buNone/>
            </a:pPr>
            <a:r>
              <a:rPr b="0" i="0" lang="es-CO" sz="800" u="none" cap="none" strike="noStrike">
                <a:solidFill>
                  <a:srgbClr val="EBD9A6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Natural    </a:t>
            </a:r>
            <a:r>
              <a:rPr b="0" i="0" lang="es-CO" sz="800" u="none" cap="none" strike="noStrike">
                <a:solidFill>
                  <a:srgbClr val="8C6A4F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Cal    </a:t>
            </a:r>
            <a:r>
              <a:rPr b="0" i="0" lang="es-CO" sz="800" u="none" cap="none" strike="noStrike">
                <a:solidFill>
                  <a:srgbClr val="D9A441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Cemento    </a:t>
            </a:r>
            <a:r>
              <a:rPr b="0" i="0" lang="es-CO" sz="800" u="none" cap="none" strike="noStrike">
                <a:solidFill>
                  <a:srgbClr val="1F2A36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TSD    </a:t>
            </a:r>
            <a:r>
              <a:rPr b="0" i="0" lang="es-CO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MDC-19    </a:t>
            </a:r>
            <a:r>
              <a:rPr b="0" i="0" lang="es-CO" sz="8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Ejecutado    </a:t>
            </a:r>
            <a:r>
              <a:rPr b="0" i="0" lang="es-CO" sz="800" u="none" cap="none" strike="noStrike">
                <a:solidFill>
                  <a:srgbClr val="A9C7B3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Limpieza alcantarillas    </a:t>
            </a:r>
            <a:r>
              <a:rPr b="0" i="0" lang="es-CO" sz="800" u="none" cap="none" strike="noStrike">
                <a:solidFill>
                  <a:srgbClr val="2F6FB0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Alcantarilla nueva    </a:t>
            </a:r>
            <a:r>
              <a:rPr b="0" i="0" lang="es-CO" sz="800" u="none" cap="none" strike="noStrike">
                <a:solidFill>
                  <a:srgbClr val="E07B24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Reemplazada    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3" name="Google Shape;1183;p14"/>
          <p:cNvSpPr txBox="1"/>
          <p:nvPr/>
        </p:nvSpPr>
        <p:spPr>
          <a:xfrm>
            <a:off x="457200" y="4301688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1000"/>
              <a:buFont typeface="Calibri"/>
              <a:buNone/>
            </a:pPr>
            <a:r>
              <a:rPr b="1" i="0" lang="es-CO" sz="10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AVANCE POR ACTIVIDAD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4" name="Google Shape;1184;p14"/>
          <p:cNvSpPr txBox="1"/>
          <p:nvPr/>
        </p:nvSpPr>
        <p:spPr>
          <a:xfrm>
            <a:off x="457200" y="4758888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Construcción alcantarilla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5" name="Google Shape;1185;p14"/>
          <p:cNvSpPr txBox="1"/>
          <p:nvPr/>
        </p:nvSpPr>
        <p:spPr>
          <a:xfrm>
            <a:off x="457200" y="4960056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Construcción cuneta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6" name="Google Shape;1186;p14"/>
          <p:cNvSpPr txBox="1"/>
          <p:nvPr/>
        </p:nvSpPr>
        <p:spPr>
          <a:xfrm>
            <a:off x="457200" y="5161224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Construcción filtro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7" name="Google Shape;1187;p14"/>
          <p:cNvSpPr txBox="1"/>
          <p:nvPr/>
        </p:nvSpPr>
        <p:spPr>
          <a:xfrm>
            <a:off x="457200" y="5362392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Construcción bordillos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8" name="Google Shape;1188;p14"/>
          <p:cNvSpPr txBox="1"/>
          <p:nvPr/>
        </p:nvSpPr>
        <p:spPr>
          <a:xfrm>
            <a:off x="457200" y="5563560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Estabilización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9" name="Google Shape;1189;p14"/>
          <p:cNvSpPr txBox="1"/>
          <p:nvPr/>
        </p:nvSpPr>
        <p:spPr>
          <a:xfrm>
            <a:off x="457200" y="5764728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Señalización vial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0" name="Google Shape;1190;p14"/>
          <p:cNvSpPr txBox="1"/>
          <p:nvPr/>
        </p:nvSpPr>
        <p:spPr>
          <a:xfrm>
            <a:off x="2651760" y="4539432"/>
            <a:ext cx="2926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-CO" sz="800" u="none" cap="none" strike="noStrike">
                <a:solidFill>
                  <a:srgbClr val="192D23"/>
                </a:solidFill>
                <a:latin typeface="Arial"/>
                <a:ea typeface="Arial"/>
                <a:cs typeface="Arial"/>
                <a:sym typeface="Arial"/>
              </a:rPr>
              <a:t>Presupuestada  </a:t>
            </a:r>
            <a:r>
              <a:rPr b="0" i="0" lang="es-CO" sz="800" u="none" cap="none" strike="noStrike">
                <a:solidFill>
                  <a:srgbClr val="A9C7B3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r>
              <a:rPr b="0" i="0" lang="es-CO" sz="800" u="none" cap="none" strike="noStrike">
                <a:solidFill>
                  <a:srgbClr val="192D23"/>
                </a:solidFill>
                <a:latin typeface="Arial"/>
                <a:ea typeface="Arial"/>
                <a:cs typeface="Arial"/>
                <a:sym typeface="Arial"/>
              </a:rPr>
              <a:t>    Real  </a:t>
            </a:r>
            <a:r>
              <a:rPr b="0" i="0" lang="es-CO" sz="800" u="none" cap="none" strike="noStrike">
                <a:solidFill>
                  <a:srgbClr val="2E7D4F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1" name="Google Shape;1191;p14"/>
          <p:cNvSpPr/>
          <p:nvPr/>
        </p:nvSpPr>
        <p:spPr>
          <a:xfrm>
            <a:off x="2551176" y="4777175"/>
            <a:ext cx="4096512" cy="68580"/>
          </a:xfrm>
          <a:prstGeom prst="rect">
            <a:avLst/>
          </a:prstGeom>
          <a:solidFill>
            <a:srgbClr val="A9C7B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2" name="Google Shape;1192;p14"/>
          <p:cNvSpPr/>
          <p:nvPr/>
        </p:nvSpPr>
        <p:spPr>
          <a:xfrm>
            <a:off x="2551176" y="4854900"/>
            <a:ext cx="4096512" cy="6858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3" name="Google Shape;1193;p14"/>
          <p:cNvSpPr/>
          <p:nvPr/>
        </p:nvSpPr>
        <p:spPr>
          <a:xfrm>
            <a:off x="2551176" y="4978344"/>
            <a:ext cx="2924482" cy="68580"/>
          </a:xfrm>
          <a:prstGeom prst="rect">
            <a:avLst/>
          </a:prstGeom>
          <a:solidFill>
            <a:srgbClr val="A9C7B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4" name="Google Shape;1194;p14"/>
          <p:cNvSpPr/>
          <p:nvPr/>
        </p:nvSpPr>
        <p:spPr>
          <a:xfrm>
            <a:off x="2551176" y="5056068"/>
            <a:ext cx="4096512" cy="6858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5" name="Google Shape;1195;p14"/>
          <p:cNvSpPr/>
          <p:nvPr/>
        </p:nvSpPr>
        <p:spPr>
          <a:xfrm>
            <a:off x="2551176" y="5179512"/>
            <a:ext cx="4096512" cy="68580"/>
          </a:xfrm>
          <a:prstGeom prst="rect">
            <a:avLst/>
          </a:prstGeom>
          <a:solidFill>
            <a:srgbClr val="A9C7B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6" name="Google Shape;1196;p14"/>
          <p:cNvSpPr/>
          <p:nvPr/>
        </p:nvSpPr>
        <p:spPr>
          <a:xfrm>
            <a:off x="2551176" y="5257236"/>
            <a:ext cx="4096512" cy="6858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7" name="Google Shape;1197;p14"/>
          <p:cNvSpPr/>
          <p:nvPr/>
        </p:nvSpPr>
        <p:spPr>
          <a:xfrm>
            <a:off x="2551176" y="5380679"/>
            <a:ext cx="4096512" cy="68580"/>
          </a:xfrm>
          <a:prstGeom prst="rect">
            <a:avLst/>
          </a:prstGeom>
          <a:solidFill>
            <a:srgbClr val="A9C7B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8" name="Google Shape;1198;p14"/>
          <p:cNvSpPr/>
          <p:nvPr/>
        </p:nvSpPr>
        <p:spPr>
          <a:xfrm>
            <a:off x="2551176" y="5458404"/>
            <a:ext cx="4096512" cy="6858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9" name="Google Shape;1199;p14"/>
          <p:cNvSpPr/>
          <p:nvPr/>
        </p:nvSpPr>
        <p:spPr>
          <a:xfrm>
            <a:off x="2551176" y="5581848"/>
            <a:ext cx="4096512" cy="68580"/>
          </a:xfrm>
          <a:prstGeom prst="rect">
            <a:avLst/>
          </a:prstGeom>
          <a:solidFill>
            <a:srgbClr val="A9C7B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0" name="Google Shape;1200;p14"/>
          <p:cNvSpPr/>
          <p:nvPr/>
        </p:nvSpPr>
        <p:spPr>
          <a:xfrm>
            <a:off x="2551176" y="5659572"/>
            <a:ext cx="4096512" cy="6858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1" name="Google Shape;1201;p14"/>
          <p:cNvSpPr/>
          <p:nvPr/>
        </p:nvSpPr>
        <p:spPr>
          <a:xfrm>
            <a:off x="2551176" y="5783016"/>
            <a:ext cx="4096512" cy="68580"/>
          </a:xfrm>
          <a:prstGeom prst="rect">
            <a:avLst/>
          </a:prstGeom>
          <a:solidFill>
            <a:srgbClr val="A9C7B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2" name="Google Shape;1202;p14"/>
          <p:cNvSpPr/>
          <p:nvPr/>
        </p:nvSpPr>
        <p:spPr>
          <a:xfrm>
            <a:off x="2551176" y="5860740"/>
            <a:ext cx="2732527" cy="6858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03" name="Google Shape;1203;p14"/>
          <p:cNvGraphicFramePr/>
          <p:nvPr/>
        </p:nvGraphicFramePr>
        <p:xfrm>
          <a:off x="6766560" y="452114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{9EE2CB2E-1363-49F8-B8BA-952F5347F8D7}</a:tableStyleId>
              </a:tblPr>
              <a:tblGrid>
                <a:gridCol w="457200"/>
                <a:gridCol w="841250"/>
                <a:gridCol w="841250"/>
                <a:gridCol w="914400"/>
                <a:gridCol w="914400"/>
                <a:gridCol w="850400"/>
              </a:tblGrid>
              <a:tr h="240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s-CO" sz="8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Unidad</a:t>
                      </a:r>
                      <a:endParaRPr sz="8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s-CO" sz="8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Presupuestada</a:t>
                      </a:r>
                      <a:endParaRPr sz="8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s-CO" sz="8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Real</a:t>
                      </a:r>
                      <a:endParaRPr sz="8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s-CO" sz="8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Ejec. anterior</a:t>
                      </a:r>
                      <a:endParaRPr sz="8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s-CO" sz="8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Ejec. actual</a:t>
                      </a:r>
                      <a:endParaRPr sz="8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s-CO" sz="8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Δ semana</a:t>
                      </a:r>
                      <a:endParaRPr sz="8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</a:tr>
              <a:tr h="212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und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153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75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5F6B66"/>
                          </a:solidFill>
                        </a:rPr>
                        <a:t>29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1D2B24"/>
                          </a:solidFill>
                        </a:rPr>
                        <a:t>29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12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28.760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40.286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5F6B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8A94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212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28.760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28.760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5F6B66"/>
                          </a:solidFill>
                        </a:rPr>
                        <a:t>15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1D2B24"/>
                          </a:solidFill>
                        </a:rPr>
                        <a:t>15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12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5.752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5.752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5F6B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8A94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212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m²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143.800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143.800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5F6B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8A94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12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86.280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57.552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5F6B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8A94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</a:tbl>
          </a:graphicData>
        </a:graphic>
      </p:graphicFrame>
      <p:sp>
        <p:nvSpPr>
          <p:cNvPr id="1204" name="Google Shape;1204;p14"/>
          <p:cNvSpPr txBox="1"/>
          <p:nvPr/>
        </p:nvSpPr>
        <p:spPr>
          <a:xfrm>
            <a:off x="457200" y="6400000"/>
            <a:ext cx="5000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s-CO" sz="9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TIEMPO TRANSCURRIDO DEL PLAZO CONTRACTUAL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5" name="Google Shape;1205;p14"/>
          <p:cNvSpPr txBox="1"/>
          <p:nvPr/>
        </p:nvSpPr>
        <p:spPr>
          <a:xfrm>
            <a:off x="5000000" y="6400000"/>
            <a:ext cx="6734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Inicio: </a:t>
            </a:r>
            <a:r>
              <a:rPr b="1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10/02/2026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   ·   Terminación: </a:t>
            </a:r>
            <a:r>
              <a:rPr b="1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10/08/2027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   ·   Al: </a:t>
            </a:r>
            <a:r>
              <a:rPr b="1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02/10/2026</a:t>
            </a: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   ·   234 de 546 días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6" name="Google Shape;1206;p14"/>
          <p:cNvSpPr/>
          <p:nvPr/>
        </p:nvSpPr>
        <p:spPr>
          <a:xfrm>
            <a:off x="457200" y="6598920"/>
            <a:ext cx="11277600" cy="164592"/>
          </a:xfrm>
          <a:prstGeom prst="roundRect">
            <a:avLst>
              <a:gd fmla="val 50000" name="adj"/>
            </a:avLst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7" name="Google Shape;1207;p14"/>
          <p:cNvSpPr/>
          <p:nvPr/>
        </p:nvSpPr>
        <p:spPr>
          <a:xfrm>
            <a:off x="457200" y="6598920"/>
            <a:ext cx="4833257" cy="164592"/>
          </a:xfrm>
          <a:prstGeom prst="roundRect">
            <a:avLst>
              <a:gd fmla="val 50000" name="adj"/>
            </a:avLst>
          </a:prstGeom>
          <a:solidFill>
            <a:srgbClr val="2E7D4F"/>
          </a:solidFill>
          <a:ln cap="flat" cmpd="sng" w="9525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s-CO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42,9 %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08" name="Google Shape;1208;p14"/>
          <p:cNvCxnSpPr/>
          <p:nvPr/>
        </p:nvCxnSpPr>
        <p:spPr>
          <a:xfrm>
            <a:off x="849643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09" name="Google Shape;1209;p14"/>
          <p:cNvCxnSpPr/>
          <p:nvPr/>
        </p:nvCxnSpPr>
        <p:spPr>
          <a:xfrm>
            <a:off x="1489947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10" name="Google Shape;1210;p14"/>
          <p:cNvCxnSpPr/>
          <p:nvPr/>
        </p:nvCxnSpPr>
        <p:spPr>
          <a:xfrm>
            <a:off x="2109595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11" name="Google Shape;1211;p14"/>
          <p:cNvCxnSpPr/>
          <p:nvPr/>
        </p:nvCxnSpPr>
        <p:spPr>
          <a:xfrm>
            <a:off x="2749898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12" name="Google Shape;1212;p14"/>
          <p:cNvCxnSpPr/>
          <p:nvPr/>
        </p:nvCxnSpPr>
        <p:spPr>
          <a:xfrm>
            <a:off x="3369547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13" name="Google Shape;1213;p14"/>
          <p:cNvCxnSpPr/>
          <p:nvPr/>
        </p:nvCxnSpPr>
        <p:spPr>
          <a:xfrm>
            <a:off x="4009850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14" name="Google Shape;1214;p14"/>
          <p:cNvCxnSpPr/>
          <p:nvPr/>
        </p:nvCxnSpPr>
        <p:spPr>
          <a:xfrm>
            <a:off x="4650153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15" name="Google Shape;1215;p14"/>
          <p:cNvCxnSpPr/>
          <p:nvPr/>
        </p:nvCxnSpPr>
        <p:spPr>
          <a:xfrm>
            <a:off x="5269802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16" name="Google Shape;1216;p14"/>
          <p:cNvCxnSpPr/>
          <p:nvPr/>
        </p:nvCxnSpPr>
        <p:spPr>
          <a:xfrm>
            <a:off x="5910105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17" name="Google Shape;1217;p14"/>
          <p:cNvCxnSpPr/>
          <p:nvPr/>
        </p:nvCxnSpPr>
        <p:spPr>
          <a:xfrm>
            <a:off x="6529753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18" name="Google Shape;1218;p14"/>
          <p:cNvCxnSpPr/>
          <p:nvPr/>
        </p:nvCxnSpPr>
        <p:spPr>
          <a:xfrm>
            <a:off x="7170057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19" name="Google Shape;1219;p14"/>
          <p:cNvCxnSpPr/>
          <p:nvPr/>
        </p:nvCxnSpPr>
        <p:spPr>
          <a:xfrm>
            <a:off x="7810360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20" name="Google Shape;1220;p14"/>
          <p:cNvCxnSpPr/>
          <p:nvPr/>
        </p:nvCxnSpPr>
        <p:spPr>
          <a:xfrm>
            <a:off x="8388698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21" name="Google Shape;1221;p14"/>
          <p:cNvCxnSpPr/>
          <p:nvPr/>
        </p:nvCxnSpPr>
        <p:spPr>
          <a:xfrm>
            <a:off x="9029002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22" name="Google Shape;1222;p14"/>
          <p:cNvCxnSpPr/>
          <p:nvPr/>
        </p:nvCxnSpPr>
        <p:spPr>
          <a:xfrm>
            <a:off x="9648650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23" name="Google Shape;1223;p14"/>
          <p:cNvCxnSpPr/>
          <p:nvPr/>
        </p:nvCxnSpPr>
        <p:spPr>
          <a:xfrm>
            <a:off x="10288953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24" name="Google Shape;1224;p14"/>
          <p:cNvCxnSpPr/>
          <p:nvPr/>
        </p:nvCxnSpPr>
        <p:spPr>
          <a:xfrm>
            <a:off x="10908602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25" name="Google Shape;1225;p14"/>
          <p:cNvCxnSpPr/>
          <p:nvPr/>
        </p:nvCxnSpPr>
        <p:spPr>
          <a:xfrm>
            <a:off x="11548905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26" name="Google Shape;1226;p14"/>
          <p:cNvCxnSpPr/>
          <p:nvPr/>
        </p:nvCxnSpPr>
        <p:spPr>
          <a:xfrm>
            <a:off x="5290457" y="6562344"/>
            <a:ext cx="0" cy="237744"/>
          </a:xfrm>
          <a:prstGeom prst="straightConnector1">
            <a:avLst/>
          </a:prstGeom>
          <a:noFill/>
          <a:ln cap="flat" cmpd="sng" w="19050">
            <a:solidFill>
              <a:srgbClr val="B3261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27" name="Google Shape;1227;p14"/>
          <p:cNvSpPr txBox="1"/>
          <p:nvPr/>
        </p:nvSpPr>
        <p:spPr>
          <a:xfrm>
            <a:off x="2194560" y="3694176"/>
            <a:ext cx="886968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00"/>
              <a:buFont typeface="Calibri"/>
              <a:buNone/>
            </a:pP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627 m ejecutados · abscisas no reportadas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32" name="Shape 1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Google Shape;1233;p15"/>
          <p:cNvSpPr txBox="1"/>
          <p:nvPr/>
        </p:nvSpPr>
        <p:spPr>
          <a:xfrm>
            <a:off x="457200" y="320040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1200"/>
              <a:buFont typeface="Calibri"/>
              <a:buNone/>
            </a:pPr>
            <a:r>
              <a:rPr b="1" i="0" lang="es-CO" sz="1200" u="none" cap="none" strike="noStrike">
                <a:solidFill>
                  <a:srgbClr val="2E7D4F"/>
                </a:solidFill>
                <a:latin typeface="Poppins"/>
                <a:ea typeface="Poppins"/>
                <a:cs typeface="Poppins"/>
                <a:sym typeface="Poppins"/>
              </a:rPr>
              <a:t>INFORME DE VARIACIÓN DE ALCANCES  ·  LOTE 2 – SUBREGIÓN OCCIDENTE</a:t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34" name="Google Shape;1234;p15"/>
          <p:cNvSpPr txBox="1"/>
          <p:nvPr/>
        </p:nvSpPr>
        <p:spPr>
          <a:xfrm>
            <a:off x="457200" y="594360"/>
            <a:ext cx="9692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2800"/>
              <a:buFont typeface="Calibri"/>
              <a:buNone/>
            </a:pPr>
            <a:r>
              <a:rPr b="1" i="0" lang="es-CO" sz="28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Sopetrán – Horizontes – Belmira</a:t>
            </a:r>
            <a:endParaRPr b="0" i="0" sz="2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descr="logo.png" id="1235" name="Google Shape;123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78440" y="320040"/>
            <a:ext cx="1371600" cy="676656"/>
          </a:xfrm>
          <a:prstGeom prst="rect">
            <a:avLst/>
          </a:prstGeom>
          <a:noFill/>
          <a:ln>
            <a:noFill/>
          </a:ln>
        </p:spPr>
      </p:pic>
      <p:sp>
        <p:nvSpPr>
          <p:cNvPr id="1236" name="Google Shape;1236;p15"/>
          <p:cNvSpPr/>
          <p:nvPr/>
        </p:nvSpPr>
        <p:spPr>
          <a:xfrm>
            <a:off x="457200" y="132588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7" name="Google Shape;1237;p15"/>
          <p:cNvSpPr txBox="1"/>
          <p:nvPr/>
        </p:nvSpPr>
        <p:spPr>
          <a:xfrm>
            <a:off x="594360" y="1417320"/>
            <a:ext cx="183483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100"/>
              <a:buFont typeface="Calibri"/>
              <a:buNone/>
            </a:pPr>
            <a:r>
              <a:rPr b="0" i="0" lang="es-CO" sz="11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Longitud contractual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8" name="Google Shape;1238;p15"/>
          <p:cNvSpPr txBox="1"/>
          <p:nvPr/>
        </p:nvSpPr>
        <p:spPr>
          <a:xfrm>
            <a:off x="594360" y="1691640"/>
            <a:ext cx="183483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700"/>
              <a:buFont typeface="Calibri"/>
              <a:buNone/>
            </a:pPr>
            <a:r>
              <a:rPr b="1" i="0" lang="es-CO" sz="17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35,19 km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9" name="Google Shape;1239;p15"/>
          <p:cNvSpPr/>
          <p:nvPr/>
        </p:nvSpPr>
        <p:spPr>
          <a:xfrm>
            <a:off x="2749235" y="132588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0" name="Google Shape;1240;p15"/>
          <p:cNvSpPr txBox="1"/>
          <p:nvPr/>
        </p:nvSpPr>
        <p:spPr>
          <a:xfrm>
            <a:off x="2886395" y="1417320"/>
            <a:ext cx="183483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100"/>
              <a:buFont typeface="Calibri"/>
              <a:buNone/>
            </a:pPr>
            <a:r>
              <a:rPr b="0" i="0" lang="es-CO" sz="11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Longitud probable a cubrir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1" name="Google Shape;1241;p15"/>
          <p:cNvSpPr txBox="1"/>
          <p:nvPr/>
        </p:nvSpPr>
        <p:spPr>
          <a:xfrm>
            <a:off x="2886395" y="1691640"/>
            <a:ext cx="183483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700"/>
              <a:buFont typeface="Calibri"/>
              <a:buNone/>
            </a:pPr>
            <a:r>
              <a:rPr b="1" i="0" lang="es-CO" sz="17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25,30 km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2" name="Google Shape;1242;p15"/>
          <p:cNvSpPr/>
          <p:nvPr/>
        </p:nvSpPr>
        <p:spPr>
          <a:xfrm>
            <a:off x="5041270" y="132588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3" name="Google Shape;1243;p15"/>
          <p:cNvSpPr txBox="1"/>
          <p:nvPr/>
        </p:nvSpPr>
        <p:spPr>
          <a:xfrm>
            <a:off x="5178430" y="1417320"/>
            <a:ext cx="183483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100"/>
              <a:buFont typeface="Calibri"/>
              <a:buNone/>
            </a:pPr>
            <a:r>
              <a:rPr b="0" i="0" lang="es-CO" sz="11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Valor por km contractual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4" name="Google Shape;1244;p15"/>
          <p:cNvSpPr txBox="1"/>
          <p:nvPr/>
        </p:nvSpPr>
        <p:spPr>
          <a:xfrm>
            <a:off x="5178430" y="1691640"/>
            <a:ext cx="183483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700"/>
              <a:buFont typeface="Calibri"/>
              <a:buNone/>
            </a:pPr>
            <a:r>
              <a:rPr b="1" i="0" lang="es-CO" sz="17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$ 865.272.379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5" name="Google Shape;1245;p15"/>
          <p:cNvSpPr/>
          <p:nvPr/>
        </p:nvSpPr>
        <p:spPr>
          <a:xfrm>
            <a:off x="7333305" y="132588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6" name="Google Shape;1246;p15"/>
          <p:cNvSpPr txBox="1"/>
          <p:nvPr/>
        </p:nvSpPr>
        <p:spPr>
          <a:xfrm>
            <a:off x="7470465" y="1417320"/>
            <a:ext cx="183483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100"/>
              <a:buFont typeface="Calibri"/>
              <a:buNone/>
            </a:pPr>
            <a:r>
              <a:rPr b="0" i="0" lang="es-CO" sz="11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Valor por km proyectado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7" name="Google Shape;1247;p15"/>
          <p:cNvSpPr txBox="1"/>
          <p:nvPr/>
        </p:nvSpPr>
        <p:spPr>
          <a:xfrm>
            <a:off x="7470465" y="1691640"/>
            <a:ext cx="183483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700"/>
              <a:buFont typeface="Calibri"/>
              <a:buNone/>
            </a:pPr>
            <a:r>
              <a:rPr b="1" i="0" lang="es-CO" sz="17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$ 1.203.682.582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8" name="Google Shape;1248;p15"/>
          <p:cNvSpPr/>
          <p:nvPr/>
        </p:nvSpPr>
        <p:spPr>
          <a:xfrm>
            <a:off x="9625340" y="132588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FBEAEA"/>
          </a:solidFill>
          <a:ln cap="flat" cmpd="sng" w="12700">
            <a:solidFill>
              <a:srgbClr val="FBEA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9" name="Google Shape;1249;p15"/>
          <p:cNvSpPr txBox="1"/>
          <p:nvPr/>
        </p:nvSpPr>
        <p:spPr>
          <a:xfrm>
            <a:off x="9762500" y="1417320"/>
            <a:ext cx="183483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100"/>
              <a:buFont typeface="Calibri"/>
              <a:buNone/>
            </a:pPr>
            <a:r>
              <a:rPr b="0" i="0" lang="es-CO" sz="11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Variación total (valor adicional)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0" name="Google Shape;1250;p15"/>
          <p:cNvSpPr txBox="1"/>
          <p:nvPr/>
        </p:nvSpPr>
        <p:spPr>
          <a:xfrm>
            <a:off x="9762500" y="1691640"/>
            <a:ext cx="183483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261E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B3261E"/>
                </a:solidFill>
                <a:latin typeface="Arial"/>
                <a:ea typeface="Arial"/>
                <a:cs typeface="Arial"/>
                <a:sym typeface="Arial"/>
              </a:rPr>
              <a:t>▲ </a:t>
            </a:r>
            <a:r>
              <a:rPr b="1" i="0" lang="es-CO" sz="1500" u="none" cap="none" strike="noStrike">
                <a:solidFill>
                  <a:srgbClr val="B3261E"/>
                </a:solidFill>
                <a:latin typeface="Calibri"/>
                <a:ea typeface="Calibri"/>
                <a:cs typeface="Calibri"/>
                <a:sym typeface="Calibri"/>
              </a:rPr>
              <a:t>$ 11.908.655.043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1" name="Google Shape;1251;p15"/>
          <p:cNvSpPr/>
          <p:nvPr/>
        </p:nvSpPr>
        <p:spPr>
          <a:xfrm>
            <a:off x="457200" y="2423160"/>
            <a:ext cx="3154680" cy="4114800"/>
          </a:xfrm>
          <a:prstGeom prst="roundRect">
            <a:avLst>
              <a:gd fmla="val 1739" name="adj"/>
            </a:avLst>
          </a:prstGeom>
          <a:solidFill>
            <a:srgbClr val="FFFFFF"/>
          </a:solidFill>
          <a:ln cap="flat" cmpd="sng" w="12700">
            <a:solidFill>
              <a:srgbClr val="D5DD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2" name="Google Shape;1252;p15"/>
          <p:cNvSpPr txBox="1"/>
          <p:nvPr/>
        </p:nvSpPr>
        <p:spPr>
          <a:xfrm>
            <a:off x="640080" y="2560320"/>
            <a:ext cx="2788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1100"/>
              <a:buFont typeface="Calibri"/>
              <a:buNone/>
            </a:pPr>
            <a:r>
              <a:rPr b="1" i="0" lang="es-CO" sz="11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ESTRUCTURA DE PAVIMENTO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3" name="Google Shape;1253;p15"/>
          <p:cNvSpPr txBox="1"/>
          <p:nvPr/>
        </p:nvSpPr>
        <p:spPr>
          <a:xfrm>
            <a:off x="640080" y="2816352"/>
            <a:ext cx="2788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1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Sopetrán – Horizontes – Belmira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4" name="Google Shape;1254;p15"/>
          <p:cNvSpPr txBox="1"/>
          <p:nvPr/>
        </p:nvSpPr>
        <p:spPr>
          <a:xfrm>
            <a:off x="640080" y="3172968"/>
            <a:ext cx="2788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LOTE 2 · Longitud: 35.190 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Tránsito – Estructuración: </a:t>
            </a: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231.000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Tránsito – Diseño: </a:t>
            </a: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529.734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5" name="Google Shape;1255;p15"/>
          <p:cNvSpPr txBox="1"/>
          <p:nvPr/>
        </p:nvSpPr>
        <p:spPr>
          <a:xfrm>
            <a:off x="457200" y="3794760"/>
            <a:ext cx="15773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1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Teórica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6" name="Google Shape;1256;p15"/>
          <p:cNvSpPr/>
          <p:nvPr/>
        </p:nvSpPr>
        <p:spPr>
          <a:xfrm>
            <a:off x="560070" y="4087368"/>
            <a:ext cx="960120" cy="182880"/>
          </a:xfrm>
          <a:prstGeom prst="rect">
            <a:avLst/>
          </a:prstGeom>
          <a:solidFill>
            <a:srgbClr val="1F2A36"/>
          </a:solidFill>
          <a:ln cap="flat" cmpd="sng" w="12700">
            <a:solidFill>
              <a:srgbClr val="1F2A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7" name="Google Shape;1257;p15"/>
          <p:cNvSpPr txBox="1"/>
          <p:nvPr/>
        </p:nvSpPr>
        <p:spPr>
          <a:xfrm>
            <a:off x="560070" y="4087368"/>
            <a:ext cx="9601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s-CO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TSD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8" name="Google Shape;1258;p15"/>
          <p:cNvSpPr/>
          <p:nvPr/>
        </p:nvSpPr>
        <p:spPr>
          <a:xfrm>
            <a:off x="560070" y="4270248"/>
            <a:ext cx="960120" cy="1056132"/>
          </a:xfrm>
          <a:prstGeom prst="rect">
            <a:avLst/>
          </a:prstGeom>
          <a:solidFill>
            <a:srgbClr val="D9A44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9" name="Google Shape;1259;p15"/>
          <p:cNvSpPr txBox="1"/>
          <p:nvPr/>
        </p:nvSpPr>
        <p:spPr>
          <a:xfrm>
            <a:off x="560070" y="4270248"/>
            <a:ext cx="960120" cy="52920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800"/>
              <a:buFont typeface="Calibri"/>
              <a:buNone/>
            </a:pPr>
            <a:r>
              <a:rPr b="1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Estabilización con cemento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0" name="Google Shape;1260;p15"/>
          <p:cNvSpPr/>
          <p:nvPr/>
        </p:nvSpPr>
        <p:spPr>
          <a:xfrm>
            <a:off x="624078" y="4799457"/>
            <a:ext cx="832104" cy="490347"/>
          </a:xfrm>
          <a:prstGeom prst="rect">
            <a:avLst/>
          </a:prstGeom>
          <a:solidFill>
            <a:srgbClr val="F2D58E"/>
          </a:solidFill>
          <a:ln cap="flat" cmpd="sng" w="9525">
            <a:solidFill>
              <a:srgbClr val="A87B1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1" name="Google Shape;1261;p15"/>
          <p:cNvSpPr txBox="1"/>
          <p:nvPr/>
        </p:nvSpPr>
        <p:spPr>
          <a:xfrm>
            <a:off x="624078" y="4799457"/>
            <a:ext cx="832104" cy="490347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800"/>
              <a:buFont typeface="Calibri"/>
              <a:buNone/>
            </a:pPr>
            <a:r>
              <a:rPr b="0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Subbase 13 cm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2" name="Google Shape;1262;p15"/>
          <p:cNvSpPr txBox="1"/>
          <p:nvPr/>
        </p:nvSpPr>
        <p:spPr>
          <a:xfrm>
            <a:off x="1575054" y="4270248"/>
            <a:ext cx="457200" cy="10561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28 cm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3" name="Google Shape;1263;p15"/>
          <p:cNvSpPr/>
          <p:nvPr/>
        </p:nvSpPr>
        <p:spPr>
          <a:xfrm>
            <a:off x="560070" y="5326380"/>
            <a:ext cx="960120" cy="754380"/>
          </a:xfrm>
          <a:prstGeom prst="rect">
            <a:avLst/>
          </a:prstGeom>
          <a:solidFill>
            <a:srgbClr val="8C6A4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4" name="Google Shape;1264;p15"/>
          <p:cNvSpPr txBox="1"/>
          <p:nvPr/>
        </p:nvSpPr>
        <p:spPr>
          <a:xfrm>
            <a:off x="560070" y="5326380"/>
            <a:ext cx="960120" cy="754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s-CO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Subrasante estabilizada con cal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5" name="Google Shape;1265;p15"/>
          <p:cNvSpPr txBox="1"/>
          <p:nvPr/>
        </p:nvSpPr>
        <p:spPr>
          <a:xfrm>
            <a:off x="1575054" y="5326380"/>
            <a:ext cx="457200" cy="754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20 cm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66" name="Google Shape;1266;p15"/>
          <p:cNvCxnSpPr/>
          <p:nvPr/>
        </p:nvCxnSpPr>
        <p:spPr>
          <a:xfrm>
            <a:off x="468630" y="6080760"/>
            <a:ext cx="1143000" cy="0"/>
          </a:xfrm>
          <a:prstGeom prst="straightConnector1">
            <a:avLst/>
          </a:prstGeom>
          <a:noFill/>
          <a:ln cap="flat" cmpd="sng" w="12700">
            <a:solidFill>
              <a:srgbClr val="1D2B2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67" name="Google Shape;1267;p15"/>
          <p:cNvSpPr txBox="1"/>
          <p:nvPr/>
        </p:nvSpPr>
        <p:spPr>
          <a:xfrm>
            <a:off x="457200" y="6153912"/>
            <a:ext cx="15773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Espesor total: </a:t>
            </a:r>
            <a:r>
              <a:rPr b="1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48 cm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8" name="Google Shape;1268;p15"/>
          <p:cNvSpPr txBox="1"/>
          <p:nvPr/>
        </p:nvSpPr>
        <p:spPr>
          <a:xfrm>
            <a:off x="2034540" y="3794760"/>
            <a:ext cx="15773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1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Presupuesto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9" name="Google Shape;1269;p15"/>
          <p:cNvSpPr/>
          <p:nvPr/>
        </p:nvSpPr>
        <p:spPr>
          <a:xfrm>
            <a:off x="2137410" y="4087368"/>
            <a:ext cx="960120" cy="182880"/>
          </a:xfrm>
          <a:prstGeom prst="rect">
            <a:avLst/>
          </a:prstGeom>
          <a:solidFill>
            <a:srgbClr val="1F2A36"/>
          </a:solidFill>
          <a:ln cap="flat" cmpd="sng" w="12700">
            <a:solidFill>
              <a:srgbClr val="1F2A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0" name="Google Shape;1270;p15"/>
          <p:cNvSpPr txBox="1"/>
          <p:nvPr/>
        </p:nvSpPr>
        <p:spPr>
          <a:xfrm>
            <a:off x="2137410" y="4087368"/>
            <a:ext cx="9601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s-CO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TSD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1" name="Google Shape;1271;p15"/>
          <p:cNvSpPr/>
          <p:nvPr/>
        </p:nvSpPr>
        <p:spPr>
          <a:xfrm>
            <a:off x="2137410" y="4270248"/>
            <a:ext cx="960120" cy="565785"/>
          </a:xfrm>
          <a:prstGeom prst="rect">
            <a:avLst/>
          </a:prstGeom>
          <a:solidFill>
            <a:srgbClr val="D9A44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2" name="Google Shape;1272;p15"/>
          <p:cNvSpPr txBox="1"/>
          <p:nvPr/>
        </p:nvSpPr>
        <p:spPr>
          <a:xfrm>
            <a:off x="2137410" y="4270248"/>
            <a:ext cx="960120" cy="56578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800"/>
              <a:buFont typeface="Calibri"/>
              <a:buNone/>
            </a:pPr>
            <a:r>
              <a:rPr b="1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Estabilización con cemento (MGTC)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3" name="Google Shape;1273;p15"/>
          <p:cNvSpPr txBox="1"/>
          <p:nvPr/>
        </p:nvSpPr>
        <p:spPr>
          <a:xfrm>
            <a:off x="3152394" y="4270248"/>
            <a:ext cx="457200" cy="5657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15 cm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4" name="Google Shape;1274;p15"/>
          <p:cNvSpPr/>
          <p:nvPr/>
        </p:nvSpPr>
        <p:spPr>
          <a:xfrm>
            <a:off x="2137410" y="4836033"/>
            <a:ext cx="960120" cy="301752"/>
          </a:xfrm>
          <a:prstGeom prst="rect">
            <a:avLst/>
          </a:prstGeom>
          <a:solidFill>
            <a:srgbClr val="8C6A4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5" name="Google Shape;1275;p15"/>
          <p:cNvSpPr txBox="1"/>
          <p:nvPr/>
        </p:nvSpPr>
        <p:spPr>
          <a:xfrm>
            <a:off x="2137410" y="4836033"/>
            <a:ext cx="96012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s-CO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Aporte de MG para nivelación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6" name="Google Shape;1276;p15"/>
          <p:cNvSpPr txBox="1"/>
          <p:nvPr/>
        </p:nvSpPr>
        <p:spPr>
          <a:xfrm>
            <a:off x="3152394" y="4836033"/>
            <a:ext cx="4572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12-18 cm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77" name="Google Shape;1277;p15"/>
          <p:cNvCxnSpPr/>
          <p:nvPr/>
        </p:nvCxnSpPr>
        <p:spPr>
          <a:xfrm>
            <a:off x="2045970" y="5137785"/>
            <a:ext cx="1143000" cy="0"/>
          </a:xfrm>
          <a:prstGeom prst="straightConnector1">
            <a:avLst/>
          </a:prstGeom>
          <a:noFill/>
          <a:ln cap="flat" cmpd="sng" w="12700">
            <a:solidFill>
              <a:srgbClr val="1D2B2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78" name="Google Shape;1278;p15"/>
          <p:cNvSpPr txBox="1"/>
          <p:nvPr/>
        </p:nvSpPr>
        <p:spPr>
          <a:xfrm>
            <a:off x="2034540" y="5210937"/>
            <a:ext cx="15773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Espesor total: </a:t>
            </a:r>
            <a:r>
              <a:rPr b="1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33 cm máx.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79" name="Google Shape;1279;p15"/>
          <p:cNvGraphicFramePr/>
          <p:nvPr/>
        </p:nvGraphicFramePr>
        <p:xfrm>
          <a:off x="3840480" y="24231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{2219430B-40B1-4F13-8D99-EA5D7966678A}</a:tableStyleId>
              </a:tblPr>
              <a:tblGrid>
                <a:gridCol w="2395725"/>
                <a:gridCol w="1097275"/>
                <a:gridCol w="603500"/>
                <a:gridCol w="1097275"/>
                <a:gridCol w="603500"/>
                <a:gridCol w="237750"/>
                <a:gridCol w="1097275"/>
                <a:gridCol w="758950"/>
              </a:tblGrid>
              <a:tr h="438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Grupo – actividad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Valor contractual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 sobre corredor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Valor proyectado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 sobre corredor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Variación (valor adicional)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 de variación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</a:tr>
              <a:tr h="27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Construcción alcantarilla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$ 4.830.547.138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$ 1.155.166.676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>
                          <a:solidFill>
                            <a:srgbClr val="0B5D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▼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0B5D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–$ 3.675.380.462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0B5D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–76,1 %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Construcción cuneta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$ 4.949.305.999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$ 7.924.132.990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>
                          <a:solidFill>
                            <a:srgbClr val="B32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▲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$ 2.974.826.991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60,1 %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27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Construcción filtro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$ 4.961.179.665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$ 4.917.400.717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>
                          <a:solidFill>
                            <a:srgbClr val="0B5D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▼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0B5D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–$ 43.778.948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0B5D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–0,9 %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Construcción bordillos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$ 857.464.758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$ 303.396.746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>
                          <a:solidFill>
                            <a:srgbClr val="0B5D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▼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0B5D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–$ 554.068.012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0B5D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–64,6 %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27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Construcción disipadores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$ 814.112.620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$ 165.184.936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>
                          <a:solidFill>
                            <a:srgbClr val="0B5D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▼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0B5D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–$ 648.927.684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0B5D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–79,7 %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Estabilización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$ 13.489.552.480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44%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$ 20.963.422.616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49%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B32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▲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$ 7.473.870.136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55,4 %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27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Señalización vial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$ 516.772.355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$ 395.402.045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>
                          <a:solidFill>
                            <a:srgbClr val="0B5D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▼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0B5D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–$ 121.370.310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0B5D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–23,5 %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Obras no previstas (excavación, conformación, realces, colocación de subbase)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–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$ 6.533.483.332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>
                          <a:solidFill>
                            <a:srgbClr val="B32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▲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$ 6.533.483.332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B65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N/A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27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CORREDOR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$ 30.448.935.015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100%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$ 42.357.590.058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100%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B32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▲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+$ 11.908.655.043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39,1 %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</a:tr>
            </a:tbl>
          </a:graphicData>
        </a:graphic>
      </p:graphicFrame>
      <p:sp>
        <p:nvSpPr>
          <p:cNvPr id="1280" name="Google Shape;1280;p15"/>
          <p:cNvSpPr txBox="1"/>
          <p:nvPr/>
        </p:nvSpPr>
        <p:spPr>
          <a:xfrm>
            <a:off x="3840480" y="5413248"/>
            <a:ext cx="78912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261E"/>
              </a:buClr>
              <a:buSzPts val="900"/>
              <a:buFont typeface="Arial"/>
              <a:buNone/>
            </a:pPr>
            <a:r>
              <a:rPr b="0" i="0" lang="es-CO" sz="900" u="none" cap="none" strike="noStrike">
                <a:solidFill>
                  <a:srgbClr val="B3261E"/>
                </a:solidFill>
                <a:latin typeface="Arial"/>
                <a:ea typeface="Arial"/>
                <a:cs typeface="Arial"/>
                <a:sym typeface="Arial"/>
              </a:rPr>
              <a:t>▲</a:t>
            </a: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 Se requiere mayor valor     </a:t>
            </a:r>
            <a:r>
              <a:rPr b="0" i="0" lang="es-CO" sz="900" u="none" cap="none" strike="noStrike">
                <a:solidFill>
                  <a:srgbClr val="0B5D2E"/>
                </a:solidFill>
                <a:latin typeface="Arial"/>
                <a:ea typeface="Arial"/>
                <a:cs typeface="Arial"/>
                <a:sym typeface="Arial"/>
              </a:rPr>
              <a:t>▼</a:t>
            </a: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 Sobra valor     % de variación = (valor proyectado – valor contractual) / valor contractual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1" name="Google Shape;1281;p15"/>
          <p:cNvSpPr/>
          <p:nvPr/>
        </p:nvSpPr>
        <p:spPr>
          <a:xfrm>
            <a:off x="3840480" y="5687568"/>
            <a:ext cx="7891272" cy="850392"/>
          </a:xfrm>
          <a:prstGeom prst="roundRect">
            <a:avLst>
              <a:gd fmla="val 6452" name="adj"/>
            </a:avLst>
          </a:prstGeom>
          <a:solidFill>
            <a:srgbClr val="FFFFFF"/>
          </a:solidFill>
          <a:ln cap="flat" cmpd="sng" w="12700">
            <a:solidFill>
              <a:srgbClr val="9AA7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00" lIns="1000" spcFirstLastPara="1" rIns="1500" wrap="square" tIns="15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100"/>
              <a:buFont typeface="Calibri"/>
              <a:buNone/>
            </a:pPr>
            <a:r>
              <a:rPr b="1" i="0" lang="es-CO" sz="11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Notas: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86" name="Shape 1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7" name="Google Shape;1287;p16"/>
          <p:cNvSpPr txBox="1"/>
          <p:nvPr/>
        </p:nvSpPr>
        <p:spPr>
          <a:xfrm>
            <a:off x="457200" y="320040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1200"/>
              <a:buFont typeface="Calibri"/>
              <a:buNone/>
            </a:pPr>
            <a:r>
              <a:rPr b="1" i="0" lang="es-CO" sz="1200" u="none" cap="none" strike="noStrike">
                <a:solidFill>
                  <a:srgbClr val="2E7D4F"/>
                </a:solidFill>
                <a:latin typeface="Poppins"/>
                <a:ea typeface="Poppins"/>
                <a:cs typeface="Poppins"/>
                <a:sym typeface="Poppins"/>
              </a:rPr>
              <a:t>INFORME DE EJECUCIÓN  ·  LOTE 2 – SUBREGIÓN OCCIDENTE</a:t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88" name="Google Shape;1288;p16"/>
          <p:cNvSpPr txBox="1"/>
          <p:nvPr/>
        </p:nvSpPr>
        <p:spPr>
          <a:xfrm>
            <a:off x="457200" y="594360"/>
            <a:ext cx="9692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2800"/>
              <a:buFont typeface="Calibri"/>
              <a:buNone/>
            </a:pPr>
            <a:r>
              <a:rPr b="1" i="0" lang="es-CO" sz="28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Sopetrán – Horizontes – Belmira</a:t>
            </a:r>
            <a:endParaRPr b="0" i="0" sz="2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descr="logo.png" id="1289" name="Google Shape;128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78440" y="320040"/>
            <a:ext cx="1371600" cy="676656"/>
          </a:xfrm>
          <a:prstGeom prst="rect">
            <a:avLst/>
          </a:prstGeom>
          <a:noFill/>
          <a:ln>
            <a:noFill/>
          </a:ln>
        </p:spPr>
      </p:pic>
      <p:sp>
        <p:nvSpPr>
          <p:cNvPr id="1290" name="Google Shape;1290;p16"/>
          <p:cNvSpPr/>
          <p:nvPr/>
        </p:nvSpPr>
        <p:spPr>
          <a:xfrm>
            <a:off x="457200" y="1234440"/>
            <a:ext cx="1765249" cy="658368"/>
          </a:xfrm>
          <a:prstGeom prst="roundRect">
            <a:avLst>
              <a:gd fmla="val 1111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1" name="Google Shape;1291;p16"/>
          <p:cNvSpPr txBox="1"/>
          <p:nvPr/>
        </p:nvSpPr>
        <p:spPr>
          <a:xfrm>
            <a:off x="566928" y="1289304"/>
            <a:ext cx="154579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50"/>
              <a:buFont typeface="Calibri"/>
              <a:buNone/>
            </a:pPr>
            <a:r>
              <a:rPr b="0" i="0" lang="es-CO" sz="9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Longitud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2" name="Google Shape;1292;p16"/>
          <p:cNvSpPr txBox="1"/>
          <p:nvPr/>
        </p:nvSpPr>
        <p:spPr>
          <a:xfrm>
            <a:off x="566928" y="1453896"/>
            <a:ext cx="154579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35,19 km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3" name="Google Shape;1293;p16"/>
          <p:cNvSpPr txBox="1"/>
          <p:nvPr/>
        </p:nvSpPr>
        <p:spPr>
          <a:xfrm>
            <a:off x="566928" y="1700784"/>
            <a:ext cx="1545793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00"/>
              <a:buFont typeface="Calibri"/>
              <a:buNone/>
            </a:pP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Alcance real 25,30 km · dif. 9,89 km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4" name="Google Shape;1294;p16"/>
          <p:cNvSpPr/>
          <p:nvPr/>
        </p:nvSpPr>
        <p:spPr>
          <a:xfrm>
            <a:off x="2359609" y="1234440"/>
            <a:ext cx="1765249" cy="658368"/>
          </a:xfrm>
          <a:prstGeom prst="roundRect">
            <a:avLst>
              <a:gd fmla="val 1111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5" name="Google Shape;1295;p16"/>
          <p:cNvSpPr txBox="1"/>
          <p:nvPr/>
        </p:nvSpPr>
        <p:spPr>
          <a:xfrm>
            <a:off x="2469337" y="1289304"/>
            <a:ext cx="154579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50"/>
              <a:buFont typeface="Calibri"/>
              <a:buNone/>
            </a:pPr>
            <a:r>
              <a:rPr b="0" i="0" lang="es-CO" sz="9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Valor total del corredor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6" name="Google Shape;1296;p16"/>
          <p:cNvSpPr txBox="1"/>
          <p:nvPr/>
        </p:nvSpPr>
        <p:spPr>
          <a:xfrm>
            <a:off x="2469337" y="1453896"/>
            <a:ext cx="154579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$ 30.448.935.015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7" name="Google Shape;1297;p16"/>
          <p:cNvSpPr txBox="1"/>
          <p:nvPr/>
        </p:nvSpPr>
        <p:spPr>
          <a:xfrm>
            <a:off x="2469337" y="1700784"/>
            <a:ext cx="1545793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00"/>
              <a:buFont typeface="Calibri"/>
              <a:buNone/>
            </a:pP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$ 865.272.379 por km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8" name="Google Shape;1298;p16"/>
          <p:cNvSpPr/>
          <p:nvPr/>
        </p:nvSpPr>
        <p:spPr>
          <a:xfrm>
            <a:off x="4262018" y="1234440"/>
            <a:ext cx="1765249" cy="658368"/>
          </a:xfrm>
          <a:prstGeom prst="roundRect">
            <a:avLst>
              <a:gd fmla="val 11111" name="adj"/>
            </a:avLst>
          </a:prstGeom>
          <a:solidFill>
            <a:srgbClr val="FBEAEA"/>
          </a:solidFill>
          <a:ln cap="flat" cmpd="sng" w="12700">
            <a:solidFill>
              <a:srgbClr val="FBEA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9" name="Google Shape;1299;p16"/>
          <p:cNvSpPr txBox="1"/>
          <p:nvPr/>
        </p:nvSpPr>
        <p:spPr>
          <a:xfrm>
            <a:off x="4371746" y="1289304"/>
            <a:ext cx="154579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50"/>
              <a:buFont typeface="Calibri"/>
              <a:buNone/>
            </a:pPr>
            <a:r>
              <a:rPr b="0" i="0" lang="es-CO" sz="9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Avance físico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0" name="Google Shape;1300;p16"/>
          <p:cNvSpPr txBox="1"/>
          <p:nvPr/>
        </p:nvSpPr>
        <p:spPr>
          <a:xfrm>
            <a:off x="4371746" y="1453896"/>
            <a:ext cx="154579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261E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B3261E"/>
                </a:solidFill>
                <a:latin typeface="Calibri"/>
                <a:ea typeface="Calibri"/>
                <a:cs typeface="Calibri"/>
                <a:sym typeface="Calibri"/>
              </a:rPr>
              <a:t>14 %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1" name="Google Shape;1301;p16"/>
          <p:cNvSpPr txBox="1"/>
          <p:nvPr/>
        </p:nvSpPr>
        <p:spPr>
          <a:xfrm>
            <a:off x="4371746" y="1700784"/>
            <a:ext cx="1545793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00"/>
              <a:buFont typeface="Calibri"/>
              <a:buNone/>
            </a:pP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Frente a 42,9 % del plazo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2" name="Google Shape;1302;p16"/>
          <p:cNvSpPr/>
          <p:nvPr/>
        </p:nvSpPr>
        <p:spPr>
          <a:xfrm>
            <a:off x="6164428" y="1234440"/>
            <a:ext cx="1765249" cy="658368"/>
          </a:xfrm>
          <a:prstGeom prst="roundRect">
            <a:avLst>
              <a:gd fmla="val 1111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3" name="Google Shape;1303;p16"/>
          <p:cNvSpPr txBox="1"/>
          <p:nvPr/>
        </p:nvSpPr>
        <p:spPr>
          <a:xfrm>
            <a:off x="6274156" y="1289304"/>
            <a:ext cx="154579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50"/>
              <a:buFont typeface="Calibri"/>
              <a:buNone/>
            </a:pPr>
            <a:r>
              <a:rPr b="0" i="0" lang="es-CO" sz="9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Avance financiero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4" name="Google Shape;1304;p16"/>
          <p:cNvSpPr txBox="1"/>
          <p:nvPr/>
        </p:nvSpPr>
        <p:spPr>
          <a:xfrm>
            <a:off x="6274156" y="1453896"/>
            <a:ext cx="154579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14 %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5" name="Google Shape;1305;p16"/>
          <p:cNvSpPr/>
          <p:nvPr/>
        </p:nvSpPr>
        <p:spPr>
          <a:xfrm>
            <a:off x="8066837" y="1234440"/>
            <a:ext cx="1765249" cy="658368"/>
          </a:xfrm>
          <a:prstGeom prst="roundRect">
            <a:avLst>
              <a:gd fmla="val 1111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6" name="Google Shape;1306;p16"/>
          <p:cNvSpPr txBox="1"/>
          <p:nvPr/>
        </p:nvSpPr>
        <p:spPr>
          <a:xfrm>
            <a:off x="8176565" y="1289304"/>
            <a:ext cx="154579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50"/>
              <a:buFont typeface="Calibri"/>
              <a:buNone/>
            </a:pPr>
            <a:r>
              <a:rPr b="0" i="0" lang="es-CO" sz="9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Plazo transcurrido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7" name="Google Shape;1307;p16"/>
          <p:cNvSpPr txBox="1"/>
          <p:nvPr/>
        </p:nvSpPr>
        <p:spPr>
          <a:xfrm>
            <a:off x="8176565" y="1453896"/>
            <a:ext cx="154579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42,9 %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8" name="Google Shape;1308;p16"/>
          <p:cNvSpPr txBox="1"/>
          <p:nvPr/>
        </p:nvSpPr>
        <p:spPr>
          <a:xfrm>
            <a:off x="8176565" y="1700784"/>
            <a:ext cx="1545793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00"/>
              <a:buFont typeface="Calibri"/>
              <a:buNone/>
            </a:pP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7,7 de 18 meses (al 02/10/2026)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9" name="Google Shape;1309;p16"/>
          <p:cNvSpPr/>
          <p:nvPr/>
        </p:nvSpPr>
        <p:spPr>
          <a:xfrm>
            <a:off x="9969246" y="1234440"/>
            <a:ext cx="1765249" cy="658368"/>
          </a:xfrm>
          <a:prstGeom prst="roundRect">
            <a:avLst>
              <a:gd fmla="val 1111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0" name="Google Shape;1310;p16"/>
          <p:cNvSpPr txBox="1"/>
          <p:nvPr/>
        </p:nvSpPr>
        <p:spPr>
          <a:xfrm>
            <a:off x="10078974" y="1289304"/>
            <a:ext cx="1545793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Inicio: </a:t>
            </a: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10/02/2026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Terminación: </a:t>
            </a: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10/08/2027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Corte: </a:t>
            </a: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25/09/2026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1" name="Google Shape;1311;p16"/>
          <p:cNvSpPr txBox="1"/>
          <p:nvPr/>
        </p:nvSpPr>
        <p:spPr>
          <a:xfrm>
            <a:off x="457200" y="1956816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1000"/>
              <a:buFont typeface="Calibri"/>
              <a:buNone/>
            </a:pPr>
            <a:r>
              <a:rPr b="1" i="0" lang="es-CO" sz="10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AVANCE POR ABSCISA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12" name="Google Shape;1312;p16"/>
          <p:cNvCxnSpPr/>
          <p:nvPr/>
        </p:nvCxnSpPr>
        <p:spPr>
          <a:xfrm>
            <a:off x="2103120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13" name="Google Shape;1313;p16"/>
          <p:cNvCxnSpPr/>
          <p:nvPr/>
        </p:nvCxnSpPr>
        <p:spPr>
          <a:xfrm>
            <a:off x="2360368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14" name="Google Shape;1314;p16"/>
          <p:cNvCxnSpPr/>
          <p:nvPr/>
        </p:nvCxnSpPr>
        <p:spPr>
          <a:xfrm>
            <a:off x="2617616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15" name="Google Shape;1315;p16"/>
          <p:cNvCxnSpPr/>
          <p:nvPr/>
        </p:nvCxnSpPr>
        <p:spPr>
          <a:xfrm>
            <a:off x="2874864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16" name="Google Shape;1316;p16"/>
          <p:cNvCxnSpPr/>
          <p:nvPr/>
        </p:nvCxnSpPr>
        <p:spPr>
          <a:xfrm>
            <a:off x="3132112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17" name="Google Shape;1317;p16"/>
          <p:cNvCxnSpPr/>
          <p:nvPr/>
        </p:nvCxnSpPr>
        <p:spPr>
          <a:xfrm>
            <a:off x="3389360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18" name="Google Shape;1318;p16"/>
          <p:cNvCxnSpPr/>
          <p:nvPr/>
        </p:nvCxnSpPr>
        <p:spPr>
          <a:xfrm>
            <a:off x="3646608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19" name="Google Shape;1319;p16"/>
          <p:cNvCxnSpPr/>
          <p:nvPr/>
        </p:nvCxnSpPr>
        <p:spPr>
          <a:xfrm>
            <a:off x="3903857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20" name="Google Shape;1320;p16"/>
          <p:cNvCxnSpPr/>
          <p:nvPr/>
        </p:nvCxnSpPr>
        <p:spPr>
          <a:xfrm>
            <a:off x="4161105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21" name="Google Shape;1321;p16"/>
          <p:cNvCxnSpPr/>
          <p:nvPr/>
        </p:nvCxnSpPr>
        <p:spPr>
          <a:xfrm>
            <a:off x="4418353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22" name="Google Shape;1322;p16"/>
          <p:cNvCxnSpPr/>
          <p:nvPr/>
        </p:nvCxnSpPr>
        <p:spPr>
          <a:xfrm>
            <a:off x="4675601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23" name="Google Shape;1323;p16"/>
          <p:cNvCxnSpPr/>
          <p:nvPr/>
        </p:nvCxnSpPr>
        <p:spPr>
          <a:xfrm>
            <a:off x="4932849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24" name="Google Shape;1324;p16"/>
          <p:cNvCxnSpPr/>
          <p:nvPr/>
        </p:nvCxnSpPr>
        <p:spPr>
          <a:xfrm>
            <a:off x="5190097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25" name="Google Shape;1325;p16"/>
          <p:cNvCxnSpPr/>
          <p:nvPr/>
        </p:nvCxnSpPr>
        <p:spPr>
          <a:xfrm>
            <a:off x="5447345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26" name="Google Shape;1326;p16"/>
          <p:cNvCxnSpPr/>
          <p:nvPr/>
        </p:nvCxnSpPr>
        <p:spPr>
          <a:xfrm>
            <a:off x="5704593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27" name="Google Shape;1327;p16"/>
          <p:cNvCxnSpPr/>
          <p:nvPr/>
        </p:nvCxnSpPr>
        <p:spPr>
          <a:xfrm>
            <a:off x="5961841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28" name="Google Shape;1328;p16"/>
          <p:cNvCxnSpPr/>
          <p:nvPr/>
        </p:nvCxnSpPr>
        <p:spPr>
          <a:xfrm>
            <a:off x="6219089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29" name="Google Shape;1329;p16"/>
          <p:cNvCxnSpPr/>
          <p:nvPr/>
        </p:nvCxnSpPr>
        <p:spPr>
          <a:xfrm>
            <a:off x="6476337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30" name="Google Shape;1330;p16"/>
          <p:cNvCxnSpPr/>
          <p:nvPr/>
        </p:nvCxnSpPr>
        <p:spPr>
          <a:xfrm>
            <a:off x="6733585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31" name="Google Shape;1331;p16"/>
          <p:cNvCxnSpPr/>
          <p:nvPr/>
        </p:nvCxnSpPr>
        <p:spPr>
          <a:xfrm>
            <a:off x="6990834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32" name="Google Shape;1332;p16"/>
          <p:cNvCxnSpPr/>
          <p:nvPr/>
        </p:nvCxnSpPr>
        <p:spPr>
          <a:xfrm>
            <a:off x="7248082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33" name="Google Shape;1333;p16"/>
          <p:cNvCxnSpPr/>
          <p:nvPr/>
        </p:nvCxnSpPr>
        <p:spPr>
          <a:xfrm>
            <a:off x="7505330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34" name="Google Shape;1334;p16"/>
          <p:cNvCxnSpPr/>
          <p:nvPr/>
        </p:nvCxnSpPr>
        <p:spPr>
          <a:xfrm>
            <a:off x="7762578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35" name="Google Shape;1335;p16"/>
          <p:cNvCxnSpPr/>
          <p:nvPr/>
        </p:nvCxnSpPr>
        <p:spPr>
          <a:xfrm>
            <a:off x="8019826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36" name="Google Shape;1336;p16"/>
          <p:cNvCxnSpPr/>
          <p:nvPr/>
        </p:nvCxnSpPr>
        <p:spPr>
          <a:xfrm>
            <a:off x="8277074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37" name="Google Shape;1337;p16"/>
          <p:cNvCxnSpPr/>
          <p:nvPr/>
        </p:nvCxnSpPr>
        <p:spPr>
          <a:xfrm>
            <a:off x="8534322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38" name="Google Shape;1338;p16"/>
          <p:cNvCxnSpPr/>
          <p:nvPr/>
        </p:nvCxnSpPr>
        <p:spPr>
          <a:xfrm>
            <a:off x="8791570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39" name="Google Shape;1339;p16"/>
          <p:cNvCxnSpPr/>
          <p:nvPr/>
        </p:nvCxnSpPr>
        <p:spPr>
          <a:xfrm>
            <a:off x="9048818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40" name="Google Shape;1340;p16"/>
          <p:cNvCxnSpPr/>
          <p:nvPr/>
        </p:nvCxnSpPr>
        <p:spPr>
          <a:xfrm>
            <a:off x="9306066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41" name="Google Shape;1341;p16"/>
          <p:cNvCxnSpPr/>
          <p:nvPr/>
        </p:nvCxnSpPr>
        <p:spPr>
          <a:xfrm>
            <a:off x="9563314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42" name="Google Shape;1342;p16"/>
          <p:cNvCxnSpPr/>
          <p:nvPr/>
        </p:nvCxnSpPr>
        <p:spPr>
          <a:xfrm>
            <a:off x="9820562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43" name="Google Shape;1343;p16"/>
          <p:cNvCxnSpPr/>
          <p:nvPr/>
        </p:nvCxnSpPr>
        <p:spPr>
          <a:xfrm>
            <a:off x="10077811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44" name="Google Shape;1344;p16"/>
          <p:cNvCxnSpPr/>
          <p:nvPr/>
        </p:nvCxnSpPr>
        <p:spPr>
          <a:xfrm>
            <a:off x="10335059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45" name="Google Shape;1345;p16"/>
          <p:cNvCxnSpPr/>
          <p:nvPr/>
        </p:nvCxnSpPr>
        <p:spPr>
          <a:xfrm>
            <a:off x="10592307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46" name="Google Shape;1346;p16"/>
          <p:cNvCxnSpPr/>
          <p:nvPr/>
        </p:nvCxnSpPr>
        <p:spPr>
          <a:xfrm>
            <a:off x="10849555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47" name="Google Shape;1347;p16"/>
          <p:cNvCxnSpPr/>
          <p:nvPr/>
        </p:nvCxnSpPr>
        <p:spPr>
          <a:xfrm>
            <a:off x="11106803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48" name="Google Shape;1348;p16"/>
          <p:cNvSpPr txBox="1"/>
          <p:nvPr/>
        </p:nvSpPr>
        <p:spPr>
          <a:xfrm>
            <a:off x="1874520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9" name="Google Shape;1349;p16"/>
          <p:cNvSpPr txBox="1"/>
          <p:nvPr/>
        </p:nvSpPr>
        <p:spPr>
          <a:xfrm>
            <a:off x="3160760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0" name="Google Shape;1350;p16"/>
          <p:cNvSpPr txBox="1"/>
          <p:nvPr/>
        </p:nvSpPr>
        <p:spPr>
          <a:xfrm>
            <a:off x="4447001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K10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1" name="Google Shape;1351;p16"/>
          <p:cNvSpPr txBox="1"/>
          <p:nvPr/>
        </p:nvSpPr>
        <p:spPr>
          <a:xfrm>
            <a:off x="5733241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K15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2" name="Google Shape;1352;p16"/>
          <p:cNvSpPr txBox="1"/>
          <p:nvPr/>
        </p:nvSpPr>
        <p:spPr>
          <a:xfrm>
            <a:off x="7019482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K20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3" name="Google Shape;1353;p16"/>
          <p:cNvSpPr txBox="1"/>
          <p:nvPr/>
        </p:nvSpPr>
        <p:spPr>
          <a:xfrm>
            <a:off x="8305722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K25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4" name="Google Shape;1354;p16"/>
          <p:cNvSpPr txBox="1"/>
          <p:nvPr/>
        </p:nvSpPr>
        <p:spPr>
          <a:xfrm>
            <a:off x="9591962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K30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5" name="Google Shape;1355;p16"/>
          <p:cNvSpPr txBox="1"/>
          <p:nvPr/>
        </p:nvSpPr>
        <p:spPr>
          <a:xfrm>
            <a:off x="10835640" y="2139696"/>
            <a:ext cx="54864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K35+190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6" name="Google Shape;1356;p16"/>
          <p:cNvSpPr/>
          <p:nvPr/>
        </p:nvSpPr>
        <p:spPr>
          <a:xfrm>
            <a:off x="2103120" y="2359152"/>
            <a:ext cx="9052560" cy="73152"/>
          </a:xfrm>
          <a:prstGeom prst="rect">
            <a:avLst/>
          </a:prstGeom>
          <a:solidFill>
            <a:srgbClr val="1F2A36"/>
          </a:solidFill>
          <a:ln cap="flat" cmpd="sng" w="12700">
            <a:solidFill>
              <a:srgbClr val="1F2A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57" name="Google Shape;1357;p16"/>
          <p:cNvCxnSpPr/>
          <p:nvPr/>
        </p:nvCxnSpPr>
        <p:spPr>
          <a:xfrm>
            <a:off x="2139696" y="2395728"/>
            <a:ext cx="8979408" cy="0"/>
          </a:xfrm>
          <a:prstGeom prst="straightConnector1">
            <a:avLst/>
          </a:prstGeom>
          <a:noFill/>
          <a:ln cap="flat" cmpd="sng" w="9525">
            <a:solidFill>
              <a:srgbClr val="F2C94C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358" name="Google Shape;1358;p16"/>
          <p:cNvCxnSpPr/>
          <p:nvPr/>
        </p:nvCxnSpPr>
        <p:spPr>
          <a:xfrm>
            <a:off x="731520" y="2487168"/>
            <a:ext cx="0" cy="338328"/>
          </a:xfrm>
          <a:prstGeom prst="straightConnector1">
            <a:avLst/>
          </a:prstGeom>
          <a:noFill/>
          <a:ln cap="flat" cmpd="sng" w="19050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59" name="Google Shape;1359;p16"/>
          <p:cNvSpPr txBox="1"/>
          <p:nvPr/>
        </p:nvSpPr>
        <p:spPr>
          <a:xfrm rot="-5400000">
            <a:off x="260604" y="2574036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700"/>
              <a:buFont typeface="Calibri"/>
              <a:buNone/>
            </a:pPr>
            <a:r>
              <a:rPr b="1" i="0" lang="es-CO" sz="7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CAMPO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0" name="Google Shape;1360;p16"/>
          <p:cNvSpPr txBox="1"/>
          <p:nvPr/>
        </p:nvSpPr>
        <p:spPr>
          <a:xfrm>
            <a:off x="777240" y="2487168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Topografía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1" name="Google Shape;1361;p16"/>
          <p:cNvSpPr/>
          <p:nvPr/>
        </p:nvSpPr>
        <p:spPr>
          <a:xfrm>
            <a:off x="2103120" y="2487168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2" name="Google Shape;1362;p16"/>
          <p:cNvSpPr txBox="1"/>
          <p:nvPr/>
        </p:nvSpPr>
        <p:spPr>
          <a:xfrm>
            <a:off x="2194560" y="2487168"/>
            <a:ext cx="886968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00"/>
              <a:buFont typeface="Calibri"/>
              <a:buNone/>
            </a:pP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10 km ejecutados · abscisas no reportadas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3" name="Google Shape;1363;p16"/>
          <p:cNvSpPr txBox="1"/>
          <p:nvPr/>
        </p:nvSpPr>
        <p:spPr>
          <a:xfrm>
            <a:off x="11201400" y="2487168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29 %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4" name="Google Shape;1364;p16"/>
          <p:cNvSpPr txBox="1"/>
          <p:nvPr/>
        </p:nvSpPr>
        <p:spPr>
          <a:xfrm>
            <a:off x="777240" y="2670048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Apiques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5" name="Google Shape;1365;p16"/>
          <p:cNvSpPr/>
          <p:nvPr/>
        </p:nvSpPr>
        <p:spPr>
          <a:xfrm>
            <a:off x="2103120" y="2670048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6" name="Google Shape;1366;p16"/>
          <p:cNvSpPr/>
          <p:nvPr/>
        </p:nvSpPr>
        <p:spPr>
          <a:xfrm>
            <a:off x="2103120" y="2670048"/>
            <a:ext cx="9052560" cy="155448"/>
          </a:xfrm>
          <a:prstGeom prst="rect">
            <a:avLst/>
          </a:prstGeom>
          <a:solidFill>
            <a:srgbClr val="2E7D4F"/>
          </a:solidFill>
          <a:ln cap="flat" cmpd="sng" w="9525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7" name="Google Shape;1367;p16"/>
          <p:cNvSpPr txBox="1"/>
          <p:nvPr/>
        </p:nvSpPr>
        <p:spPr>
          <a:xfrm>
            <a:off x="11201400" y="2670048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100 %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68" name="Google Shape;1368;p16"/>
          <p:cNvCxnSpPr/>
          <p:nvPr/>
        </p:nvCxnSpPr>
        <p:spPr>
          <a:xfrm>
            <a:off x="731520" y="2953512"/>
            <a:ext cx="0" cy="466344"/>
          </a:xfrm>
          <a:prstGeom prst="straightConnector1">
            <a:avLst/>
          </a:prstGeom>
          <a:noFill/>
          <a:ln cap="flat" cmpd="sng" w="19050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69" name="Google Shape;1369;p16"/>
          <p:cNvSpPr txBox="1"/>
          <p:nvPr/>
        </p:nvSpPr>
        <p:spPr>
          <a:xfrm rot="-5400000">
            <a:off x="260604" y="3104388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700"/>
              <a:buFont typeface="Calibri"/>
              <a:buNone/>
            </a:pPr>
            <a:r>
              <a:rPr b="1" i="0" lang="es-CO" sz="7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ESTRUCTURA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0" name="Google Shape;1370;p16"/>
          <p:cNvSpPr txBox="1"/>
          <p:nvPr/>
        </p:nvSpPr>
        <p:spPr>
          <a:xfrm>
            <a:off x="777240" y="2953512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Rodadura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1" name="Google Shape;1371;p16"/>
          <p:cNvSpPr/>
          <p:nvPr/>
        </p:nvSpPr>
        <p:spPr>
          <a:xfrm>
            <a:off x="2103120" y="2953512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2" name="Google Shape;1372;p16"/>
          <p:cNvSpPr txBox="1"/>
          <p:nvPr/>
        </p:nvSpPr>
        <p:spPr>
          <a:xfrm>
            <a:off x="11201400" y="2953512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3" name="Google Shape;1373;p16"/>
          <p:cNvSpPr txBox="1"/>
          <p:nvPr/>
        </p:nvSpPr>
        <p:spPr>
          <a:xfrm>
            <a:off x="777240" y="3108960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Capa granular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4" name="Google Shape;1374;p16"/>
          <p:cNvSpPr/>
          <p:nvPr/>
        </p:nvSpPr>
        <p:spPr>
          <a:xfrm>
            <a:off x="2103120" y="3108960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5" name="Google Shape;1375;p16"/>
          <p:cNvSpPr txBox="1"/>
          <p:nvPr/>
        </p:nvSpPr>
        <p:spPr>
          <a:xfrm>
            <a:off x="11201400" y="3108960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6" name="Google Shape;1376;p16"/>
          <p:cNvSpPr txBox="1"/>
          <p:nvPr/>
        </p:nvSpPr>
        <p:spPr>
          <a:xfrm>
            <a:off x="777240" y="3264408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Subrasante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7" name="Google Shape;1377;p16"/>
          <p:cNvSpPr/>
          <p:nvPr/>
        </p:nvSpPr>
        <p:spPr>
          <a:xfrm>
            <a:off x="2103120" y="3264408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8" name="Google Shape;1378;p16"/>
          <p:cNvSpPr txBox="1"/>
          <p:nvPr/>
        </p:nvSpPr>
        <p:spPr>
          <a:xfrm>
            <a:off x="11201400" y="3264408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79" name="Google Shape;1379;p16"/>
          <p:cNvCxnSpPr/>
          <p:nvPr/>
        </p:nvCxnSpPr>
        <p:spPr>
          <a:xfrm>
            <a:off x="731520" y="3511296"/>
            <a:ext cx="0" cy="521208"/>
          </a:xfrm>
          <a:prstGeom prst="straightConnector1">
            <a:avLst/>
          </a:prstGeom>
          <a:noFill/>
          <a:ln cap="flat" cmpd="sng" w="19050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80" name="Google Shape;1380;p16"/>
          <p:cNvSpPr txBox="1"/>
          <p:nvPr/>
        </p:nvSpPr>
        <p:spPr>
          <a:xfrm rot="-5400000">
            <a:off x="260604" y="3689604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700"/>
              <a:buFont typeface="Calibri"/>
              <a:buNone/>
            </a:pPr>
            <a:r>
              <a:rPr b="1" i="0" lang="es-CO" sz="7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DRENAJE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1" name="Google Shape;1381;p16"/>
          <p:cNvSpPr txBox="1"/>
          <p:nvPr/>
        </p:nvSpPr>
        <p:spPr>
          <a:xfrm>
            <a:off x="777240" y="3511296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Cunetas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2" name="Google Shape;1382;p16"/>
          <p:cNvSpPr/>
          <p:nvPr/>
        </p:nvSpPr>
        <p:spPr>
          <a:xfrm>
            <a:off x="2103120" y="3511296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3" name="Google Shape;1383;p16"/>
          <p:cNvSpPr txBox="1"/>
          <p:nvPr/>
        </p:nvSpPr>
        <p:spPr>
          <a:xfrm>
            <a:off x="11201400" y="3511296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4" name="Google Shape;1384;p16"/>
          <p:cNvSpPr txBox="1"/>
          <p:nvPr/>
        </p:nvSpPr>
        <p:spPr>
          <a:xfrm>
            <a:off x="777240" y="3694176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Filtros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5" name="Google Shape;1385;p16"/>
          <p:cNvSpPr txBox="1"/>
          <p:nvPr/>
        </p:nvSpPr>
        <p:spPr>
          <a:xfrm>
            <a:off x="1920240" y="3694176"/>
            <a:ext cx="137160" cy="777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700"/>
              <a:buFont typeface="Calibri"/>
              <a:buNone/>
            </a:pPr>
            <a:r>
              <a:rPr b="0" i="0" lang="es-CO" sz="7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6" name="Google Shape;1386;p16"/>
          <p:cNvSpPr txBox="1"/>
          <p:nvPr/>
        </p:nvSpPr>
        <p:spPr>
          <a:xfrm>
            <a:off x="1920240" y="3771900"/>
            <a:ext cx="137160" cy="777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700"/>
              <a:buFont typeface="Calibri"/>
              <a:buNone/>
            </a:pPr>
            <a:r>
              <a:rPr b="0" i="0" lang="es-CO" sz="7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7" name="Google Shape;1387;p16"/>
          <p:cNvSpPr/>
          <p:nvPr/>
        </p:nvSpPr>
        <p:spPr>
          <a:xfrm>
            <a:off x="2103120" y="3694176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88" name="Google Shape;1388;p16"/>
          <p:cNvCxnSpPr/>
          <p:nvPr/>
        </p:nvCxnSpPr>
        <p:spPr>
          <a:xfrm>
            <a:off x="2103120" y="3771900"/>
            <a:ext cx="9052560" cy="0"/>
          </a:xfrm>
          <a:prstGeom prst="straightConnector1">
            <a:avLst/>
          </a:prstGeom>
          <a:noFill/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89" name="Google Shape;1389;p16"/>
          <p:cNvSpPr txBox="1"/>
          <p:nvPr/>
        </p:nvSpPr>
        <p:spPr>
          <a:xfrm>
            <a:off x="2194560" y="3694176"/>
            <a:ext cx="886968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00"/>
              <a:buFont typeface="Calibri"/>
              <a:buNone/>
            </a:pP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5.118 m ejecutados · abscisas no reportadas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0" name="Google Shape;1390;p16"/>
          <p:cNvSpPr txBox="1"/>
          <p:nvPr/>
        </p:nvSpPr>
        <p:spPr>
          <a:xfrm>
            <a:off x="11201400" y="3694176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15 %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1" name="Google Shape;1391;p16"/>
          <p:cNvSpPr txBox="1"/>
          <p:nvPr/>
        </p:nvSpPr>
        <p:spPr>
          <a:xfrm>
            <a:off x="777240" y="3877056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Alcantarillas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2" name="Google Shape;1392;p16"/>
          <p:cNvSpPr/>
          <p:nvPr/>
        </p:nvSpPr>
        <p:spPr>
          <a:xfrm>
            <a:off x="2103120" y="3877056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3" name="Google Shape;1393;p16"/>
          <p:cNvSpPr/>
          <p:nvPr/>
        </p:nvSpPr>
        <p:spPr>
          <a:xfrm>
            <a:off x="2103120" y="3877056"/>
            <a:ext cx="9052560" cy="155448"/>
          </a:xfrm>
          <a:prstGeom prst="rect">
            <a:avLst/>
          </a:prstGeom>
          <a:solidFill>
            <a:srgbClr val="A9C7B3"/>
          </a:solidFill>
          <a:ln cap="flat" cmpd="sng" w="9525">
            <a:solidFill>
              <a:srgbClr val="A9C7B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4" name="Google Shape;1394;p16"/>
          <p:cNvSpPr txBox="1"/>
          <p:nvPr/>
        </p:nvSpPr>
        <p:spPr>
          <a:xfrm>
            <a:off x="11201400" y="3877056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100 %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5" name="Google Shape;1395;p16"/>
          <p:cNvSpPr txBox="1"/>
          <p:nvPr/>
        </p:nvSpPr>
        <p:spPr>
          <a:xfrm>
            <a:off x="457200" y="4078224"/>
            <a:ext cx="11277295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D9A6"/>
              </a:buClr>
              <a:buSzPts val="800"/>
              <a:buFont typeface="Calibri"/>
              <a:buNone/>
            </a:pPr>
            <a:r>
              <a:rPr b="0" i="0" lang="es-CO" sz="800" u="none" cap="none" strike="noStrike">
                <a:solidFill>
                  <a:srgbClr val="EBD9A6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Natural    </a:t>
            </a:r>
            <a:r>
              <a:rPr b="0" i="0" lang="es-CO" sz="800" u="none" cap="none" strike="noStrike">
                <a:solidFill>
                  <a:srgbClr val="8C6A4F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Cal    </a:t>
            </a:r>
            <a:r>
              <a:rPr b="0" i="0" lang="es-CO" sz="800" u="none" cap="none" strike="noStrike">
                <a:solidFill>
                  <a:srgbClr val="D9A441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Cemento    </a:t>
            </a:r>
            <a:r>
              <a:rPr b="0" i="0" lang="es-CO" sz="800" u="none" cap="none" strike="noStrike">
                <a:solidFill>
                  <a:srgbClr val="1F2A36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TSD    </a:t>
            </a:r>
            <a:r>
              <a:rPr b="0" i="0" lang="es-CO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MDC-19    </a:t>
            </a:r>
            <a:r>
              <a:rPr b="0" i="0" lang="es-CO" sz="8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Ejecutado    </a:t>
            </a:r>
            <a:r>
              <a:rPr b="0" i="0" lang="es-CO" sz="800" u="none" cap="none" strike="noStrike">
                <a:solidFill>
                  <a:srgbClr val="A9C7B3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Limpieza alcantarillas    </a:t>
            </a:r>
            <a:r>
              <a:rPr b="0" i="0" lang="es-CO" sz="800" u="none" cap="none" strike="noStrike">
                <a:solidFill>
                  <a:srgbClr val="2F6FB0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Alcantarilla nueva    </a:t>
            </a:r>
            <a:r>
              <a:rPr b="0" i="0" lang="es-CO" sz="800" u="none" cap="none" strike="noStrike">
                <a:solidFill>
                  <a:srgbClr val="E07B24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Reemplazada    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6" name="Google Shape;1396;p16"/>
          <p:cNvSpPr txBox="1"/>
          <p:nvPr/>
        </p:nvSpPr>
        <p:spPr>
          <a:xfrm>
            <a:off x="457200" y="4301688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1000"/>
              <a:buFont typeface="Calibri"/>
              <a:buNone/>
            </a:pPr>
            <a:r>
              <a:rPr b="1" i="0" lang="es-CO" sz="10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AVANCE POR ACTIVIDAD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7" name="Google Shape;1397;p16"/>
          <p:cNvSpPr txBox="1"/>
          <p:nvPr/>
        </p:nvSpPr>
        <p:spPr>
          <a:xfrm>
            <a:off x="457200" y="4758888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Construcción alcantarilla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8" name="Google Shape;1398;p16"/>
          <p:cNvSpPr txBox="1"/>
          <p:nvPr/>
        </p:nvSpPr>
        <p:spPr>
          <a:xfrm>
            <a:off x="457200" y="4960056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Construcción cuneta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9" name="Google Shape;1399;p16"/>
          <p:cNvSpPr txBox="1"/>
          <p:nvPr/>
        </p:nvSpPr>
        <p:spPr>
          <a:xfrm>
            <a:off x="457200" y="5161224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Construcción filtro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0" name="Google Shape;1400;p16"/>
          <p:cNvSpPr txBox="1"/>
          <p:nvPr/>
        </p:nvSpPr>
        <p:spPr>
          <a:xfrm>
            <a:off x="457200" y="5362392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Construcción bordillos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1" name="Google Shape;1401;p16"/>
          <p:cNvSpPr txBox="1"/>
          <p:nvPr/>
        </p:nvSpPr>
        <p:spPr>
          <a:xfrm>
            <a:off x="457200" y="5563560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Estabilización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2" name="Google Shape;1402;p16"/>
          <p:cNvSpPr txBox="1"/>
          <p:nvPr/>
        </p:nvSpPr>
        <p:spPr>
          <a:xfrm>
            <a:off x="457200" y="5764728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Señalización vial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3" name="Google Shape;1403;p16"/>
          <p:cNvSpPr txBox="1"/>
          <p:nvPr/>
        </p:nvSpPr>
        <p:spPr>
          <a:xfrm>
            <a:off x="2651760" y="4539432"/>
            <a:ext cx="2926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-CO" sz="800" u="none" cap="none" strike="noStrike">
                <a:solidFill>
                  <a:srgbClr val="192D23"/>
                </a:solidFill>
                <a:latin typeface="Arial"/>
                <a:ea typeface="Arial"/>
                <a:cs typeface="Arial"/>
                <a:sym typeface="Arial"/>
              </a:rPr>
              <a:t>Presupuestada  </a:t>
            </a:r>
            <a:r>
              <a:rPr b="0" i="0" lang="es-CO" sz="800" u="none" cap="none" strike="noStrike">
                <a:solidFill>
                  <a:srgbClr val="A9C7B3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r>
              <a:rPr b="0" i="0" lang="es-CO" sz="800" u="none" cap="none" strike="noStrike">
                <a:solidFill>
                  <a:srgbClr val="192D23"/>
                </a:solidFill>
                <a:latin typeface="Arial"/>
                <a:ea typeface="Arial"/>
                <a:cs typeface="Arial"/>
                <a:sym typeface="Arial"/>
              </a:rPr>
              <a:t>    Real  </a:t>
            </a:r>
            <a:r>
              <a:rPr b="0" i="0" lang="es-CO" sz="800" u="none" cap="none" strike="noStrike">
                <a:solidFill>
                  <a:srgbClr val="2E7D4F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4" name="Google Shape;1404;p16"/>
          <p:cNvSpPr/>
          <p:nvPr/>
        </p:nvSpPr>
        <p:spPr>
          <a:xfrm>
            <a:off x="2551176" y="4777175"/>
            <a:ext cx="4096512" cy="68580"/>
          </a:xfrm>
          <a:prstGeom prst="rect">
            <a:avLst/>
          </a:prstGeom>
          <a:solidFill>
            <a:srgbClr val="A9C7B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5" name="Google Shape;1405;p16"/>
          <p:cNvSpPr/>
          <p:nvPr/>
        </p:nvSpPr>
        <p:spPr>
          <a:xfrm>
            <a:off x="2551176" y="4854900"/>
            <a:ext cx="348639" cy="6858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6" name="Google Shape;1406;p16"/>
          <p:cNvSpPr/>
          <p:nvPr/>
        </p:nvSpPr>
        <p:spPr>
          <a:xfrm>
            <a:off x="2551176" y="4978344"/>
            <a:ext cx="2926080" cy="68580"/>
          </a:xfrm>
          <a:prstGeom prst="rect">
            <a:avLst/>
          </a:prstGeom>
          <a:solidFill>
            <a:srgbClr val="A9C7B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7" name="Google Shape;1407;p16"/>
          <p:cNvSpPr/>
          <p:nvPr/>
        </p:nvSpPr>
        <p:spPr>
          <a:xfrm>
            <a:off x="2551176" y="5056068"/>
            <a:ext cx="4096512" cy="6858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8" name="Google Shape;1408;p16"/>
          <p:cNvSpPr/>
          <p:nvPr/>
        </p:nvSpPr>
        <p:spPr>
          <a:xfrm>
            <a:off x="2551176" y="5179512"/>
            <a:ext cx="4096512" cy="68580"/>
          </a:xfrm>
          <a:prstGeom prst="rect">
            <a:avLst/>
          </a:prstGeom>
          <a:solidFill>
            <a:srgbClr val="A9C7B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9" name="Google Shape;1409;p16"/>
          <p:cNvSpPr/>
          <p:nvPr/>
        </p:nvSpPr>
        <p:spPr>
          <a:xfrm>
            <a:off x="2551176" y="5257236"/>
            <a:ext cx="4096512" cy="6858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0" name="Google Shape;1410;p16"/>
          <p:cNvSpPr/>
          <p:nvPr/>
        </p:nvSpPr>
        <p:spPr>
          <a:xfrm>
            <a:off x="2551176" y="5380679"/>
            <a:ext cx="4096512" cy="68580"/>
          </a:xfrm>
          <a:prstGeom prst="rect">
            <a:avLst/>
          </a:prstGeom>
          <a:solidFill>
            <a:srgbClr val="A9C7B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1" name="Google Shape;1411;p16"/>
          <p:cNvSpPr/>
          <p:nvPr/>
        </p:nvSpPr>
        <p:spPr>
          <a:xfrm>
            <a:off x="2551176" y="5458404"/>
            <a:ext cx="1455140" cy="6858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2" name="Google Shape;1412;p16"/>
          <p:cNvSpPr/>
          <p:nvPr/>
        </p:nvSpPr>
        <p:spPr>
          <a:xfrm>
            <a:off x="2551176" y="5581848"/>
            <a:ext cx="4096512" cy="68580"/>
          </a:xfrm>
          <a:prstGeom prst="rect">
            <a:avLst/>
          </a:prstGeom>
          <a:solidFill>
            <a:srgbClr val="A9C7B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3" name="Google Shape;1413;p16"/>
          <p:cNvSpPr/>
          <p:nvPr/>
        </p:nvSpPr>
        <p:spPr>
          <a:xfrm>
            <a:off x="2551176" y="5659572"/>
            <a:ext cx="4014581" cy="6858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4" name="Google Shape;1414;p16"/>
          <p:cNvSpPr/>
          <p:nvPr/>
        </p:nvSpPr>
        <p:spPr>
          <a:xfrm>
            <a:off x="2551176" y="5783016"/>
            <a:ext cx="4096512" cy="68580"/>
          </a:xfrm>
          <a:prstGeom prst="rect">
            <a:avLst/>
          </a:prstGeom>
          <a:solidFill>
            <a:srgbClr val="A9C7B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5" name="Google Shape;1415;p16"/>
          <p:cNvSpPr/>
          <p:nvPr/>
        </p:nvSpPr>
        <p:spPr>
          <a:xfrm>
            <a:off x="2551176" y="5860740"/>
            <a:ext cx="2731008" cy="6858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16" name="Google Shape;1416;p16"/>
          <p:cNvGraphicFramePr/>
          <p:nvPr/>
        </p:nvGraphicFramePr>
        <p:xfrm>
          <a:off x="6766560" y="452114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{9EE2CB2E-1363-49F8-B8BA-952F5347F8D7}</a:tableStyleId>
              </a:tblPr>
              <a:tblGrid>
                <a:gridCol w="457200"/>
                <a:gridCol w="841250"/>
                <a:gridCol w="841250"/>
                <a:gridCol w="914400"/>
                <a:gridCol w="914400"/>
                <a:gridCol w="850400"/>
              </a:tblGrid>
              <a:tr h="2496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s-CO" sz="8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Unidad</a:t>
                      </a:r>
                      <a:endParaRPr sz="8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s-CO" sz="8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Presupuestada</a:t>
                      </a:r>
                      <a:endParaRPr sz="8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s-CO" sz="8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Real</a:t>
                      </a:r>
                      <a:endParaRPr sz="8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s-CO" sz="8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Ejec. anterior</a:t>
                      </a:r>
                      <a:endParaRPr sz="8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s-CO" sz="8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Ejec. actual</a:t>
                      </a:r>
                      <a:endParaRPr sz="8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s-CO" sz="8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Δ semana</a:t>
                      </a:r>
                      <a:endParaRPr sz="8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</a:tr>
              <a:tr h="219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und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CO" sz="900" u="none" cap="none" strike="noStrike">
                          <a:solidFill>
                            <a:srgbClr val="1D2B24"/>
                          </a:solidFill>
                        </a:rPr>
                        <a:t>11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5F6B66"/>
                          </a:solidFill>
                        </a:rPr>
                        <a:t>9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1D2B24"/>
                          </a:solidFill>
                        </a:rPr>
                        <a:t>9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2E7D4F"/>
                          </a:solidFill>
                        </a:rPr>
                        <a:t>+1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19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CO" sz="900" u="none" cap="none" strike="noStrike">
                          <a:solidFill>
                            <a:srgbClr val="1D2B24"/>
                          </a:solidFill>
                        </a:rPr>
                        <a:t>35.190</a:t>
                      </a:r>
                      <a:endParaRPr sz="900" u="none" cap="none" strike="noStrike">
                        <a:solidFill>
                          <a:srgbClr val="1D2B24"/>
                        </a:solidFill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49.266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5F6B66"/>
                          </a:solidFill>
                        </a:rPr>
                        <a:t>0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1D2B24"/>
                          </a:solidFill>
                        </a:rPr>
                        <a:t>0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8A948F"/>
                          </a:solidFill>
                        </a:rPr>
                        <a:t>—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219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CO" sz="900" u="none" cap="none" strike="noStrike">
                          <a:solidFill>
                            <a:srgbClr val="1D2B24"/>
                          </a:solidFill>
                        </a:rPr>
                        <a:t>35.1</a:t>
                      </a:r>
                      <a:r>
                        <a:rPr b="0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35.190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5F6B66"/>
                          </a:solidFill>
                        </a:rPr>
                        <a:t>4.767</a:t>
                      </a:r>
                      <a:endParaRPr sz="900" u="none" cap="none" strike="noStrike">
                        <a:solidFill>
                          <a:srgbClr val="1D2B24"/>
                        </a:solidFill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1D2B24"/>
                          </a:solidFill>
                        </a:rPr>
                        <a:t>5000</a:t>
                      </a:r>
                      <a:endParaRPr sz="900" u="none" cap="none" strike="noStrike">
                        <a:solidFill>
                          <a:srgbClr val="1D2B24"/>
                        </a:solidFill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2E7D4F"/>
                          </a:solidFill>
                        </a:rPr>
                        <a:t>+351,14</a:t>
                      </a:r>
                      <a:endParaRPr sz="900" u="none" cap="none" strike="noStrike">
                        <a:solidFill>
                          <a:srgbClr val="1D2B24"/>
                        </a:solidFill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19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7.038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2.500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5F6B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8A94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219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m²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175.950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172.431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5F6B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8A94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19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105.570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70.380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5F6B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8A94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</a:tbl>
          </a:graphicData>
        </a:graphic>
      </p:graphicFrame>
      <p:sp>
        <p:nvSpPr>
          <p:cNvPr id="1417" name="Google Shape;1417;p16"/>
          <p:cNvSpPr txBox="1"/>
          <p:nvPr/>
        </p:nvSpPr>
        <p:spPr>
          <a:xfrm>
            <a:off x="457200" y="6400000"/>
            <a:ext cx="5000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s-CO" sz="9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TIEMPO TRANSCURRIDO DEL PLAZO CONTRACTUAL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8" name="Google Shape;1418;p16"/>
          <p:cNvSpPr txBox="1"/>
          <p:nvPr/>
        </p:nvSpPr>
        <p:spPr>
          <a:xfrm>
            <a:off x="5000000" y="6400000"/>
            <a:ext cx="6734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Inicio: </a:t>
            </a:r>
            <a:r>
              <a:rPr b="1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10/02/2026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   ·   Terminación: </a:t>
            </a:r>
            <a:r>
              <a:rPr b="1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10/08/2027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   ·   Al: </a:t>
            </a:r>
            <a:r>
              <a:rPr b="1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02/10/2026</a:t>
            </a: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   ·   234 de 546 días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9" name="Google Shape;1419;p16"/>
          <p:cNvSpPr/>
          <p:nvPr/>
        </p:nvSpPr>
        <p:spPr>
          <a:xfrm>
            <a:off x="457200" y="6598920"/>
            <a:ext cx="11277600" cy="164592"/>
          </a:xfrm>
          <a:prstGeom prst="roundRect">
            <a:avLst>
              <a:gd fmla="val 50000" name="adj"/>
            </a:avLst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0" name="Google Shape;1420;p16"/>
          <p:cNvSpPr/>
          <p:nvPr/>
        </p:nvSpPr>
        <p:spPr>
          <a:xfrm>
            <a:off x="457200" y="6598920"/>
            <a:ext cx="4833257" cy="164592"/>
          </a:xfrm>
          <a:prstGeom prst="roundRect">
            <a:avLst>
              <a:gd fmla="val 50000" name="adj"/>
            </a:avLst>
          </a:prstGeom>
          <a:solidFill>
            <a:srgbClr val="2E7D4F"/>
          </a:solidFill>
          <a:ln cap="flat" cmpd="sng" w="9525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s-CO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42,9 %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21" name="Google Shape;1421;p16"/>
          <p:cNvCxnSpPr/>
          <p:nvPr/>
        </p:nvCxnSpPr>
        <p:spPr>
          <a:xfrm>
            <a:off x="849643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22" name="Google Shape;1422;p16"/>
          <p:cNvCxnSpPr/>
          <p:nvPr/>
        </p:nvCxnSpPr>
        <p:spPr>
          <a:xfrm>
            <a:off x="1489947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23" name="Google Shape;1423;p16"/>
          <p:cNvCxnSpPr/>
          <p:nvPr/>
        </p:nvCxnSpPr>
        <p:spPr>
          <a:xfrm>
            <a:off x="2109595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24" name="Google Shape;1424;p16"/>
          <p:cNvCxnSpPr/>
          <p:nvPr/>
        </p:nvCxnSpPr>
        <p:spPr>
          <a:xfrm>
            <a:off x="2749898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25" name="Google Shape;1425;p16"/>
          <p:cNvCxnSpPr/>
          <p:nvPr/>
        </p:nvCxnSpPr>
        <p:spPr>
          <a:xfrm>
            <a:off x="3369547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26" name="Google Shape;1426;p16"/>
          <p:cNvCxnSpPr/>
          <p:nvPr/>
        </p:nvCxnSpPr>
        <p:spPr>
          <a:xfrm>
            <a:off x="4009850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27" name="Google Shape;1427;p16"/>
          <p:cNvCxnSpPr/>
          <p:nvPr/>
        </p:nvCxnSpPr>
        <p:spPr>
          <a:xfrm>
            <a:off x="4650153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28" name="Google Shape;1428;p16"/>
          <p:cNvCxnSpPr/>
          <p:nvPr/>
        </p:nvCxnSpPr>
        <p:spPr>
          <a:xfrm>
            <a:off x="5269802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29" name="Google Shape;1429;p16"/>
          <p:cNvCxnSpPr/>
          <p:nvPr/>
        </p:nvCxnSpPr>
        <p:spPr>
          <a:xfrm>
            <a:off x="5910105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30" name="Google Shape;1430;p16"/>
          <p:cNvCxnSpPr/>
          <p:nvPr/>
        </p:nvCxnSpPr>
        <p:spPr>
          <a:xfrm>
            <a:off x="6529753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31" name="Google Shape;1431;p16"/>
          <p:cNvCxnSpPr/>
          <p:nvPr/>
        </p:nvCxnSpPr>
        <p:spPr>
          <a:xfrm>
            <a:off x="7170057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32" name="Google Shape;1432;p16"/>
          <p:cNvCxnSpPr/>
          <p:nvPr/>
        </p:nvCxnSpPr>
        <p:spPr>
          <a:xfrm>
            <a:off x="7810360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33" name="Google Shape;1433;p16"/>
          <p:cNvCxnSpPr/>
          <p:nvPr/>
        </p:nvCxnSpPr>
        <p:spPr>
          <a:xfrm>
            <a:off x="8388698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34" name="Google Shape;1434;p16"/>
          <p:cNvCxnSpPr/>
          <p:nvPr/>
        </p:nvCxnSpPr>
        <p:spPr>
          <a:xfrm>
            <a:off x="9029002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35" name="Google Shape;1435;p16"/>
          <p:cNvCxnSpPr/>
          <p:nvPr/>
        </p:nvCxnSpPr>
        <p:spPr>
          <a:xfrm>
            <a:off x="9648650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36" name="Google Shape;1436;p16"/>
          <p:cNvCxnSpPr/>
          <p:nvPr/>
        </p:nvCxnSpPr>
        <p:spPr>
          <a:xfrm>
            <a:off x="10288953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37" name="Google Shape;1437;p16"/>
          <p:cNvCxnSpPr/>
          <p:nvPr/>
        </p:nvCxnSpPr>
        <p:spPr>
          <a:xfrm>
            <a:off x="10908602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38" name="Google Shape;1438;p16"/>
          <p:cNvCxnSpPr/>
          <p:nvPr/>
        </p:nvCxnSpPr>
        <p:spPr>
          <a:xfrm>
            <a:off x="11548905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39" name="Google Shape;1439;p16"/>
          <p:cNvCxnSpPr/>
          <p:nvPr/>
        </p:nvCxnSpPr>
        <p:spPr>
          <a:xfrm>
            <a:off x="5290457" y="6562344"/>
            <a:ext cx="0" cy="237744"/>
          </a:xfrm>
          <a:prstGeom prst="straightConnector1">
            <a:avLst/>
          </a:prstGeom>
          <a:noFill/>
          <a:ln cap="flat" cmpd="sng" w="19050">
            <a:solidFill>
              <a:srgbClr val="B3261E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44" name="Shape 1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5" name="Google Shape;1445;p17"/>
          <p:cNvSpPr txBox="1"/>
          <p:nvPr/>
        </p:nvSpPr>
        <p:spPr>
          <a:xfrm>
            <a:off x="457200" y="320040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1200"/>
              <a:buFont typeface="Calibri"/>
              <a:buNone/>
            </a:pPr>
            <a:r>
              <a:rPr b="1" i="0" lang="es-CO" sz="1200" u="none" cap="none" strike="noStrike">
                <a:solidFill>
                  <a:srgbClr val="2E7D4F"/>
                </a:solidFill>
                <a:latin typeface="Poppins"/>
                <a:ea typeface="Poppins"/>
                <a:cs typeface="Poppins"/>
                <a:sym typeface="Poppins"/>
              </a:rPr>
              <a:t>CONSOLIDADO DE VARIACIÓN DE ALCANCES  ·  LOTE 2 – SUBREGIÓN OCCIDENTE</a:t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46" name="Google Shape;1446;p17"/>
          <p:cNvSpPr txBox="1"/>
          <p:nvPr/>
        </p:nvSpPr>
        <p:spPr>
          <a:xfrm>
            <a:off x="457200" y="594360"/>
            <a:ext cx="9692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2800"/>
              <a:buFont typeface="Calibri"/>
              <a:buNone/>
            </a:pPr>
            <a:r>
              <a:rPr b="1" i="0" lang="es-CO" sz="28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Consolidado Lote 2 – Occidente</a:t>
            </a:r>
            <a:endParaRPr b="0" i="0" sz="2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descr="logo.png" id="1447" name="Google Shape;144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78440" y="320040"/>
            <a:ext cx="1371600" cy="676656"/>
          </a:xfrm>
          <a:prstGeom prst="rect">
            <a:avLst/>
          </a:prstGeom>
          <a:noFill/>
          <a:ln>
            <a:noFill/>
          </a:ln>
        </p:spPr>
      </p:pic>
      <p:sp>
        <p:nvSpPr>
          <p:cNvPr id="1448" name="Google Shape;1448;p17"/>
          <p:cNvSpPr/>
          <p:nvPr/>
        </p:nvSpPr>
        <p:spPr>
          <a:xfrm>
            <a:off x="457200" y="128016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9" name="Google Shape;1449;p17"/>
          <p:cNvSpPr txBox="1"/>
          <p:nvPr/>
        </p:nvSpPr>
        <p:spPr>
          <a:xfrm>
            <a:off x="594360" y="1353312"/>
            <a:ext cx="1834835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050"/>
              <a:buFont typeface="Calibri"/>
              <a:buNone/>
            </a:pPr>
            <a:r>
              <a:rPr b="0" i="0" lang="es-CO" sz="10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Km contratados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0" name="Google Shape;1450;p17"/>
          <p:cNvSpPr txBox="1"/>
          <p:nvPr/>
        </p:nvSpPr>
        <p:spPr>
          <a:xfrm>
            <a:off x="594360" y="1581912"/>
            <a:ext cx="183483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94,95 km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1" name="Google Shape;1451;p17"/>
          <p:cNvSpPr txBox="1"/>
          <p:nvPr/>
        </p:nvSpPr>
        <p:spPr>
          <a:xfrm>
            <a:off x="594360" y="1901952"/>
            <a:ext cx="1834835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1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5 corredores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2" name="Google Shape;1452;p17"/>
          <p:cNvSpPr/>
          <p:nvPr/>
        </p:nvSpPr>
        <p:spPr>
          <a:xfrm>
            <a:off x="2749235" y="128016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3" name="Google Shape;1453;p17"/>
          <p:cNvSpPr txBox="1"/>
          <p:nvPr/>
        </p:nvSpPr>
        <p:spPr>
          <a:xfrm>
            <a:off x="2886395" y="1353312"/>
            <a:ext cx="1834835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050"/>
              <a:buFont typeface="Calibri"/>
              <a:buNone/>
            </a:pPr>
            <a:r>
              <a:rPr b="0" i="0" lang="es-CO" sz="10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Km que se alcanzan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4" name="Google Shape;1454;p17"/>
          <p:cNvSpPr txBox="1"/>
          <p:nvPr/>
        </p:nvSpPr>
        <p:spPr>
          <a:xfrm>
            <a:off x="2886395" y="1581912"/>
            <a:ext cx="183483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D2E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0B5D2E"/>
                </a:solidFill>
                <a:latin typeface="Calibri"/>
                <a:ea typeface="Calibri"/>
                <a:cs typeface="Calibri"/>
                <a:sym typeface="Calibri"/>
              </a:rPr>
              <a:t>62,33 km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5" name="Google Shape;1455;p17"/>
          <p:cNvSpPr txBox="1"/>
          <p:nvPr/>
        </p:nvSpPr>
        <p:spPr>
          <a:xfrm>
            <a:off x="2886395" y="1901952"/>
            <a:ext cx="1834835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1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Cobertura 64,7 % del valor proyectado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6" name="Google Shape;1456;p17"/>
          <p:cNvSpPr/>
          <p:nvPr/>
        </p:nvSpPr>
        <p:spPr>
          <a:xfrm>
            <a:off x="5041270" y="128016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7" name="Google Shape;1457;p17"/>
          <p:cNvSpPr txBox="1"/>
          <p:nvPr/>
        </p:nvSpPr>
        <p:spPr>
          <a:xfrm>
            <a:off x="5178430" y="1353312"/>
            <a:ext cx="1834835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050"/>
              <a:buFont typeface="Calibri"/>
              <a:buNone/>
            </a:pPr>
            <a:r>
              <a:rPr b="0" i="0" lang="es-CO" sz="10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Valor contractual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8" name="Google Shape;1458;p17"/>
          <p:cNvSpPr txBox="1"/>
          <p:nvPr/>
        </p:nvSpPr>
        <p:spPr>
          <a:xfrm>
            <a:off x="5178430" y="1581912"/>
            <a:ext cx="183483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$ 94.504.845.551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9" name="Google Shape;1459;p17"/>
          <p:cNvSpPr txBox="1"/>
          <p:nvPr/>
        </p:nvSpPr>
        <p:spPr>
          <a:xfrm>
            <a:off x="5178430" y="1901952"/>
            <a:ext cx="1834835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1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$ 995.311.696 por km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0" name="Google Shape;1460;p17"/>
          <p:cNvSpPr/>
          <p:nvPr/>
        </p:nvSpPr>
        <p:spPr>
          <a:xfrm>
            <a:off x="7333305" y="128016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1" name="Google Shape;1461;p17"/>
          <p:cNvSpPr txBox="1"/>
          <p:nvPr/>
        </p:nvSpPr>
        <p:spPr>
          <a:xfrm>
            <a:off x="7470465" y="1353312"/>
            <a:ext cx="1834835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050"/>
              <a:buFont typeface="Calibri"/>
              <a:buNone/>
            </a:pPr>
            <a:r>
              <a:rPr b="0" i="0" lang="es-CO" sz="10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Valor proyectado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2" name="Google Shape;1462;p17"/>
          <p:cNvSpPr txBox="1"/>
          <p:nvPr/>
        </p:nvSpPr>
        <p:spPr>
          <a:xfrm>
            <a:off x="7470465" y="1581912"/>
            <a:ext cx="183483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$ 146.168.184.904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3" name="Google Shape;1463;p17"/>
          <p:cNvSpPr txBox="1"/>
          <p:nvPr/>
        </p:nvSpPr>
        <p:spPr>
          <a:xfrm>
            <a:off x="7470465" y="1901952"/>
            <a:ext cx="1834835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1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$ 1.539.422.695 por km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4" name="Google Shape;1464;p17"/>
          <p:cNvSpPr/>
          <p:nvPr/>
        </p:nvSpPr>
        <p:spPr>
          <a:xfrm>
            <a:off x="9625340" y="128016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FBEAEA"/>
          </a:solidFill>
          <a:ln cap="flat" cmpd="sng" w="12700">
            <a:solidFill>
              <a:srgbClr val="FBEA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5" name="Google Shape;1465;p17"/>
          <p:cNvSpPr txBox="1"/>
          <p:nvPr/>
        </p:nvSpPr>
        <p:spPr>
          <a:xfrm>
            <a:off x="9762500" y="1353312"/>
            <a:ext cx="1834835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050"/>
              <a:buFont typeface="Calibri"/>
              <a:buNone/>
            </a:pPr>
            <a:r>
              <a:rPr b="0" i="0" lang="es-CO" sz="10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Adición estimada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6" name="Google Shape;1466;p17"/>
          <p:cNvSpPr txBox="1"/>
          <p:nvPr/>
        </p:nvSpPr>
        <p:spPr>
          <a:xfrm>
            <a:off x="9762500" y="1581912"/>
            <a:ext cx="183483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261E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B3261E"/>
                </a:solidFill>
                <a:latin typeface="Calibri"/>
                <a:ea typeface="Calibri"/>
                <a:cs typeface="Calibri"/>
                <a:sym typeface="Calibri"/>
              </a:rPr>
              <a:t>▲ $ 51.663.339.353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7" name="Google Shape;1467;p17"/>
          <p:cNvSpPr txBox="1"/>
          <p:nvPr/>
        </p:nvSpPr>
        <p:spPr>
          <a:xfrm>
            <a:off x="9762500" y="1901952"/>
            <a:ext cx="1834835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1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+54,7 % sobre lo contractual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68" name="Google Shape;1468;p17"/>
          <p:cNvGraphicFramePr/>
          <p:nvPr/>
        </p:nvGraphicFramePr>
        <p:xfrm>
          <a:off x="457200" y="23774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{2219430B-40B1-4F13-8D99-EA5D7966678A}</a:tableStyleId>
              </a:tblPr>
              <a:tblGrid>
                <a:gridCol w="2743200"/>
                <a:gridCol w="621800"/>
                <a:gridCol w="1280150"/>
                <a:gridCol w="1005850"/>
                <a:gridCol w="1280150"/>
                <a:gridCol w="1005850"/>
                <a:gridCol w="795525"/>
                <a:gridCol w="1280150"/>
                <a:gridCol w="640075"/>
                <a:gridCol w="62180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Corredor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Longitud (km)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Valor contractual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$/km contractual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Valor proyectado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$/km proyectado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Longitud probable (km)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Variación (valor adicional)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 variación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Cobertura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</a:tr>
              <a:tr h="334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Miserenga – Ebéjico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1,00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$ 1.244.564.034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$ 1.244.564.034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$ 1.539.355.914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$ 1.539.355.914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0,81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▲ $ 294.791.880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23,7 %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80,8 %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34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 Botón – Paso Ancho – Frontino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25,00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$ 29.568.924.042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$ 1.182.756.962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$ 49.700.477.853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$ 1.988.019.114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14,87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▲ $ 20.131.553.811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68,1 %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59,5 %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334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Ebéjico – Heliconia – Medellín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28,76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$ 28.010.516.286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$ 973.940.066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$ 44.873.647.603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$ 1.560.279.819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17,95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▲ $ 16.863.131.317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60,2 %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62,4 %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34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Sopetrán – Horizontes – Belmira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35,19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$ 30.448.935.015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$ 865.272.379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$ 42.357.590.058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$ 1.203.682.582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25,30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▲ $ 11.908.655.043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39,1 %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71,9 %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334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SUBTOTAL CORREDORES CON PROYECCIÓN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89,95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$ 89.272.939.377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$ 992.472.922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$ 138.471.071.428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$ 1.539.422.695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58,93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▲ $ 49.198.132.051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55,1 %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64,5 %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</a:tr>
              <a:tr h="334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B65"/>
                        </a:buClr>
                        <a:buSzPts val="950"/>
                        <a:buFont typeface="Calibri"/>
                        <a:buNone/>
                      </a:pPr>
                      <a:r>
                        <a:rPr i="1" lang="es-CO" sz="9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Titiribí – Armenia *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B65"/>
                        </a:buClr>
                        <a:buSzPts val="950"/>
                        <a:buFont typeface="Calibri"/>
                        <a:buNone/>
                      </a:pPr>
                      <a:r>
                        <a:rPr i="1" lang="es-CO" sz="9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5,00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B65"/>
                        </a:buClr>
                        <a:buSzPts val="950"/>
                        <a:buFont typeface="Calibri"/>
                        <a:buNone/>
                      </a:pPr>
                      <a:r>
                        <a:rPr i="1" lang="es-CO" sz="9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$ 5.231.906.174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B65"/>
                        </a:buClr>
                        <a:buSzPts val="950"/>
                        <a:buFont typeface="Calibri"/>
                        <a:buNone/>
                      </a:pPr>
                      <a:r>
                        <a:rPr i="1" lang="es-CO" sz="9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$ 1.046.381.235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B65"/>
                        </a:buClr>
                        <a:buSzPts val="950"/>
                        <a:buFont typeface="Calibri"/>
                        <a:buNone/>
                      </a:pPr>
                      <a:r>
                        <a:rPr i="1" lang="es-CO" sz="9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$ 7.697.113.476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B65"/>
                        </a:buClr>
                        <a:buSzPts val="950"/>
                        <a:buFont typeface="Calibri"/>
                        <a:buNone/>
                      </a:pPr>
                      <a:r>
                        <a:rPr i="1" lang="es-CO" sz="9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$ 1.539.422.695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B65"/>
                        </a:buClr>
                        <a:buSzPts val="950"/>
                        <a:buFont typeface="Calibri"/>
                        <a:buNone/>
                      </a:pPr>
                      <a:r>
                        <a:rPr b="1" i="1" lang="es-CO" sz="9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3,40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i="1"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▲ $ 2.465.207.302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i="1"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47,1 %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B65"/>
                        </a:buClr>
                        <a:buSzPts val="950"/>
                        <a:buFont typeface="Calibri"/>
                        <a:buNone/>
                      </a:pPr>
                      <a:r>
                        <a:rPr i="1" lang="es-CO" sz="9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68,0 %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34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LOTE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94,95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$ 94.504.845.551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$ 995.311.696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$ 146.168.184.904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$ 1.539.422.695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62,33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▲ $ 51.663.339.353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54,7 %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64,7 %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</a:tr>
            </a:tbl>
          </a:graphicData>
        </a:graphic>
      </p:graphicFrame>
      <p:sp>
        <p:nvSpPr>
          <p:cNvPr id="1469" name="Google Shape;1469;p17"/>
          <p:cNvSpPr txBox="1"/>
          <p:nvPr/>
        </p:nvSpPr>
        <p:spPr>
          <a:xfrm>
            <a:off x="457200" y="5202936"/>
            <a:ext cx="1127455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00"/>
              <a:buFont typeface="Calibri"/>
              <a:buNone/>
            </a:pP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* Valor contractual según presupuesto del oferente; valor proyectado estimado con el promedio del valor por km proyectado de los corredores con proyección del lote ($ 1.539.422.695).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0" name="Google Shape;1470;p17"/>
          <p:cNvSpPr txBox="1"/>
          <p:nvPr/>
        </p:nvSpPr>
        <p:spPr>
          <a:xfrm>
            <a:off x="457200" y="5376672"/>
            <a:ext cx="1127455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00"/>
              <a:buFont typeface="Calibri"/>
              <a:buNone/>
            </a:pP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Valor total del contrato $ 104.855.613.958 · Valor contractual de obra $ 94.504.845.551 · Valores reembolsables $ 10.350.768.407.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1" name="Google Shape;1471;p17"/>
          <p:cNvSpPr txBox="1"/>
          <p:nvPr/>
        </p:nvSpPr>
        <p:spPr>
          <a:xfrm>
            <a:off x="457200" y="5550408"/>
            <a:ext cx="1127455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00"/>
              <a:buFont typeface="Calibri"/>
              <a:buNone/>
            </a:pP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Longitud probable = longitud × valor contractual ÷ valor proyectado · Cobertura = valor contractual ÷ valor proyectado.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2" name="Google Shape;1472;p17"/>
          <p:cNvSpPr txBox="1"/>
          <p:nvPr/>
        </p:nvSpPr>
        <p:spPr>
          <a:xfrm>
            <a:off x="457200" y="5833872"/>
            <a:ext cx="112745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950"/>
              <a:buFont typeface="Calibri"/>
              <a:buNone/>
            </a:pPr>
            <a:r>
              <a:rPr b="1" i="0" lang="es-CO" sz="95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KILÓMETROS DEL LOTE QUE SE CUBREN CON EL VALOR CONTRACTUAL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3" name="Google Shape;1473;p17"/>
          <p:cNvSpPr/>
          <p:nvPr/>
        </p:nvSpPr>
        <p:spPr>
          <a:xfrm>
            <a:off x="457200" y="6071616"/>
            <a:ext cx="7402917" cy="384048"/>
          </a:xfrm>
          <a:prstGeom prst="rect">
            <a:avLst/>
          </a:prstGeom>
          <a:solidFill>
            <a:srgbClr val="2E7D4F"/>
          </a:solidFill>
          <a:ln cap="flat" cmpd="sng" w="12700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4" name="Google Shape;1474;p17"/>
          <p:cNvSpPr/>
          <p:nvPr/>
        </p:nvSpPr>
        <p:spPr>
          <a:xfrm>
            <a:off x="7860117" y="6071616"/>
            <a:ext cx="3874378" cy="384048"/>
          </a:xfrm>
          <a:prstGeom prst="rect">
            <a:avLst/>
          </a:prstGeom>
          <a:solidFill>
            <a:srgbClr val="B3261E"/>
          </a:solidFill>
          <a:ln cap="flat" cmpd="sng" w="12700">
            <a:solidFill>
              <a:srgbClr val="B326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5" name="Google Shape;1475;p17"/>
          <p:cNvSpPr txBox="1"/>
          <p:nvPr/>
        </p:nvSpPr>
        <p:spPr>
          <a:xfrm>
            <a:off x="566928" y="6071616"/>
            <a:ext cx="7183461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s-CO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62,33 km</a:t>
            </a:r>
            <a:r>
              <a:rPr b="0" i="0" lang="es-CO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·  65,6 % se alcanza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6" name="Google Shape;1476;p17"/>
          <p:cNvSpPr txBox="1"/>
          <p:nvPr/>
        </p:nvSpPr>
        <p:spPr>
          <a:xfrm>
            <a:off x="7969845" y="6071616"/>
            <a:ext cx="365492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s-CO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32,62 km</a:t>
            </a:r>
            <a:r>
              <a:rPr b="0" i="0" lang="es-CO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·  34,4 % pendiente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81" name="Shape 1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" name="Google Shape;1482;p18"/>
          <p:cNvSpPr txBox="1"/>
          <p:nvPr/>
        </p:nvSpPr>
        <p:spPr>
          <a:xfrm>
            <a:off x="457200" y="320040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1200"/>
              <a:buFont typeface="Calibri"/>
              <a:buNone/>
            </a:pPr>
            <a:r>
              <a:rPr b="1" i="0" lang="es-CO" sz="1200" u="none" cap="none" strike="noStrike">
                <a:solidFill>
                  <a:srgbClr val="2E7D4F"/>
                </a:solidFill>
                <a:latin typeface="Poppins"/>
                <a:ea typeface="Poppins"/>
                <a:cs typeface="Poppins"/>
                <a:sym typeface="Poppins"/>
              </a:rPr>
              <a:t>INFORME DE VARIACIÓN DE ALCANCES  ·  LOTE 3 – SUBREGIÓN URABÁ</a:t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83" name="Google Shape;1483;p18"/>
          <p:cNvSpPr txBox="1"/>
          <p:nvPr/>
        </p:nvSpPr>
        <p:spPr>
          <a:xfrm>
            <a:off x="457200" y="594360"/>
            <a:ext cx="9692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2800"/>
              <a:buFont typeface="Calibri"/>
              <a:buNone/>
            </a:pPr>
            <a:r>
              <a:rPr b="1" i="0" lang="es-CO" sz="28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San Pedro de Urabá – Necoclí</a:t>
            </a:r>
            <a:endParaRPr b="0" i="0" sz="2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descr="logo.png" id="1484" name="Google Shape;148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78440" y="320040"/>
            <a:ext cx="1371600" cy="676656"/>
          </a:xfrm>
          <a:prstGeom prst="rect">
            <a:avLst/>
          </a:prstGeom>
          <a:noFill/>
          <a:ln>
            <a:noFill/>
          </a:ln>
        </p:spPr>
      </p:pic>
      <p:sp>
        <p:nvSpPr>
          <p:cNvPr id="1485" name="Google Shape;1485;p18"/>
          <p:cNvSpPr/>
          <p:nvPr/>
        </p:nvSpPr>
        <p:spPr>
          <a:xfrm>
            <a:off x="457200" y="132588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6" name="Google Shape;1486;p18"/>
          <p:cNvSpPr txBox="1"/>
          <p:nvPr/>
        </p:nvSpPr>
        <p:spPr>
          <a:xfrm>
            <a:off x="594360" y="1417320"/>
            <a:ext cx="183483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100"/>
              <a:buFont typeface="Calibri"/>
              <a:buNone/>
            </a:pPr>
            <a:r>
              <a:rPr b="0" i="0" lang="es-CO" sz="11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Longitud contractual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7" name="Google Shape;1487;p18"/>
          <p:cNvSpPr txBox="1"/>
          <p:nvPr/>
        </p:nvSpPr>
        <p:spPr>
          <a:xfrm>
            <a:off x="594360" y="1691640"/>
            <a:ext cx="183483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700"/>
              <a:buFont typeface="Calibri"/>
              <a:buNone/>
            </a:pPr>
            <a:r>
              <a:rPr b="1" i="0" lang="es-CO" sz="17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58,65 km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8" name="Google Shape;1488;p18"/>
          <p:cNvSpPr/>
          <p:nvPr/>
        </p:nvSpPr>
        <p:spPr>
          <a:xfrm>
            <a:off x="2749235" y="132588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9" name="Google Shape;1489;p18"/>
          <p:cNvSpPr txBox="1"/>
          <p:nvPr/>
        </p:nvSpPr>
        <p:spPr>
          <a:xfrm>
            <a:off x="2886395" y="1417320"/>
            <a:ext cx="183483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100"/>
              <a:buFont typeface="Calibri"/>
              <a:buNone/>
            </a:pPr>
            <a:r>
              <a:rPr b="0" i="0" lang="es-CO" sz="11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Longitud probable a cubrir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0" name="Google Shape;1490;p18"/>
          <p:cNvSpPr txBox="1"/>
          <p:nvPr/>
        </p:nvSpPr>
        <p:spPr>
          <a:xfrm>
            <a:off x="2886395" y="1691640"/>
            <a:ext cx="183483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700"/>
              <a:buFont typeface="Calibri"/>
              <a:buNone/>
            </a:pPr>
            <a:r>
              <a:rPr b="1" i="0" lang="es-CO" sz="17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39,99 km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1" name="Google Shape;1491;p18"/>
          <p:cNvSpPr/>
          <p:nvPr/>
        </p:nvSpPr>
        <p:spPr>
          <a:xfrm>
            <a:off x="5041270" y="132588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2" name="Google Shape;1492;p18"/>
          <p:cNvSpPr txBox="1"/>
          <p:nvPr/>
        </p:nvSpPr>
        <p:spPr>
          <a:xfrm>
            <a:off x="5178430" y="1417320"/>
            <a:ext cx="183483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100"/>
              <a:buFont typeface="Calibri"/>
              <a:buNone/>
            </a:pPr>
            <a:r>
              <a:rPr b="0" i="0" lang="es-CO" sz="11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Valor por km contractual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3" name="Google Shape;1493;p18"/>
          <p:cNvSpPr txBox="1"/>
          <p:nvPr/>
        </p:nvSpPr>
        <p:spPr>
          <a:xfrm>
            <a:off x="5178430" y="1691640"/>
            <a:ext cx="183483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700"/>
              <a:buFont typeface="Calibri"/>
              <a:buNone/>
            </a:pPr>
            <a:r>
              <a:rPr b="1" i="0" lang="es-CO" sz="17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$ 1.086.177.100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4" name="Google Shape;1494;p18"/>
          <p:cNvSpPr/>
          <p:nvPr/>
        </p:nvSpPr>
        <p:spPr>
          <a:xfrm>
            <a:off x="7333305" y="132588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5" name="Google Shape;1495;p18"/>
          <p:cNvSpPr txBox="1"/>
          <p:nvPr/>
        </p:nvSpPr>
        <p:spPr>
          <a:xfrm>
            <a:off x="7470465" y="1417320"/>
            <a:ext cx="183483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100"/>
              <a:buFont typeface="Calibri"/>
              <a:buNone/>
            </a:pPr>
            <a:r>
              <a:rPr b="0" i="0" lang="es-CO" sz="11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Valor por km proyectado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6" name="Google Shape;1496;p18"/>
          <p:cNvSpPr txBox="1"/>
          <p:nvPr/>
        </p:nvSpPr>
        <p:spPr>
          <a:xfrm>
            <a:off x="7470465" y="1691640"/>
            <a:ext cx="183483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700"/>
              <a:buFont typeface="Calibri"/>
              <a:buNone/>
            </a:pPr>
            <a:r>
              <a:rPr b="1" i="0" lang="es-CO" sz="17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$ 1.593.059.747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7" name="Google Shape;1497;p18"/>
          <p:cNvSpPr/>
          <p:nvPr/>
        </p:nvSpPr>
        <p:spPr>
          <a:xfrm>
            <a:off x="9625340" y="132588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FBEAEA"/>
          </a:solidFill>
          <a:ln cap="flat" cmpd="sng" w="12700">
            <a:solidFill>
              <a:srgbClr val="FBEA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8" name="Google Shape;1498;p18"/>
          <p:cNvSpPr txBox="1"/>
          <p:nvPr/>
        </p:nvSpPr>
        <p:spPr>
          <a:xfrm>
            <a:off x="9762500" y="1417320"/>
            <a:ext cx="183483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100"/>
              <a:buFont typeface="Calibri"/>
              <a:buNone/>
            </a:pPr>
            <a:r>
              <a:rPr b="0" i="0" lang="es-CO" sz="11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Variación total (valor adicional)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9" name="Google Shape;1499;p18"/>
          <p:cNvSpPr txBox="1"/>
          <p:nvPr/>
        </p:nvSpPr>
        <p:spPr>
          <a:xfrm>
            <a:off x="9762500" y="1691640"/>
            <a:ext cx="183483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261E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B3261E"/>
                </a:solidFill>
                <a:latin typeface="Arial"/>
                <a:ea typeface="Arial"/>
                <a:cs typeface="Arial"/>
                <a:sym typeface="Arial"/>
              </a:rPr>
              <a:t>▲ </a:t>
            </a:r>
            <a:r>
              <a:rPr b="1" i="0" lang="es-CO" sz="1500" u="none" cap="none" strike="noStrike">
                <a:solidFill>
                  <a:srgbClr val="B3261E"/>
                </a:solidFill>
                <a:latin typeface="Calibri"/>
                <a:ea typeface="Calibri"/>
                <a:cs typeface="Calibri"/>
                <a:sym typeface="Calibri"/>
              </a:rPr>
              <a:t>$ 29.728.667.230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0" name="Google Shape;1500;p18"/>
          <p:cNvSpPr/>
          <p:nvPr/>
        </p:nvSpPr>
        <p:spPr>
          <a:xfrm>
            <a:off x="457200" y="2423160"/>
            <a:ext cx="3154680" cy="4114800"/>
          </a:xfrm>
          <a:prstGeom prst="roundRect">
            <a:avLst>
              <a:gd fmla="val 1739" name="adj"/>
            </a:avLst>
          </a:prstGeom>
          <a:solidFill>
            <a:srgbClr val="FFFFFF"/>
          </a:solidFill>
          <a:ln cap="flat" cmpd="sng" w="12700">
            <a:solidFill>
              <a:srgbClr val="D5DD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1" name="Google Shape;1501;p18"/>
          <p:cNvSpPr txBox="1"/>
          <p:nvPr/>
        </p:nvSpPr>
        <p:spPr>
          <a:xfrm>
            <a:off x="640080" y="2560320"/>
            <a:ext cx="2788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1100"/>
              <a:buFont typeface="Calibri"/>
              <a:buNone/>
            </a:pPr>
            <a:r>
              <a:rPr b="1" i="0" lang="es-CO" sz="11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ESTRUCTURA DE PAVIMENTO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2" name="Google Shape;1502;p18"/>
          <p:cNvSpPr txBox="1"/>
          <p:nvPr/>
        </p:nvSpPr>
        <p:spPr>
          <a:xfrm>
            <a:off x="640080" y="2816352"/>
            <a:ext cx="2788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1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San Pedro de Urabá – Necoclí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3" name="Google Shape;1503;p18"/>
          <p:cNvSpPr txBox="1"/>
          <p:nvPr/>
        </p:nvSpPr>
        <p:spPr>
          <a:xfrm>
            <a:off x="640080" y="3172968"/>
            <a:ext cx="2788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LOTE 3 · Longitud: 58.650 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Tránsito – Estructuración: </a:t>
            </a: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307.000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Tránsito – Diseño: </a:t>
            </a: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716.623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4" name="Google Shape;1504;p18"/>
          <p:cNvSpPr txBox="1"/>
          <p:nvPr/>
        </p:nvSpPr>
        <p:spPr>
          <a:xfrm>
            <a:off x="457200" y="3794760"/>
            <a:ext cx="15773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1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Teórica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5" name="Google Shape;1505;p18"/>
          <p:cNvSpPr/>
          <p:nvPr/>
        </p:nvSpPr>
        <p:spPr>
          <a:xfrm>
            <a:off x="560070" y="4087368"/>
            <a:ext cx="960120" cy="182880"/>
          </a:xfrm>
          <a:prstGeom prst="rect">
            <a:avLst/>
          </a:prstGeom>
          <a:solidFill>
            <a:srgbClr val="1F2A36"/>
          </a:solidFill>
          <a:ln cap="flat" cmpd="sng" w="12700">
            <a:solidFill>
              <a:srgbClr val="1F2A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6" name="Google Shape;1506;p18"/>
          <p:cNvSpPr txBox="1"/>
          <p:nvPr/>
        </p:nvSpPr>
        <p:spPr>
          <a:xfrm>
            <a:off x="560070" y="4087368"/>
            <a:ext cx="9601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s-CO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TSD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7" name="Google Shape;1507;p18"/>
          <p:cNvSpPr/>
          <p:nvPr/>
        </p:nvSpPr>
        <p:spPr>
          <a:xfrm>
            <a:off x="560070" y="4270248"/>
            <a:ext cx="960120" cy="844906"/>
          </a:xfrm>
          <a:prstGeom prst="rect">
            <a:avLst/>
          </a:prstGeom>
          <a:solidFill>
            <a:srgbClr val="D9A44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8" name="Google Shape;1508;p18"/>
          <p:cNvSpPr txBox="1"/>
          <p:nvPr/>
        </p:nvSpPr>
        <p:spPr>
          <a:xfrm>
            <a:off x="560070" y="4270248"/>
            <a:ext cx="960120" cy="355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800"/>
              <a:buFont typeface="Calibri"/>
              <a:buNone/>
            </a:pPr>
            <a:r>
              <a:rPr b="1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MGTC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9" name="Google Shape;1509;p18"/>
          <p:cNvSpPr/>
          <p:nvPr/>
        </p:nvSpPr>
        <p:spPr>
          <a:xfrm>
            <a:off x="624078" y="4625950"/>
            <a:ext cx="832104" cy="452628"/>
          </a:xfrm>
          <a:prstGeom prst="rect">
            <a:avLst/>
          </a:prstGeom>
          <a:solidFill>
            <a:srgbClr val="F2D58E"/>
          </a:solidFill>
          <a:ln cap="flat" cmpd="sng" w="9525">
            <a:solidFill>
              <a:srgbClr val="A87B1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0" name="Google Shape;1510;p18"/>
          <p:cNvSpPr txBox="1"/>
          <p:nvPr/>
        </p:nvSpPr>
        <p:spPr>
          <a:xfrm>
            <a:off x="624078" y="4625950"/>
            <a:ext cx="832104" cy="45262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800"/>
              <a:buFont typeface="Calibri"/>
              <a:buNone/>
            </a:pPr>
            <a:r>
              <a:rPr b="0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Subbase 15 cm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1" name="Google Shape;1511;p18"/>
          <p:cNvSpPr txBox="1"/>
          <p:nvPr/>
        </p:nvSpPr>
        <p:spPr>
          <a:xfrm>
            <a:off x="1575054" y="4270248"/>
            <a:ext cx="457200" cy="84490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28 cm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2" name="Google Shape;1512;p18"/>
          <p:cNvSpPr/>
          <p:nvPr/>
        </p:nvSpPr>
        <p:spPr>
          <a:xfrm>
            <a:off x="560070" y="5115154"/>
            <a:ext cx="960120" cy="603504"/>
          </a:xfrm>
          <a:prstGeom prst="rect">
            <a:avLst/>
          </a:prstGeom>
          <a:solidFill>
            <a:srgbClr val="8C6A4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3" name="Google Shape;1513;p18"/>
          <p:cNvSpPr txBox="1"/>
          <p:nvPr/>
        </p:nvSpPr>
        <p:spPr>
          <a:xfrm>
            <a:off x="560070" y="5115154"/>
            <a:ext cx="96012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s-CO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Subrasante estabilizada con cal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4" name="Google Shape;1514;p18"/>
          <p:cNvSpPr txBox="1"/>
          <p:nvPr/>
        </p:nvSpPr>
        <p:spPr>
          <a:xfrm>
            <a:off x="1575054" y="5115154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20 cm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15" name="Google Shape;1515;p18"/>
          <p:cNvCxnSpPr/>
          <p:nvPr/>
        </p:nvCxnSpPr>
        <p:spPr>
          <a:xfrm>
            <a:off x="468630" y="5718658"/>
            <a:ext cx="1143000" cy="0"/>
          </a:xfrm>
          <a:prstGeom prst="straightConnector1">
            <a:avLst/>
          </a:prstGeom>
          <a:noFill/>
          <a:ln cap="flat" cmpd="sng" w="12700">
            <a:solidFill>
              <a:srgbClr val="1D2B2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16" name="Google Shape;1516;p18"/>
          <p:cNvSpPr txBox="1"/>
          <p:nvPr/>
        </p:nvSpPr>
        <p:spPr>
          <a:xfrm>
            <a:off x="457200" y="5791810"/>
            <a:ext cx="15773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Espesor total: </a:t>
            </a:r>
            <a:r>
              <a:rPr b="1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48 cm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7" name="Google Shape;1517;p18"/>
          <p:cNvSpPr txBox="1"/>
          <p:nvPr/>
        </p:nvSpPr>
        <p:spPr>
          <a:xfrm>
            <a:off x="2034540" y="3794760"/>
            <a:ext cx="15773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1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Aprobada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8" name="Google Shape;1518;p18"/>
          <p:cNvSpPr/>
          <p:nvPr/>
        </p:nvSpPr>
        <p:spPr>
          <a:xfrm>
            <a:off x="2137410" y="4087368"/>
            <a:ext cx="960120" cy="182880"/>
          </a:xfrm>
          <a:prstGeom prst="rect">
            <a:avLst/>
          </a:prstGeom>
          <a:solidFill>
            <a:srgbClr val="1F2A36"/>
          </a:solidFill>
          <a:ln cap="flat" cmpd="sng" w="12700">
            <a:solidFill>
              <a:srgbClr val="1F2A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9" name="Google Shape;1519;p18"/>
          <p:cNvSpPr txBox="1"/>
          <p:nvPr/>
        </p:nvSpPr>
        <p:spPr>
          <a:xfrm>
            <a:off x="2137410" y="4087368"/>
            <a:ext cx="9601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s-CO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TSD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0" name="Google Shape;1520;p18"/>
          <p:cNvSpPr/>
          <p:nvPr/>
        </p:nvSpPr>
        <p:spPr>
          <a:xfrm>
            <a:off x="2137410" y="4270248"/>
            <a:ext cx="960120" cy="905256"/>
          </a:xfrm>
          <a:prstGeom prst="rect">
            <a:avLst/>
          </a:prstGeom>
          <a:solidFill>
            <a:srgbClr val="D9A44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1" name="Google Shape;1521;p18"/>
          <p:cNvSpPr txBox="1"/>
          <p:nvPr/>
        </p:nvSpPr>
        <p:spPr>
          <a:xfrm>
            <a:off x="2137410" y="4270248"/>
            <a:ext cx="960120" cy="90525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800"/>
              <a:buFont typeface="Calibri"/>
              <a:buNone/>
            </a:pPr>
            <a:r>
              <a:rPr b="1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MGTC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2" name="Google Shape;1522;p18"/>
          <p:cNvSpPr txBox="1"/>
          <p:nvPr/>
        </p:nvSpPr>
        <p:spPr>
          <a:xfrm>
            <a:off x="3152394" y="4270248"/>
            <a:ext cx="457200" cy="9052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30 cm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3" name="Google Shape;1523;p18"/>
          <p:cNvSpPr/>
          <p:nvPr/>
        </p:nvSpPr>
        <p:spPr>
          <a:xfrm>
            <a:off x="2137410" y="5175504"/>
            <a:ext cx="960120" cy="905256"/>
          </a:xfrm>
          <a:prstGeom prst="rect">
            <a:avLst/>
          </a:prstGeom>
          <a:solidFill>
            <a:srgbClr val="8C6A4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4" name="Google Shape;1524;p18"/>
          <p:cNvSpPr txBox="1"/>
          <p:nvPr/>
        </p:nvSpPr>
        <p:spPr>
          <a:xfrm>
            <a:off x="2137410" y="5175504"/>
            <a:ext cx="960120" cy="90525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s-CO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Subrasante estabilizada con cal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5" name="Google Shape;1525;p18"/>
          <p:cNvSpPr txBox="1"/>
          <p:nvPr/>
        </p:nvSpPr>
        <p:spPr>
          <a:xfrm>
            <a:off x="3152394" y="5175504"/>
            <a:ext cx="457200" cy="9052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30 cm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26" name="Google Shape;1526;p18"/>
          <p:cNvCxnSpPr/>
          <p:nvPr/>
        </p:nvCxnSpPr>
        <p:spPr>
          <a:xfrm>
            <a:off x="2045970" y="6080760"/>
            <a:ext cx="1143000" cy="0"/>
          </a:xfrm>
          <a:prstGeom prst="straightConnector1">
            <a:avLst/>
          </a:prstGeom>
          <a:noFill/>
          <a:ln cap="flat" cmpd="sng" w="12700">
            <a:solidFill>
              <a:srgbClr val="1D2B2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27" name="Google Shape;1527;p18"/>
          <p:cNvSpPr txBox="1"/>
          <p:nvPr/>
        </p:nvSpPr>
        <p:spPr>
          <a:xfrm>
            <a:off x="2034540" y="6153912"/>
            <a:ext cx="15773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Espesor total: </a:t>
            </a:r>
            <a:r>
              <a:rPr b="1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60 cm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28" name="Google Shape;1528;p18"/>
          <p:cNvGraphicFramePr/>
          <p:nvPr/>
        </p:nvGraphicFramePr>
        <p:xfrm>
          <a:off x="3840480" y="24231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{2219430B-40B1-4F13-8D99-EA5D7966678A}</a:tableStyleId>
              </a:tblPr>
              <a:tblGrid>
                <a:gridCol w="2395725"/>
                <a:gridCol w="1097275"/>
                <a:gridCol w="603500"/>
                <a:gridCol w="1097275"/>
                <a:gridCol w="603500"/>
                <a:gridCol w="237750"/>
                <a:gridCol w="1097275"/>
                <a:gridCol w="758950"/>
              </a:tblGrid>
              <a:tr h="438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Grupo – actividad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Valor contractual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 sobre corredor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Valor proyectado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 sobre corredor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Variación (valor adicional)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 de variación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Construcción alcantarilla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$ 2.622.634.539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4,12%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$ 4.287.937.772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4,59%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>
                          <a:solidFill>
                            <a:srgbClr val="B32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▲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$ 1.665.303.233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63,5 %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Construcción cuneta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$ 9.314.766.430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14,62%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$ 13.804.337.243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14,77%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>
                          <a:solidFill>
                            <a:srgbClr val="B32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▲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$ 4.489.570.813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48,2 %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Construcción filtro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$ 11.515.078.248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18,08%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$ 11.709.007.787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12,53%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>
                          <a:solidFill>
                            <a:srgbClr val="B32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▲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$ 193.929.539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1,7 %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Construcción bordillos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$ 1.324.942.992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2,08%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$ 663.046.443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0,71%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>
                          <a:solidFill>
                            <a:srgbClr val="0B5D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▼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0B5D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–$ 661.896.549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0B5D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–50,0 %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Construcción disipadores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$ 377.461.601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0,59%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$ 553.610.348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0,59%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>
                          <a:solidFill>
                            <a:srgbClr val="B32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▲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$ 176.148.747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46,7 %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Estabilización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$ 37.748.126.682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59,26%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$ 61.554.919.558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65,88%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B32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▲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$ 23.806.792.876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63,1 %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Señalización vial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$ 801.276.430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1,26%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$ 860.095.001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0,92%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>
                          <a:solidFill>
                            <a:srgbClr val="B32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▲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$ 58.818.571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7,3 %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CORREDOR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$ 63.704.286.922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100%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$ 93.432.954.152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100%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B32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▲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+$ 29.728.667.230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46,7 %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</a:tr>
            </a:tbl>
          </a:graphicData>
        </a:graphic>
      </p:graphicFrame>
      <p:sp>
        <p:nvSpPr>
          <p:cNvPr id="1529" name="Google Shape;1529;p18"/>
          <p:cNvSpPr txBox="1"/>
          <p:nvPr/>
        </p:nvSpPr>
        <p:spPr>
          <a:xfrm>
            <a:off x="3840480" y="5413248"/>
            <a:ext cx="78912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261E"/>
              </a:buClr>
              <a:buSzPts val="900"/>
              <a:buFont typeface="Arial"/>
              <a:buNone/>
            </a:pPr>
            <a:r>
              <a:rPr b="0" i="0" lang="es-CO" sz="900" u="none" cap="none" strike="noStrike">
                <a:solidFill>
                  <a:srgbClr val="B3261E"/>
                </a:solidFill>
                <a:latin typeface="Arial"/>
                <a:ea typeface="Arial"/>
                <a:cs typeface="Arial"/>
                <a:sym typeface="Arial"/>
              </a:rPr>
              <a:t>▲</a:t>
            </a: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 Se requiere mayor valor     </a:t>
            </a:r>
            <a:r>
              <a:rPr b="0" i="0" lang="es-CO" sz="900" u="none" cap="none" strike="noStrike">
                <a:solidFill>
                  <a:srgbClr val="0B5D2E"/>
                </a:solidFill>
                <a:latin typeface="Arial"/>
                <a:ea typeface="Arial"/>
                <a:cs typeface="Arial"/>
                <a:sym typeface="Arial"/>
              </a:rPr>
              <a:t>▼</a:t>
            </a: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 Sobra valor     % de variación = (valor proyectado – valor contractual) / valor contractual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0" name="Google Shape;1530;p18"/>
          <p:cNvSpPr/>
          <p:nvPr/>
        </p:nvSpPr>
        <p:spPr>
          <a:xfrm>
            <a:off x="3840480" y="5687568"/>
            <a:ext cx="7891272" cy="850392"/>
          </a:xfrm>
          <a:prstGeom prst="roundRect">
            <a:avLst>
              <a:gd fmla="val 6452" name="adj"/>
            </a:avLst>
          </a:prstGeom>
          <a:solidFill>
            <a:srgbClr val="FFFFFF"/>
          </a:solidFill>
          <a:ln cap="flat" cmpd="sng" w="12700">
            <a:solidFill>
              <a:srgbClr val="9AA7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00" lIns="1000" spcFirstLastPara="1" rIns="1500" wrap="square" tIns="15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100"/>
              <a:buFont typeface="Calibri"/>
              <a:buNone/>
            </a:pPr>
            <a:r>
              <a:rPr b="1" i="0" lang="es-CO" sz="11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Notas: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5" name="Shape 1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" name="Google Shape;1536;p19"/>
          <p:cNvSpPr txBox="1"/>
          <p:nvPr/>
        </p:nvSpPr>
        <p:spPr>
          <a:xfrm>
            <a:off x="457200" y="320040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1200"/>
              <a:buFont typeface="Calibri"/>
              <a:buNone/>
            </a:pPr>
            <a:r>
              <a:rPr b="1" i="0" lang="es-CO" sz="1200" u="none" cap="none" strike="noStrike">
                <a:solidFill>
                  <a:srgbClr val="2E7D4F"/>
                </a:solidFill>
                <a:latin typeface="Poppins"/>
                <a:ea typeface="Poppins"/>
                <a:cs typeface="Poppins"/>
                <a:sym typeface="Poppins"/>
              </a:rPr>
              <a:t>INFORME DE EJECUCIÓN  ·  LOTE 3 – SUBREGIÓN URABÁ</a:t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37" name="Google Shape;1537;p19"/>
          <p:cNvSpPr txBox="1"/>
          <p:nvPr/>
        </p:nvSpPr>
        <p:spPr>
          <a:xfrm>
            <a:off x="457200" y="594360"/>
            <a:ext cx="9692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2800"/>
              <a:buFont typeface="Calibri"/>
              <a:buNone/>
            </a:pPr>
            <a:r>
              <a:rPr b="1" i="0" lang="es-CO" sz="28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San Pedro de Urabá – Necoclí</a:t>
            </a:r>
            <a:endParaRPr b="0" i="0" sz="2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descr="logo.png" id="1538" name="Google Shape;153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78440" y="320040"/>
            <a:ext cx="1371600" cy="676656"/>
          </a:xfrm>
          <a:prstGeom prst="rect">
            <a:avLst/>
          </a:prstGeom>
          <a:noFill/>
          <a:ln>
            <a:noFill/>
          </a:ln>
        </p:spPr>
      </p:pic>
      <p:sp>
        <p:nvSpPr>
          <p:cNvPr id="1539" name="Google Shape;1539;p19"/>
          <p:cNvSpPr/>
          <p:nvPr/>
        </p:nvSpPr>
        <p:spPr>
          <a:xfrm>
            <a:off x="457200" y="1234440"/>
            <a:ext cx="1765249" cy="658368"/>
          </a:xfrm>
          <a:prstGeom prst="roundRect">
            <a:avLst>
              <a:gd fmla="val 1111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0" name="Google Shape;1540;p19"/>
          <p:cNvSpPr txBox="1"/>
          <p:nvPr/>
        </p:nvSpPr>
        <p:spPr>
          <a:xfrm>
            <a:off x="566928" y="1289304"/>
            <a:ext cx="154579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50"/>
              <a:buFont typeface="Calibri"/>
              <a:buNone/>
            </a:pPr>
            <a:r>
              <a:rPr b="0" i="0" lang="es-CO" sz="9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Longitud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1" name="Google Shape;1541;p19"/>
          <p:cNvSpPr txBox="1"/>
          <p:nvPr/>
        </p:nvSpPr>
        <p:spPr>
          <a:xfrm>
            <a:off x="566928" y="1453896"/>
            <a:ext cx="154579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58,65 km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2" name="Google Shape;1542;p19"/>
          <p:cNvSpPr txBox="1"/>
          <p:nvPr/>
        </p:nvSpPr>
        <p:spPr>
          <a:xfrm>
            <a:off x="566928" y="1700784"/>
            <a:ext cx="1545793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00"/>
              <a:buFont typeface="Calibri"/>
              <a:buNone/>
            </a:pP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Alcance real 39,99 km · dif. 18,66 km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3" name="Google Shape;1543;p19"/>
          <p:cNvSpPr/>
          <p:nvPr/>
        </p:nvSpPr>
        <p:spPr>
          <a:xfrm>
            <a:off x="2359609" y="1234440"/>
            <a:ext cx="1765249" cy="658368"/>
          </a:xfrm>
          <a:prstGeom prst="roundRect">
            <a:avLst>
              <a:gd fmla="val 1111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4" name="Google Shape;1544;p19"/>
          <p:cNvSpPr txBox="1"/>
          <p:nvPr/>
        </p:nvSpPr>
        <p:spPr>
          <a:xfrm>
            <a:off x="2469337" y="1289304"/>
            <a:ext cx="154579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50"/>
              <a:buFont typeface="Calibri"/>
              <a:buNone/>
            </a:pPr>
            <a:r>
              <a:rPr b="0" i="0" lang="es-CO" sz="9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Valor total del corredor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5" name="Google Shape;1545;p19"/>
          <p:cNvSpPr txBox="1"/>
          <p:nvPr/>
        </p:nvSpPr>
        <p:spPr>
          <a:xfrm>
            <a:off x="2469337" y="1453896"/>
            <a:ext cx="154579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$ 70.238.328.568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6" name="Google Shape;1546;p19"/>
          <p:cNvSpPr txBox="1"/>
          <p:nvPr/>
        </p:nvSpPr>
        <p:spPr>
          <a:xfrm>
            <a:off x="2469337" y="1700784"/>
            <a:ext cx="1545793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00"/>
              <a:buFont typeface="Calibri"/>
              <a:buNone/>
            </a:pP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$ 1.197.584.460 por km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7" name="Google Shape;1547;p19"/>
          <p:cNvSpPr/>
          <p:nvPr/>
        </p:nvSpPr>
        <p:spPr>
          <a:xfrm>
            <a:off x="4262018" y="1234440"/>
            <a:ext cx="1765249" cy="658368"/>
          </a:xfrm>
          <a:prstGeom prst="roundRect">
            <a:avLst>
              <a:gd fmla="val 11111" name="adj"/>
            </a:avLst>
          </a:prstGeom>
          <a:solidFill>
            <a:srgbClr val="FBEAEA"/>
          </a:solidFill>
          <a:ln cap="flat" cmpd="sng" w="12700">
            <a:solidFill>
              <a:srgbClr val="FBEA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8" name="Google Shape;1548;p19"/>
          <p:cNvSpPr txBox="1"/>
          <p:nvPr/>
        </p:nvSpPr>
        <p:spPr>
          <a:xfrm>
            <a:off x="4371746" y="1289304"/>
            <a:ext cx="154579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50"/>
              <a:buFont typeface="Calibri"/>
              <a:buNone/>
            </a:pPr>
            <a:r>
              <a:rPr b="0" i="0" lang="es-CO" sz="9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Avance físico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9" name="Google Shape;1549;p19"/>
          <p:cNvSpPr txBox="1"/>
          <p:nvPr/>
        </p:nvSpPr>
        <p:spPr>
          <a:xfrm>
            <a:off x="4371746" y="1453896"/>
            <a:ext cx="154579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261E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B3261E"/>
                </a:solidFill>
                <a:latin typeface="Calibri"/>
                <a:ea typeface="Calibri"/>
                <a:cs typeface="Calibri"/>
                <a:sym typeface="Calibri"/>
              </a:rPr>
              <a:t>3,23 %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0" name="Google Shape;1550;p19"/>
          <p:cNvSpPr txBox="1"/>
          <p:nvPr/>
        </p:nvSpPr>
        <p:spPr>
          <a:xfrm>
            <a:off x="4371746" y="1700784"/>
            <a:ext cx="1545793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00"/>
              <a:buFont typeface="Calibri"/>
              <a:buNone/>
            </a:pP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Frente a 44,0 % del plazo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1" name="Google Shape;1551;p19"/>
          <p:cNvSpPr/>
          <p:nvPr/>
        </p:nvSpPr>
        <p:spPr>
          <a:xfrm>
            <a:off x="6164428" y="1234440"/>
            <a:ext cx="1765249" cy="658368"/>
          </a:xfrm>
          <a:prstGeom prst="roundRect">
            <a:avLst>
              <a:gd fmla="val 1111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2" name="Google Shape;1552;p19"/>
          <p:cNvSpPr txBox="1"/>
          <p:nvPr/>
        </p:nvSpPr>
        <p:spPr>
          <a:xfrm>
            <a:off x="6274156" y="1289304"/>
            <a:ext cx="154579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50"/>
              <a:buFont typeface="Calibri"/>
              <a:buNone/>
            </a:pPr>
            <a:r>
              <a:rPr b="0" i="0" lang="es-CO" sz="9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Avance financiero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3" name="Google Shape;1553;p19"/>
          <p:cNvSpPr txBox="1"/>
          <p:nvPr/>
        </p:nvSpPr>
        <p:spPr>
          <a:xfrm>
            <a:off x="6274156" y="1453896"/>
            <a:ext cx="154579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6,65 %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4" name="Google Shape;1554;p19"/>
          <p:cNvSpPr/>
          <p:nvPr/>
        </p:nvSpPr>
        <p:spPr>
          <a:xfrm>
            <a:off x="8066837" y="1234440"/>
            <a:ext cx="1765249" cy="658368"/>
          </a:xfrm>
          <a:prstGeom prst="roundRect">
            <a:avLst>
              <a:gd fmla="val 1111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5" name="Google Shape;1555;p19"/>
          <p:cNvSpPr txBox="1"/>
          <p:nvPr/>
        </p:nvSpPr>
        <p:spPr>
          <a:xfrm>
            <a:off x="8176565" y="1289304"/>
            <a:ext cx="154579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50"/>
              <a:buFont typeface="Calibri"/>
              <a:buNone/>
            </a:pPr>
            <a:r>
              <a:rPr b="0" i="0" lang="es-CO" sz="9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Plazo transcurrido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6" name="Google Shape;1556;p19"/>
          <p:cNvSpPr txBox="1"/>
          <p:nvPr/>
        </p:nvSpPr>
        <p:spPr>
          <a:xfrm>
            <a:off x="8176565" y="1453896"/>
            <a:ext cx="154579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44,0 %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7" name="Google Shape;1557;p19"/>
          <p:cNvSpPr txBox="1"/>
          <p:nvPr/>
        </p:nvSpPr>
        <p:spPr>
          <a:xfrm>
            <a:off x="8176565" y="1700784"/>
            <a:ext cx="1545793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00"/>
              <a:buFont typeface="Calibri"/>
              <a:buNone/>
            </a:pP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7,9 de 18 meses (al 02/10/2026)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8" name="Google Shape;1558;p19"/>
          <p:cNvSpPr/>
          <p:nvPr/>
        </p:nvSpPr>
        <p:spPr>
          <a:xfrm>
            <a:off x="9969246" y="1234440"/>
            <a:ext cx="1765249" cy="658368"/>
          </a:xfrm>
          <a:prstGeom prst="roundRect">
            <a:avLst>
              <a:gd fmla="val 1111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9" name="Google Shape;1559;p19"/>
          <p:cNvSpPr txBox="1"/>
          <p:nvPr/>
        </p:nvSpPr>
        <p:spPr>
          <a:xfrm>
            <a:off x="10078974" y="1289304"/>
            <a:ext cx="1545793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Inicio: </a:t>
            </a: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04/02/2026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Terminación: </a:t>
            </a: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03/08/2027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Corte: </a:t>
            </a: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25/09/2026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0" name="Google Shape;1560;p19"/>
          <p:cNvSpPr txBox="1"/>
          <p:nvPr/>
        </p:nvSpPr>
        <p:spPr>
          <a:xfrm>
            <a:off x="457200" y="1956816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1000"/>
              <a:buFont typeface="Calibri"/>
              <a:buNone/>
            </a:pPr>
            <a:r>
              <a:rPr b="1" i="0" lang="es-CO" sz="10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AVANCE POR ABSCISA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61" name="Google Shape;1561;p19"/>
          <p:cNvCxnSpPr/>
          <p:nvPr/>
        </p:nvCxnSpPr>
        <p:spPr>
          <a:xfrm>
            <a:off x="2103120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62" name="Google Shape;1562;p19"/>
          <p:cNvCxnSpPr/>
          <p:nvPr/>
        </p:nvCxnSpPr>
        <p:spPr>
          <a:xfrm>
            <a:off x="2257469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63" name="Google Shape;1563;p19"/>
          <p:cNvCxnSpPr/>
          <p:nvPr/>
        </p:nvCxnSpPr>
        <p:spPr>
          <a:xfrm>
            <a:off x="2411818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64" name="Google Shape;1564;p19"/>
          <p:cNvCxnSpPr/>
          <p:nvPr/>
        </p:nvCxnSpPr>
        <p:spPr>
          <a:xfrm>
            <a:off x="2566167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65" name="Google Shape;1565;p19"/>
          <p:cNvCxnSpPr/>
          <p:nvPr/>
        </p:nvCxnSpPr>
        <p:spPr>
          <a:xfrm>
            <a:off x="2720515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66" name="Google Shape;1566;p19"/>
          <p:cNvCxnSpPr/>
          <p:nvPr/>
        </p:nvCxnSpPr>
        <p:spPr>
          <a:xfrm>
            <a:off x="2874864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67" name="Google Shape;1567;p19"/>
          <p:cNvCxnSpPr/>
          <p:nvPr/>
        </p:nvCxnSpPr>
        <p:spPr>
          <a:xfrm>
            <a:off x="3029213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68" name="Google Shape;1568;p19"/>
          <p:cNvCxnSpPr/>
          <p:nvPr/>
        </p:nvCxnSpPr>
        <p:spPr>
          <a:xfrm>
            <a:off x="3183562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69" name="Google Shape;1569;p19"/>
          <p:cNvCxnSpPr/>
          <p:nvPr/>
        </p:nvCxnSpPr>
        <p:spPr>
          <a:xfrm>
            <a:off x="3337911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70" name="Google Shape;1570;p19"/>
          <p:cNvCxnSpPr/>
          <p:nvPr/>
        </p:nvCxnSpPr>
        <p:spPr>
          <a:xfrm>
            <a:off x="3492260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71" name="Google Shape;1571;p19"/>
          <p:cNvCxnSpPr/>
          <p:nvPr/>
        </p:nvCxnSpPr>
        <p:spPr>
          <a:xfrm>
            <a:off x="3646608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72" name="Google Shape;1572;p19"/>
          <p:cNvCxnSpPr/>
          <p:nvPr/>
        </p:nvCxnSpPr>
        <p:spPr>
          <a:xfrm>
            <a:off x="3800957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73" name="Google Shape;1573;p19"/>
          <p:cNvCxnSpPr/>
          <p:nvPr/>
        </p:nvCxnSpPr>
        <p:spPr>
          <a:xfrm>
            <a:off x="3955306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74" name="Google Shape;1574;p19"/>
          <p:cNvCxnSpPr/>
          <p:nvPr/>
        </p:nvCxnSpPr>
        <p:spPr>
          <a:xfrm>
            <a:off x="4109655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75" name="Google Shape;1575;p19"/>
          <p:cNvCxnSpPr/>
          <p:nvPr/>
        </p:nvCxnSpPr>
        <p:spPr>
          <a:xfrm>
            <a:off x="4264004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76" name="Google Shape;1576;p19"/>
          <p:cNvCxnSpPr/>
          <p:nvPr/>
        </p:nvCxnSpPr>
        <p:spPr>
          <a:xfrm>
            <a:off x="4418353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77" name="Google Shape;1577;p19"/>
          <p:cNvCxnSpPr/>
          <p:nvPr/>
        </p:nvCxnSpPr>
        <p:spPr>
          <a:xfrm>
            <a:off x="4572702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78" name="Google Shape;1578;p19"/>
          <p:cNvCxnSpPr/>
          <p:nvPr/>
        </p:nvCxnSpPr>
        <p:spPr>
          <a:xfrm>
            <a:off x="4727050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79" name="Google Shape;1579;p19"/>
          <p:cNvCxnSpPr/>
          <p:nvPr/>
        </p:nvCxnSpPr>
        <p:spPr>
          <a:xfrm>
            <a:off x="4881399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80" name="Google Shape;1580;p19"/>
          <p:cNvCxnSpPr/>
          <p:nvPr/>
        </p:nvCxnSpPr>
        <p:spPr>
          <a:xfrm>
            <a:off x="5035748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81" name="Google Shape;1581;p19"/>
          <p:cNvCxnSpPr/>
          <p:nvPr/>
        </p:nvCxnSpPr>
        <p:spPr>
          <a:xfrm>
            <a:off x="5190097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82" name="Google Shape;1582;p19"/>
          <p:cNvCxnSpPr/>
          <p:nvPr/>
        </p:nvCxnSpPr>
        <p:spPr>
          <a:xfrm>
            <a:off x="5344446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83" name="Google Shape;1583;p19"/>
          <p:cNvCxnSpPr/>
          <p:nvPr/>
        </p:nvCxnSpPr>
        <p:spPr>
          <a:xfrm>
            <a:off x="5498795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84" name="Google Shape;1584;p19"/>
          <p:cNvCxnSpPr/>
          <p:nvPr/>
        </p:nvCxnSpPr>
        <p:spPr>
          <a:xfrm>
            <a:off x="5653144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85" name="Google Shape;1585;p19"/>
          <p:cNvCxnSpPr/>
          <p:nvPr/>
        </p:nvCxnSpPr>
        <p:spPr>
          <a:xfrm>
            <a:off x="5807492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86" name="Google Shape;1586;p19"/>
          <p:cNvCxnSpPr/>
          <p:nvPr/>
        </p:nvCxnSpPr>
        <p:spPr>
          <a:xfrm>
            <a:off x="5961841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87" name="Google Shape;1587;p19"/>
          <p:cNvCxnSpPr/>
          <p:nvPr/>
        </p:nvCxnSpPr>
        <p:spPr>
          <a:xfrm>
            <a:off x="6116190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88" name="Google Shape;1588;p19"/>
          <p:cNvCxnSpPr/>
          <p:nvPr/>
        </p:nvCxnSpPr>
        <p:spPr>
          <a:xfrm>
            <a:off x="6270539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89" name="Google Shape;1589;p19"/>
          <p:cNvCxnSpPr/>
          <p:nvPr/>
        </p:nvCxnSpPr>
        <p:spPr>
          <a:xfrm>
            <a:off x="6424888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90" name="Google Shape;1590;p19"/>
          <p:cNvCxnSpPr/>
          <p:nvPr/>
        </p:nvCxnSpPr>
        <p:spPr>
          <a:xfrm>
            <a:off x="6579237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91" name="Google Shape;1591;p19"/>
          <p:cNvCxnSpPr/>
          <p:nvPr/>
        </p:nvCxnSpPr>
        <p:spPr>
          <a:xfrm>
            <a:off x="6733585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92" name="Google Shape;1592;p19"/>
          <p:cNvCxnSpPr/>
          <p:nvPr/>
        </p:nvCxnSpPr>
        <p:spPr>
          <a:xfrm>
            <a:off x="6887934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93" name="Google Shape;1593;p19"/>
          <p:cNvCxnSpPr/>
          <p:nvPr/>
        </p:nvCxnSpPr>
        <p:spPr>
          <a:xfrm>
            <a:off x="7042283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94" name="Google Shape;1594;p19"/>
          <p:cNvCxnSpPr/>
          <p:nvPr/>
        </p:nvCxnSpPr>
        <p:spPr>
          <a:xfrm>
            <a:off x="7196632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95" name="Google Shape;1595;p19"/>
          <p:cNvCxnSpPr/>
          <p:nvPr/>
        </p:nvCxnSpPr>
        <p:spPr>
          <a:xfrm>
            <a:off x="7350981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96" name="Google Shape;1596;p19"/>
          <p:cNvCxnSpPr/>
          <p:nvPr/>
        </p:nvCxnSpPr>
        <p:spPr>
          <a:xfrm>
            <a:off x="7505330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97" name="Google Shape;1597;p19"/>
          <p:cNvCxnSpPr/>
          <p:nvPr/>
        </p:nvCxnSpPr>
        <p:spPr>
          <a:xfrm>
            <a:off x="7659679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98" name="Google Shape;1598;p19"/>
          <p:cNvCxnSpPr/>
          <p:nvPr/>
        </p:nvCxnSpPr>
        <p:spPr>
          <a:xfrm>
            <a:off x="7814027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99" name="Google Shape;1599;p19"/>
          <p:cNvCxnSpPr/>
          <p:nvPr/>
        </p:nvCxnSpPr>
        <p:spPr>
          <a:xfrm>
            <a:off x="7968376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00" name="Google Shape;1600;p19"/>
          <p:cNvCxnSpPr/>
          <p:nvPr/>
        </p:nvCxnSpPr>
        <p:spPr>
          <a:xfrm>
            <a:off x="8122725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01" name="Google Shape;1601;p19"/>
          <p:cNvCxnSpPr/>
          <p:nvPr/>
        </p:nvCxnSpPr>
        <p:spPr>
          <a:xfrm>
            <a:off x="8277074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02" name="Google Shape;1602;p19"/>
          <p:cNvCxnSpPr/>
          <p:nvPr/>
        </p:nvCxnSpPr>
        <p:spPr>
          <a:xfrm>
            <a:off x="8431423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03" name="Google Shape;1603;p19"/>
          <p:cNvCxnSpPr/>
          <p:nvPr/>
        </p:nvCxnSpPr>
        <p:spPr>
          <a:xfrm>
            <a:off x="8585772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04" name="Google Shape;1604;p19"/>
          <p:cNvCxnSpPr/>
          <p:nvPr/>
        </p:nvCxnSpPr>
        <p:spPr>
          <a:xfrm>
            <a:off x="8740121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05" name="Google Shape;1605;p19"/>
          <p:cNvCxnSpPr/>
          <p:nvPr/>
        </p:nvCxnSpPr>
        <p:spPr>
          <a:xfrm>
            <a:off x="8894469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06" name="Google Shape;1606;p19"/>
          <p:cNvCxnSpPr/>
          <p:nvPr/>
        </p:nvCxnSpPr>
        <p:spPr>
          <a:xfrm>
            <a:off x="9048818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07" name="Google Shape;1607;p19"/>
          <p:cNvCxnSpPr/>
          <p:nvPr/>
        </p:nvCxnSpPr>
        <p:spPr>
          <a:xfrm>
            <a:off x="9203167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08" name="Google Shape;1608;p19"/>
          <p:cNvCxnSpPr/>
          <p:nvPr/>
        </p:nvCxnSpPr>
        <p:spPr>
          <a:xfrm>
            <a:off x="9357516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09" name="Google Shape;1609;p19"/>
          <p:cNvCxnSpPr/>
          <p:nvPr/>
        </p:nvCxnSpPr>
        <p:spPr>
          <a:xfrm>
            <a:off x="9511865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10" name="Google Shape;1610;p19"/>
          <p:cNvCxnSpPr/>
          <p:nvPr/>
        </p:nvCxnSpPr>
        <p:spPr>
          <a:xfrm>
            <a:off x="9666214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11" name="Google Shape;1611;p19"/>
          <p:cNvCxnSpPr/>
          <p:nvPr/>
        </p:nvCxnSpPr>
        <p:spPr>
          <a:xfrm>
            <a:off x="9820562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12" name="Google Shape;1612;p19"/>
          <p:cNvCxnSpPr/>
          <p:nvPr/>
        </p:nvCxnSpPr>
        <p:spPr>
          <a:xfrm>
            <a:off x="9974911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13" name="Google Shape;1613;p19"/>
          <p:cNvCxnSpPr/>
          <p:nvPr/>
        </p:nvCxnSpPr>
        <p:spPr>
          <a:xfrm>
            <a:off x="10129260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14" name="Google Shape;1614;p19"/>
          <p:cNvCxnSpPr/>
          <p:nvPr/>
        </p:nvCxnSpPr>
        <p:spPr>
          <a:xfrm>
            <a:off x="10283609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15" name="Google Shape;1615;p19"/>
          <p:cNvCxnSpPr/>
          <p:nvPr/>
        </p:nvCxnSpPr>
        <p:spPr>
          <a:xfrm>
            <a:off x="10437958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16" name="Google Shape;1616;p19"/>
          <p:cNvCxnSpPr/>
          <p:nvPr/>
        </p:nvCxnSpPr>
        <p:spPr>
          <a:xfrm>
            <a:off x="10592307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17" name="Google Shape;1617;p19"/>
          <p:cNvCxnSpPr/>
          <p:nvPr/>
        </p:nvCxnSpPr>
        <p:spPr>
          <a:xfrm>
            <a:off x="10746656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18" name="Google Shape;1618;p19"/>
          <p:cNvCxnSpPr/>
          <p:nvPr/>
        </p:nvCxnSpPr>
        <p:spPr>
          <a:xfrm>
            <a:off x="10901004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19" name="Google Shape;1619;p19"/>
          <p:cNvCxnSpPr/>
          <p:nvPr/>
        </p:nvCxnSpPr>
        <p:spPr>
          <a:xfrm>
            <a:off x="11055353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20" name="Google Shape;1620;p19"/>
          <p:cNvSpPr txBox="1"/>
          <p:nvPr/>
        </p:nvSpPr>
        <p:spPr>
          <a:xfrm>
            <a:off x="1874520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1" name="Google Shape;1621;p19"/>
          <p:cNvSpPr txBox="1"/>
          <p:nvPr/>
        </p:nvSpPr>
        <p:spPr>
          <a:xfrm>
            <a:off x="2646264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2" name="Google Shape;1622;p19"/>
          <p:cNvSpPr txBox="1"/>
          <p:nvPr/>
        </p:nvSpPr>
        <p:spPr>
          <a:xfrm>
            <a:off x="3418008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K10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3" name="Google Shape;1623;p19"/>
          <p:cNvSpPr txBox="1"/>
          <p:nvPr/>
        </p:nvSpPr>
        <p:spPr>
          <a:xfrm>
            <a:off x="4189753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K15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4" name="Google Shape;1624;p19"/>
          <p:cNvSpPr txBox="1"/>
          <p:nvPr/>
        </p:nvSpPr>
        <p:spPr>
          <a:xfrm>
            <a:off x="4961497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K20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5" name="Google Shape;1625;p19"/>
          <p:cNvSpPr txBox="1"/>
          <p:nvPr/>
        </p:nvSpPr>
        <p:spPr>
          <a:xfrm>
            <a:off x="5733241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K25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6" name="Google Shape;1626;p19"/>
          <p:cNvSpPr txBox="1"/>
          <p:nvPr/>
        </p:nvSpPr>
        <p:spPr>
          <a:xfrm>
            <a:off x="6504985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K30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7" name="Google Shape;1627;p19"/>
          <p:cNvSpPr txBox="1"/>
          <p:nvPr/>
        </p:nvSpPr>
        <p:spPr>
          <a:xfrm>
            <a:off x="7276730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K35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8" name="Google Shape;1628;p19"/>
          <p:cNvSpPr txBox="1"/>
          <p:nvPr/>
        </p:nvSpPr>
        <p:spPr>
          <a:xfrm>
            <a:off x="8048474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K40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9" name="Google Shape;1629;p19"/>
          <p:cNvSpPr txBox="1"/>
          <p:nvPr/>
        </p:nvSpPr>
        <p:spPr>
          <a:xfrm>
            <a:off x="8820218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K45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0" name="Google Shape;1630;p19"/>
          <p:cNvSpPr txBox="1"/>
          <p:nvPr/>
        </p:nvSpPr>
        <p:spPr>
          <a:xfrm>
            <a:off x="9591962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K50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1" name="Google Shape;1631;p19"/>
          <p:cNvSpPr txBox="1"/>
          <p:nvPr/>
        </p:nvSpPr>
        <p:spPr>
          <a:xfrm>
            <a:off x="10363707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K55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2" name="Google Shape;1632;p19"/>
          <p:cNvSpPr txBox="1"/>
          <p:nvPr/>
        </p:nvSpPr>
        <p:spPr>
          <a:xfrm>
            <a:off x="10835640" y="2139696"/>
            <a:ext cx="54864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K58+650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3" name="Google Shape;1633;p19"/>
          <p:cNvSpPr/>
          <p:nvPr/>
        </p:nvSpPr>
        <p:spPr>
          <a:xfrm>
            <a:off x="2103120" y="2359152"/>
            <a:ext cx="9052560" cy="73152"/>
          </a:xfrm>
          <a:prstGeom prst="rect">
            <a:avLst/>
          </a:prstGeom>
          <a:solidFill>
            <a:srgbClr val="1F2A36"/>
          </a:solidFill>
          <a:ln cap="flat" cmpd="sng" w="12700">
            <a:solidFill>
              <a:srgbClr val="1F2A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34" name="Google Shape;1634;p19"/>
          <p:cNvCxnSpPr/>
          <p:nvPr/>
        </p:nvCxnSpPr>
        <p:spPr>
          <a:xfrm>
            <a:off x="2139696" y="2395728"/>
            <a:ext cx="8979408" cy="0"/>
          </a:xfrm>
          <a:prstGeom prst="straightConnector1">
            <a:avLst/>
          </a:prstGeom>
          <a:noFill/>
          <a:ln cap="flat" cmpd="sng" w="9525">
            <a:solidFill>
              <a:srgbClr val="F2C94C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635" name="Google Shape;1635;p19"/>
          <p:cNvCxnSpPr/>
          <p:nvPr/>
        </p:nvCxnSpPr>
        <p:spPr>
          <a:xfrm>
            <a:off x="731520" y="2487168"/>
            <a:ext cx="0" cy="338328"/>
          </a:xfrm>
          <a:prstGeom prst="straightConnector1">
            <a:avLst/>
          </a:prstGeom>
          <a:noFill/>
          <a:ln cap="flat" cmpd="sng" w="19050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36" name="Google Shape;1636;p19"/>
          <p:cNvSpPr txBox="1"/>
          <p:nvPr/>
        </p:nvSpPr>
        <p:spPr>
          <a:xfrm rot="-5400000">
            <a:off x="260604" y="2574036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700"/>
              <a:buFont typeface="Calibri"/>
              <a:buNone/>
            </a:pPr>
            <a:r>
              <a:rPr b="1" i="0" lang="es-CO" sz="7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CAMPO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7" name="Google Shape;1637;p19"/>
          <p:cNvSpPr txBox="1"/>
          <p:nvPr/>
        </p:nvSpPr>
        <p:spPr>
          <a:xfrm>
            <a:off x="777240" y="2487168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Topografía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8" name="Google Shape;1638;p19"/>
          <p:cNvSpPr/>
          <p:nvPr/>
        </p:nvSpPr>
        <p:spPr>
          <a:xfrm>
            <a:off x="2103120" y="2487168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9" name="Google Shape;1639;p19"/>
          <p:cNvSpPr/>
          <p:nvPr/>
        </p:nvSpPr>
        <p:spPr>
          <a:xfrm>
            <a:off x="2103126" y="2487175"/>
            <a:ext cx="3087000" cy="155400"/>
          </a:xfrm>
          <a:prstGeom prst="rect">
            <a:avLst/>
          </a:prstGeom>
          <a:solidFill>
            <a:srgbClr val="2E7D4F"/>
          </a:solidFill>
          <a:ln cap="flat" cmpd="sng" w="9525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0" name="Google Shape;1640;p19"/>
          <p:cNvSpPr txBox="1"/>
          <p:nvPr/>
        </p:nvSpPr>
        <p:spPr>
          <a:xfrm>
            <a:off x="11201400" y="2487168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34,1 %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1" name="Google Shape;1641;p19"/>
          <p:cNvSpPr txBox="1"/>
          <p:nvPr/>
        </p:nvSpPr>
        <p:spPr>
          <a:xfrm>
            <a:off x="777240" y="2670048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Apiques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2" name="Google Shape;1642;p19"/>
          <p:cNvSpPr/>
          <p:nvPr/>
        </p:nvSpPr>
        <p:spPr>
          <a:xfrm>
            <a:off x="2103120" y="2670048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3" name="Google Shape;1643;p19"/>
          <p:cNvSpPr/>
          <p:nvPr/>
        </p:nvSpPr>
        <p:spPr>
          <a:xfrm>
            <a:off x="2103120" y="2670048"/>
            <a:ext cx="4386594" cy="155448"/>
          </a:xfrm>
          <a:prstGeom prst="rect">
            <a:avLst/>
          </a:prstGeom>
          <a:solidFill>
            <a:srgbClr val="2E7D4F"/>
          </a:solidFill>
          <a:ln cap="flat" cmpd="sng" w="9525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4" name="Google Shape;1644;p19"/>
          <p:cNvSpPr txBox="1"/>
          <p:nvPr/>
        </p:nvSpPr>
        <p:spPr>
          <a:xfrm>
            <a:off x="11201400" y="2670048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48 %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45" name="Google Shape;1645;p19"/>
          <p:cNvCxnSpPr/>
          <p:nvPr/>
        </p:nvCxnSpPr>
        <p:spPr>
          <a:xfrm>
            <a:off x="2103120" y="2907792"/>
            <a:ext cx="1404575" cy="0"/>
          </a:xfrm>
          <a:prstGeom prst="straightConnector1">
            <a:avLst/>
          </a:prstGeom>
          <a:noFill/>
          <a:ln cap="flat" cmpd="sng" w="25400">
            <a:solidFill>
              <a:srgbClr val="0B5D2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46" name="Google Shape;1646;p19"/>
          <p:cNvCxnSpPr/>
          <p:nvPr/>
        </p:nvCxnSpPr>
        <p:spPr>
          <a:xfrm>
            <a:off x="731520" y="2953512"/>
            <a:ext cx="0" cy="466344"/>
          </a:xfrm>
          <a:prstGeom prst="straightConnector1">
            <a:avLst/>
          </a:prstGeom>
          <a:noFill/>
          <a:ln cap="flat" cmpd="sng" w="19050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47" name="Google Shape;1647;p19"/>
          <p:cNvSpPr txBox="1"/>
          <p:nvPr/>
        </p:nvSpPr>
        <p:spPr>
          <a:xfrm rot="-5400000">
            <a:off x="260604" y="3104388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700"/>
              <a:buFont typeface="Calibri"/>
              <a:buNone/>
            </a:pPr>
            <a:r>
              <a:rPr b="1" i="0" lang="es-CO" sz="7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ESTRUCTURA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8" name="Google Shape;1648;p19"/>
          <p:cNvSpPr txBox="1"/>
          <p:nvPr/>
        </p:nvSpPr>
        <p:spPr>
          <a:xfrm>
            <a:off x="777240" y="2953512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Rodadura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9" name="Google Shape;1649;p19"/>
          <p:cNvSpPr/>
          <p:nvPr/>
        </p:nvSpPr>
        <p:spPr>
          <a:xfrm>
            <a:off x="2103120" y="2953512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0" name="Google Shape;1650;p19"/>
          <p:cNvSpPr txBox="1"/>
          <p:nvPr/>
        </p:nvSpPr>
        <p:spPr>
          <a:xfrm>
            <a:off x="11201400" y="2953512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1" name="Google Shape;1651;p19"/>
          <p:cNvSpPr txBox="1"/>
          <p:nvPr/>
        </p:nvSpPr>
        <p:spPr>
          <a:xfrm>
            <a:off x="777240" y="3108960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Capa granular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2" name="Google Shape;1652;p19"/>
          <p:cNvSpPr/>
          <p:nvPr/>
        </p:nvSpPr>
        <p:spPr>
          <a:xfrm>
            <a:off x="2103120" y="3108960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3" name="Google Shape;1653;p19"/>
          <p:cNvSpPr txBox="1"/>
          <p:nvPr/>
        </p:nvSpPr>
        <p:spPr>
          <a:xfrm>
            <a:off x="2359595" y="3108950"/>
            <a:ext cx="45594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00"/>
              <a:buFont typeface="Calibri"/>
              <a:buNone/>
            </a:pP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estabilización con cal 0,5 km ejecutadas 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4" name="Google Shape;1654;p19"/>
          <p:cNvSpPr txBox="1"/>
          <p:nvPr/>
        </p:nvSpPr>
        <p:spPr>
          <a:xfrm>
            <a:off x="11201400" y="3108960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0,87 %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5" name="Google Shape;1655;p19"/>
          <p:cNvSpPr txBox="1"/>
          <p:nvPr/>
        </p:nvSpPr>
        <p:spPr>
          <a:xfrm>
            <a:off x="777240" y="3264408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Subrasante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6" name="Google Shape;1656;p19"/>
          <p:cNvSpPr/>
          <p:nvPr/>
        </p:nvSpPr>
        <p:spPr>
          <a:xfrm>
            <a:off x="2103120" y="3264408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7" name="Google Shape;1657;p19"/>
          <p:cNvSpPr txBox="1"/>
          <p:nvPr/>
        </p:nvSpPr>
        <p:spPr>
          <a:xfrm>
            <a:off x="11201400" y="3264408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0,5 %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58" name="Google Shape;1658;p19"/>
          <p:cNvCxnSpPr/>
          <p:nvPr/>
        </p:nvCxnSpPr>
        <p:spPr>
          <a:xfrm>
            <a:off x="731520" y="3511296"/>
            <a:ext cx="0" cy="521208"/>
          </a:xfrm>
          <a:prstGeom prst="straightConnector1">
            <a:avLst/>
          </a:prstGeom>
          <a:noFill/>
          <a:ln cap="flat" cmpd="sng" w="19050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59" name="Google Shape;1659;p19"/>
          <p:cNvSpPr txBox="1"/>
          <p:nvPr/>
        </p:nvSpPr>
        <p:spPr>
          <a:xfrm rot="-5400000">
            <a:off x="260604" y="3689604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700"/>
              <a:buFont typeface="Calibri"/>
              <a:buNone/>
            </a:pPr>
            <a:r>
              <a:rPr b="1" i="0" lang="es-CO" sz="7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DRENAJE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0" name="Google Shape;1660;p19"/>
          <p:cNvSpPr txBox="1"/>
          <p:nvPr/>
        </p:nvSpPr>
        <p:spPr>
          <a:xfrm>
            <a:off x="777240" y="3511296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Cunetas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1" name="Google Shape;1661;p19"/>
          <p:cNvSpPr/>
          <p:nvPr/>
        </p:nvSpPr>
        <p:spPr>
          <a:xfrm>
            <a:off x="2103120" y="3511296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2" name="Google Shape;1662;p19"/>
          <p:cNvSpPr/>
          <p:nvPr/>
        </p:nvSpPr>
        <p:spPr>
          <a:xfrm>
            <a:off x="2141707" y="3511296"/>
            <a:ext cx="38587" cy="155448"/>
          </a:xfrm>
          <a:prstGeom prst="rect">
            <a:avLst/>
          </a:prstGeom>
          <a:solidFill>
            <a:srgbClr val="2E7D4F"/>
          </a:solidFill>
          <a:ln cap="flat" cmpd="sng" w="9525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3" name="Google Shape;1663;p19"/>
          <p:cNvSpPr/>
          <p:nvPr/>
        </p:nvSpPr>
        <p:spPr>
          <a:xfrm>
            <a:off x="2334643" y="3511296"/>
            <a:ext cx="38587" cy="155448"/>
          </a:xfrm>
          <a:prstGeom prst="rect">
            <a:avLst/>
          </a:prstGeom>
          <a:solidFill>
            <a:srgbClr val="2E7D4F"/>
          </a:solidFill>
          <a:ln cap="flat" cmpd="sng" w="9525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4" name="Google Shape;1664;p19"/>
          <p:cNvSpPr/>
          <p:nvPr/>
        </p:nvSpPr>
        <p:spPr>
          <a:xfrm>
            <a:off x="3260736" y="3511296"/>
            <a:ext cx="38587" cy="155448"/>
          </a:xfrm>
          <a:prstGeom prst="rect">
            <a:avLst/>
          </a:prstGeom>
          <a:solidFill>
            <a:srgbClr val="2E7D4F"/>
          </a:solidFill>
          <a:ln cap="flat" cmpd="sng" w="9525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5" name="Google Shape;1665;p19"/>
          <p:cNvSpPr/>
          <p:nvPr/>
        </p:nvSpPr>
        <p:spPr>
          <a:xfrm>
            <a:off x="3569434" y="3511296"/>
            <a:ext cx="38587" cy="155448"/>
          </a:xfrm>
          <a:prstGeom prst="rect">
            <a:avLst/>
          </a:prstGeom>
          <a:solidFill>
            <a:srgbClr val="2E7D4F"/>
          </a:solidFill>
          <a:ln cap="flat" cmpd="sng" w="9525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6" name="Google Shape;1666;p19"/>
          <p:cNvSpPr txBox="1"/>
          <p:nvPr/>
        </p:nvSpPr>
        <p:spPr>
          <a:xfrm>
            <a:off x="11201400" y="3511296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0,9 %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7" name="Google Shape;1667;p19"/>
          <p:cNvSpPr txBox="1"/>
          <p:nvPr/>
        </p:nvSpPr>
        <p:spPr>
          <a:xfrm>
            <a:off x="777240" y="3694176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Filtros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8" name="Google Shape;1668;p19"/>
          <p:cNvSpPr txBox="1"/>
          <p:nvPr/>
        </p:nvSpPr>
        <p:spPr>
          <a:xfrm>
            <a:off x="1920240" y="3694176"/>
            <a:ext cx="137160" cy="777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700"/>
              <a:buFont typeface="Calibri"/>
              <a:buNone/>
            </a:pPr>
            <a:r>
              <a:rPr b="0" i="0" lang="es-CO" sz="7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9" name="Google Shape;1669;p19"/>
          <p:cNvSpPr txBox="1"/>
          <p:nvPr/>
        </p:nvSpPr>
        <p:spPr>
          <a:xfrm>
            <a:off x="1920240" y="3771900"/>
            <a:ext cx="137160" cy="777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700"/>
              <a:buFont typeface="Calibri"/>
              <a:buNone/>
            </a:pPr>
            <a:r>
              <a:rPr b="0" i="0" lang="es-CO" sz="7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0" name="Google Shape;1670;p19"/>
          <p:cNvSpPr/>
          <p:nvPr/>
        </p:nvSpPr>
        <p:spPr>
          <a:xfrm>
            <a:off x="2103120" y="3694176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71" name="Google Shape;1671;p19"/>
          <p:cNvCxnSpPr/>
          <p:nvPr/>
        </p:nvCxnSpPr>
        <p:spPr>
          <a:xfrm>
            <a:off x="2103120" y="3771900"/>
            <a:ext cx="9052560" cy="0"/>
          </a:xfrm>
          <a:prstGeom prst="straightConnector1">
            <a:avLst/>
          </a:prstGeom>
          <a:noFill/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72" name="Google Shape;1672;p19"/>
          <p:cNvSpPr/>
          <p:nvPr/>
        </p:nvSpPr>
        <p:spPr>
          <a:xfrm>
            <a:off x="2103120" y="3694176"/>
            <a:ext cx="578700" cy="73200"/>
          </a:xfrm>
          <a:prstGeom prst="rect">
            <a:avLst/>
          </a:prstGeom>
          <a:solidFill>
            <a:srgbClr val="2E7D4F"/>
          </a:solidFill>
          <a:ln cap="flat" cmpd="sng" w="9525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3" name="Google Shape;1673;p19"/>
          <p:cNvSpPr/>
          <p:nvPr/>
        </p:nvSpPr>
        <p:spPr>
          <a:xfrm>
            <a:off x="2874864" y="3694176"/>
            <a:ext cx="115762" cy="73152"/>
          </a:xfrm>
          <a:prstGeom prst="rect">
            <a:avLst/>
          </a:prstGeom>
          <a:solidFill>
            <a:srgbClr val="2E7D4F"/>
          </a:solidFill>
          <a:ln cap="flat" cmpd="sng" w="9525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4" name="Google Shape;1674;p19"/>
          <p:cNvSpPr/>
          <p:nvPr/>
        </p:nvSpPr>
        <p:spPr>
          <a:xfrm>
            <a:off x="3029213" y="3694176"/>
            <a:ext cx="38587" cy="73152"/>
          </a:xfrm>
          <a:prstGeom prst="rect">
            <a:avLst/>
          </a:prstGeom>
          <a:solidFill>
            <a:srgbClr val="2E7D4F"/>
          </a:solidFill>
          <a:ln cap="flat" cmpd="sng" w="9525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5" name="Google Shape;1675;p19"/>
          <p:cNvSpPr/>
          <p:nvPr/>
        </p:nvSpPr>
        <p:spPr>
          <a:xfrm>
            <a:off x="2218882" y="3776472"/>
            <a:ext cx="385872" cy="73152"/>
          </a:xfrm>
          <a:prstGeom prst="rect">
            <a:avLst/>
          </a:prstGeom>
          <a:solidFill>
            <a:srgbClr val="2E7D4F"/>
          </a:solidFill>
          <a:ln cap="flat" cmpd="sng" w="9525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6" name="Google Shape;1676;p19"/>
          <p:cNvSpPr/>
          <p:nvPr/>
        </p:nvSpPr>
        <p:spPr>
          <a:xfrm>
            <a:off x="2643341" y="3776472"/>
            <a:ext cx="462900" cy="73200"/>
          </a:xfrm>
          <a:prstGeom prst="rect">
            <a:avLst/>
          </a:prstGeom>
          <a:solidFill>
            <a:srgbClr val="2E7D4F"/>
          </a:solidFill>
          <a:ln cap="flat" cmpd="sng" w="9525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7" name="Google Shape;1677;p19"/>
          <p:cNvSpPr txBox="1"/>
          <p:nvPr/>
        </p:nvSpPr>
        <p:spPr>
          <a:xfrm>
            <a:off x="11201400" y="3694176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18,7 %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8" name="Google Shape;1678;p19"/>
          <p:cNvSpPr txBox="1"/>
          <p:nvPr/>
        </p:nvSpPr>
        <p:spPr>
          <a:xfrm>
            <a:off x="777240" y="3877056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Alcantarillas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9" name="Google Shape;1679;p19"/>
          <p:cNvSpPr/>
          <p:nvPr/>
        </p:nvSpPr>
        <p:spPr>
          <a:xfrm>
            <a:off x="2103120" y="3877056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0" name="Google Shape;1680;p19"/>
          <p:cNvSpPr/>
          <p:nvPr/>
        </p:nvSpPr>
        <p:spPr>
          <a:xfrm>
            <a:off x="2156370" y="3877056"/>
            <a:ext cx="3470534" cy="155448"/>
          </a:xfrm>
          <a:prstGeom prst="rect">
            <a:avLst/>
          </a:prstGeom>
          <a:solidFill>
            <a:srgbClr val="A9C7B3"/>
          </a:solidFill>
          <a:ln cap="flat" cmpd="sng" w="9525">
            <a:solidFill>
              <a:srgbClr val="A9C7B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1" name="Google Shape;1681;p19"/>
          <p:cNvSpPr/>
          <p:nvPr/>
        </p:nvSpPr>
        <p:spPr>
          <a:xfrm>
            <a:off x="9849889" y="3877056"/>
            <a:ext cx="1292054" cy="155448"/>
          </a:xfrm>
          <a:prstGeom prst="rect">
            <a:avLst/>
          </a:prstGeom>
          <a:solidFill>
            <a:srgbClr val="A9C7B3"/>
          </a:solidFill>
          <a:ln cap="flat" cmpd="sng" w="9525">
            <a:solidFill>
              <a:srgbClr val="A9C7B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2" name="Google Shape;1682;p19"/>
          <p:cNvSpPr txBox="1"/>
          <p:nvPr/>
        </p:nvSpPr>
        <p:spPr>
          <a:xfrm>
            <a:off x="11201400" y="3877056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31 %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3" name="Google Shape;1683;p19"/>
          <p:cNvSpPr txBox="1"/>
          <p:nvPr/>
        </p:nvSpPr>
        <p:spPr>
          <a:xfrm>
            <a:off x="457200" y="4078224"/>
            <a:ext cx="11277295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D9A6"/>
              </a:buClr>
              <a:buSzPts val="800"/>
              <a:buFont typeface="Calibri"/>
              <a:buNone/>
            </a:pPr>
            <a:r>
              <a:rPr b="0" i="0" lang="es-CO" sz="800" u="none" cap="none" strike="noStrike">
                <a:solidFill>
                  <a:srgbClr val="EBD9A6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Natural    </a:t>
            </a:r>
            <a:r>
              <a:rPr b="0" i="0" lang="es-CO" sz="800" u="none" cap="none" strike="noStrike">
                <a:solidFill>
                  <a:srgbClr val="8C6A4F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Cal    </a:t>
            </a:r>
            <a:r>
              <a:rPr b="0" i="0" lang="es-CO" sz="800" u="none" cap="none" strike="noStrike">
                <a:solidFill>
                  <a:srgbClr val="D9A441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Cemento    </a:t>
            </a:r>
            <a:r>
              <a:rPr b="0" i="0" lang="es-CO" sz="800" u="none" cap="none" strike="noStrike">
                <a:solidFill>
                  <a:srgbClr val="1F2A36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TSD    </a:t>
            </a:r>
            <a:r>
              <a:rPr b="0" i="0" lang="es-CO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MDC-19    </a:t>
            </a:r>
            <a:r>
              <a:rPr b="0" i="0" lang="es-CO" sz="8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Ejecutado    </a:t>
            </a:r>
            <a:r>
              <a:rPr b="0" i="0" lang="es-CO" sz="800" u="none" cap="none" strike="noStrike">
                <a:solidFill>
                  <a:srgbClr val="A9C7B3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Limpieza alcantarillas    </a:t>
            </a:r>
            <a:r>
              <a:rPr b="0" i="0" lang="es-CO" sz="800" u="none" cap="none" strike="noStrike">
                <a:solidFill>
                  <a:srgbClr val="2F6FB0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Alcantarilla nueva    </a:t>
            </a:r>
            <a:r>
              <a:rPr b="0" i="0" lang="es-CO" sz="800" u="none" cap="none" strike="noStrike">
                <a:solidFill>
                  <a:srgbClr val="E07B24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Reemplazada    </a:t>
            </a:r>
            <a:r>
              <a:rPr b="0" i="0" lang="es-CO" sz="800" u="none" cap="none" strike="noStrike">
                <a:solidFill>
                  <a:srgbClr val="0B5D2E"/>
                </a:solidFill>
                <a:latin typeface="Calibri"/>
                <a:ea typeface="Calibri"/>
                <a:cs typeface="Calibri"/>
                <a:sym typeface="Calibri"/>
              </a:rPr>
              <a:t>━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Diseño recomendado (alternativa 21) K0+000 – K9+100    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4" name="Google Shape;1684;p19"/>
          <p:cNvSpPr txBox="1"/>
          <p:nvPr/>
        </p:nvSpPr>
        <p:spPr>
          <a:xfrm>
            <a:off x="566928" y="4425696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CO" sz="1100" u="none" cap="none" strike="noStrike">
                <a:solidFill>
                  <a:srgbClr val="2F8052"/>
                </a:solidFill>
                <a:latin typeface="Arial"/>
                <a:ea typeface="Arial"/>
                <a:cs typeface="Arial"/>
                <a:sym typeface="Arial"/>
              </a:rPr>
              <a:t>AVANCE POR ACTIVIDAD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5" name="Google Shape;1685;p19"/>
          <p:cNvSpPr txBox="1"/>
          <p:nvPr/>
        </p:nvSpPr>
        <p:spPr>
          <a:xfrm>
            <a:off x="566928" y="4758864"/>
            <a:ext cx="2331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0"/>
              <a:buFont typeface="Arial"/>
              <a:buNone/>
            </a:pPr>
            <a:r>
              <a:rPr b="0" i="0" lang="es-CO" sz="910" u="none" cap="none" strike="noStrike">
                <a:solidFill>
                  <a:srgbClr val="1F2D26"/>
                </a:solidFill>
                <a:latin typeface="Arial"/>
                <a:ea typeface="Arial"/>
                <a:cs typeface="Arial"/>
                <a:sym typeface="Arial"/>
              </a:rPr>
              <a:t>Construcción alcantarilla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6" name="Google Shape;1686;p19"/>
          <p:cNvSpPr/>
          <p:nvPr/>
        </p:nvSpPr>
        <p:spPr>
          <a:xfrm>
            <a:off x="3063240" y="4800954"/>
            <a:ext cx="2465802" cy="106414"/>
          </a:xfrm>
          <a:prstGeom prst="rect">
            <a:avLst/>
          </a:prstGeom>
          <a:solidFill>
            <a:srgbClr val="E2E8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7" name="Google Shape;1687;p19"/>
          <p:cNvSpPr/>
          <p:nvPr/>
        </p:nvSpPr>
        <p:spPr>
          <a:xfrm>
            <a:off x="3063240" y="4937772"/>
            <a:ext cx="3611880" cy="106414"/>
          </a:xfrm>
          <a:prstGeom prst="rect">
            <a:avLst/>
          </a:prstGeom>
          <a:solidFill>
            <a:srgbClr val="2F805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8" name="Google Shape;1688;p19"/>
          <p:cNvSpPr txBox="1"/>
          <p:nvPr/>
        </p:nvSpPr>
        <p:spPr>
          <a:xfrm>
            <a:off x="566928" y="5008241"/>
            <a:ext cx="2331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0"/>
              <a:buFont typeface="Arial"/>
              <a:buNone/>
            </a:pPr>
            <a:r>
              <a:rPr b="0" i="0" lang="es-CO" sz="910" u="none" cap="none" strike="noStrike">
                <a:solidFill>
                  <a:srgbClr val="1F2D26"/>
                </a:solidFill>
                <a:latin typeface="Arial"/>
                <a:ea typeface="Arial"/>
                <a:cs typeface="Arial"/>
                <a:sym typeface="Arial"/>
              </a:rPr>
              <a:t>Construcción cuneta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9" name="Google Shape;1689;p19"/>
          <p:cNvSpPr/>
          <p:nvPr/>
        </p:nvSpPr>
        <p:spPr>
          <a:xfrm>
            <a:off x="3063240" y="5050331"/>
            <a:ext cx="3053590" cy="106414"/>
          </a:xfrm>
          <a:prstGeom prst="rect">
            <a:avLst/>
          </a:prstGeom>
          <a:solidFill>
            <a:srgbClr val="E2E8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0" name="Google Shape;1690;p19"/>
          <p:cNvSpPr/>
          <p:nvPr/>
        </p:nvSpPr>
        <p:spPr>
          <a:xfrm>
            <a:off x="3063240" y="5187149"/>
            <a:ext cx="3611880" cy="106414"/>
          </a:xfrm>
          <a:prstGeom prst="rect">
            <a:avLst/>
          </a:prstGeom>
          <a:solidFill>
            <a:srgbClr val="2F805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1" name="Google Shape;1691;p19"/>
          <p:cNvSpPr txBox="1"/>
          <p:nvPr/>
        </p:nvSpPr>
        <p:spPr>
          <a:xfrm>
            <a:off x="566928" y="5257617"/>
            <a:ext cx="2331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0"/>
              <a:buFont typeface="Arial"/>
              <a:buNone/>
            </a:pPr>
            <a:r>
              <a:rPr b="0" i="0" lang="es-CO" sz="910" u="none" cap="none" strike="noStrike">
                <a:solidFill>
                  <a:srgbClr val="1F2D26"/>
                </a:solidFill>
                <a:latin typeface="Arial"/>
                <a:ea typeface="Arial"/>
                <a:cs typeface="Arial"/>
                <a:sym typeface="Arial"/>
              </a:rPr>
              <a:t>Construcción filtro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2" name="Google Shape;1692;p19"/>
          <p:cNvSpPr/>
          <p:nvPr/>
        </p:nvSpPr>
        <p:spPr>
          <a:xfrm>
            <a:off x="3063240" y="5299708"/>
            <a:ext cx="3358968" cy="106414"/>
          </a:xfrm>
          <a:prstGeom prst="rect">
            <a:avLst/>
          </a:prstGeom>
          <a:solidFill>
            <a:srgbClr val="E2E8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3" name="Google Shape;1693;p19"/>
          <p:cNvSpPr/>
          <p:nvPr/>
        </p:nvSpPr>
        <p:spPr>
          <a:xfrm>
            <a:off x="3063240" y="5436526"/>
            <a:ext cx="3611880" cy="106414"/>
          </a:xfrm>
          <a:prstGeom prst="rect">
            <a:avLst/>
          </a:prstGeom>
          <a:solidFill>
            <a:srgbClr val="2F805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4" name="Google Shape;1694;p19"/>
          <p:cNvSpPr txBox="1"/>
          <p:nvPr/>
        </p:nvSpPr>
        <p:spPr>
          <a:xfrm>
            <a:off x="566928" y="5506994"/>
            <a:ext cx="2331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0"/>
              <a:buFont typeface="Arial"/>
              <a:buNone/>
            </a:pPr>
            <a:r>
              <a:rPr b="0" i="0" lang="es-CO" sz="910" u="none" cap="none" strike="noStrike">
                <a:solidFill>
                  <a:srgbClr val="1F2D26"/>
                </a:solidFill>
                <a:latin typeface="Arial"/>
                <a:ea typeface="Arial"/>
                <a:cs typeface="Arial"/>
                <a:sym typeface="Arial"/>
              </a:rPr>
              <a:t>Construcción bordillos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5" name="Google Shape;1695;p19"/>
          <p:cNvSpPr/>
          <p:nvPr/>
        </p:nvSpPr>
        <p:spPr>
          <a:xfrm>
            <a:off x="3063240" y="5549085"/>
            <a:ext cx="3611880" cy="106414"/>
          </a:xfrm>
          <a:prstGeom prst="rect">
            <a:avLst/>
          </a:prstGeom>
          <a:solidFill>
            <a:srgbClr val="E2E8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6" name="Google Shape;1696;p19"/>
          <p:cNvSpPr/>
          <p:nvPr/>
        </p:nvSpPr>
        <p:spPr>
          <a:xfrm>
            <a:off x="3063240" y="5685903"/>
            <a:ext cx="1806555" cy="106414"/>
          </a:xfrm>
          <a:prstGeom prst="rect">
            <a:avLst/>
          </a:prstGeom>
          <a:solidFill>
            <a:srgbClr val="2F805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7" name="Google Shape;1697;p19"/>
          <p:cNvSpPr txBox="1"/>
          <p:nvPr/>
        </p:nvSpPr>
        <p:spPr>
          <a:xfrm>
            <a:off x="566928" y="5756371"/>
            <a:ext cx="2331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0"/>
              <a:buFont typeface="Arial"/>
              <a:buNone/>
            </a:pPr>
            <a:r>
              <a:rPr b="0" i="0" lang="es-CO" sz="910" u="none" cap="none" strike="noStrike">
                <a:solidFill>
                  <a:srgbClr val="1F2D26"/>
                </a:solidFill>
                <a:latin typeface="Arial"/>
                <a:ea typeface="Arial"/>
                <a:cs typeface="Arial"/>
                <a:sym typeface="Arial"/>
              </a:rPr>
              <a:t>Estabilización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8" name="Google Shape;1698;p19"/>
          <p:cNvSpPr/>
          <p:nvPr/>
        </p:nvSpPr>
        <p:spPr>
          <a:xfrm>
            <a:off x="3063240" y="5798462"/>
            <a:ext cx="3358937" cy="106414"/>
          </a:xfrm>
          <a:prstGeom prst="rect">
            <a:avLst/>
          </a:prstGeom>
          <a:solidFill>
            <a:srgbClr val="E2E8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9" name="Google Shape;1699;p19"/>
          <p:cNvSpPr/>
          <p:nvPr/>
        </p:nvSpPr>
        <p:spPr>
          <a:xfrm>
            <a:off x="3063240" y="5935280"/>
            <a:ext cx="3611880" cy="106414"/>
          </a:xfrm>
          <a:prstGeom prst="rect">
            <a:avLst/>
          </a:prstGeom>
          <a:solidFill>
            <a:srgbClr val="2F805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0" name="Google Shape;1700;p19"/>
          <p:cNvSpPr txBox="1"/>
          <p:nvPr/>
        </p:nvSpPr>
        <p:spPr>
          <a:xfrm>
            <a:off x="566928" y="6005748"/>
            <a:ext cx="2331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0"/>
              <a:buFont typeface="Arial"/>
              <a:buNone/>
            </a:pPr>
            <a:r>
              <a:rPr b="0" i="0" lang="es-CO" sz="910" u="none" cap="none" strike="noStrike">
                <a:solidFill>
                  <a:srgbClr val="1F2D26"/>
                </a:solidFill>
                <a:latin typeface="Arial"/>
                <a:ea typeface="Arial"/>
                <a:cs typeface="Arial"/>
                <a:sym typeface="Arial"/>
              </a:rPr>
              <a:t>Señalización vial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1" name="Google Shape;1701;p19"/>
          <p:cNvSpPr/>
          <p:nvPr/>
        </p:nvSpPr>
        <p:spPr>
          <a:xfrm>
            <a:off x="3063240" y="6047838"/>
            <a:ext cx="3358933" cy="106414"/>
          </a:xfrm>
          <a:prstGeom prst="rect">
            <a:avLst/>
          </a:prstGeom>
          <a:solidFill>
            <a:srgbClr val="E2E8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2" name="Google Shape;1702;p19"/>
          <p:cNvSpPr/>
          <p:nvPr/>
        </p:nvSpPr>
        <p:spPr>
          <a:xfrm>
            <a:off x="3063240" y="6184657"/>
            <a:ext cx="3611880" cy="106414"/>
          </a:xfrm>
          <a:prstGeom prst="rect">
            <a:avLst/>
          </a:prstGeom>
          <a:solidFill>
            <a:srgbClr val="2F805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3" name="Google Shape;1703;p19"/>
          <p:cNvSpPr/>
          <p:nvPr/>
        </p:nvSpPr>
        <p:spPr>
          <a:xfrm>
            <a:off x="3840480" y="4440000"/>
            <a:ext cx="109728" cy="109728"/>
          </a:xfrm>
          <a:prstGeom prst="rect">
            <a:avLst/>
          </a:prstGeom>
          <a:solidFill>
            <a:srgbClr val="E2E8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4" name="Google Shape;1704;p19"/>
          <p:cNvSpPr txBox="1"/>
          <p:nvPr/>
        </p:nvSpPr>
        <p:spPr>
          <a:xfrm>
            <a:off x="3995928" y="4430000"/>
            <a:ext cx="11430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</a:pPr>
            <a:r>
              <a:rPr b="0" i="0" lang="es-CO" sz="730" u="none" cap="none" strike="noStrike">
                <a:solidFill>
                  <a:srgbClr val="637068"/>
                </a:solidFill>
                <a:latin typeface="Arial"/>
                <a:ea typeface="Arial"/>
                <a:cs typeface="Arial"/>
                <a:sym typeface="Arial"/>
              </a:rPr>
              <a:t>Presupuestada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5" name="Google Shape;1705;p19"/>
          <p:cNvSpPr/>
          <p:nvPr/>
        </p:nvSpPr>
        <p:spPr>
          <a:xfrm>
            <a:off x="5257800" y="4440000"/>
            <a:ext cx="109728" cy="109728"/>
          </a:xfrm>
          <a:prstGeom prst="rect">
            <a:avLst/>
          </a:prstGeom>
          <a:solidFill>
            <a:srgbClr val="2F805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6" name="Google Shape;1706;p19"/>
          <p:cNvSpPr txBox="1"/>
          <p:nvPr/>
        </p:nvSpPr>
        <p:spPr>
          <a:xfrm>
            <a:off x="5413248" y="4430000"/>
            <a:ext cx="5943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</a:pPr>
            <a:r>
              <a:rPr b="0" i="0" lang="es-CO" sz="730" u="none" cap="none" strike="noStrike">
                <a:solidFill>
                  <a:srgbClr val="637068"/>
                </a:solidFill>
                <a:latin typeface="Arial"/>
                <a:ea typeface="Arial"/>
                <a:cs typeface="Arial"/>
                <a:sym typeface="Arial"/>
              </a:rPr>
              <a:t>Real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707" name="Google Shape;1707;p19"/>
          <p:cNvGraphicFramePr/>
          <p:nvPr/>
        </p:nvGraphicFramePr>
        <p:xfrm>
          <a:off x="6766560" y="458696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{2219430B-40B1-4F13-8D99-EA5D7966678A}</a:tableStyleId>
              </a:tblPr>
              <a:tblGrid>
                <a:gridCol w="457200"/>
                <a:gridCol w="841250"/>
                <a:gridCol w="841250"/>
                <a:gridCol w="914400"/>
                <a:gridCol w="914400"/>
                <a:gridCol w="850400"/>
              </a:tblGrid>
              <a:tr h="243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s-CO" sz="8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Unidad</a:t>
                      </a:r>
                      <a:endParaRPr sz="8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s-CO" sz="8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Presupuestada</a:t>
                      </a:r>
                      <a:endParaRPr sz="8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s-CO" sz="8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Real</a:t>
                      </a:r>
                      <a:endParaRPr sz="8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s-CO" sz="8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Ejec. anterior</a:t>
                      </a:r>
                      <a:endParaRPr sz="8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s-CO" sz="8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Ejec. actual</a:t>
                      </a:r>
                      <a:endParaRPr sz="8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s-CO" sz="8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Δ semana</a:t>
                      </a:r>
                      <a:endParaRPr sz="8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</a:tr>
              <a:tr h="243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und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71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104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5F6B66"/>
                          </a:solidFill>
                        </a:rPr>
                        <a:t>40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1D2B24"/>
                          </a:solidFill>
                        </a:rPr>
                        <a:t>41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2E7D4F"/>
                          </a:solidFill>
                        </a:rPr>
                        <a:t>+1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43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58.650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69.373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5F6B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500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5F6B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500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8A94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243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58.650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63.066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5F6B66"/>
                          </a:solidFill>
                        </a:rPr>
                        <a:t>6.970,36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1D2B24"/>
                          </a:solidFill>
                        </a:rPr>
                        <a:t>10.992,66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2E7D4F"/>
                          </a:solidFill>
                        </a:rPr>
                        <a:t>+4.022,3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43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11.730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5.867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5F6B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s.r.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s.r.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8A94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243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m²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293.250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315.333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5F6B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2.560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2E7D4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+2.560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43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175.950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189.200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5F6B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s.r.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s.r.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8A94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</a:tbl>
          </a:graphicData>
        </a:graphic>
      </p:graphicFrame>
      <p:sp>
        <p:nvSpPr>
          <p:cNvPr id="1708" name="Google Shape;1708;p19"/>
          <p:cNvSpPr/>
          <p:nvPr/>
        </p:nvSpPr>
        <p:spPr>
          <a:xfrm flipH="1">
            <a:off x="2179300" y="3113750"/>
            <a:ext cx="19200" cy="146400"/>
          </a:xfrm>
          <a:prstGeom prst="rect">
            <a:avLst/>
          </a:prstGeom>
          <a:solidFill>
            <a:srgbClr val="2E7D4F"/>
          </a:solidFill>
          <a:ln cap="flat" cmpd="sng" w="9525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9" name="Google Shape;1709;p19"/>
          <p:cNvSpPr/>
          <p:nvPr/>
        </p:nvSpPr>
        <p:spPr>
          <a:xfrm flipH="1">
            <a:off x="2238125" y="3113475"/>
            <a:ext cx="38700" cy="146400"/>
          </a:xfrm>
          <a:prstGeom prst="rect">
            <a:avLst/>
          </a:prstGeom>
          <a:solidFill>
            <a:srgbClr val="2E7D4F"/>
          </a:solidFill>
          <a:ln cap="flat" cmpd="sng" w="9525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0" name="Google Shape;1710;p19"/>
          <p:cNvSpPr/>
          <p:nvPr/>
        </p:nvSpPr>
        <p:spPr>
          <a:xfrm flipH="1">
            <a:off x="3164200" y="3696550"/>
            <a:ext cx="38700" cy="73200"/>
          </a:xfrm>
          <a:prstGeom prst="rect">
            <a:avLst/>
          </a:prstGeom>
          <a:solidFill>
            <a:srgbClr val="2E7D4F"/>
          </a:solidFill>
          <a:ln cap="flat" cmpd="sng" w="9525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1" name="Google Shape;1711;p19"/>
          <p:cNvSpPr/>
          <p:nvPr/>
        </p:nvSpPr>
        <p:spPr>
          <a:xfrm>
            <a:off x="2643341" y="3776472"/>
            <a:ext cx="462900" cy="73200"/>
          </a:xfrm>
          <a:prstGeom prst="rect">
            <a:avLst/>
          </a:prstGeom>
          <a:solidFill>
            <a:srgbClr val="2E7D4F"/>
          </a:solidFill>
          <a:ln cap="flat" cmpd="sng" w="9525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2" name="Google Shape;1712;p19"/>
          <p:cNvSpPr/>
          <p:nvPr/>
        </p:nvSpPr>
        <p:spPr>
          <a:xfrm>
            <a:off x="3164200" y="3776175"/>
            <a:ext cx="96600" cy="73200"/>
          </a:xfrm>
          <a:prstGeom prst="rect">
            <a:avLst/>
          </a:prstGeom>
          <a:solidFill>
            <a:srgbClr val="2E7D4F"/>
          </a:solidFill>
          <a:ln cap="flat" cmpd="sng" w="9525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3" name="Google Shape;1713;p19"/>
          <p:cNvSpPr/>
          <p:nvPr/>
        </p:nvSpPr>
        <p:spPr>
          <a:xfrm flipH="1">
            <a:off x="3318750" y="3776675"/>
            <a:ext cx="38700" cy="73200"/>
          </a:xfrm>
          <a:prstGeom prst="rect">
            <a:avLst/>
          </a:prstGeom>
          <a:solidFill>
            <a:srgbClr val="2E7D4F"/>
          </a:solidFill>
          <a:ln cap="flat" cmpd="sng" w="9525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4" name="Google Shape;1714;p19"/>
          <p:cNvSpPr/>
          <p:nvPr/>
        </p:nvSpPr>
        <p:spPr>
          <a:xfrm>
            <a:off x="2646275" y="3874050"/>
            <a:ext cx="38700" cy="164700"/>
          </a:xfrm>
          <a:prstGeom prst="rect">
            <a:avLst/>
          </a:prstGeom>
          <a:solidFill>
            <a:srgbClr val="2F6FB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5" name="Google Shape;1715;p19"/>
          <p:cNvSpPr/>
          <p:nvPr/>
        </p:nvSpPr>
        <p:spPr>
          <a:xfrm>
            <a:off x="3183700" y="3870625"/>
            <a:ext cx="38700" cy="164700"/>
          </a:xfrm>
          <a:prstGeom prst="rect">
            <a:avLst/>
          </a:prstGeom>
          <a:solidFill>
            <a:srgbClr val="2F6FB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6" name="Google Shape;1716;p19"/>
          <p:cNvSpPr/>
          <p:nvPr/>
        </p:nvSpPr>
        <p:spPr>
          <a:xfrm>
            <a:off x="2276826" y="3877050"/>
            <a:ext cx="19200" cy="155400"/>
          </a:xfrm>
          <a:prstGeom prst="rect">
            <a:avLst/>
          </a:prstGeom>
          <a:solidFill>
            <a:srgbClr val="E07B24"/>
          </a:solidFill>
          <a:ln cap="flat" cmpd="sng" w="9525">
            <a:solidFill>
              <a:srgbClr val="E07B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7" name="Google Shape;1717;p19"/>
          <p:cNvSpPr/>
          <p:nvPr/>
        </p:nvSpPr>
        <p:spPr>
          <a:xfrm>
            <a:off x="2344338" y="3877050"/>
            <a:ext cx="19200" cy="155400"/>
          </a:xfrm>
          <a:prstGeom prst="rect">
            <a:avLst/>
          </a:prstGeom>
          <a:solidFill>
            <a:srgbClr val="E07B24"/>
          </a:solidFill>
          <a:ln cap="flat" cmpd="sng" w="9525">
            <a:solidFill>
              <a:srgbClr val="E07B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8" name="Google Shape;1718;p19"/>
          <p:cNvSpPr/>
          <p:nvPr/>
        </p:nvSpPr>
        <p:spPr>
          <a:xfrm>
            <a:off x="2433300" y="3878650"/>
            <a:ext cx="19200" cy="155400"/>
          </a:xfrm>
          <a:prstGeom prst="rect">
            <a:avLst/>
          </a:prstGeom>
          <a:solidFill>
            <a:srgbClr val="E07B24"/>
          </a:solidFill>
          <a:ln cap="flat" cmpd="sng" w="9525">
            <a:solidFill>
              <a:srgbClr val="E07B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9" name="Google Shape;1719;p19"/>
          <p:cNvSpPr/>
          <p:nvPr/>
        </p:nvSpPr>
        <p:spPr>
          <a:xfrm flipH="1">
            <a:off x="2575850" y="3878700"/>
            <a:ext cx="67500" cy="155400"/>
          </a:xfrm>
          <a:prstGeom prst="rect">
            <a:avLst/>
          </a:prstGeom>
          <a:solidFill>
            <a:srgbClr val="E07B24"/>
          </a:solidFill>
          <a:ln cap="flat" cmpd="sng" w="9525">
            <a:solidFill>
              <a:srgbClr val="E07B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0" name="Google Shape;1720;p19"/>
          <p:cNvSpPr/>
          <p:nvPr/>
        </p:nvSpPr>
        <p:spPr>
          <a:xfrm flipH="1">
            <a:off x="2686700" y="3878700"/>
            <a:ext cx="96600" cy="155400"/>
          </a:xfrm>
          <a:prstGeom prst="rect">
            <a:avLst/>
          </a:prstGeom>
          <a:solidFill>
            <a:srgbClr val="E07B24"/>
          </a:solidFill>
          <a:ln cap="flat" cmpd="sng" w="9525">
            <a:solidFill>
              <a:srgbClr val="E07B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1" name="Google Shape;1721;p19"/>
          <p:cNvSpPr/>
          <p:nvPr/>
        </p:nvSpPr>
        <p:spPr>
          <a:xfrm>
            <a:off x="2808500" y="3878700"/>
            <a:ext cx="90300" cy="155400"/>
          </a:xfrm>
          <a:prstGeom prst="rect">
            <a:avLst/>
          </a:prstGeom>
          <a:solidFill>
            <a:srgbClr val="E07B24"/>
          </a:solidFill>
          <a:ln cap="flat" cmpd="sng" w="9525">
            <a:solidFill>
              <a:srgbClr val="E07B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2" name="Google Shape;1722;p19"/>
          <p:cNvSpPr/>
          <p:nvPr/>
        </p:nvSpPr>
        <p:spPr>
          <a:xfrm>
            <a:off x="3260800" y="3877075"/>
            <a:ext cx="19200" cy="155400"/>
          </a:xfrm>
          <a:prstGeom prst="rect">
            <a:avLst/>
          </a:prstGeom>
          <a:solidFill>
            <a:srgbClr val="E07B24"/>
          </a:solidFill>
          <a:ln cap="flat" cmpd="sng" w="9525">
            <a:solidFill>
              <a:srgbClr val="E07B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3" name="Google Shape;1723;p19"/>
          <p:cNvSpPr/>
          <p:nvPr/>
        </p:nvSpPr>
        <p:spPr>
          <a:xfrm>
            <a:off x="3569425" y="3875850"/>
            <a:ext cx="38700" cy="155400"/>
          </a:xfrm>
          <a:prstGeom prst="rect">
            <a:avLst/>
          </a:prstGeom>
          <a:solidFill>
            <a:srgbClr val="E07B24"/>
          </a:solidFill>
          <a:ln cap="flat" cmpd="sng" w="9525">
            <a:solidFill>
              <a:srgbClr val="E07B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4" name="Google Shape;1724;p19"/>
          <p:cNvSpPr/>
          <p:nvPr/>
        </p:nvSpPr>
        <p:spPr>
          <a:xfrm>
            <a:off x="3757500" y="3878675"/>
            <a:ext cx="19200" cy="155400"/>
          </a:xfrm>
          <a:prstGeom prst="rect">
            <a:avLst/>
          </a:prstGeom>
          <a:solidFill>
            <a:srgbClr val="E07B24"/>
          </a:solidFill>
          <a:ln cap="flat" cmpd="sng" w="9525">
            <a:solidFill>
              <a:srgbClr val="E07B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5" name="Google Shape;1725;p19"/>
          <p:cNvSpPr/>
          <p:nvPr/>
        </p:nvSpPr>
        <p:spPr>
          <a:xfrm>
            <a:off x="3897550" y="3878650"/>
            <a:ext cx="19200" cy="155400"/>
          </a:xfrm>
          <a:prstGeom prst="rect">
            <a:avLst/>
          </a:prstGeom>
          <a:solidFill>
            <a:srgbClr val="E07B24"/>
          </a:solidFill>
          <a:ln cap="flat" cmpd="sng" w="9525">
            <a:solidFill>
              <a:srgbClr val="E07B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6" name="Google Shape;1726;p19"/>
          <p:cNvSpPr/>
          <p:nvPr/>
        </p:nvSpPr>
        <p:spPr>
          <a:xfrm>
            <a:off x="3995925" y="3878700"/>
            <a:ext cx="19200" cy="155400"/>
          </a:xfrm>
          <a:prstGeom prst="rect">
            <a:avLst/>
          </a:prstGeom>
          <a:solidFill>
            <a:srgbClr val="E07B24"/>
          </a:solidFill>
          <a:ln cap="flat" cmpd="sng" w="9525">
            <a:solidFill>
              <a:srgbClr val="E07B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7" name="Google Shape;1727;p19"/>
          <p:cNvSpPr/>
          <p:nvPr/>
        </p:nvSpPr>
        <p:spPr>
          <a:xfrm>
            <a:off x="4037600" y="3877050"/>
            <a:ext cx="19200" cy="155400"/>
          </a:xfrm>
          <a:prstGeom prst="rect">
            <a:avLst/>
          </a:prstGeom>
          <a:solidFill>
            <a:srgbClr val="E07B24"/>
          </a:solidFill>
          <a:ln cap="flat" cmpd="sng" w="9525">
            <a:solidFill>
              <a:srgbClr val="E07B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8" name="Google Shape;1728;p19"/>
          <p:cNvSpPr/>
          <p:nvPr/>
        </p:nvSpPr>
        <p:spPr>
          <a:xfrm>
            <a:off x="4079275" y="3877050"/>
            <a:ext cx="19200" cy="155400"/>
          </a:xfrm>
          <a:prstGeom prst="rect">
            <a:avLst/>
          </a:prstGeom>
          <a:solidFill>
            <a:srgbClr val="E07B24"/>
          </a:solidFill>
          <a:ln cap="flat" cmpd="sng" w="9525">
            <a:solidFill>
              <a:srgbClr val="E07B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9" name="Google Shape;1729;p19"/>
          <p:cNvSpPr/>
          <p:nvPr/>
        </p:nvSpPr>
        <p:spPr>
          <a:xfrm>
            <a:off x="4124850" y="3877050"/>
            <a:ext cx="19200" cy="155400"/>
          </a:xfrm>
          <a:prstGeom prst="rect">
            <a:avLst/>
          </a:prstGeom>
          <a:solidFill>
            <a:srgbClr val="E07B24"/>
          </a:solidFill>
          <a:ln cap="flat" cmpd="sng" w="9525">
            <a:solidFill>
              <a:srgbClr val="E07B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0" name="Google Shape;1730;p19"/>
          <p:cNvSpPr/>
          <p:nvPr/>
        </p:nvSpPr>
        <p:spPr>
          <a:xfrm>
            <a:off x="4341025" y="3878700"/>
            <a:ext cx="38700" cy="155400"/>
          </a:xfrm>
          <a:prstGeom prst="rect">
            <a:avLst/>
          </a:prstGeom>
          <a:solidFill>
            <a:srgbClr val="E07B24"/>
          </a:solidFill>
          <a:ln cap="flat" cmpd="sng" w="9525">
            <a:solidFill>
              <a:srgbClr val="E07B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1" name="Google Shape;1731;p19"/>
          <p:cNvSpPr/>
          <p:nvPr/>
        </p:nvSpPr>
        <p:spPr>
          <a:xfrm>
            <a:off x="4666300" y="3877025"/>
            <a:ext cx="19200" cy="155400"/>
          </a:xfrm>
          <a:prstGeom prst="rect">
            <a:avLst/>
          </a:prstGeom>
          <a:solidFill>
            <a:srgbClr val="E07B24"/>
          </a:solidFill>
          <a:ln cap="flat" cmpd="sng" w="9525">
            <a:solidFill>
              <a:srgbClr val="E07B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2" name="Google Shape;1732;p19"/>
          <p:cNvSpPr/>
          <p:nvPr/>
        </p:nvSpPr>
        <p:spPr>
          <a:xfrm>
            <a:off x="4758700" y="3878725"/>
            <a:ext cx="38700" cy="155400"/>
          </a:xfrm>
          <a:prstGeom prst="rect">
            <a:avLst/>
          </a:prstGeom>
          <a:solidFill>
            <a:srgbClr val="E07B24"/>
          </a:solidFill>
          <a:ln cap="flat" cmpd="sng" w="9525">
            <a:solidFill>
              <a:srgbClr val="E07B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3" name="Google Shape;1733;p19"/>
          <p:cNvSpPr/>
          <p:nvPr/>
        </p:nvSpPr>
        <p:spPr>
          <a:xfrm>
            <a:off x="4849225" y="3877025"/>
            <a:ext cx="19200" cy="155400"/>
          </a:xfrm>
          <a:prstGeom prst="rect">
            <a:avLst/>
          </a:prstGeom>
          <a:solidFill>
            <a:srgbClr val="E07B24"/>
          </a:solidFill>
          <a:ln cap="flat" cmpd="sng" w="9525">
            <a:solidFill>
              <a:srgbClr val="E07B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4" name="Google Shape;1734;p19"/>
          <p:cNvSpPr/>
          <p:nvPr/>
        </p:nvSpPr>
        <p:spPr>
          <a:xfrm>
            <a:off x="4907275" y="3877025"/>
            <a:ext cx="19200" cy="155400"/>
          </a:xfrm>
          <a:prstGeom prst="rect">
            <a:avLst/>
          </a:prstGeom>
          <a:solidFill>
            <a:srgbClr val="E07B24"/>
          </a:solidFill>
          <a:ln cap="flat" cmpd="sng" w="9525">
            <a:solidFill>
              <a:srgbClr val="E07B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5" name="Google Shape;1735;p19"/>
          <p:cNvSpPr/>
          <p:nvPr/>
        </p:nvSpPr>
        <p:spPr>
          <a:xfrm>
            <a:off x="4944050" y="3877225"/>
            <a:ext cx="38700" cy="155400"/>
          </a:xfrm>
          <a:prstGeom prst="rect">
            <a:avLst/>
          </a:prstGeom>
          <a:solidFill>
            <a:srgbClr val="E07B24"/>
          </a:solidFill>
          <a:ln cap="flat" cmpd="sng" w="9525">
            <a:solidFill>
              <a:srgbClr val="E07B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6" name="Google Shape;1736;p19"/>
          <p:cNvSpPr/>
          <p:nvPr/>
        </p:nvSpPr>
        <p:spPr>
          <a:xfrm>
            <a:off x="5121350" y="3878725"/>
            <a:ext cx="19200" cy="155400"/>
          </a:xfrm>
          <a:prstGeom prst="rect">
            <a:avLst/>
          </a:prstGeom>
          <a:solidFill>
            <a:srgbClr val="E07B24"/>
          </a:solidFill>
          <a:ln cap="flat" cmpd="sng" w="9525">
            <a:solidFill>
              <a:srgbClr val="E07B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7" name="Google Shape;1737;p19"/>
          <p:cNvSpPr txBox="1"/>
          <p:nvPr/>
        </p:nvSpPr>
        <p:spPr>
          <a:xfrm>
            <a:off x="457200" y="6400000"/>
            <a:ext cx="5000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s-CO" sz="9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TIEMPO TRANSCURRIDO DEL PLAZO CONTRACTUAL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8" name="Google Shape;1738;p19"/>
          <p:cNvSpPr txBox="1"/>
          <p:nvPr/>
        </p:nvSpPr>
        <p:spPr>
          <a:xfrm>
            <a:off x="5000000" y="6400000"/>
            <a:ext cx="6734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Inicio: </a:t>
            </a:r>
            <a:r>
              <a:rPr b="1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04/02/2026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   ·   Terminación: </a:t>
            </a:r>
            <a:r>
              <a:rPr b="1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03/08/2027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   ·   Al: </a:t>
            </a:r>
            <a:r>
              <a:rPr b="1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02/10/2026</a:t>
            </a: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   ·   240 de 545 días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9" name="Google Shape;1739;p19"/>
          <p:cNvSpPr/>
          <p:nvPr/>
        </p:nvSpPr>
        <p:spPr>
          <a:xfrm>
            <a:off x="457200" y="6598920"/>
            <a:ext cx="11277600" cy="164592"/>
          </a:xfrm>
          <a:prstGeom prst="roundRect">
            <a:avLst>
              <a:gd fmla="val 50000" name="adj"/>
            </a:avLst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0" name="Google Shape;1740;p19"/>
          <p:cNvSpPr/>
          <p:nvPr/>
        </p:nvSpPr>
        <p:spPr>
          <a:xfrm>
            <a:off x="457200" y="6598920"/>
            <a:ext cx="4966282" cy="164592"/>
          </a:xfrm>
          <a:prstGeom prst="roundRect">
            <a:avLst>
              <a:gd fmla="val 50000" name="adj"/>
            </a:avLst>
          </a:prstGeom>
          <a:solidFill>
            <a:srgbClr val="2E7D4F"/>
          </a:solidFill>
          <a:ln cap="flat" cmpd="sng" w="9525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s-CO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44,0 %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41" name="Google Shape;1741;p19"/>
          <p:cNvCxnSpPr/>
          <p:nvPr/>
        </p:nvCxnSpPr>
        <p:spPr>
          <a:xfrm>
            <a:off x="974521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42" name="Google Shape;1742;p19"/>
          <p:cNvCxnSpPr/>
          <p:nvPr/>
        </p:nvCxnSpPr>
        <p:spPr>
          <a:xfrm>
            <a:off x="1615999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43" name="Google Shape;1743;p19"/>
          <p:cNvCxnSpPr/>
          <p:nvPr/>
        </p:nvCxnSpPr>
        <p:spPr>
          <a:xfrm>
            <a:off x="2236784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44" name="Google Shape;1744;p19"/>
          <p:cNvCxnSpPr/>
          <p:nvPr/>
        </p:nvCxnSpPr>
        <p:spPr>
          <a:xfrm>
            <a:off x="2878262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45" name="Google Shape;1745;p19"/>
          <p:cNvCxnSpPr/>
          <p:nvPr/>
        </p:nvCxnSpPr>
        <p:spPr>
          <a:xfrm>
            <a:off x="3499048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46" name="Google Shape;1746;p19"/>
          <p:cNvCxnSpPr/>
          <p:nvPr/>
        </p:nvCxnSpPr>
        <p:spPr>
          <a:xfrm>
            <a:off x="4140526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47" name="Google Shape;1747;p19"/>
          <p:cNvCxnSpPr/>
          <p:nvPr/>
        </p:nvCxnSpPr>
        <p:spPr>
          <a:xfrm>
            <a:off x="4782004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48" name="Google Shape;1748;p19"/>
          <p:cNvCxnSpPr/>
          <p:nvPr/>
        </p:nvCxnSpPr>
        <p:spPr>
          <a:xfrm>
            <a:off x="5402789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49" name="Google Shape;1749;p19"/>
          <p:cNvCxnSpPr/>
          <p:nvPr/>
        </p:nvCxnSpPr>
        <p:spPr>
          <a:xfrm>
            <a:off x="6044267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50" name="Google Shape;1750;p19"/>
          <p:cNvCxnSpPr/>
          <p:nvPr/>
        </p:nvCxnSpPr>
        <p:spPr>
          <a:xfrm>
            <a:off x="6665053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51" name="Google Shape;1751;p19"/>
          <p:cNvCxnSpPr/>
          <p:nvPr/>
        </p:nvCxnSpPr>
        <p:spPr>
          <a:xfrm>
            <a:off x="7306531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52" name="Google Shape;1752;p19"/>
          <p:cNvCxnSpPr/>
          <p:nvPr/>
        </p:nvCxnSpPr>
        <p:spPr>
          <a:xfrm>
            <a:off x="7948009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53" name="Google Shape;1753;p19"/>
          <p:cNvCxnSpPr/>
          <p:nvPr/>
        </p:nvCxnSpPr>
        <p:spPr>
          <a:xfrm>
            <a:off x="8527409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54" name="Google Shape;1754;p19"/>
          <p:cNvCxnSpPr/>
          <p:nvPr/>
        </p:nvCxnSpPr>
        <p:spPr>
          <a:xfrm>
            <a:off x="9168887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55" name="Google Shape;1755;p19"/>
          <p:cNvCxnSpPr/>
          <p:nvPr/>
        </p:nvCxnSpPr>
        <p:spPr>
          <a:xfrm>
            <a:off x="9789672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56" name="Google Shape;1756;p19"/>
          <p:cNvCxnSpPr/>
          <p:nvPr/>
        </p:nvCxnSpPr>
        <p:spPr>
          <a:xfrm>
            <a:off x="10431150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57" name="Google Shape;1757;p19"/>
          <p:cNvCxnSpPr/>
          <p:nvPr/>
        </p:nvCxnSpPr>
        <p:spPr>
          <a:xfrm>
            <a:off x="11051936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58" name="Google Shape;1758;p19"/>
          <p:cNvCxnSpPr/>
          <p:nvPr/>
        </p:nvCxnSpPr>
        <p:spPr>
          <a:xfrm>
            <a:off x="11693414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59" name="Google Shape;1759;p19"/>
          <p:cNvCxnSpPr/>
          <p:nvPr/>
        </p:nvCxnSpPr>
        <p:spPr>
          <a:xfrm>
            <a:off x="5423482" y="6562344"/>
            <a:ext cx="0" cy="237744"/>
          </a:xfrm>
          <a:prstGeom prst="straightConnector1">
            <a:avLst/>
          </a:prstGeom>
          <a:noFill/>
          <a:ln cap="flat" cmpd="sng" w="19050">
            <a:solidFill>
              <a:srgbClr val="B3261E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64" name="Shape 1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5" name="Google Shape;1765;p20"/>
          <p:cNvSpPr txBox="1"/>
          <p:nvPr/>
        </p:nvSpPr>
        <p:spPr>
          <a:xfrm>
            <a:off x="457200" y="320040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1200"/>
              <a:buFont typeface="Calibri"/>
              <a:buNone/>
            </a:pPr>
            <a:r>
              <a:rPr b="1" i="0" lang="es-CO" sz="1200" u="none" cap="none" strike="noStrike">
                <a:solidFill>
                  <a:srgbClr val="2E7D4F"/>
                </a:solidFill>
                <a:latin typeface="Poppins"/>
                <a:ea typeface="Poppins"/>
                <a:cs typeface="Poppins"/>
                <a:sym typeface="Poppins"/>
              </a:rPr>
              <a:t>INFORME DE VARIACIÓN DE ALCANCES  ·  LOTE 3 – SUBREGIÓN URABÁ</a:t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66" name="Google Shape;1766;p20"/>
          <p:cNvSpPr txBox="1"/>
          <p:nvPr/>
        </p:nvSpPr>
        <p:spPr>
          <a:xfrm>
            <a:off x="457200" y="594360"/>
            <a:ext cx="9692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2800"/>
              <a:buFont typeface="Calibri"/>
              <a:buNone/>
            </a:pPr>
            <a:r>
              <a:rPr b="1" i="0" lang="es-CO" sz="28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Mutatá – Pavarandó</a:t>
            </a:r>
            <a:endParaRPr b="0" i="0" sz="2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descr="logo.png" id="1767" name="Google Shape;176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78440" y="320040"/>
            <a:ext cx="1371600" cy="676656"/>
          </a:xfrm>
          <a:prstGeom prst="rect">
            <a:avLst/>
          </a:prstGeom>
          <a:noFill/>
          <a:ln>
            <a:noFill/>
          </a:ln>
        </p:spPr>
      </p:pic>
      <p:sp>
        <p:nvSpPr>
          <p:cNvPr id="1768" name="Google Shape;1768;p20"/>
          <p:cNvSpPr/>
          <p:nvPr/>
        </p:nvSpPr>
        <p:spPr>
          <a:xfrm>
            <a:off x="457200" y="132588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9" name="Google Shape;1769;p20"/>
          <p:cNvSpPr txBox="1"/>
          <p:nvPr/>
        </p:nvSpPr>
        <p:spPr>
          <a:xfrm>
            <a:off x="594360" y="1417320"/>
            <a:ext cx="183483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100"/>
              <a:buFont typeface="Calibri"/>
              <a:buNone/>
            </a:pPr>
            <a:r>
              <a:rPr b="0" i="0" lang="es-CO" sz="11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Longitud contractual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0" name="Google Shape;1770;p20"/>
          <p:cNvSpPr txBox="1"/>
          <p:nvPr/>
        </p:nvSpPr>
        <p:spPr>
          <a:xfrm>
            <a:off x="594360" y="1691640"/>
            <a:ext cx="183483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700"/>
              <a:buFont typeface="Calibri"/>
              <a:buNone/>
            </a:pPr>
            <a:r>
              <a:rPr b="1" i="0" lang="es-CO" sz="17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10,00 km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1" name="Google Shape;1771;p20"/>
          <p:cNvSpPr/>
          <p:nvPr/>
        </p:nvSpPr>
        <p:spPr>
          <a:xfrm>
            <a:off x="2749235" y="132588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2" name="Google Shape;1772;p20"/>
          <p:cNvSpPr txBox="1"/>
          <p:nvPr/>
        </p:nvSpPr>
        <p:spPr>
          <a:xfrm>
            <a:off x="2886395" y="1417320"/>
            <a:ext cx="183483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100"/>
              <a:buFont typeface="Calibri"/>
              <a:buNone/>
            </a:pPr>
            <a:r>
              <a:rPr b="0" i="0" lang="es-CO" sz="11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Longitud probable a cubrir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3" name="Google Shape;1773;p20"/>
          <p:cNvSpPr txBox="1"/>
          <p:nvPr/>
        </p:nvSpPr>
        <p:spPr>
          <a:xfrm>
            <a:off x="2886395" y="1691640"/>
            <a:ext cx="183483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700"/>
              <a:buFont typeface="Calibri"/>
              <a:buNone/>
            </a:pPr>
            <a:r>
              <a:rPr b="1" i="0" lang="es-CO" sz="17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10,00 km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4" name="Google Shape;1774;p20"/>
          <p:cNvSpPr/>
          <p:nvPr/>
        </p:nvSpPr>
        <p:spPr>
          <a:xfrm>
            <a:off x="5041270" y="132588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5" name="Google Shape;1775;p20"/>
          <p:cNvSpPr txBox="1"/>
          <p:nvPr/>
        </p:nvSpPr>
        <p:spPr>
          <a:xfrm>
            <a:off x="5178430" y="1417320"/>
            <a:ext cx="183483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100"/>
              <a:buFont typeface="Calibri"/>
              <a:buNone/>
            </a:pPr>
            <a:r>
              <a:rPr b="0" i="0" lang="es-CO" sz="11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Valor por km contractual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6" name="Google Shape;1776;p20"/>
          <p:cNvSpPr txBox="1"/>
          <p:nvPr/>
        </p:nvSpPr>
        <p:spPr>
          <a:xfrm>
            <a:off x="5178430" y="1691640"/>
            <a:ext cx="183483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700"/>
              <a:buFont typeface="Calibri"/>
              <a:buNone/>
            </a:pPr>
            <a:r>
              <a:rPr b="1" i="0" lang="es-CO" sz="17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$ 1.015.886.186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7" name="Google Shape;1777;p20"/>
          <p:cNvSpPr/>
          <p:nvPr/>
        </p:nvSpPr>
        <p:spPr>
          <a:xfrm>
            <a:off x="7333305" y="132588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8" name="Google Shape;1778;p20"/>
          <p:cNvSpPr txBox="1"/>
          <p:nvPr/>
        </p:nvSpPr>
        <p:spPr>
          <a:xfrm>
            <a:off x="7470465" y="1417320"/>
            <a:ext cx="183483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100"/>
              <a:buFont typeface="Calibri"/>
              <a:buNone/>
            </a:pPr>
            <a:r>
              <a:rPr b="0" i="0" lang="es-CO" sz="11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Valor por km proyectado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9" name="Google Shape;1779;p20"/>
          <p:cNvSpPr txBox="1"/>
          <p:nvPr/>
        </p:nvSpPr>
        <p:spPr>
          <a:xfrm>
            <a:off x="7470465" y="1691640"/>
            <a:ext cx="183483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700"/>
              <a:buFont typeface="Calibri"/>
              <a:buNone/>
            </a:pPr>
            <a:r>
              <a:rPr b="1" i="0" lang="es-CO" sz="17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$ 1.015.886.186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0" name="Google Shape;1780;p20"/>
          <p:cNvSpPr/>
          <p:nvPr/>
        </p:nvSpPr>
        <p:spPr>
          <a:xfrm>
            <a:off x="9625340" y="132588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1" name="Google Shape;1781;p20"/>
          <p:cNvSpPr txBox="1"/>
          <p:nvPr/>
        </p:nvSpPr>
        <p:spPr>
          <a:xfrm>
            <a:off x="9762500" y="1417320"/>
            <a:ext cx="183483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100"/>
              <a:buFont typeface="Calibri"/>
              <a:buNone/>
            </a:pPr>
            <a:r>
              <a:rPr b="0" i="0" lang="es-CO" sz="11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Variación total (valor adicional)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2" name="Google Shape;1782;p20"/>
          <p:cNvSpPr txBox="1"/>
          <p:nvPr/>
        </p:nvSpPr>
        <p:spPr>
          <a:xfrm>
            <a:off x="9762500" y="1691640"/>
            <a:ext cx="183483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$ 0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3" name="Google Shape;1783;p20"/>
          <p:cNvSpPr/>
          <p:nvPr/>
        </p:nvSpPr>
        <p:spPr>
          <a:xfrm>
            <a:off x="457200" y="2423160"/>
            <a:ext cx="3154680" cy="4114800"/>
          </a:xfrm>
          <a:prstGeom prst="roundRect">
            <a:avLst>
              <a:gd fmla="val 1739" name="adj"/>
            </a:avLst>
          </a:prstGeom>
          <a:solidFill>
            <a:srgbClr val="FFFFFF"/>
          </a:solidFill>
          <a:ln cap="flat" cmpd="sng" w="12700">
            <a:solidFill>
              <a:srgbClr val="D5DD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4" name="Google Shape;1784;p20"/>
          <p:cNvSpPr txBox="1"/>
          <p:nvPr/>
        </p:nvSpPr>
        <p:spPr>
          <a:xfrm>
            <a:off x="640080" y="2560320"/>
            <a:ext cx="2788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1100"/>
              <a:buFont typeface="Calibri"/>
              <a:buNone/>
            </a:pPr>
            <a:r>
              <a:rPr b="1" i="0" lang="es-CO" sz="11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ESTRUCTURA DE PAVIMENTO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5" name="Google Shape;1785;p20"/>
          <p:cNvSpPr txBox="1"/>
          <p:nvPr/>
        </p:nvSpPr>
        <p:spPr>
          <a:xfrm>
            <a:off x="640080" y="2816352"/>
            <a:ext cx="2788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1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Mutatá – Pavarandó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6" name="Google Shape;1786;p20"/>
          <p:cNvSpPr txBox="1"/>
          <p:nvPr/>
        </p:nvSpPr>
        <p:spPr>
          <a:xfrm>
            <a:off x="640080" y="3172968"/>
            <a:ext cx="2788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LOTE 3 · Longitud: 10.000 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Tránsito – Estructuración: </a:t>
            </a: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231.000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Tránsito – Diseño: </a:t>
            </a: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1.474.428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7" name="Google Shape;1787;p20"/>
          <p:cNvSpPr txBox="1"/>
          <p:nvPr/>
        </p:nvSpPr>
        <p:spPr>
          <a:xfrm>
            <a:off x="457200" y="3794760"/>
            <a:ext cx="15773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1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Teórica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8" name="Google Shape;1788;p20"/>
          <p:cNvSpPr/>
          <p:nvPr/>
        </p:nvSpPr>
        <p:spPr>
          <a:xfrm>
            <a:off x="560070" y="4087368"/>
            <a:ext cx="960120" cy="182880"/>
          </a:xfrm>
          <a:prstGeom prst="rect">
            <a:avLst/>
          </a:prstGeom>
          <a:solidFill>
            <a:srgbClr val="1F2A36"/>
          </a:solidFill>
          <a:ln cap="flat" cmpd="sng" w="12700">
            <a:solidFill>
              <a:srgbClr val="1F2A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9" name="Google Shape;1789;p20"/>
          <p:cNvSpPr txBox="1"/>
          <p:nvPr/>
        </p:nvSpPr>
        <p:spPr>
          <a:xfrm>
            <a:off x="560070" y="4087368"/>
            <a:ext cx="9601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s-CO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TSD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0" name="Google Shape;1790;p20"/>
          <p:cNvSpPr/>
          <p:nvPr/>
        </p:nvSpPr>
        <p:spPr>
          <a:xfrm>
            <a:off x="560070" y="4270248"/>
            <a:ext cx="960120" cy="1013887"/>
          </a:xfrm>
          <a:prstGeom prst="rect">
            <a:avLst/>
          </a:prstGeom>
          <a:solidFill>
            <a:srgbClr val="D9A44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1" name="Google Shape;1791;p20"/>
          <p:cNvSpPr txBox="1"/>
          <p:nvPr/>
        </p:nvSpPr>
        <p:spPr>
          <a:xfrm>
            <a:off x="560070" y="4270248"/>
            <a:ext cx="960120" cy="506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800"/>
              <a:buFont typeface="Calibri"/>
              <a:buNone/>
            </a:pPr>
            <a:r>
              <a:rPr b="1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MGTC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2" name="Google Shape;1792;p20"/>
          <p:cNvSpPr/>
          <p:nvPr/>
        </p:nvSpPr>
        <p:spPr>
          <a:xfrm>
            <a:off x="624078" y="4776826"/>
            <a:ext cx="832104" cy="470733"/>
          </a:xfrm>
          <a:prstGeom prst="rect">
            <a:avLst/>
          </a:prstGeom>
          <a:solidFill>
            <a:srgbClr val="F2D58E"/>
          </a:solidFill>
          <a:ln cap="flat" cmpd="sng" w="9525">
            <a:solidFill>
              <a:srgbClr val="A87B1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3" name="Google Shape;1793;p20"/>
          <p:cNvSpPr txBox="1"/>
          <p:nvPr/>
        </p:nvSpPr>
        <p:spPr>
          <a:xfrm>
            <a:off x="624078" y="4776826"/>
            <a:ext cx="832104" cy="470733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800"/>
              <a:buFont typeface="Calibri"/>
              <a:buNone/>
            </a:pPr>
            <a:r>
              <a:rPr b="0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Subbase 13 cm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4" name="Google Shape;1794;p20"/>
          <p:cNvSpPr txBox="1"/>
          <p:nvPr/>
        </p:nvSpPr>
        <p:spPr>
          <a:xfrm>
            <a:off x="1575054" y="4270248"/>
            <a:ext cx="457200" cy="1013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28 cm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5" name="Google Shape;1795;p20"/>
          <p:cNvSpPr/>
          <p:nvPr/>
        </p:nvSpPr>
        <p:spPr>
          <a:xfrm>
            <a:off x="560070" y="5284135"/>
            <a:ext cx="960120" cy="724205"/>
          </a:xfrm>
          <a:prstGeom prst="rect">
            <a:avLst/>
          </a:prstGeom>
          <a:solidFill>
            <a:srgbClr val="8C6A4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6" name="Google Shape;1796;p20"/>
          <p:cNvSpPr txBox="1"/>
          <p:nvPr/>
        </p:nvSpPr>
        <p:spPr>
          <a:xfrm>
            <a:off x="560070" y="5284135"/>
            <a:ext cx="960120" cy="72420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s-CO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Subrasante estabilizada con cal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7" name="Google Shape;1797;p20"/>
          <p:cNvSpPr txBox="1"/>
          <p:nvPr/>
        </p:nvSpPr>
        <p:spPr>
          <a:xfrm>
            <a:off x="1575054" y="5284135"/>
            <a:ext cx="457200" cy="7242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20 cm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98" name="Google Shape;1798;p20"/>
          <p:cNvCxnSpPr/>
          <p:nvPr/>
        </p:nvCxnSpPr>
        <p:spPr>
          <a:xfrm>
            <a:off x="468630" y="6008340"/>
            <a:ext cx="1143000" cy="0"/>
          </a:xfrm>
          <a:prstGeom prst="straightConnector1">
            <a:avLst/>
          </a:prstGeom>
          <a:noFill/>
          <a:ln cap="flat" cmpd="sng" w="12700">
            <a:solidFill>
              <a:srgbClr val="1D2B2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99" name="Google Shape;1799;p20"/>
          <p:cNvSpPr txBox="1"/>
          <p:nvPr/>
        </p:nvSpPr>
        <p:spPr>
          <a:xfrm>
            <a:off x="457200" y="6081492"/>
            <a:ext cx="15773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Espesor total: </a:t>
            </a:r>
            <a:r>
              <a:rPr b="1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48 cm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0" name="Google Shape;1800;p20"/>
          <p:cNvSpPr txBox="1"/>
          <p:nvPr/>
        </p:nvSpPr>
        <p:spPr>
          <a:xfrm>
            <a:off x="2034540" y="3794760"/>
            <a:ext cx="15773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1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Aprobada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1" name="Google Shape;1801;p20"/>
          <p:cNvSpPr/>
          <p:nvPr/>
        </p:nvSpPr>
        <p:spPr>
          <a:xfrm>
            <a:off x="2137410" y="4087368"/>
            <a:ext cx="960120" cy="182880"/>
          </a:xfrm>
          <a:prstGeom prst="rect">
            <a:avLst/>
          </a:prstGeom>
          <a:solidFill>
            <a:srgbClr val="1F2A36"/>
          </a:solidFill>
          <a:ln cap="flat" cmpd="sng" w="12700">
            <a:solidFill>
              <a:srgbClr val="1F2A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2" name="Google Shape;1802;p20"/>
          <p:cNvSpPr txBox="1"/>
          <p:nvPr/>
        </p:nvSpPr>
        <p:spPr>
          <a:xfrm>
            <a:off x="2137410" y="4087368"/>
            <a:ext cx="9601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s-CO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TSD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3" name="Google Shape;1803;p20"/>
          <p:cNvSpPr/>
          <p:nvPr/>
        </p:nvSpPr>
        <p:spPr>
          <a:xfrm>
            <a:off x="2137410" y="4270248"/>
            <a:ext cx="960120" cy="1086307"/>
          </a:xfrm>
          <a:prstGeom prst="rect">
            <a:avLst/>
          </a:prstGeom>
          <a:solidFill>
            <a:srgbClr val="D9A44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4" name="Google Shape;1804;p20"/>
          <p:cNvSpPr txBox="1"/>
          <p:nvPr/>
        </p:nvSpPr>
        <p:spPr>
          <a:xfrm>
            <a:off x="2137410" y="4270248"/>
            <a:ext cx="960120" cy="1086307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800"/>
              <a:buFont typeface="Calibri"/>
              <a:buNone/>
            </a:pPr>
            <a:r>
              <a:rPr b="1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MGTC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5" name="Google Shape;1805;p20"/>
          <p:cNvSpPr txBox="1"/>
          <p:nvPr/>
        </p:nvSpPr>
        <p:spPr>
          <a:xfrm>
            <a:off x="3152394" y="4270248"/>
            <a:ext cx="457200" cy="10863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30 cm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6" name="Google Shape;1806;p20"/>
          <p:cNvSpPr/>
          <p:nvPr/>
        </p:nvSpPr>
        <p:spPr>
          <a:xfrm>
            <a:off x="2137410" y="5356555"/>
            <a:ext cx="960120" cy="724205"/>
          </a:xfrm>
          <a:prstGeom prst="rect">
            <a:avLst/>
          </a:prstGeom>
          <a:solidFill>
            <a:srgbClr val="8C6A4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7" name="Google Shape;1807;p20"/>
          <p:cNvSpPr txBox="1"/>
          <p:nvPr/>
        </p:nvSpPr>
        <p:spPr>
          <a:xfrm>
            <a:off x="2137410" y="5356555"/>
            <a:ext cx="960120" cy="72420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s-CO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Subrasante estabilizada con cal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8" name="Google Shape;1808;p20"/>
          <p:cNvSpPr txBox="1"/>
          <p:nvPr/>
        </p:nvSpPr>
        <p:spPr>
          <a:xfrm>
            <a:off x="3152394" y="5356555"/>
            <a:ext cx="457200" cy="7242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20 cm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09" name="Google Shape;1809;p20"/>
          <p:cNvCxnSpPr/>
          <p:nvPr/>
        </p:nvCxnSpPr>
        <p:spPr>
          <a:xfrm>
            <a:off x="2045970" y="6080760"/>
            <a:ext cx="1143000" cy="0"/>
          </a:xfrm>
          <a:prstGeom prst="straightConnector1">
            <a:avLst/>
          </a:prstGeom>
          <a:noFill/>
          <a:ln cap="flat" cmpd="sng" w="12700">
            <a:solidFill>
              <a:srgbClr val="1D2B2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10" name="Google Shape;1810;p20"/>
          <p:cNvSpPr txBox="1"/>
          <p:nvPr/>
        </p:nvSpPr>
        <p:spPr>
          <a:xfrm>
            <a:off x="2034540" y="6153912"/>
            <a:ext cx="15773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Espesor total: </a:t>
            </a:r>
            <a:r>
              <a:rPr b="1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50 cm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11" name="Google Shape;1811;p20"/>
          <p:cNvGraphicFramePr/>
          <p:nvPr/>
        </p:nvGraphicFramePr>
        <p:xfrm>
          <a:off x="3840480" y="24231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{2219430B-40B1-4F13-8D99-EA5D7966678A}</a:tableStyleId>
              </a:tblPr>
              <a:tblGrid>
                <a:gridCol w="2395725"/>
                <a:gridCol w="1097275"/>
                <a:gridCol w="603500"/>
                <a:gridCol w="1097275"/>
                <a:gridCol w="603500"/>
                <a:gridCol w="237750"/>
                <a:gridCol w="1097275"/>
                <a:gridCol w="758950"/>
              </a:tblGrid>
              <a:tr h="438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Grupo – actividad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Valor contractual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 sobre corredor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Valor proyectado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 sobre corredor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Variación (valor adicional)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 de variación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Construcción alcantarilla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$ 1.319.378.640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12,99%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$ 689.559.794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6,79%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>
                          <a:solidFill>
                            <a:srgbClr val="0B5D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▼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0B5D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–$ 629.818.846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0B5D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–47,7 %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Construcción cuneta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$ 1.495.522.684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14,72%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$ 621.208.640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6,11%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>
                          <a:solidFill>
                            <a:srgbClr val="0B5D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▼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0B5D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–$ 874.314.044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0B5D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–58,5 %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Construcción filtro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$ 1.642.605.280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16,17%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$ 523.048.960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5,15%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>
                          <a:solidFill>
                            <a:srgbClr val="0B5D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▼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0B5D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–$ 1.119.556.320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0B5D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–68,2 %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Construcción bordillos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$ 225.902.960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2,22%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$ 110.524.030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1,09%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>
                          <a:solidFill>
                            <a:srgbClr val="0B5D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▼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0B5D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–$ 115.378.930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0B5D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–51,1 %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Construcción disipadores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$ 198.393.974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1,95%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$ 146.967.736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1,45%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>
                          <a:solidFill>
                            <a:srgbClr val="0B5D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▼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0B5D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–$ 51.426.238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0B5D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–25,9 %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Estabilización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$ 5.140.679.623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50,60%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$ 7.920.263.704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77,96%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B32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▲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$ 2.779.584.081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54,1 %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Señalización vial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$ 136.378.700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1,34%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$ 147.288.996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1,45%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>
                          <a:solidFill>
                            <a:srgbClr val="B32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▲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$ 10.910.296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8,0 %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CORREDOR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$ 10.158.861.861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100%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$ 10.158.861.860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100%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$ 0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0,0 %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</a:tr>
            </a:tbl>
          </a:graphicData>
        </a:graphic>
      </p:graphicFrame>
      <p:sp>
        <p:nvSpPr>
          <p:cNvPr id="1812" name="Google Shape;1812;p20"/>
          <p:cNvSpPr txBox="1"/>
          <p:nvPr/>
        </p:nvSpPr>
        <p:spPr>
          <a:xfrm>
            <a:off x="3840480" y="5413248"/>
            <a:ext cx="78912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261E"/>
              </a:buClr>
              <a:buSzPts val="900"/>
              <a:buFont typeface="Arial"/>
              <a:buNone/>
            </a:pPr>
            <a:r>
              <a:rPr b="0" i="0" lang="es-CO" sz="900" u="none" cap="none" strike="noStrike">
                <a:solidFill>
                  <a:srgbClr val="B3261E"/>
                </a:solidFill>
                <a:latin typeface="Arial"/>
                <a:ea typeface="Arial"/>
                <a:cs typeface="Arial"/>
                <a:sym typeface="Arial"/>
              </a:rPr>
              <a:t>▲</a:t>
            </a: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 Se requiere mayor valor     </a:t>
            </a:r>
            <a:r>
              <a:rPr b="0" i="0" lang="es-CO" sz="900" u="none" cap="none" strike="noStrike">
                <a:solidFill>
                  <a:srgbClr val="0B5D2E"/>
                </a:solidFill>
                <a:latin typeface="Arial"/>
                <a:ea typeface="Arial"/>
                <a:cs typeface="Arial"/>
                <a:sym typeface="Arial"/>
              </a:rPr>
              <a:t>▼</a:t>
            </a: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 Sobra valor     % de variación = (valor proyectado – valor contractual) / valor contractual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3" name="Google Shape;1813;p20"/>
          <p:cNvSpPr/>
          <p:nvPr/>
        </p:nvSpPr>
        <p:spPr>
          <a:xfrm>
            <a:off x="3840480" y="5687568"/>
            <a:ext cx="7891272" cy="850392"/>
          </a:xfrm>
          <a:prstGeom prst="roundRect">
            <a:avLst>
              <a:gd fmla="val 6452" name="adj"/>
            </a:avLst>
          </a:prstGeom>
          <a:solidFill>
            <a:srgbClr val="FFFFFF"/>
          </a:solidFill>
          <a:ln cap="flat" cmpd="sng" w="12700">
            <a:solidFill>
              <a:srgbClr val="9AA7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00" lIns="1000" spcFirstLastPara="1" rIns="1500" wrap="square" tIns="15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100"/>
              <a:buFont typeface="Calibri"/>
              <a:buNone/>
            </a:pPr>
            <a:r>
              <a:rPr b="1" i="0" lang="es-CO" sz="11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Notas: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8" name="Shape 1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9" name="Google Shape;1819;p21"/>
          <p:cNvSpPr txBox="1"/>
          <p:nvPr/>
        </p:nvSpPr>
        <p:spPr>
          <a:xfrm>
            <a:off x="457200" y="320040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1200"/>
              <a:buFont typeface="Calibri"/>
              <a:buNone/>
            </a:pPr>
            <a:r>
              <a:rPr b="1" i="0" lang="es-CO" sz="1200" u="none" cap="none" strike="noStrike">
                <a:solidFill>
                  <a:srgbClr val="2E7D4F"/>
                </a:solidFill>
                <a:latin typeface="Poppins"/>
                <a:ea typeface="Poppins"/>
                <a:cs typeface="Poppins"/>
                <a:sym typeface="Poppins"/>
              </a:rPr>
              <a:t>INFORME DE EJECUCIÓN  ·  LOTE 3 – SUBREGIÓN URABÁ</a:t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20" name="Google Shape;1820;p21"/>
          <p:cNvSpPr txBox="1"/>
          <p:nvPr/>
        </p:nvSpPr>
        <p:spPr>
          <a:xfrm>
            <a:off x="457200" y="594360"/>
            <a:ext cx="9692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2800"/>
              <a:buFont typeface="Calibri"/>
              <a:buNone/>
            </a:pPr>
            <a:r>
              <a:rPr b="1" i="0" lang="es-CO" sz="28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Mutatá – Pavarandó</a:t>
            </a:r>
            <a:endParaRPr b="0" i="0" sz="2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descr="logo.png" id="1821" name="Google Shape;182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78440" y="320040"/>
            <a:ext cx="1371600" cy="676656"/>
          </a:xfrm>
          <a:prstGeom prst="rect">
            <a:avLst/>
          </a:prstGeom>
          <a:noFill/>
          <a:ln>
            <a:noFill/>
          </a:ln>
        </p:spPr>
      </p:pic>
      <p:sp>
        <p:nvSpPr>
          <p:cNvPr id="1822" name="Google Shape;1822;p21"/>
          <p:cNvSpPr/>
          <p:nvPr/>
        </p:nvSpPr>
        <p:spPr>
          <a:xfrm>
            <a:off x="457200" y="1234440"/>
            <a:ext cx="1765249" cy="658368"/>
          </a:xfrm>
          <a:prstGeom prst="roundRect">
            <a:avLst>
              <a:gd fmla="val 1111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3" name="Google Shape;1823;p21"/>
          <p:cNvSpPr txBox="1"/>
          <p:nvPr/>
        </p:nvSpPr>
        <p:spPr>
          <a:xfrm>
            <a:off x="566928" y="1289304"/>
            <a:ext cx="154579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50"/>
              <a:buFont typeface="Calibri"/>
              <a:buNone/>
            </a:pPr>
            <a:r>
              <a:rPr b="0" i="0" lang="es-CO" sz="9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Longitud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4" name="Google Shape;1824;p21"/>
          <p:cNvSpPr txBox="1"/>
          <p:nvPr/>
        </p:nvSpPr>
        <p:spPr>
          <a:xfrm>
            <a:off x="566928" y="1453896"/>
            <a:ext cx="154579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10,00 km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5" name="Google Shape;1825;p21"/>
          <p:cNvSpPr txBox="1"/>
          <p:nvPr/>
        </p:nvSpPr>
        <p:spPr>
          <a:xfrm>
            <a:off x="566928" y="1700784"/>
            <a:ext cx="1545793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00"/>
              <a:buFont typeface="Calibri"/>
              <a:buNone/>
            </a:pP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Alcance real 10,00 km · dif. 0,00 km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6" name="Google Shape;1826;p21"/>
          <p:cNvSpPr/>
          <p:nvPr/>
        </p:nvSpPr>
        <p:spPr>
          <a:xfrm>
            <a:off x="2359609" y="1234440"/>
            <a:ext cx="1765249" cy="658368"/>
          </a:xfrm>
          <a:prstGeom prst="roundRect">
            <a:avLst>
              <a:gd fmla="val 1111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7" name="Google Shape;1827;p21"/>
          <p:cNvSpPr txBox="1"/>
          <p:nvPr/>
        </p:nvSpPr>
        <p:spPr>
          <a:xfrm>
            <a:off x="2469337" y="1289304"/>
            <a:ext cx="154579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50"/>
              <a:buFont typeface="Calibri"/>
              <a:buNone/>
            </a:pPr>
            <a:r>
              <a:rPr b="0" i="0" lang="es-CO" sz="9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Valor total del corredor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8" name="Google Shape;1828;p21"/>
          <p:cNvSpPr txBox="1"/>
          <p:nvPr/>
        </p:nvSpPr>
        <p:spPr>
          <a:xfrm>
            <a:off x="2469337" y="1453896"/>
            <a:ext cx="154579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$ 11.333.658.988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9" name="Google Shape;1829;p21"/>
          <p:cNvSpPr txBox="1"/>
          <p:nvPr/>
        </p:nvSpPr>
        <p:spPr>
          <a:xfrm>
            <a:off x="2469337" y="1700784"/>
            <a:ext cx="1545793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00"/>
              <a:buFont typeface="Calibri"/>
              <a:buNone/>
            </a:pP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$ 1.133.365.899 por km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0" name="Google Shape;1830;p21"/>
          <p:cNvSpPr/>
          <p:nvPr/>
        </p:nvSpPr>
        <p:spPr>
          <a:xfrm>
            <a:off x="4262018" y="1234440"/>
            <a:ext cx="1765249" cy="658368"/>
          </a:xfrm>
          <a:prstGeom prst="roundRect">
            <a:avLst>
              <a:gd fmla="val 11111" name="adj"/>
            </a:avLst>
          </a:prstGeom>
          <a:solidFill>
            <a:srgbClr val="FBEAEA"/>
          </a:solidFill>
          <a:ln cap="flat" cmpd="sng" w="12700">
            <a:solidFill>
              <a:srgbClr val="FBEA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1" name="Google Shape;1831;p21"/>
          <p:cNvSpPr txBox="1"/>
          <p:nvPr/>
        </p:nvSpPr>
        <p:spPr>
          <a:xfrm>
            <a:off x="4371746" y="1289304"/>
            <a:ext cx="154579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50"/>
              <a:buFont typeface="Calibri"/>
              <a:buNone/>
            </a:pPr>
            <a:r>
              <a:rPr b="0" i="0" lang="es-CO" sz="9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Avance físico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2" name="Google Shape;1832;p21"/>
          <p:cNvSpPr txBox="1"/>
          <p:nvPr/>
        </p:nvSpPr>
        <p:spPr>
          <a:xfrm>
            <a:off x="4371746" y="1453896"/>
            <a:ext cx="154579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261E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B3261E"/>
                </a:solidFill>
                <a:latin typeface="Calibri"/>
                <a:ea typeface="Calibri"/>
                <a:cs typeface="Calibri"/>
                <a:sym typeface="Calibri"/>
              </a:rPr>
              <a:t>26,58 %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3" name="Google Shape;1833;p21"/>
          <p:cNvSpPr txBox="1"/>
          <p:nvPr/>
        </p:nvSpPr>
        <p:spPr>
          <a:xfrm>
            <a:off x="4371746" y="1700784"/>
            <a:ext cx="1545793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00"/>
              <a:buFont typeface="Calibri"/>
              <a:buNone/>
            </a:pP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Frente a 44,0 % del plazo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4" name="Google Shape;1834;p21"/>
          <p:cNvSpPr/>
          <p:nvPr/>
        </p:nvSpPr>
        <p:spPr>
          <a:xfrm>
            <a:off x="6164428" y="1234440"/>
            <a:ext cx="1765249" cy="658368"/>
          </a:xfrm>
          <a:prstGeom prst="roundRect">
            <a:avLst>
              <a:gd fmla="val 1111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5" name="Google Shape;1835;p21"/>
          <p:cNvSpPr txBox="1"/>
          <p:nvPr/>
        </p:nvSpPr>
        <p:spPr>
          <a:xfrm>
            <a:off x="6274156" y="1289304"/>
            <a:ext cx="154579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50"/>
              <a:buFont typeface="Calibri"/>
              <a:buNone/>
            </a:pPr>
            <a:r>
              <a:rPr b="0" i="0" lang="es-CO" sz="9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Avance financiero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6" name="Google Shape;1836;p21"/>
          <p:cNvSpPr txBox="1"/>
          <p:nvPr/>
        </p:nvSpPr>
        <p:spPr>
          <a:xfrm>
            <a:off x="6274156" y="1453896"/>
            <a:ext cx="154579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39,53 %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7" name="Google Shape;1837;p21"/>
          <p:cNvSpPr/>
          <p:nvPr/>
        </p:nvSpPr>
        <p:spPr>
          <a:xfrm>
            <a:off x="8066837" y="1234440"/>
            <a:ext cx="1765249" cy="658368"/>
          </a:xfrm>
          <a:prstGeom prst="roundRect">
            <a:avLst>
              <a:gd fmla="val 1111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8" name="Google Shape;1838;p21"/>
          <p:cNvSpPr txBox="1"/>
          <p:nvPr/>
        </p:nvSpPr>
        <p:spPr>
          <a:xfrm>
            <a:off x="8176565" y="1289304"/>
            <a:ext cx="154579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50"/>
              <a:buFont typeface="Calibri"/>
              <a:buNone/>
            </a:pPr>
            <a:r>
              <a:rPr b="0" i="0" lang="es-CO" sz="9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Plazo transcurrido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9" name="Google Shape;1839;p21"/>
          <p:cNvSpPr txBox="1"/>
          <p:nvPr/>
        </p:nvSpPr>
        <p:spPr>
          <a:xfrm>
            <a:off x="8176565" y="1453896"/>
            <a:ext cx="154579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44,0 %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0" name="Google Shape;1840;p21"/>
          <p:cNvSpPr txBox="1"/>
          <p:nvPr/>
        </p:nvSpPr>
        <p:spPr>
          <a:xfrm>
            <a:off x="8176565" y="1700784"/>
            <a:ext cx="1545793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00"/>
              <a:buFont typeface="Calibri"/>
              <a:buNone/>
            </a:pP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7,9 de 18 meses (al 02/10/2026)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1" name="Google Shape;1841;p21"/>
          <p:cNvSpPr/>
          <p:nvPr/>
        </p:nvSpPr>
        <p:spPr>
          <a:xfrm>
            <a:off x="9969246" y="1234440"/>
            <a:ext cx="1765249" cy="658368"/>
          </a:xfrm>
          <a:prstGeom prst="roundRect">
            <a:avLst>
              <a:gd fmla="val 1111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2" name="Google Shape;1842;p21"/>
          <p:cNvSpPr txBox="1"/>
          <p:nvPr/>
        </p:nvSpPr>
        <p:spPr>
          <a:xfrm>
            <a:off x="10078974" y="1289304"/>
            <a:ext cx="1545793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Inicio: </a:t>
            </a: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04/02/2026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Terminación: </a:t>
            </a: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03/08/2027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Corte: </a:t>
            </a: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25/09/2026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3" name="Google Shape;1843;p21"/>
          <p:cNvSpPr txBox="1"/>
          <p:nvPr/>
        </p:nvSpPr>
        <p:spPr>
          <a:xfrm>
            <a:off x="457200" y="1956816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1000"/>
              <a:buFont typeface="Calibri"/>
              <a:buNone/>
            </a:pPr>
            <a:r>
              <a:rPr b="1" i="0" lang="es-CO" sz="10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AVANCE POR ABSCISA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44" name="Google Shape;1844;p21"/>
          <p:cNvCxnSpPr/>
          <p:nvPr/>
        </p:nvCxnSpPr>
        <p:spPr>
          <a:xfrm>
            <a:off x="2103120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45" name="Google Shape;1845;p21"/>
          <p:cNvCxnSpPr/>
          <p:nvPr/>
        </p:nvCxnSpPr>
        <p:spPr>
          <a:xfrm>
            <a:off x="3008376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46" name="Google Shape;1846;p21"/>
          <p:cNvCxnSpPr/>
          <p:nvPr/>
        </p:nvCxnSpPr>
        <p:spPr>
          <a:xfrm>
            <a:off x="3913632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47" name="Google Shape;1847;p21"/>
          <p:cNvCxnSpPr/>
          <p:nvPr/>
        </p:nvCxnSpPr>
        <p:spPr>
          <a:xfrm>
            <a:off x="4818888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48" name="Google Shape;1848;p21"/>
          <p:cNvCxnSpPr/>
          <p:nvPr/>
        </p:nvCxnSpPr>
        <p:spPr>
          <a:xfrm>
            <a:off x="5724144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49" name="Google Shape;1849;p21"/>
          <p:cNvCxnSpPr/>
          <p:nvPr/>
        </p:nvCxnSpPr>
        <p:spPr>
          <a:xfrm>
            <a:off x="6629400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50" name="Google Shape;1850;p21"/>
          <p:cNvCxnSpPr/>
          <p:nvPr/>
        </p:nvCxnSpPr>
        <p:spPr>
          <a:xfrm>
            <a:off x="7534656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51" name="Google Shape;1851;p21"/>
          <p:cNvCxnSpPr/>
          <p:nvPr/>
        </p:nvCxnSpPr>
        <p:spPr>
          <a:xfrm>
            <a:off x="8439912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52" name="Google Shape;1852;p21"/>
          <p:cNvCxnSpPr/>
          <p:nvPr/>
        </p:nvCxnSpPr>
        <p:spPr>
          <a:xfrm>
            <a:off x="9345168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53" name="Google Shape;1853;p21"/>
          <p:cNvCxnSpPr/>
          <p:nvPr/>
        </p:nvCxnSpPr>
        <p:spPr>
          <a:xfrm>
            <a:off x="10250424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54" name="Google Shape;1854;p21"/>
          <p:cNvCxnSpPr/>
          <p:nvPr/>
        </p:nvCxnSpPr>
        <p:spPr>
          <a:xfrm>
            <a:off x="11155680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55" name="Google Shape;1855;p21"/>
          <p:cNvSpPr txBox="1"/>
          <p:nvPr/>
        </p:nvSpPr>
        <p:spPr>
          <a:xfrm>
            <a:off x="1874520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6" name="Google Shape;1856;p21"/>
          <p:cNvSpPr txBox="1"/>
          <p:nvPr/>
        </p:nvSpPr>
        <p:spPr>
          <a:xfrm>
            <a:off x="2779776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K1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7" name="Google Shape;1857;p21"/>
          <p:cNvSpPr txBox="1"/>
          <p:nvPr/>
        </p:nvSpPr>
        <p:spPr>
          <a:xfrm>
            <a:off x="3685032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8" name="Google Shape;1858;p21"/>
          <p:cNvSpPr txBox="1"/>
          <p:nvPr/>
        </p:nvSpPr>
        <p:spPr>
          <a:xfrm>
            <a:off x="4590288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K3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9" name="Google Shape;1859;p21"/>
          <p:cNvSpPr txBox="1"/>
          <p:nvPr/>
        </p:nvSpPr>
        <p:spPr>
          <a:xfrm>
            <a:off x="5495544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K4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0" name="Google Shape;1860;p21"/>
          <p:cNvSpPr txBox="1"/>
          <p:nvPr/>
        </p:nvSpPr>
        <p:spPr>
          <a:xfrm>
            <a:off x="6400800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1" name="Google Shape;1861;p21"/>
          <p:cNvSpPr txBox="1"/>
          <p:nvPr/>
        </p:nvSpPr>
        <p:spPr>
          <a:xfrm>
            <a:off x="7306056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2" name="Google Shape;1862;p21"/>
          <p:cNvSpPr txBox="1"/>
          <p:nvPr/>
        </p:nvSpPr>
        <p:spPr>
          <a:xfrm>
            <a:off x="8211312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K7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3" name="Google Shape;1863;p21"/>
          <p:cNvSpPr txBox="1"/>
          <p:nvPr/>
        </p:nvSpPr>
        <p:spPr>
          <a:xfrm>
            <a:off x="9116568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K8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4" name="Google Shape;1864;p21"/>
          <p:cNvSpPr txBox="1"/>
          <p:nvPr/>
        </p:nvSpPr>
        <p:spPr>
          <a:xfrm>
            <a:off x="10021824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K9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5" name="Google Shape;1865;p21"/>
          <p:cNvSpPr txBox="1"/>
          <p:nvPr/>
        </p:nvSpPr>
        <p:spPr>
          <a:xfrm>
            <a:off x="10835640" y="2139696"/>
            <a:ext cx="54864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K10+000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6" name="Google Shape;1866;p21"/>
          <p:cNvSpPr/>
          <p:nvPr/>
        </p:nvSpPr>
        <p:spPr>
          <a:xfrm>
            <a:off x="2103120" y="2359152"/>
            <a:ext cx="9052560" cy="73152"/>
          </a:xfrm>
          <a:prstGeom prst="rect">
            <a:avLst/>
          </a:prstGeom>
          <a:solidFill>
            <a:srgbClr val="1F2A36"/>
          </a:solidFill>
          <a:ln cap="flat" cmpd="sng" w="12700">
            <a:solidFill>
              <a:srgbClr val="1F2A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67" name="Google Shape;1867;p21"/>
          <p:cNvCxnSpPr/>
          <p:nvPr/>
        </p:nvCxnSpPr>
        <p:spPr>
          <a:xfrm>
            <a:off x="2139696" y="2395728"/>
            <a:ext cx="8979408" cy="0"/>
          </a:xfrm>
          <a:prstGeom prst="straightConnector1">
            <a:avLst/>
          </a:prstGeom>
          <a:noFill/>
          <a:ln cap="flat" cmpd="sng" w="9525">
            <a:solidFill>
              <a:srgbClr val="F2C94C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868" name="Google Shape;1868;p21"/>
          <p:cNvCxnSpPr/>
          <p:nvPr/>
        </p:nvCxnSpPr>
        <p:spPr>
          <a:xfrm>
            <a:off x="731520" y="2487168"/>
            <a:ext cx="0" cy="338328"/>
          </a:xfrm>
          <a:prstGeom prst="straightConnector1">
            <a:avLst/>
          </a:prstGeom>
          <a:noFill/>
          <a:ln cap="flat" cmpd="sng" w="19050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69" name="Google Shape;1869;p21"/>
          <p:cNvSpPr txBox="1"/>
          <p:nvPr/>
        </p:nvSpPr>
        <p:spPr>
          <a:xfrm rot="-5400000">
            <a:off x="260604" y="2574036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700"/>
              <a:buFont typeface="Calibri"/>
              <a:buNone/>
            </a:pPr>
            <a:r>
              <a:rPr b="1" i="0" lang="es-CO" sz="7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CAMPO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0" name="Google Shape;1870;p21"/>
          <p:cNvSpPr txBox="1"/>
          <p:nvPr/>
        </p:nvSpPr>
        <p:spPr>
          <a:xfrm>
            <a:off x="777240" y="2487168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Topografía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1" name="Google Shape;1871;p21"/>
          <p:cNvSpPr/>
          <p:nvPr/>
        </p:nvSpPr>
        <p:spPr>
          <a:xfrm>
            <a:off x="2103120" y="2487168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2" name="Google Shape;1872;p21"/>
          <p:cNvSpPr/>
          <p:nvPr/>
        </p:nvSpPr>
        <p:spPr>
          <a:xfrm>
            <a:off x="2103120" y="2487168"/>
            <a:ext cx="9052560" cy="155448"/>
          </a:xfrm>
          <a:prstGeom prst="rect">
            <a:avLst/>
          </a:prstGeom>
          <a:solidFill>
            <a:srgbClr val="2E7D4F"/>
          </a:solidFill>
          <a:ln cap="flat" cmpd="sng" w="9525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3" name="Google Shape;1873;p21"/>
          <p:cNvSpPr txBox="1"/>
          <p:nvPr/>
        </p:nvSpPr>
        <p:spPr>
          <a:xfrm>
            <a:off x="11201400" y="2487168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100 %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4" name="Google Shape;1874;p21"/>
          <p:cNvSpPr txBox="1"/>
          <p:nvPr/>
        </p:nvSpPr>
        <p:spPr>
          <a:xfrm>
            <a:off x="777240" y="2670048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Apiques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5" name="Google Shape;1875;p21"/>
          <p:cNvSpPr/>
          <p:nvPr/>
        </p:nvSpPr>
        <p:spPr>
          <a:xfrm>
            <a:off x="2103120" y="2670048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6" name="Google Shape;1876;p21"/>
          <p:cNvSpPr/>
          <p:nvPr/>
        </p:nvSpPr>
        <p:spPr>
          <a:xfrm>
            <a:off x="2103120" y="2670048"/>
            <a:ext cx="9052560" cy="155448"/>
          </a:xfrm>
          <a:prstGeom prst="rect">
            <a:avLst/>
          </a:prstGeom>
          <a:solidFill>
            <a:srgbClr val="2E7D4F"/>
          </a:solidFill>
          <a:ln cap="flat" cmpd="sng" w="9525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7" name="Google Shape;1877;p21"/>
          <p:cNvSpPr txBox="1"/>
          <p:nvPr/>
        </p:nvSpPr>
        <p:spPr>
          <a:xfrm>
            <a:off x="11201400" y="2670048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100 %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78" name="Google Shape;1878;p21"/>
          <p:cNvCxnSpPr/>
          <p:nvPr/>
        </p:nvCxnSpPr>
        <p:spPr>
          <a:xfrm>
            <a:off x="731520" y="2953512"/>
            <a:ext cx="0" cy="466344"/>
          </a:xfrm>
          <a:prstGeom prst="straightConnector1">
            <a:avLst/>
          </a:prstGeom>
          <a:noFill/>
          <a:ln cap="flat" cmpd="sng" w="19050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79" name="Google Shape;1879;p21"/>
          <p:cNvSpPr txBox="1"/>
          <p:nvPr/>
        </p:nvSpPr>
        <p:spPr>
          <a:xfrm rot="-5400000">
            <a:off x="260604" y="3104388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700"/>
              <a:buFont typeface="Calibri"/>
              <a:buNone/>
            </a:pPr>
            <a:r>
              <a:rPr b="1" i="0" lang="es-CO" sz="7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ESTRUCTURA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0" name="Google Shape;1880;p21"/>
          <p:cNvSpPr txBox="1"/>
          <p:nvPr/>
        </p:nvSpPr>
        <p:spPr>
          <a:xfrm>
            <a:off x="777240" y="2953512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Rodadura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1" name="Google Shape;1881;p21"/>
          <p:cNvSpPr/>
          <p:nvPr/>
        </p:nvSpPr>
        <p:spPr>
          <a:xfrm>
            <a:off x="2103120" y="2953512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2" name="Google Shape;1882;p21"/>
          <p:cNvSpPr txBox="1"/>
          <p:nvPr/>
        </p:nvSpPr>
        <p:spPr>
          <a:xfrm>
            <a:off x="11201400" y="2953512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3" name="Google Shape;1883;p21"/>
          <p:cNvSpPr txBox="1"/>
          <p:nvPr/>
        </p:nvSpPr>
        <p:spPr>
          <a:xfrm>
            <a:off x="777240" y="3108960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Capa granular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4" name="Google Shape;1884;p21"/>
          <p:cNvSpPr/>
          <p:nvPr/>
        </p:nvSpPr>
        <p:spPr>
          <a:xfrm>
            <a:off x="2103120" y="3108960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5" name="Google Shape;1885;p21"/>
          <p:cNvSpPr/>
          <p:nvPr/>
        </p:nvSpPr>
        <p:spPr>
          <a:xfrm>
            <a:off x="2438065" y="3108960"/>
            <a:ext cx="434523" cy="155448"/>
          </a:xfrm>
          <a:prstGeom prst="rect">
            <a:avLst/>
          </a:prstGeom>
          <a:solidFill>
            <a:srgbClr val="D9A441"/>
          </a:solidFill>
          <a:ln cap="flat" cmpd="sng" w="9525">
            <a:solidFill>
              <a:srgbClr val="D9A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6" name="Google Shape;1886;p21"/>
          <p:cNvSpPr/>
          <p:nvPr/>
        </p:nvSpPr>
        <p:spPr>
          <a:xfrm>
            <a:off x="2945008" y="3108960"/>
            <a:ext cx="190104" cy="155448"/>
          </a:xfrm>
          <a:prstGeom prst="rect">
            <a:avLst/>
          </a:prstGeom>
          <a:solidFill>
            <a:srgbClr val="D9A441"/>
          </a:solidFill>
          <a:ln cap="flat" cmpd="sng" w="9525">
            <a:solidFill>
              <a:srgbClr val="D9A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7" name="Google Shape;1887;p21"/>
          <p:cNvSpPr/>
          <p:nvPr/>
        </p:nvSpPr>
        <p:spPr>
          <a:xfrm>
            <a:off x="4999939" y="3108960"/>
            <a:ext cx="724205" cy="155448"/>
          </a:xfrm>
          <a:prstGeom prst="rect">
            <a:avLst/>
          </a:prstGeom>
          <a:solidFill>
            <a:srgbClr val="D9A441"/>
          </a:solidFill>
          <a:ln cap="flat" cmpd="sng" w="9525">
            <a:solidFill>
              <a:srgbClr val="D9A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8" name="Google Shape;1888;p21"/>
          <p:cNvSpPr txBox="1"/>
          <p:nvPr/>
        </p:nvSpPr>
        <p:spPr>
          <a:xfrm>
            <a:off x="11201400" y="3108960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15 %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9" name="Google Shape;1889;p21"/>
          <p:cNvSpPr txBox="1"/>
          <p:nvPr/>
        </p:nvSpPr>
        <p:spPr>
          <a:xfrm>
            <a:off x="777240" y="3264408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Subrasante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0" name="Google Shape;1890;p21"/>
          <p:cNvSpPr/>
          <p:nvPr/>
        </p:nvSpPr>
        <p:spPr>
          <a:xfrm>
            <a:off x="2103120" y="3264408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1" name="Google Shape;1891;p21"/>
          <p:cNvSpPr/>
          <p:nvPr/>
        </p:nvSpPr>
        <p:spPr>
          <a:xfrm>
            <a:off x="2438065" y="3264408"/>
            <a:ext cx="434523" cy="155448"/>
          </a:xfrm>
          <a:prstGeom prst="rect">
            <a:avLst/>
          </a:prstGeom>
          <a:solidFill>
            <a:srgbClr val="8C6A4F"/>
          </a:solidFill>
          <a:ln cap="flat" cmpd="sng" w="9525">
            <a:solidFill>
              <a:srgbClr val="8C6A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2" name="Google Shape;1892;p21"/>
          <p:cNvSpPr/>
          <p:nvPr/>
        </p:nvSpPr>
        <p:spPr>
          <a:xfrm>
            <a:off x="2945008" y="3264408"/>
            <a:ext cx="190104" cy="155448"/>
          </a:xfrm>
          <a:prstGeom prst="rect">
            <a:avLst/>
          </a:prstGeom>
          <a:solidFill>
            <a:srgbClr val="8C6A4F"/>
          </a:solidFill>
          <a:ln cap="flat" cmpd="sng" w="9525">
            <a:solidFill>
              <a:srgbClr val="8C6A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3" name="Google Shape;1893;p21"/>
          <p:cNvSpPr/>
          <p:nvPr/>
        </p:nvSpPr>
        <p:spPr>
          <a:xfrm>
            <a:off x="4999939" y="3264408"/>
            <a:ext cx="724205" cy="155448"/>
          </a:xfrm>
          <a:prstGeom prst="rect">
            <a:avLst/>
          </a:prstGeom>
          <a:solidFill>
            <a:srgbClr val="8C6A4F"/>
          </a:solidFill>
          <a:ln cap="flat" cmpd="sng" w="9525">
            <a:solidFill>
              <a:srgbClr val="8C6A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4" name="Google Shape;1894;p21"/>
          <p:cNvSpPr txBox="1"/>
          <p:nvPr/>
        </p:nvSpPr>
        <p:spPr>
          <a:xfrm>
            <a:off x="11201400" y="3264408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15 %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95" name="Google Shape;1895;p21"/>
          <p:cNvCxnSpPr/>
          <p:nvPr/>
        </p:nvCxnSpPr>
        <p:spPr>
          <a:xfrm>
            <a:off x="731520" y="3511296"/>
            <a:ext cx="0" cy="521208"/>
          </a:xfrm>
          <a:prstGeom prst="straightConnector1">
            <a:avLst/>
          </a:prstGeom>
          <a:noFill/>
          <a:ln cap="flat" cmpd="sng" w="19050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96" name="Google Shape;1896;p21"/>
          <p:cNvSpPr txBox="1"/>
          <p:nvPr/>
        </p:nvSpPr>
        <p:spPr>
          <a:xfrm rot="-5400000">
            <a:off x="260604" y="3689604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700"/>
              <a:buFont typeface="Calibri"/>
              <a:buNone/>
            </a:pPr>
            <a:r>
              <a:rPr b="1" i="0" lang="es-CO" sz="7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DRENAJE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7" name="Google Shape;1897;p21"/>
          <p:cNvSpPr txBox="1"/>
          <p:nvPr/>
        </p:nvSpPr>
        <p:spPr>
          <a:xfrm>
            <a:off x="777240" y="3511296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Cunetas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8" name="Google Shape;1898;p21"/>
          <p:cNvSpPr/>
          <p:nvPr/>
        </p:nvSpPr>
        <p:spPr>
          <a:xfrm>
            <a:off x="2103120" y="3511296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9" name="Google Shape;1899;p21"/>
          <p:cNvSpPr/>
          <p:nvPr/>
        </p:nvSpPr>
        <p:spPr>
          <a:xfrm>
            <a:off x="2329434" y="3511296"/>
            <a:ext cx="226314" cy="155448"/>
          </a:xfrm>
          <a:prstGeom prst="rect">
            <a:avLst/>
          </a:prstGeom>
          <a:solidFill>
            <a:srgbClr val="2E7D4F"/>
          </a:solidFill>
          <a:ln cap="flat" cmpd="sng" w="9525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0" name="Google Shape;1900;p21"/>
          <p:cNvSpPr/>
          <p:nvPr/>
        </p:nvSpPr>
        <p:spPr>
          <a:xfrm>
            <a:off x="2782062" y="3511296"/>
            <a:ext cx="452628" cy="155448"/>
          </a:xfrm>
          <a:prstGeom prst="rect">
            <a:avLst/>
          </a:prstGeom>
          <a:solidFill>
            <a:srgbClr val="2E7D4F"/>
          </a:solidFill>
          <a:ln cap="flat" cmpd="sng" w="9525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1" name="Google Shape;1901;p21"/>
          <p:cNvSpPr txBox="1"/>
          <p:nvPr/>
        </p:nvSpPr>
        <p:spPr>
          <a:xfrm>
            <a:off x="11201400" y="3511296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3,8 %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2" name="Google Shape;1902;p21"/>
          <p:cNvSpPr txBox="1"/>
          <p:nvPr/>
        </p:nvSpPr>
        <p:spPr>
          <a:xfrm>
            <a:off x="777240" y="3694176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Filtros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3" name="Google Shape;1903;p21"/>
          <p:cNvSpPr txBox="1"/>
          <p:nvPr/>
        </p:nvSpPr>
        <p:spPr>
          <a:xfrm>
            <a:off x="1920240" y="3694176"/>
            <a:ext cx="137160" cy="777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700"/>
              <a:buFont typeface="Calibri"/>
              <a:buNone/>
            </a:pPr>
            <a:r>
              <a:rPr b="0" i="0" lang="es-CO" sz="7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4" name="Google Shape;1904;p21"/>
          <p:cNvSpPr txBox="1"/>
          <p:nvPr/>
        </p:nvSpPr>
        <p:spPr>
          <a:xfrm>
            <a:off x="1920240" y="3771900"/>
            <a:ext cx="137160" cy="777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700"/>
              <a:buFont typeface="Calibri"/>
              <a:buNone/>
            </a:pPr>
            <a:r>
              <a:rPr b="0" i="0" lang="es-CO" sz="7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5" name="Google Shape;1905;p21"/>
          <p:cNvSpPr/>
          <p:nvPr/>
        </p:nvSpPr>
        <p:spPr>
          <a:xfrm>
            <a:off x="2103120" y="3694176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06" name="Google Shape;1906;p21"/>
          <p:cNvCxnSpPr/>
          <p:nvPr/>
        </p:nvCxnSpPr>
        <p:spPr>
          <a:xfrm>
            <a:off x="2103120" y="3771900"/>
            <a:ext cx="9052560" cy="0"/>
          </a:xfrm>
          <a:prstGeom prst="straightConnector1">
            <a:avLst/>
          </a:prstGeom>
          <a:noFill/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07" name="Google Shape;1907;p21"/>
          <p:cNvSpPr/>
          <p:nvPr/>
        </p:nvSpPr>
        <p:spPr>
          <a:xfrm>
            <a:off x="2555748" y="3694176"/>
            <a:ext cx="452628" cy="73152"/>
          </a:xfrm>
          <a:prstGeom prst="rect">
            <a:avLst/>
          </a:prstGeom>
          <a:solidFill>
            <a:srgbClr val="2E7D4F"/>
          </a:solidFill>
          <a:ln cap="flat" cmpd="sng" w="9525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8" name="Google Shape;1908;p21"/>
          <p:cNvSpPr/>
          <p:nvPr/>
        </p:nvSpPr>
        <p:spPr>
          <a:xfrm>
            <a:off x="3234690" y="3694176"/>
            <a:ext cx="452628" cy="73152"/>
          </a:xfrm>
          <a:prstGeom prst="rect">
            <a:avLst/>
          </a:prstGeom>
          <a:solidFill>
            <a:srgbClr val="2E7D4F"/>
          </a:solidFill>
          <a:ln cap="flat" cmpd="sng" w="9525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9" name="Google Shape;1909;p21"/>
          <p:cNvSpPr/>
          <p:nvPr/>
        </p:nvSpPr>
        <p:spPr>
          <a:xfrm>
            <a:off x="5950458" y="3694176"/>
            <a:ext cx="678942" cy="73152"/>
          </a:xfrm>
          <a:prstGeom prst="rect">
            <a:avLst/>
          </a:prstGeom>
          <a:solidFill>
            <a:srgbClr val="2E7D4F"/>
          </a:solidFill>
          <a:ln cap="flat" cmpd="sng" w="9525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0" name="Google Shape;1910;p21"/>
          <p:cNvSpPr/>
          <p:nvPr/>
        </p:nvSpPr>
        <p:spPr>
          <a:xfrm>
            <a:off x="6855714" y="3694176"/>
            <a:ext cx="678942" cy="73152"/>
          </a:xfrm>
          <a:prstGeom prst="rect">
            <a:avLst/>
          </a:prstGeom>
          <a:solidFill>
            <a:srgbClr val="2E7D4F"/>
          </a:solidFill>
          <a:ln cap="flat" cmpd="sng" w="9525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1" name="Google Shape;1911;p21"/>
          <p:cNvSpPr/>
          <p:nvPr/>
        </p:nvSpPr>
        <p:spPr>
          <a:xfrm>
            <a:off x="2555748" y="3776472"/>
            <a:ext cx="678942" cy="73152"/>
          </a:xfrm>
          <a:prstGeom prst="rect">
            <a:avLst/>
          </a:prstGeom>
          <a:solidFill>
            <a:srgbClr val="2E7D4F"/>
          </a:solidFill>
          <a:ln cap="flat" cmpd="sng" w="9525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2" name="Google Shape;1912;p21"/>
          <p:cNvSpPr/>
          <p:nvPr/>
        </p:nvSpPr>
        <p:spPr>
          <a:xfrm>
            <a:off x="3687318" y="3776472"/>
            <a:ext cx="678942" cy="73152"/>
          </a:xfrm>
          <a:prstGeom prst="rect">
            <a:avLst/>
          </a:prstGeom>
          <a:solidFill>
            <a:srgbClr val="2E7D4F"/>
          </a:solidFill>
          <a:ln cap="flat" cmpd="sng" w="9525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3" name="Google Shape;1913;p21"/>
          <p:cNvSpPr txBox="1"/>
          <p:nvPr/>
        </p:nvSpPr>
        <p:spPr>
          <a:xfrm>
            <a:off x="11201400" y="3694176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52 %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4" name="Google Shape;1914;p21"/>
          <p:cNvSpPr txBox="1"/>
          <p:nvPr/>
        </p:nvSpPr>
        <p:spPr>
          <a:xfrm>
            <a:off x="777240" y="3877056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Alcantarillas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5" name="Google Shape;1915;p21"/>
          <p:cNvSpPr/>
          <p:nvPr/>
        </p:nvSpPr>
        <p:spPr>
          <a:xfrm>
            <a:off x="2103120" y="3877056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6" name="Google Shape;1916;p21"/>
          <p:cNvSpPr/>
          <p:nvPr/>
        </p:nvSpPr>
        <p:spPr>
          <a:xfrm>
            <a:off x="4592574" y="3877056"/>
            <a:ext cx="6563106" cy="155448"/>
          </a:xfrm>
          <a:prstGeom prst="rect">
            <a:avLst/>
          </a:prstGeom>
          <a:solidFill>
            <a:srgbClr val="A9C7B3"/>
          </a:solidFill>
          <a:ln cap="flat" cmpd="sng" w="9525">
            <a:solidFill>
              <a:srgbClr val="A9C7B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7" name="Google Shape;1917;p21"/>
          <p:cNvSpPr/>
          <p:nvPr/>
        </p:nvSpPr>
        <p:spPr>
          <a:xfrm>
            <a:off x="3008376" y="3877056"/>
            <a:ext cx="226314" cy="155448"/>
          </a:xfrm>
          <a:prstGeom prst="rect">
            <a:avLst/>
          </a:prstGeom>
          <a:solidFill>
            <a:srgbClr val="E07B24"/>
          </a:solidFill>
          <a:ln cap="flat" cmpd="sng" w="9525">
            <a:solidFill>
              <a:srgbClr val="E07B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8" name="Google Shape;1918;p21"/>
          <p:cNvSpPr/>
          <p:nvPr/>
        </p:nvSpPr>
        <p:spPr>
          <a:xfrm>
            <a:off x="3461004" y="3877056"/>
            <a:ext cx="678942" cy="155448"/>
          </a:xfrm>
          <a:prstGeom prst="rect">
            <a:avLst/>
          </a:prstGeom>
          <a:solidFill>
            <a:srgbClr val="E07B24"/>
          </a:solidFill>
          <a:ln cap="flat" cmpd="sng" w="9525">
            <a:solidFill>
              <a:srgbClr val="E07B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9" name="Google Shape;1919;p21"/>
          <p:cNvSpPr/>
          <p:nvPr/>
        </p:nvSpPr>
        <p:spPr>
          <a:xfrm>
            <a:off x="4592574" y="3877056"/>
            <a:ext cx="226314" cy="155448"/>
          </a:xfrm>
          <a:prstGeom prst="rect">
            <a:avLst/>
          </a:prstGeom>
          <a:solidFill>
            <a:srgbClr val="E07B24"/>
          </a:solidFill>
          <a:ln cap="flat" cmpd="sng" w="9525">
            <a:solidFill>
              <a:srgbClr val="E07B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0" name="Google Shape;1920;p21"/>
          <p:cNvSpPr/>
          <p:nvPr/>
        </p:nvSpPr>
        <p:spPr>
          <a:xfrm>
            <a:off x="6176772" y="3877056"/>
            <a:ext cx="226314" cy="155448"/>
          </a:xfrm>
          <a:prstGeom prst="rect">
            <a:avLst/>
          </a:prstGeom>
          <a:solidFill>
            <a:srgbClr val="E07B24"/>
          </a:solidFill>
          <a:ln cap="flat" cmpd="sng" w="9525">
            <a:solidFill>
              <a:srgbClr val="E07B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1" name="Google Shape;1921;p21"/>
          <p:cNvSpPr/>
          <p:nvPr/>
        </p:nvSpPr>
        <p:spPr>
          <a:xfrm>
            <a:off x="7082028" y="3877056"/>
            <a:ext cx="452628" cy="155448"/>
          </a:xfrm>
          <a:prstGeom prst="rect">
            <a:avLst/>
          </a:prstGeom>
          <a:solidFill>
            <a:srgbClr val="E07B24"/>
          </a:solidFill>
          <a:ln cap="flat" cmpd="sng" w="9525">
            <a:solidFill>
              <a:srgbClr val="E07B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2" name="Google Shape;1922;p21"/>
          <p:cNvSpPr/>
          <p:nvPr/>
        </p:nvSpPr>
        <p:spPr>
          <a:xfrm>
            <a:off x="2641473" y="3877056"/>
            <a:ext cx="54864" cy="155448"/>
          </a:xfrm>
          <a:prstGeom prst="rect">
            <a:avLst/>
          </a:prstGeom>
          <a:solidFill>
            <a:srgbClr val="2F6FB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3" name="Google Shape;1923;p21"/>
          <p:cNvSpPr/>
          <p:nvPr/>
        </p:nvSpPr>
        <p:spPr>
          <a:xfrm>
            <a:off x="3320415" y="3877056"/>
            <a:ext cx="54864" cy="155448"/>
          </a:xfrm>
          <a:prstGeom prst="rect">
            <a:avLst/>
          </a:prstGeom>
          <a:solidFill>
            <a:srgbClr val="2F6FB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4" name="Google Shape;1924;p21"/>
          <p:cNvSpPr txBox="1"/>
          <p:nvPr/>
        </p:nvSpPr>
        <p:spPr>
          <a:xfrm>
            <a:off x="11201400" y="3877056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80 %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5" name="Google Shape;1925;p21"/>
          <p:cNvSpPr txBox="1"/>
          <p:nvPr/>
        </p:nvSpPr>
        <p:spPr>
          <a:xfrm>
            <a:off x="457200" y="4078224"/>
            <a:ext cx="11277295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D9A6"/>
              </a:buClr>
              <a:buSzPts val="800"/>
              <a:buFont typeface="Calibri"/>
              <a:buNone/>
            </a:pPr>
            <a:r>
              <a:rPr b="0" i="0" lang="es-CO" sz="800" u="none" cap="none" strike="noStrike">
                <a:solidFill>
                  <a:srgbClr val="EBD9A6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Natural    </a:t>
            </a:r>
            <a:r>
              <a:rPr b="0" i="0" lang="es-CO" sz="800" u="none" cap="none" strike="noStrike">
                <a:solidFill>
                  <a:srgbClr val="8C6A4F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Cal    </a:t>
            </a:r>
            <a:r>
              <a:rPr b="0" i="0" lang="es-CO" sz="800" u="none" cap="none" strike="noStrike">
                <a:solidFill>
                  <a:srgbClr val="D9A441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Cemento    </a:t>
            </a:r>
            <a:r>
              <a:rPr b="0" i="0" lang="es-CO" sz="800" u="none" cap="none" strike="noStrike">
                <a:solidFill>
                  <a:srgbClr val="1F2A36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TSD    </a:t>
            </a:r>
            <a:r>
              <a:rPr b="0" i="0" lang="es-CO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MDC-19    </a:t>
            </a:r>
            <a:r>
              <a:rPr b="0" i="0" lang="es-CO" sz="8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Ejecutado    </a:t>
            </a:r>
            <a:r>
              <a:rPr b="0" i="0" lang="es-CO" sz="800" u="none" cap="none" strike="noStrike">
                <a:solidFill>
                  <a:srgbClr val="A9C7B3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Limpieza alcantarillas    </a:t>
            </a:r>
            <a:r>
              <a:rPr b="0" i="0" lang="es-CO" sz="800" u="none" cap="none" strike="noStrike">
                <a:solidFill>
                  <a:srgbClr val="2F6FB0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Alcantarilla nueva    </a:t>
            </a:r>
            <a:r>
              <a:rPr b="0" i="0" lang="es-CO" sz="800" u="none" cap="none" strike="noStrike">
                <a:solidFill>
                  <a:srgbClr val="E07B24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Reemplazada    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6" name="Google Shape;1926;p21"/>
          <p:cNvSpPr txBox="1"/>
          <p:nvPr/>
        </p:nvSpPr>
        <p:spPr>
          <a:xfrm>
            <a:off x="457200" y="4361688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1000"/>
              <a:buFont typeface="Calibri"/>
              <a:buNone/>
            </a:pPr>
            <a:r>
              <a:rPr b="1" i="0" lang="es-CO" sz="10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AVANCE POR ACTIVIDAD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7" name="Google Shape;1927;p21"/>
          <p:cNvSpPr txBox="1"/>
          <p:nvPr/>
        </p:nvSpPr>
        <p:spPr>
          <a:xfrm>
            <a:off x="457200" y="4765787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Topografía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8" name="Google Shape;1928;p21"/>
          <p:cNvSpPr/>
          <p:nvPr/>
        </p:nvSpPr>
        <p:spPr>
          <a:xfrm>
            <a:off x="2514600" y="4803265"/>
            <a:ext cx="4206240" cy="107923"/>
          </a:xfrm>
          <a:prstGeom prst="rect">
            <a:avLst/>
          </a:prstGeom>
          <a:solidFill>
            <a:srgbClr val="E3E8E5"/>
          </a:solidFill>
          <a:ln cap="flat" cmpd="sng" w="12700">
            <a:solidFill>
              <a:srgbClr val="E3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9" name="Google Shape;1929;p21"/>
          <p:cNvSpPr/>
          <p:nvPr/>
        </p:nvSpPr>
        <p:spPr>
          <a:xfrm>
            <a:off x="2514600" y="4803265"/>
            <a:ext cx="4206240" cy="107923"/>
          </a:xfrm>
          <a:prstGeom prst="rect">
            <a:avLst/>
          </a:prstGeom>
          <a:solidFill>
            <a:srgbClr val="2E7D4F"/>
          </a:solidFill>
          <a:ln cap="flat" cmpd="sng" w="12700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0" name="Google Shape;1930;p21"/>
          <p:cNvSpPr txBox="1"/>
          <p:nvPr/>
        </p:nvSpPr>
        <p:spPr>
          <a:xfrm>
            <a:off x="2514600" y="4765787"/>
            <a:ext cx="415137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100 %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1" name="Google Shape;1931;p21"/>
          <p:cNvSpPr txBox="1"/>
          <p:nvPr/>
        </p:nvSpPr>
        <p:spPr>
          <a:xfrm>
            <a:off x="457200" y="4935381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Apiques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2" name="Google Shape;1932;p21"/>
          <p:cNvSpPr/>
          <p:nvPr/>
        </p:nvSpPr>
        <p:spPr>
          <a:xfrm>
            <a:off x="2514600" y="4972859"/>
            <a:ext cx="4206240" cy="107923"/>
          </a:xfrm>
          <a:prstGeom prst="rect">
            <a:avLst/>
          </a:prstGeom>
          <a:solidFill>
            <a:srgbClr val="E3E8E5"/>
          </a:solidFill>
          <a:ln cap="flat" cmpd="sng" w="12700">
            <a:solidFill>
              <a:srgbClr val="E3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3" name="Google Shape;1933;p21"/>
          <p:cNvSpPr/>
          <p:nvPr/>
        </p:nvSpPr>
        <p:spPr>
          <a:xfrm>
            <a:off x="2514600" y="4972859"/>
            <a:ext cx="4206240" cy="107923"/>
          </a:xfrm>
          <a:prstGeom prst="rect">
            <a:avLst/>
          </a:prstGeom>
          <a:solidFill>
            <a:srgbClr val="2E7D4F"/>
          </a:solidFill>
          <a:ln cap="flat" cmpd="sng" w="12700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4" name="Google Shape;1934;p21"/>
          <p:cNvSpPr txBox="1"/>
          <p:nvPr/>
        </p:nvSpPr>
        <p:spPr>
          <a:xfrm>
            <a:off x="2514600" y="4935381"/>
            <a:ext cx="415137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100 %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5" name="Google Shape;1935;p21"/>
          <p:cNvSpPr txBox="1"/>
          <p:nvPr/>
        </p:nvSpPr>
        <p:spPr>
          <a:xfrm>
            <a:off x="457200" y="5104976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Limpieza alcantarillas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6" name="Google Shape;1936;p21"/>
          <p:cNvSpPr/>
          <p:nvPr/>
        </p:nvSpPr>
        <p:spPr>
          <a:xfrm>
            <a:off x="2514600" y="5142454"/>
            <a:ext cx="4206240" cy="107923"/>
          </a:xfrm>
          <a:prstGeom prst="rect">
            <a:avLst/>
          </a:prstGeom>
          <a:solidFill>
            <a:srgbClr val="E3E8E5"/>
          </a:solidFill>
          <a:ln cap="flat" cmpd="sng" w="12700">
            <a:solidFill>
              <a:srgbClr val="E3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7" name="Google Shape;1937;p21"/>
          <p:cNvSpPr/>
          <p:nvPr/>
        </p:nvSpPr>
        <p:spPr>
          <a:xfrm>
            <a:off x="2514600" y="5142454"/>
            <a:ext cx="3364991" cy="107923"/>
          </a:xfrm>
          <a:prstGeom prst="rect">
            <a:avLst/>
          </a:prstGeom>
          <a:solidFill>
            <a:srgbClr val="2E7D4F"/>
          </a:solidFill>
          <a:ln cap="flat" cmpd="sng" w="12700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8" name="Google Shape;1938;p21"/>
          <p:cNvSpPr txBox="1"/>
          <p:nvPr/>
        </p:nvSpPr>
        <p:spPr>
          <a:xfrm>
            <a:off x="2514600" y="5104976"/>
            <a:ext cx="3310127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80 %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9" name="Google Shape;1939;p21"/>
          <p:cNvSpPr txBox="1"/>
          <p:nvPr/>
        </p:nvSpPr>
        <p:spPr>
          <a:xfrm>
            <a:off x="457200" y="5274570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Alcantarillas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0" name="Google Shape;1940;p21"/>
          <p:cNvSpPr/>
          <p:nvPr/>
        </p:nvSpPr>
        <p:spPr>
          <a:xfrm>
            <a:off x="2514600" y="5312048"/>
            <a:ext cx="4206240" cy="107923"/>
          </a:xfrm>
          <a:prstGeom prst="rect">
            <a:avLst/>
          </a:prstGeom>
          <a:solidFill>
            <a:srgbClr val="E3E8E5"/>
          </a:solidFill>
          <a:ln cap="flat" cmpd="sng" w="12700">
            <a:solidFill>
              <a:srgbClr val="E3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1" name="Google Shape;1941;p21"/>
          <p:cNvSpPr/>
          <p:nvPr/>
        </p:nvSpPr>
        <p:spPr>
          <a:xfrm>
            <a:off x="2514600" y="5312048"/>
            <a:ext cx="1261872" cy="107923"/>
          </a:xfrm>
          <a:prstGeom prst="rect">
            <a:avLst/>
          </a:prstGeom>
          <a:solidFill>
            <a:srgbClr val="2E7D4F"/>
          </a:solidFill>
          <a:ln cap="flat" cmpd="sng" w="12700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2" name="Google Shape;1942;p21"/>
          <p:cNvSpPr txBox="1"/>
          <p:nvPr/>
        </p:nvSpPr>
        <p:spPr>
          <a:xfrm>
            <a:off x="2514600" y="5274570"/>
            <a:ext cx="1207007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30 %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3" name="Google Shape;1943;p21"/>
          <p:cNvSpPr txBox="1"/>
          <p:nvPr/>
        </p:nvSpPr>
        <p:spPr>
          <a:xfrm>
            <a:off x="457200" y="5444165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Filtros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4" name="Google Shape;1944;p21"/>
          <p:cNvSpPr/>
          <p:nvPr/>
        </p:nvSpPr>
        <p:spPr>
          <a:xfrm>
            <a:off x="2514600" y="5481643"/>
            <a:ext cx="4206240" cy="107923"/>
          </a:xfrm>
          <a:prstGeom prst="rect">
            <a:avLst/>
          </a:prstGeom>
          <a:solidFill>
            <a:srgbClr val="E3E8E5"/>
          </a:solidFill>
          <a:ln cap="flat" cmpd="sng" w="12700">
            <a:solidFill>
              <a:srgbClr val="E3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5" name="Google Shape;1945;p21"/>
          <p:cNvSpPr/>
          <p:nvPr/>
        </p:nvSpPr>
        <p:spPr>
          <a:xfrm>
            <a:off x="2514600" y="5481643"/>
            <a:ext cx="2204069" cy="107923"/>
          </a:xfrm>
          <a:prstGeom prst="rect">
            <a:avLst/>
          </a:prstGeom>
          <a:solidFill>
            <a:srgbClr val="2E7D4F"/>
          </a:solidFill>
          <a:ln cap="flat" cmpd="sng" w="12700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6" name="Google Shape;1946;p21"/>
          <p:cNvSpPr txBox="1"/>
          <p:nvPr/>
        </p:nvSpPr>
        <p:spPr>
          <a:xfrm>
            <a:off x="2514600" y="5444165"/>
            <a:ext cx="2149205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52 %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7" name="Google Shape;1947;p21"/>
          <p:cNvSpPr txBox="1"/>
          <p:nvPr/>
        </p:nvSpPr>
        <p:spPr>
          <a:xfrm>
            <a:off x="457200" y="5613759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Estabilización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8" name="Google Shape;1948;p21"/>
          <p:cNvSpPr/>
          <p:nvPr/>
        </p:nvSpPr>
        <p:spPr>
          <a:xfrm>
            <a:off x="2514600" y="5651238"/>
            <a:ext cx="4206240" cy="107923"/>
          </a:xfrm>
          <a:prstGeom prst="rect">
            <a:avLst/>
          </a:prstGeom>
          <a:solidFill>
            <a:srgbClr val="E3E8E5"/>
          </a:solidFill>
          <a:ln cap="flat" cmpd="sng" w="12700">
            <a:solidFill>
              <a:srgbClr val="E3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9" name="Google Shape;1949;p21"/>
          <p:cNvSpPr/>
          <p:nvPr/>
        </p:nvSpPr>
        <p:spPr>
          <a:xfrm>
            <a:off x="2514600" y="5651238"/>
            <a:ext cx="648587" cy="107923"/>
          </a:xfrm>
          <a:prstGeom prst="rect">
            <a:avLst/>
          </a:prstGeom>
          <a:solidFill>
            <a:srgbClr val="2E7D4F"/>
          </a:solidFill>
          <a:ln cap="flat" cmpd="sng" w="12700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0" name="Google Shape;1950;p21"/>
          <p:cNvSpPr txBox="1"/>
          <p:nvPr/>
        </p:nvSpPr>
        <p:spPr>
          <a:xfrm>
            <a:off x="2514600" y="5613759"/>
            <a:ext cx="593723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15 %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1" name="Google Shape;1951;p21"/>
          <p:cNvSpPr txBox="1"/>
          <p:nvPr/>
        </p:nvSpPr>
        <p:spPr>
          <a:xfrm>
            <a:off x="457200" y="5783354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Cunetas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2" name="Google Shape;1952;p21"/>
          <p:cNvSpPr/>
          <p:nvPr/>
        </p:nvSpPr>
        <p:spPr>
          <a:xfrm>
            <a:off x="2514600" y="5820832"/>
            <a:ext cx="4206240" cy="107923"/>
          </a:xfrm>
          <a:prstGeom prst="rect">
            <a:avLst/>
          </a:prstGeom>
          <a:solidFill>
            <a:srgbClr val="E3E8E5"/>
          </a:solidFill>
          <a:ln cap="flat" cmpd="sng" w="12700">
            <a:solidFill>
              <a:srgbClr val="E3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3" name="Google Shape;1953;p21"/>
          <p:cNvSpPr/>
          <p:nvPr/>
        </p:nvSpPr>
        <p:spPr>
          <a:xfrm>
            <a:off x="2514600" y="5820832"/>
            <a:ext cx="161099" cy="107923"/>
          </a:xfrm>
          <a:prstGeom prst="rect">
            <a:avLst/>
          </a:prstGeom>
          <a:solidFill>
            <a:srgbClr val="2E7D4F"/>
          </a:solidFill>
          <a:ln cap="flat" cmpd="sng" w="12700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4" name="Google Shape;1954;p21"/>
          <p:cNvSpPr txBox="1"/>
          <p:nvPr/>
        </p:nvSpPr>
        <p:spPr>
          <a:xfrm>
            <a:off x="2730563" y="5783354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3,8 %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5" name="Google Shape;1955;p21"/>
          <p:cNvSpPr txBox="1"/>
          <p:nvPr/>
        </p:nvSpPr>
        <p:spPr>
          <a:xfrm>
            <a:off x="457200" y="5952949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Bordillos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6" name="Google Shape;1956;p21"/>
          <p:cNvSpPr/>
          <p:nvPr/>
        </p:nvSpPr>
        <p:spPr>
          <a:xfrm>
            <a:off x="2514600" y="5990427"/>
            <a:ext cx="4206240" cy="107923"/>
          </a:xfrm>
          <a:prstGeom prst="rect">
            <a:avLst/>
          </a:prstGeom>
          <a:solidFill>
            <a:srgbClr val="E3E8E5"/>
          </a:solidFill>
          <a:ln cap="flat" cmpd="sng" w="12700">
            <a:solidFill>
              <a:srgbClr val="E3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7" name="Google Shape;1957;p21"/>
          <p:cNvSpPr txBox="1"/>
          <p:nvPr/>
        </p:nvSpPr>
        <p:spPr>
          <a:xfrm>
            <a:off x="2569464" y="5952949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8" name="Google Shape;1958;p21"/>
          <p:cNvSpPr txBox="1"/>
          <p:nvPr/>
        </p:nvSpPr>
        <p:spPr>
          <a:xfrm>
            <a:off x="457200" y="6122543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Señalización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9" name="Google Shape;1959;p21"/>
          <p:cNvSpPr/>
          <p:nvPr/>
        </p:nvSpPr>
        <p:spPr>
          <a:xfrm>
            <a:off x="2514600" y="6160021"/>
            <a:ext cx="4206240" cy="107923"/>
          </a:xfrm>
          <a:prstGeom prst="rect">
            <a:avLst/>
          </a:prstGeom>
          <a:solidFill>
            <a:srgbClr val="E3E8E5"/>
          </a:solidFill>
          <a:ln cap="flat" cmpd="sng" w="12700">
            <a:solidFill>
              <a:srgbClr val="E3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0" name="Google Shape;1960;p21"/>
          <p:cNvSpPr txBox="1"/>
          <p:nvPr/>
        </p:nvSpPr>
        <p:spPr>
          <a:xfrm>
            <a:off x="2569464" y="6122543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61" name="Google Shape;1961;p21"/>
          <p:cNvGraphicFramePr/>
          <p:nvPr/>
        </p:nvGraphicFramePr>
        <p:xfrm>
          <a:off x="6858000" y="457970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{2219430B-40B1-4F13-8D99-EA5D7966678A}</a:tableStyleId>
              </a:tblPr>
              <a:tblGrid>
                <a:gridCol w="566925"/>
                <a:gridCol w="960125"/>
                <a:gridCol w="1143000"/>
                <a:gridCol w="1143000"/>
                <a:gridCol w="1060700"/>
              </a:tblGrid>
              <a:tr h="195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s-CO" sz="8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Unidad</a:t>
                      </a:r>
                      <a:endParaRPr sz="8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s-CO" sz="8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Presupuestada</a:t>
                      </a:r>
                      <a:endParaRPr sz="8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s-CO" sz="8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Ejec. anterior</a:t>
                      </a:r>
                      <a:endParaRPr sz="8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s-CO" sz="8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Ejec. actual</a:t>
                      </a:r>
                      <a:endParaRPr sz="8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s-CO" sz="8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Δ semana</a:t>
                      </a:r>
                      <a:endParaRPr sz="8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</a:tr>
              <a:tr h="168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km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5F6B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8A94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68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und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5F6B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8A94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168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und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5F6B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5F6B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8A94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68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und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5F6B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2E7D4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+1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168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5.000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5F6B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2.420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2.620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2E7D4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+200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68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km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9,663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5F6B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0,24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1,49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2E7D4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+1,25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168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10.000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5F6B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383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2E7D4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+383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68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2.000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5F6B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s.r.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s.r.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8A94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168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ml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30.000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5F6B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s.r.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s.r.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8A94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62" name="Google Shape;1962;p21"/>
          <p:cNvSpPr txBox="1"/>
          <p:nvPr/>
        </p:nvSpPr>
        <p:spPr>
          <a:xfrm>
            <a:off x="457200" y="6400000"/>
            <a:ext cx="5000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s-CO" sz="9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TIEMPO TRANSCURRIDO DEL PLAZO CONTRACTUAL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3" name="Google Shape;1963;p21"/>
          <p:cNvSpPr txBox="1"/>
          <p:nvPr/>
        </p:nvSpPr>
        <p:spPr>
          <a:xfrm>
            <a:off x="5000000" y="6400000"/>
            <a:ext cx="6734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Inicio: </a:t>
            </a:r>
            <a:r>
              <a:rPr b="1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04/02/2026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   ·   Terminación: </a:t>
            </a:r>
            <a:r>
              <a:rPr b="1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03/08/2027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   ·   Al: </a:t>
            </a:r>
            <a:r>
              <a:rPr b="1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02/10/2026</a:t>
            </a: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   ·   240 de 545 días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4" name="Google Shape;1964;p21"/>
          <p:cNvSpPr/>
          <p:nvPr/>
        </p:nvSpPr>
        <p:spPr>
          <a:xfrm>
            <a:off x="457200" y="6598920"/>
            <a:ext cx="11277600" cy="164592"/>
          </a:xfrm>
          <a:prstGeom prst="roundRect">
            <a:avLst>
              <a:gd fmla="val 50000" name="adj"/>
            </a:avLst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5" name="Google Shape;1965;p21"/>
          <p:cNvSpPr/>
          <p:nvPr/>
        </p:nvSpPr>
        <p:spPr>
          <a:xfrm>
            <a:off x="457200" y="6598920"/>
            <a:ext cx="4966282" cy="164592"/>
          </a:xfrm>
          <a:prstGeom prst="roundRect">
            <a:avLst>
              <a:gd fmla="val 50000" name="adj"/>
            </a:avLst>
          </a:prstGeom>
          <a:solidFill>
            <a:srgbClr val="2E7D4F"/>
          </a:solidFill>
          <a:ln cap="flat" cmpd="sng" w="9525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s-CO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44,0 %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66" name="Google Shape;1966;p21"/>
          <p:cNvCxnSpPr/>
          <p:nvPr/>
        </p:nvCxnSpPr>
        <p:spPr>
          <a:xfrm>
            <a:off x="974521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67" name="Google Shape;1967;p21"/>
          <p:cNvCxnSpPr/>
          <p:nvPr/>
        </p:nvCxnSpPr>
        <p:spPr>
          <a:xfrm>
            <a:off x="1615999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68" name="Google Shape;1968;p21"/>
          <p:cNvCxnSpPr/>
          <p:nvPr/>
        </p:nvCxnSpPr>
        <p:spPr>
          <a:xfrm>
            <a:off x="2236784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69" name="Google Shape;1969;p21"/>
          <p:cNvCxnSpPr/>
          <p:nvPr/>
        </p:nvCxnSpPr>
        <p:spPr>
          <a:xfrm>
            <a:off x="2878262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70" name="Google Shape;1970;p21"/>
          <p:cNvCxnSpPr/>
          <p:nvPr/>
        </p:nvCxnSpPr>
        <p:spPr>
          <a:xfrm>
            <a:off x="3499048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71" name="Google Shape;1971;p21"/>
          <p:cNvCxnSpPr/>
          <p:nvPr/>
        </p:nvCxnSpPr>
        <p:spPr>
          <a:xfrm>
            <a:off x="4140526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72" name="Google Shape;1972;p21"/>
          <p:cNvCxnSpPr/>
          <p:nvPr/>
        </p:nvCxnSpPr>
        <p:spPr>
          <a:xfrm>
            <a:off x="4782004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73" name="Google Shape;1973;p21"/>
          <p:cNvCxnSpPr/>
          <p:nvPr/>
        </p:nvCxnSpPr>
        <p:spPr>
          <a:xfrm>
            <a:off x="5402789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74" name="Google Shape;1974;p21"/>
          <p:cNvCxnSpPr/>
          <p:nvPr/>
        </p:nvCxnSpPr>
        <p:spPr>
          <a:xfrm>
            <a:off x="6044267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75" name="Google Shape;1975;p21"/>
          <p:cNvCxnSpPr/>
          <p:nvPr/>
        </p:nvCxnSpPr>
        <p:spPr>
          <a:xfrm>
            <a:off x="6665053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76" name="Google Shape;1976;p21"/>
          <p:cNvCxnSpPr/>
          <p:nvPr/>
        </p:nvCxnSpPr>
        <p:spPr>
          <a:xfrm>
            <a:off x="7306531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77" name="Google Shape;1977;p21"/>
          <p:cNvCxnSpPr/>
          <p:nvPr/>
        </p:nvCxnSpPr>
        <p:spPr>
          <a:xfrm>
            <a:off x="7948009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78" name="Google Shape;1978;p21"/>
          <p:cNvCxnSpPr/>
          <p:nvPr/>
        </p:nvCxnSpPr>
        <p:spPr>
          <a:xfrm>
            <a:off x="8527409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79" name="Google Shape;1979;p21"/>
          <p:cNvCxnSpPr/>
          <p:nvPr/>
        </p:nvCxnSpPr>
        <p:spPr>
          <a:xfrm>
            <a:off x="9168887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80" name="Google Shape;1980;p21"/>
          <p:cNvCxnSpPr/>
          <p:nvPr/>
        </p:nvCxnSpPr>
        <p:spPr>
          <a:xfrm>
            <a:off x="9789672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81" name="Google Shape;1981;p21"/>
          <p:cNvCxnSpPr/>
          <p:nvPr/>
        </p:nvCxnSpPr>
        <p:spPr>
          <a:xfrm>
            <a:off x="10431150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82" name="Google Shape;1982;p21"/>
          <p:cNvCxnSpPr/>
          <p:nvPr/>
        </p:nvCxnSpPr>
        <p:spPr>
          <a:xfrm>
            <a:off x="11051936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83" name="Google Shape;1983;p21"/>
          <p:cNvCxnSpPr/>
          <p:nvPr/>
        </p:nvCxnSpPr>
        <p:spPr>
          <a:xfrm>
            <a:off x="11693414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84" name="Google Shape;1984;p21"/>
          <p:cNvCxnSpPr/>
          <p:nvPr/>
        </p:nvCxnSpPr>
        <p:spPr>
          <a:xfrm>
            <a:off x="5423482" y="6562344"/>
            <a:ext cx="0" cy="237744"/>
          </a:xfrm>
          <a:prstGeom prst="straightConnector1">
            <a:avLst/>
          </a:prstGeom>
          <a:noFill/>
          <a:ln cap="flat" cmpd="sng" w="19050">
            <a:solidFill>
              <a:srgbClr val="B3261E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89" name="Shape 1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0" name="Google Shape;1990;p22"/>
          <p:cNvSpPr txBox="1"/>
          <p:nvPr/>
        </p:nvSpPr>
        <p:spPr>
          <a:xfrm>
            <a:off x="457200" y="320040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1200"/>
              <a:buFont typeface="Calibri"/>
              <a:buNone/>
            </a:pPr>
            <a:r>
              <a:rPr b="1" i="0" lang="es-CO" sz="1200" u="none" cap="none" strike="noStrike">
                <a:solidFill>
                  <a:srgbClr val="2E7D4F"/>
                </a:solidFill>
                <a:latin typeface="Poppins"/>
                <a:ea typeface="Poppins"/>
                <a:cs typeface="Poppins"/>
                <a:sym typeface="Poppins"/>
              </a:rPr>
              <a:t>INFORME DE VARIACIÓN DE ALCANCES  ·  LOTE 3 – SUBREGIÓN URABÁ</a:t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91" name="Google Shape;1991;p22"/>
          <p:cNvSpPr txBox="1"/>
          <p:nvPr/>
        </p:nvSpPr>
        <p:spPr>
          <a:xfrm>
            <a:off x="457200" y="594360"/>
            <a:ext cx="9692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2800"/>
              <a:buFont typeface="Calibri"/>
              <a:buNone/>
            </a:pPr>
            <a:r>
              <a:rPr b="1" i="0" lang="es-CO" sz="28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El Tres – San Pedro de Urabá</a:t>
            </a:r>
            <a:endParaRPr b="0" i="0" sz="2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descr="logo.png" id="1992" name="Google Shape;199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78440" y="320040"/>
            <a:ext cx="1371600" cy="676656"/>
          </a:xfrm>
          <a:prstGeom prst="rect">
            <a:avLst/>
          </a:prstGeom>
          <a:noFill/>
          <a:ln>
            <a:noFill/>
          </a:ln>
        </p:spPr>
      </p:pic>
      <p:sp>
        <p:nvSpPr>
          <p:cNvPr id="1993" name="Google Shape;1993;p22"/>
          <p:cNvSpPr/>
          <p:nvPr/>
        </p:nvSpPr>
        <p:spPr>
          <a:xfrm>
            <a:off x="457200" y="132588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4" name="Google Shape;1994;p22"/>
          <p:cNvSpPr txBox="1"/>
          <p:nvPr/>
        </p:nvSpPr>
        <p:spPr>
          <a:xfrm>
            <a:off x="594360" y="1417320"/>
            <a:ext cx="183483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100"/>
              <a:buFont typeface="Calibri"/>
              <a:buNone/>
            </a:pPr>
            <a:r>
              <a:rPr b="0" i="0" lang="es-CO" sz="11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Longitud contractual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5" name="Google Shape;1995;p22"/>
          <p:cNvSpPr txBox="1"/>
          <p:nvPr/>
        </p:nvSpPr>
        <p:spPr>
          <a:xfrm>
            <a:off x="594360" y="1691640"/>
            <a:ext cx="183483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700"/>
              <a:buFont typeface="Calibri"/>
              <a:buNone/>
            </a:pPr>
            <a:r>
              <a:rPr b="1" i="0" lang="es-CO" sz="17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22,00 km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6" name="Google Shape;1996;p22"/>
          <p:cNvSpPr/>
          <p:nvPr/>
        </p:nvSpPr>
        <p:spPr>
          <a:xfrm>
            <a:off x="2749235" y="132588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7" name="Google Shape;1997;p22"/>
          <p:cNvSpPr txBox="1"/>
          <p:nvPr/>
        </p:nvSpPr>
        <p:spPr>
          <a:xfrm>
            <a:off x="2886395" y="1417320"/>
            <a:ext cx="183483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100"/>
              <a:buFont typeface="Calibri"/>
              <a:buNone/>
            </a:pPr>
            <a:r>
              <a:rPr b="0" i="0" lang="es-CO" sz="11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Longitud probable a cubrir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8" name="Google Shape;1998;p22"/>
          <p:cNvSpPr txBox="1"/>
          <p:nvPr/>
        </p:nvSpPr>
        <p:spPr>
          <a:xfrm>
            <a:off x="2886395" y="1691640"/>
            <a:ext cx="183483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700"/>
              <a:buFont typeface="Calibri"/>
              <a:buNone/>
            </a:pPr>
            <a:r>
              <a:rPr b="1" i="0" lang="es-CO" sz="17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15,00 km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9" name="Google Shape;1999;p22"/>
          <p:cNvSpPr/>
          <p:nvPr/>
        </p:nvSpPr>
        <p:spPr>
          <a:xfrm>
            <a:off x="5041270" y="132588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0" name="Google Shape;2000;p22"/>
          <p:cNvSpPr txBox="1"/>
          <p:nvPr/>
        </p:nvSpPr>
        <p:spPr>
          <a:xfrm>
            <a:off x="5178430" y="1417320"/>
            <a:ext cx="183483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100"/>
              <a:buFont typeface="Calibri"/>
              <a:buNone/>
            </a:pPr>
            <a:r>
              <a:rPr b="0" i="0" lang="es-CO" sz="11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Valor por km contractual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1" name="Google Shape;2001;p22"/>
          <p:cNvSpPr txBox="1"/>
          <p:nvPr/>
        </p:nvSpPr>
        <p:spPr>
          <a:xfrm>
            <a:off x="5178430" y="1691640"/>
            <a:ext cx="183483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700"/>
              <a:buFont typeface="Calibri"/>
              <a:buNone/>
            </a:pPr>
            <a:r>
              <a:rPr b="1" i="0" lang="es-CO" sz="17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$ 895.708.891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2" name="Google Shape;2002;p22"/>
          <p:cNvSpPr/>
          <p:nvPr/>
        </p:nvSpPr>
        <p:spPr>
          <a:xfrm>
            <a:off x="7333305" y="132588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3" name="Google Shape;2003;p22"/>
          <p:cNvSpPr txBox="1"/>
          <p:nvPr/>
        </p:nvSpPr>
        <p:spPr>
          <a:xfrm>
            <a:off x="7470465" y="1417320"/>
            <a:ext cx="183483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100"/>
              <a:buFont typeface="Calibri"/>
              <a:buNone/>
            </a:pPr>
            <a:r>
              <a:rPr b="0" i="0" lang="es-CO" sz="11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Valor por km proyectado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4" name="Google Shape;2004;p22"/>
          <p:cNvSpPr txBox="1"/>
          <p:nvPr/>
        </p:nvSpPr>
        <p:spPr>
          <a:xfrm>
            <a:off x="7470465" y="1691640"/>
            <a:ext cx="183483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700"/>
              <a:buFont typeface="Calibri"/>
              <a:buNone/>
            </a:pPr>
            <a:r>
              <a:rPr b="1" i="0" lang="es-CO" sz="17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$ 1.313.706.373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5" name="Google Shape;2005;p22"/>
          <p:cNvSpPr/>
          <p:nvPr/>
        </p:nvSpPr>
        <p:spPr>
          <a:xfrm>
            <a:off x="9625340" y="132588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FBEAEA"/>
          </a:solidFill>
          <a:ln cap="flat" cmpd="sng" w="12700">
            <a:solidFill>
              <a:srgbClr val="FBEA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6" name="Google Shape;2006;p22"/>
          <p:cNvSpPr txBox="1"/>
          <p:nvPr/>
        </p:nvSpPr>
        <p:spPr>
          <a:xfrm>
            <a:off x="9762500" y="1417320"/>
            <a:ext cx="183483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100"/>
              <a:buFont typeface="Calibri"/>
              <a:buNone/>
            </a:pPr>
            <a:r>
              <a:rPr b="0" i="0" lang="es-CO" sz="11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Variación total (valor adicional)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7" name="Google Shape;2007;p22"/>
          <p:cNvSpPr txBox="1"/>
          <p:nvPr/>
        </p:nvSpPr>
        <p:spPr>
          <a:xfrm>
            <a:off x="9762500" y="1691640"/>
            <a:ext cx="183483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261E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B3261E"/>
                </a:solidFill>
                <a:latin typeface="Arial"/>
                <a:ea typeface="Arial"/>
                <a:cs typeface="Arial"/>
                <a:sym typeface="Arial"/>
              </a:rPr>
              <a:t>▲ </a:t>
            </a:r>
            <a:r>
              <a:rPr b="1" i="0" lang="es-CO" sz="1500" u="none" cap="none" strike="noStrike">
                <a:solidFill>
                  <a:srgbClr val="B3261E"/>
                </a:solidFill>
                <a:latin typeface="Calibri"/>
                <a:ea typeface="Calibri"/>
                <a:cs typeface="Calibri"/>
                <a:sym typeface="Calibri"/>
              </a:rPr>
              <a:t>$ 9.195.944.613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8" name="Google Shape;2008;p22"/>
          <p:cNvSpPr/>
          <p:nvPr/>
        </p:nvSpPr>
        <p:spPr>
          <a:xfrm>
            <a:off x="457200" y="2423160"/>
            <a:ext cx="3154680" cy="4114800"/>
          </a:xfrm>
          <a:prstGeom prst="roundRect">
            <a:avLst>
              <a:gd fmla="val 1739" name="adj"/>
            </a:avLst>
          </a:prstGeom>
          <a:solidFill>
            <a:srgbClr val="FFFFFF"/>
          </a:solidFill>
          <a:ln cap="flat" cmpd="sng" w="12700">
            <a:solidFill>
              <a:srgbClr val="D5DD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9" name="Google Shape;2009;p22"/>
          <p:cNvSpPr txBox="1"/>
          <p:nvPr/>
        </p:nvSpPr>
        <p:spPr>
          <a:xfrm>
            <a:off x="640080" y="2560320"/>
            <a:ext cx="2788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1100"/>
              <a:buFont typeface="Calibri"/>
              <a:buNone/>
            </a:pPr>
            <a:r>
              <a:rPr b="1" i="0" lang="es-CO" sz="11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ESTRUCTURA DE PAVIMENTO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0" name="Google Shape;2010;p22"/>
          <p:cNvSpPr txBox="1"/>
          <p:nvPr/>
        </p:nvSpPr>
        <p:spPr>
          <a:xfrm>
            <a:off x="640080" y="2816352"/>
            <a:ext cx="2788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1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El Tres – San Pedro de Urabá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1" name="Google Shape;2011;p22"/>
          <p:cNvSpPr txBox="1"/>
          <p:nvPr/>
        </p:nvSpPr>
        <p:spPr>
          <a:xfrm>
            <a:off x="640080" y="3172968"/>
            <a:ext cx="2788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LOTE 3 · Longitud: 22.000 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Tránsito – Estructuración: </a:t>
            </a: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169.000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Tránsito – Diseño: </a:t>
            </a: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1.913.507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2" name="Google Shape;2012;p22"/>
          <p:cNvSpPr txBox="1"/>
          <p:nvPr/>
        </p:nvSpPr>
        <p:spPr>
          <a:xfrm>
            <a:off x="457200" y="3794760"/>
            <a:ext cx="3154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1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Estructura de diseño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3" name="Google Shape;2013;p22"/>
          <p:cNvSpPr/>
          <p:nvPr/>
        </p:nvSpPr>
        <p:spPr>
          <a:xfrm>
            <a:off x="1348740" y="4087368"/>
            <a:ext cx="960120" cy="182880"/>
          </a:xfrm>
          <a:prstGeom prst="rect">
            <a:avLst/>
          </a:prstGeom>
          <a:solidFill>
            <a:srgbClr val="1F2A36"/>
          </a:solidFill>
          <a:ln cap="flat" cmpd="sng" w="12700">
            <a:solidFill>
              <a:srgbClr val="1F2A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4" name="Google Shape;2014;p22"/>
          <p:cNvSpPr txBox="1"/>
          <p:nvPr/>
        </p:nvSpPr>
        <p:spPr>
          <a:xfrm>
            <a:off x="1348740" y="4087368"/>
            <a:ext cx="9601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s-CO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TSD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5" name="Google Shape;2015;p22"/>
          <p:cNvSpPr/>
          <p:nvPr/>
        </p:nvSpPr>
        <p:spPr>
          <a:xfrm>
            <a:off x="1348740" y="4270248"/>
            <a:ext cx="960120" cy="1040081"/>
          </a:xfrm>
          <a:prstGeom prst="rect">
            <a:avLst/>
          </a:prstGeom>
          <a:solidFill>
            <a:srgbClr val="D9A44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6" name="Google Shape;2016;p22"/>
          <p:cNvSpPr txBox="1"/>
          <p:nvPr/>
        </p:nvSpPr>
        <p:spPr>
          <a:xfrm>
            <a:off x="1348740" y="4270248"/>
            <a:ext cx="960120" cy="34863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800"/>
              <a:buFont typeface="Calibri"/>
              <a:buNone/>
            </a:pPr>
            <a:r>
              <a:rPr b="1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MGTC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7" name="Google Shape;2017;p22"/>
          <p:cNvSpPr/>
          <p:nvPr/>
        </p:nvSpPr>
        <p:spPr>
          <a:xfrm>
            <a:off x="1412748" y="4618887"/>
            <a:ext cx="832104" cy="654866"/>
          </a:xfrm>
          <a:prstGeom prst="rect">
            <a:avLst/>
          </a:prstGeom>
          <a:solidFill>
            <a:srgbClr val="F2D58E"/>
          </a:solidFill>
          <a:ln cap="flat" cmpd="sng" w="9525">
            <a:solidFill>
              <a:srgbClr val="A87B1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8" name="Google Shape;2018;p22"/>
          <p:cNvSpPr txBox="1"/>
          <p:nvPr/>
        </p:nvSpPr>
        <p:spPr>
          <a:xfrm>
            <a:off x="1412748" y="4618887"/>
            <a:ext cx="832104" cy="654866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800"/>
              <a:buFont typeface="Calibri"/>
              <a:buNone/>
            </a:pPr>
            <a:r>
              <a:rPr b="0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Subbase 17 cm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9" name="Google Shape;2019;p22"/>
          <p:cNvSpPr txBox="1"/>
          <p:nvPr/>
        </p:nvSpPr>
        <p:spPr>
          <a:xfrm>
            <a:off x="2363724" y="4270248"/>
            <a:ext cx="457200" cy="104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27 cm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0" name="Google Shape;2020;p22"/>
          <p:cNvSpPr/>
          <p:nvPr/>
        </p:nvSpPr>
        <p:spPr>
          <a:xfrm>
            <a:off x="1348740" y="5310329"/>
            <a:ext cx="960120" cy="770431"/>
          </a:xfrm>
          <a:prstGeom prst="rect">
            <a:avLst/>
          </a:prstGeom>
          <a:solidFill>
            <a:srgbClr val="8C6A4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1" name="Google Shape;2021;p22"/>
          <p:cNvSpPr txBox="1"/>
          <p:nvPr/>
        </p:nvSpPr>
        <p:spPr>
          <a:xfrm>
            <a:off x="1348740" y="5310329"/>
            <a:ext cx="960120" cy="77043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s-CO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Subrasante estabilizada con cal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2" name="Google Shape;2022;p22"/>
          <p:cNvSpPr txBox="1"/>
          <p:nvPr/>
        </p:nvSpPr>
        <p:spPr>
          <a:xfrm>
            <a:off x="2363724" y="5310329"/>
            <a:ext cx="457200" cy="77043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20 cm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23" name="Google Shape;2023;p22"/>
          <p:cNvCxnSpPr/>
          <p:nvPr/>
        </p:nvCxnSpPr>
        <p:spPr>
          <a:xfrm>
            <a:off x="1257300" y="6080760"/>
            <a:ext cx="1143000" cy="0"/>
          </a:xfrm>
          <a:prstGeom prst="straightConnector1">
            <a:avLst/>
          </a:prstGeom>
          <a:noFill/>
          <a:ln cap="flat" cmpd="sng" w="12700">
            <a:solidFill>
              <a:srgbClr val="1D2B2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24" name="Google Shape;2024;p22"/>
          <p:cNvSpPr txBox="1"/>
          <p:nvPr/>
        </p:nvSpPr>
        <p:spPr>
          <a:xfrm>
            <a:off x="457200" y="6153912"/>
            <a:ext cx="31546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Espesor total: </a:t>
            </a:r>
            <a:r>
              <a:rPr b="1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47 cm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25" name="Google Shape;2025;p22"/>
          <p:cNvGraphicFramePr/>
          <p:nvPr/>
        </p:nvGraphicFramePr>
        <p:xfrm>
          <a:off x="3840480" y="24231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{2219430B-40B1-4F13-8D99-EA5D7966678A}</a:tableStyleId>
              </a:tblPr>
              <a:tblGrid>
                <a:gridCol w="2395725"/>
                <a:gridCol w="1097275"/>
                <a:gridCol w="603500"/>
                <a:gridCol w="1097275"/>
                <a:gridCol w="603500"/>
                <a:gridCol w="237750"/>
                <a:gridCol w="1097275"/>
                <a:gridCol w="758950"/>
              </a:tblGrid>
              <a:tr h="438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Grupo – actividad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Valor contractual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 sobre corredor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Valor proyectado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 sobre corredor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Variación (valor adicional)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 de variación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Construcción alcantarilla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$ 1.120.622.449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5,69%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$ 1.973.045.202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6,83%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>
                          <a:solidFill>
                            <a:srgbClr val="B32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▲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$ 852.422.753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76,1 %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Construcción cuneta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$ 3.371.580.468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17,11%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$ 3.669.417.424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12,70%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>
                          <a:solidFill>
                            <a:srgbClr val="B32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▲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$ 297.836.956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8,8 %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Construcción filtro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$ 3.895.544.224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19,77%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$ 2.897.470.380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10,03%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>
                          <a:solidFill>
                            <a:srgbClr val="0B5D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▼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0B5D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–$ 998.073.844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0B5D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–25,6 %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Construcción bordillos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$ 496.986.512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2,52%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$ 18.233.777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0,06%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>
                          <a:solidFill>
                            <a:srgbClr val="0B5D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▼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0B5D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–$ 478.752.735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0B5D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–96,3 %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Construcción disipadores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$ 140.609.126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0,71%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$ 220.479.051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0,76%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>
                          <a:solidFill>
                            <a:srgbClr val="B32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▲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$ 79.869.925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56,8 %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Estabilización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$ 10.380.219.677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52,68%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$ 19.822.861.235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68,59%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B32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▲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$ 9.442.641.558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91,0 %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Señalización vial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$ 300.033.140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1,52%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$ 300.033.140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1,04%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0,0 %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CORREDOR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$ 19.705.595.596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100%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$ 28.901.540.209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100%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B32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▲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+$ 9.195.944.613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46,7 %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</a:tr>
            </a:tbl>
          </a:graphicData>
        </a:graphic>
      </p:graphicFrame>
      <p:sp>
        <p:nvSpPr>
          <p:cNvPr id="2026" name="Google Shape;2026;p22"/>
          <p:cNvSpPr txBox="1"/>
          <p:nvPr/>
        </p:nvSpPr>
        <p:spPr>
          <a:xfrm>
            <a:off x="3840480" y="5413248"/>
            <a:ext cx="78912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261E"/>
              </a:buClr>
              <a:buSzPts val="900"/>
              <a:buFont typeface="Arial"/>
              <a:buNone/>
            </a:pPr>
            <a:r>
              <a:rPr b="0" i="0" lang="es-CO" sz="900" u="none" cap="none" strike="noStrike">
                <a:solidFill>
                  <a:srgbClr val="B3261E"/>
                </a:solidFill>
                <a:latin typeface="Arial"/>
                <a:ea typeface="Arial"/>
                <a:cs typeface="Arial"/>
                <a:sym typeface="Arial"/>
              </a:rPr>
              <a:t>▲</a:t>
            </a: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 Se requiere mayor valor     </a:t>
            </a:r>
            <a:r>
              <a:rPr b="0" i="0" lang="es-CO" sz="900" u="none" cap="none" strike="noStrike">
                <a:solidFill>
                  <a:srgbClr val="0B5D2E"/>
                </a:solidFill>
                <a:latin typeface="Arial"/>
                <a:ea typeface="Arial"/>
                <a:cs typeface="Arial"/>
                <a:sym typeface="Arial"/>
              </a:rPr>
              <a:t>▼</a:t>
            </a: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 Sobra valor     % de variación = (valor proyectado – valor contractual) / valor contractual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7" name="Google Shape;2027;p22"/>
          <p:cNvSpPr/>
          <p:nvPr/>
        </p:nvSpPr>
        <p:spPr>
          <a:xfrm>
            <a:off x="3840480" y="5687568"/>
            <a:ext cx="7891272" cy="850392"/>
          </a:xfrm>
          <a:prstGeom prst="roundRect">
            <a:avLst>
              <a:gd fmla="val 6452" name="adj"/>
            </a:avLst>
          </a:prstGeom>
          <a:solidFill>
            <a:srgbClr val="FFFFFF"/>
          </a:solidFill>
          <a:ln cap="flat" cmpd="sng" w="12700">
            <a:solidFill>
              <a:srgbClr val="9AA7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00" lIns="1000" spcFirstLastPara="1" rIns="1500" wrap="square" tIns="15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100"/>
              <a:buFont typeface="Calibri"/>
              <a:buNone/>
            </a:pPr>
            <a:r>
              <a:rPr b="1" i="0" lang="es-CO" sz="11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Notas: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2" name="Shape 2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3" name="Google Shape;2033;p23"/>
          <p:cNvSpPr txBox="1"/>
          <p:nvPr/>
        </p:nvSpPr>
        <p:spPr>
          <a:xfrm>
            <a:off x="457200" y="320040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1200"/>
              <a:buFont typeface="Calibri"/>
              <a:buNone/>
            </a:pPr>
            <a:r>
              <a:rPr b="1" i="0" lang="es-CO" sz="1200" u="none" cap="none" strike="noStrike">
                <a:solidFill>
                  <a:srgbClr val="2E7D4F"/>
                </a:solidFill>
                <a:latin typeface="Poppins"/>
                <a:ea typeface="Poppins"/>
                <a:cs typeface="Poppins"/>
                <a:sym typeface="Poppins"/>
              </a:rPr>
              <a:t>INFORME DE EJECUCIÓN  ·  LOTE 3 – SUBREGIÓN URABÁ</a:t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34" name="Google Shape;2034;p23"/>
          <p:cNvSpPr txBox="1"/>
          <p:nvPr/>
        </p:nvSpPr>
        <p:spPr>
          <a:xfrm>
            <a:off x="457200" y="594360"/>
            <a:ext cx="9692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2800"/>
              <a:buFont typeface="Calibri"/>
              <a:buNone/>
            </a:pPr>
            <a:r>
              <a:rPr b="1" i="0" lang="es-CO" sz="28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El Tres – San Pedro de Urabá</a:t>
            </a:r>
            <a:endParaRPr b="0" i="0" sz="2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descr="logo.png" id="2035" name="Google Shape;203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78440" y="320040"/>
            <a:ext cx="1371600" cy="676656"/>
          </a:xfrm>
          <a:prstGeom prst="rect">
            <a:avLst/>
          </a:prstGeom>
          <a:noFill/>
          <a:ln>
            <a:noFill/>
          </a:ln>
        </p:spPr>
      </p:pic>
      <p:sp>
        <p:nvSpPr>
          <p:cNvPr id="2036" name="Google Shape;2036;p23"/>
          <p:cNvSpPr/>
          <p:nvPr/>
        </p:nvSpPr>
        <p:spPr>
          <a:xfrm>
            <a:off x="457200" y="1234440"/>
            <a:ext cx="1765249" cy="658368"/>
          </a:xfrm>
          <a:prstGeom prst="roundRect">
            <a:avLst>
              <a:gd fmla="val 1111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7" name="Google Shape;2037;p23"/>
          <p:cNvSpPr txBox="1"/>
          <p:nvPr/>
        </p:nvSpPr>
        <p:spPr>
          <a:xfrm>
            <a:off x="566928" y="1289304"/>
            <a:ext cx="154579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50"/>
              <a:buFont typeface="Calibri"/>
              <a:buNone/>
            </a:pPr>
            <a:r>
              <a:rPr b="0" i="0" lang="es-CO" sz="9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Longitud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8" name="Google Shape;2038;p23"/>
          <p:cNvSpPr txBox="1"/>
          <p:nvPr/>
        </p:nvSpPr>
        <p:spPr>
          <a:xfrm>
            <a:off x="566928" y="1453896"/>
            <a:ext cx="154579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22,00 km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9" name="Google Shape;2039;p23"/>
          <p:cNvSpPr txBox="1"/>
          <p:nvPr/>
        </p:nvSpPr>
        <p:spPr>
          <a:xfrm>
            <a:off x="566928" y="1700784"/>
            <a:ext cx="1545793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00"/>
              <a:buFont typeface="Calibri"/>
              <a:buNone/>
            </a:pP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Alcance real 15,00 km · dif. 7,00 km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0" name="Google Shape;2040;p23"/>
          <p:cNvSpPr/>
          <p:nvPr/>
        </p:nvSpPr>
        <p:spPr>
          <a:xfrm>
            <a:off x="2359609" y="1234440"/>
            <a:ext cx="1765249" cy="658368"/>
          </a:xfrm>
          <a:prstGeom prst="roundRect">
            <a:avLst>
              <a:gd fmla="val 1111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1" name="Google Shape;2041;p23"/>
          <p:cNvSpPr txBox="1"/>
          <p:nvPr/>
        </p:nvSpPr>
        <p:spPr>
          <a:xfrm>
            <a:off x="2469337" y="1289304"/>
            <a:ext cx="154579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50"/>
              <a:buFont typeface="Calibri"/>
              <a:buNone/>
            </a:pPr>
            <a:r>
              <a:rPr b="0" i="0" lang="es-CO" sz="9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Valor total del corredor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2" name="Google Shape;2042;p23"/>
          <p:cNvSpPr txBox="1"/>
          <p:nvPr/>
        </p:nvSpPr>
        <p:spPr>
          <a:xfrm>
            <a:off x="2469337" y="1453896"/>
            <a:ext cx="154579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$ 19.705.595.508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3" name="Google Shape;2043;p23"/>
          <p:cNvSpPr txBox="1"/>
          <p:nvPr/>
        </p:nvSpPr>
        <p:spPr>
          <a:xfrm>
            <a:off x="2469337" y="1700784"/>
            <a:ext cx="1545793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00"/>
              <a:buFont typeface="Calibri"/>
              <a:buNone/>
            </a:pP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$ 895.708.887 por km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4" name="Google Shape;2044;p23"/>
          <p:cNvSpPr/>
          <p:nvPr/>
        </p:nvSpPr>
        <p:spPr>
          <a:xfrm>
            <a:off x="4262018" y="1234440"/>
            <a:ext cx="1765249" cy="658368"/>
          </a:xfrm>
          <a:prstGeom prst="roundRect">
            <a:avLst>
              <a:gd fmla="val 11111" name="adj"/>
            </a:avLst>
          </a:prstGeom>
          <a:solidFill>
            <a:srgbClr val="FBEAEA"/>
          </a:solidFill>
          <a:ln cap="flat" cmpd="sng" w="12700">
            <a:solidFill>
              <a:srgbClr val="FBEA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5" name="Google Shape;2045;p23"/>
          <p:cNvSpPr txBox="1"/>
          <p:nvPr/>
        </p:nvSpPr>
        <p:spPr>
          <a:xfrm>
            <a:off x="4371746" y="1289304"/>
            <a:ext cx="154579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50"/>
              <a:buFont typeface="Calibri"/>
              <a:buNone/>
            </a:pPr>
            <a:r>
              <a:rPr b="0" i="0" lang="es-CO" sz="9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Avance físico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6" name="Google Shape;2046;p23"/>
          <p:cNvSpPr txBox="1"/>
          <p:nvPr/>
        </p:nvSpPr>
        <p:spPr>
          <a:xfrm>
            <a:off x="4371746" y="1453896"/>
            <a:ext cx="154579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261E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B3261E"/>
                </a:solidFill>
                <a:latin typeface="Calibri"/>
                <a:ea typeface="Calibri"/>
                <a:cs typeface="Calibri"/>
                <a:sym typeface="Calibri"/>
              </a:rPr>
              <a:t>1,82 %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7" name="Google Shape;2047;p23"/>
          <p:cNvSpPr txBox="1"/>
          <p:nvPr/>
        </p:nvSpPr>
        <p:spPr>
          <a:xfrm>
            <a:off x="4371746" y="1700784"/>
            <a:ext cx="1545793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00"/>
              <a:buFont typeface="Calibri"/>
              <a:buNone/>
            </a:pP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Frente a 44,0 % del plazo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8" name="Google Shape;2048;p23"/>
          <p:cNvSpPr/>
          <p:nvPr/>
        </p:nvSpPr>
        <p:spPr>
          <a:xfrm>
            <a:off x="6164428" y="1234440"/>
            <a:ext cx="1765249" cy="658368"/>
          </a:xfrm>
          <a:prstGeom prst="roundRect">
            <a:avLst>
              <a:gd fmla="val 1111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9" name="Google Shape;2049;p23"/>
          <p:cNvSpPr txBox="1"/>
          <p:nvPr/>
        </p:nvSpPr>
        <p:spPr>
          <a:xfrm>
            <a:off x="6274156" y="1289304"/>
            <a:ext cx="154579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50"/>
              <a:buFont typeface="Calibri"/>
              <a:buNone/>
            </a:pPr>
            <a:r>
              <a:rPr b="0" i="0" lang="es-CO" sz="9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Avance financiero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0" name="Google Shape;2050;p23"/>
          <p:cNvSpPr txBox="1"/>
          <p:nvPr/>
        </p:nvSpPr>
        <p:spPr>
          <a:xfrm>
            <a:off x="6274156" y="1453896"/>
            <a:ext cx="154579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5,04 %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1" name="Google Shape;2051;p23"/>
          <p:cNvSpPr/>
          <p:nvPr/>
        </p:nvSpPr>
        <p:spPr>
          <a:xfrm>
            <a:off x="8066837" y="1234440"/>
            <a:ext cx="1765249" cy="658368"/>
          </a:xfrm>
          <a:prstGeom prst="roundRect">
            <a:avLst>
              <a:gd fmla="val 1111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2" name="Google Shape;2052;p23"/>
          <p:cNvSpPr txBox="1"/>
          <p:nvPr/>
        </p:nvSpPr>
        <p:spPr>
          <a:xfrm>
            <a:off x="8176565" y="1289304"/>
            <a:ext cx="154579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50"/>
              <a:buFont typeface="Calibri"/>
              <a:buNone/>
            </a:pPr>
            <a:r>
              <a:rPr b="0" i="0" lang="es-CO" sz="9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Plazo transcurrido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3" name="Google Shape;2053;p23"/>
          <p:cNvSpPr txBox="1"/>
          <p:nvPr/>
        </p:nvSpPr>
        <p:spPr>
          <a:xfrm>
            <a:off x="8176565" y="1453896"/>
            <a:ext cx="154579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44,0 %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4" name="Google Shape;2054;p23"/>
          <p:cNvSpPr txBox="1"/>
          <p:nvPr/>
        </p:nvSpPr>
        <p:spPr>
          <a:xfrm>
            <a:off x="8176565" y="1700784"/>
            <a:ext cx="1545793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00"/>
              <a:buFont typeface="Calibri"/>
              <a:buNone/>
            </a:pP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7,9 de 18 meses (al 02/10/2026)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5" name="Google Shape;2055;p23"/>
          <p:cNvSpPr/>
          <p:nvPr/>
        </p:nvSpPr>
        <p:spPr>
          <a:xfrm>
            <a:off x="9969246" y="1234440"/>
            <a:ext cx="1765249" cy="658368"/>
          </a:xfrm>
          <a:prstGeom prst="roundRect">
            <a:avLst>
              <a:gd fmla="val 1111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6" name="Google Shape;2056;p23"/>
          <p:cNvSpPr txBox="1"/>
          <p:nvPr/>
        </p:nvSpPr>
        <p:spPr>
          <a:xfrm>
            <a:off x="10078974" y="1289304"/>
            <a:ext cx="1545793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Inicio: </a:t>
            </a: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04/02/2026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Terminación: </a:t>
            </a: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03/08/2027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Corte: </a:t>
            </a: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25/09/2026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7" name="Google Shape;2057;p23"/>
          <p:cNvSpPr txBox="1"/>
          <p:nvPr/>
        </p:nvSpPr>
        <p:spPr>
          <a:xfrm>
            <a:off x="457200" y="1956816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1000"/>
              <a:buFont typeface="Calibri"/>
              <a:buNone/>
            </a:pPr>
            <a:r>
              <a:rPr b="1" i="0" lang="es-CO" sz="10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AVANCE POR ABSCISA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58" name="Google Shape;2058;p23"/>
          <p:cNvCxnSpPr/>
          <p:nvPr/>
        </p:nvCxnSpPr>
        <p:spPr>
          <a:xfrm>
            <a:off x="2103120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59" name="Google Shape;2059;p23"/>
          <p:cNvCxnSpPr/>
          <p:nvPr/>
        </p:nvCxnSpPr>
        <p:spPr>
          <a:xfrm>
            <a:off x="2377440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60" name="Google Shape;2060;p23"/>
          <p:cNvCxnSpPr/>
          <p:nvPr/>
        </p:nvCxnSpPr>
        <p:spPr>
          <a:xfrm>
            <a:off x="2651760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61" name="Google Shape;2061;p23"/>
          <p:cNvCxnSpPr/>
          <p:nvPr/>
        </p:nvCxnSpPr>
        <p:spPr>
          <a:xfrm>
            <a:off x="2926080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62" name="Google Shape;2062;p23"/>
          <p:cNvCxnSpPr/>
          <p:nvPr/>
        </p:nvCxnSpPr>
        <p:spPr>
          <a:xfrm>
            <a:off x="3200400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63" name="Google Shape;2063;p23"/>
          <p:cNvCxnSpPr/>
          <p:nvPr/>
        </p:nvCxnSpPr>
        <p:spPr>
          <a:xfrm>
            <a:off x="3474720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64" name="Google Shape;2064;p23"/>
          <p:cNvCxnSpPr/>
          <p:nvPr/>
        </p:nvCxnSpPr>
        <p:spPr>
          <a:xfrm>
            <a:off x="3749040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65" name="Google Shape;2065;p23"/>
          <p:cNvCxnSpPr/>
          <p:nvPr/>
        </p:nvCxnSpPr>
        <p:spPr>
          <a:xfrm>
            <a:off x="4023360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66" name="Google Shape;2066;p23"/>
          <p:cNvCxnSpPr/>
          <p:nvPr/>
        </p:nvCxnSpPr>
        <p:spPr>
          <a:xfrm>
            <a:off x="4297680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67" name="Google Shape;2067;p23"/>
          <p:cNvCxnSpPr/>
          <p:nvPr/>
        </p:nvCxnSpPr>
        <p:spPr>
          <a:xfrm>
            <a:off x="4572000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68" name="Google Shape;2068;p23"/>
          <p:cNvCxnSpPr/>
          <p:nvPr/>
        </p:nvCxnSpPr>
        <p:spPr>
          <a:xfrm>
            <a:off x="4846320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69" name="Google Shape;2069;p23"/>
          <p:cNvCxnSpPr/>
          <p:nvPr/>
        </p:nvCxnSpPr>
        <p:spPr>
          <a:xfrm>
            <a:off x="5120640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70" name="Google Shape;2070;p23"/>
          <p:cNvCxnSpPr/>
          <p:nvPr/>
        </p:nvCxnSpPr>
        <p:spPr>
          <a:xfrm>
            <a:off x="5394960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71" name="Google Shape;2071;p23"/>
          <p:cNvCxnSpPr/>
          <p:nvPr/>
        </p:nvCxnSpPr>
        <p:spPr>
          <a:xfrm>
            <a:off x="5669280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72" name="Google Shape;2072;p23"/>
          <p:cNvCxnSpPr/>
          <p:nvPr/>
        </p:nvCxnSpPr>
        <p:spPr>
          <a:xfrm>
            <a:off x="5943600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73" name="Google Shape;2073;p23"/>
          <p:cNvCxnSpPr/>
          <p:nvPr/>
        </p:nvCxnSpPr>
        <p:spPr>
          <a:xfrm>
            <a:off x="6217920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74" name="Google Shape;2074;p23"/>
          <p:cNvCxnSpPr/>
          <p:nvPr/>
        </p:nvCxnSpPr>
        <p:spPr>
          <a:xfrm>
            <a:off x="6492240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75" name="Google Shape;2075;p23"/>
          <p:cNvCxnSpPr/>
          <p:nvPr/>
        </p:nvCxnSpPr>
        <p:spPr>
          <a:xfrm>
            <a:off x="6766560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76" name="Google Shape;2076;p23"/>
          <p:cNvCxnSpPr/>
          <p:nvPr/>
        </p:nvCxnSpPr>
        <p:spPr>
          <a:xfrm>
            <a:off x="7040880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77" name="Google Shape;2077;p23"/>
          <p:cNvCxnSpPr/>
          <p:nvPr/>
        </p:nvCxnSpPr>
        <p:spPr>
          <a:xfrm>
            <a:off x="7315200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78" name="Google Shape;2078;p23"/>
          <p:cNvCxnSpPr/>
          <p:nvPr/>
        </p:nvCxnSpPr>
        <p:spPr>
          <a:xfrm>
            <a:off x="7589520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79" name="Google Shape;2079;p23"/>
          <p:cNvCxnSpPr/>
          <p:nvPr/>
        </p:nvCxnSpPr>
        <p:spPr>
          <a:xfrm>
            <a:off x="7863840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80" name="Google Shape;2080;p23"/>
          <p:cNvCxnSpPr/>
          <p:nvPr/>
        </p:nvCxnSpPr>
        <p:spPr>
          <a:xfrm>
            <a:off x="8138160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81" name="Google Shape;2081;p23"/>
          <p:cNvCxnSpPr/>
          <p:nvPr/>
        </p:nvCxnSpPr>
        <p:spPr>
          <a:xfrm>
            <a:off x="8412480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82" name="Google Shape;2082;p23"/>
          <p:cNvCxnSpPr/>
          <p:nvPr/>
        </p:nvCxnSpPr>
        <p:spPr>
          <a:xfrm>
            <a:off x="8686800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83" name="Google Shape;2083;p23"/>
          <p:cNvCxnSpPr/>
          <p:nvPr/>
        </p:nvCxnSpPr>
        <p:spPr>
          <a:xfrm>
            <a:off x="8961120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84" name="Google Shape;2084;p23"/>
          <p:cNvCxnSpPr/>
          <p:nvPr/>
        </p:nvCxnSpPr>
        <p:spPr>
          <a:xfrm>
            <a:off x="9235440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85" name="Google Shape;2085;p23"/>
          <p:cNvCxnSpPr/>
          <p:nvPr/>
        </p:nvCxnSpPr>
        <p:spPr>
          <a:xfrm>
            <a:off x="9509760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86" name="Google Shape;2086;p23"/>
          <p:cNvCxnSpPr/>
          <p:nvPr/>
        </p:nvCxnSpPr>
        <p:spPr>
          <a:xfrm>
            <a:off x="9784080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87" name="Google Shape;2087;p23"/>
          <p:cNvCxnSpPr/>
          <p:nvPr/>
        </p:nvCxnSpPr>
        <p:spPr>
          <a:xfrm>
            <a:off x="10058400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88" name="Google Shape;2088;p23"/>
          <p:cNvCxnSpPr/>
          <p:nvPr/>
        </p:nvCxnSpPr>
        <p:spPr>
          <a:xfrm>
            <a:off x="10332720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89" name="Google Shape;2089;p23"/>
          <p:cNvCxnSpPr/>
          <p:nvPr/>
        </p:nvCxnSpPr>
        <p:spPr>
          <a:xfrm>
            <a:off x="10607040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90" name="Google Shape;2090;p23"/>
          <p:cNvCxnSpPr/>
          <p:nvPr/>
        </p:nvCxnSpPr>
        <p:spPr>
          <a:xfrm>
            <a:off x="10881360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91" name="Google Shape;2091;p23"/>
          <p:cNvCxnSpPr/>
          <p:nvPr/>
        </p:nvCxnSpPr>
        <p:spPr>
          <a:xfrm>
            <a:off x="11155680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92" name="Google Shape;2092;p23"/>
          <p:cNvSpPr txBox="1"/>
          <p:nvPr/>
        </p:nvSpPr>
        <p:spPr>
          <a:xfrm>
            <a:off x="1874520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3" name="Google Shape;2093;p23"/>
          <p:cNvSpPr txBox="1"/>
          <p:nvPr/>
        </p:nvSpPr>
        <p:spPr>
          <a:xfrm>
            <a:off x="3246120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4" name="Google Shape;2094;p23"/>
          <p:cNvSpPr txBox="1"/>
          <p:nvPr/>
        </p:nvSpPr>
        <p:spPr>
          <a:xfrm>
            <a:off x="4617720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K10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5" name="Google Shape;2095;p23"/>
          <p:cNvSpPr txBox="1"/>
          <p:nvPr/>
        </p:nvSpPr>
        <p:spPr>
          <a:xfrm>
            <a:off x="5989320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K15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6" name="Google Shape;2096;p23"/>
          <p:cNvSpPr txBox="1"/>
          <p:nvPr/>
        </p:nvSpPr>
        <p:spPr>
          <a:xfrm>
            <a:off x="7360920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K20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7" name="Google Shape;2097;p23"/>
          <p:cNvSpPr txBox="1"/>
          <p:nvPr/>
        </p:nvSpPr>
        <p:spPr>
          <a:xfrm>
            <a:off x="8732520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K25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8" name="Google Shape;2098;p23"/>
          <p:cNvSpPr txBox="1"/>
          <p:nvPr/>
        </p:nvSpPr>
        <p:spPr>
          <a:xfrm>
            <a:off x="10104120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K30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9" name="Google Shape;2099;p23"/>
          <p:cNvSpPr txBox="1"/>
          <p:nvPr/>
        </p:nvSpPr>
        <p:spPr>
          <a:xfrm>
            <a:off x="10835640" y="2139696"/>
            <a:ext cx="54864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K33+000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0" name="Google Shape;2100;p23"/>
          <p:cNvSpPr/>
          <p:nvPr/>
        </p:nvSpPr>
        <p:spPr>
          <a:xfrm>
            <a:off x="2103120" y="2359152"/>
            <a:ext cx="9052560" cy="73152"/>
          </a:xfrm>
          <a:prstGeom prst="rect">
            <a:avLst/>
          </a:prstGeom>
          <a:solidFill>
            <a:srgbClr val="1F2A36"/>
          </a:solidFill>
          <a:ln cap="flat" cmpd="sng" w="12700">
            <a:solidFill>
              <a:srgbClr val="1F2A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01" name="Google Shape;2101;p23"/>
          <p:cNvCxnSpPr/>
          <p:nvPr/>
        </p:nvCxnSpPr>
        <p:spPr>
          <a:xfrm>
            <a:off x="2139696" y="2395728"/>
            <a:ext cx="8979408" cy="0"/>
          </a:xfrm>
          <a:prstGeom prst="straightConnector1">
            <a:avLst/>
          </a:prstGeom>
          <a:noFill/>
          <a:ln cap="flat" cmpd="sng" w="9525">
            <a:solidFill>
              <a:srgbClr val="F2C94C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102" name="Google Shape;2102;p23"/>
          <p:cNvCxnSpPr/>
          <p:nvPr/>
        </p:nvCxnSpPr>
        <p:spPr>
          <a:xfrm>
            <a:off x="731520" y="2487168"/>
            <a:ext cx="0" cy="338328"/>
          </a:xfrm>
          <a:prstGeom prst="straightConnector1">
            <a:avLst/>
          </a:prstGeom>
          <a:noFill/>
          <a:ln cap="flat" cmpd="sng" w="19050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03" name="Google Shape;2103;p23"/>
          <p:cNvSpPr txBox="1"/>
          <p:nvPr/>
        </p:nvSpPr>
        <p:spPr>
          <a:xfrm rot="-5400000">
            <a:off x="260604" y="2574036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700"/>
              <a:buFont typeface="Calibri"/>
              <a:buNone/>
            </a:pPr>
            <a:r>
              <a:rPr b="1" i="0" lang="es-CO" sz="7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CAMPO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4" name="Google Shape;2104;p23"/>
          <p:cNvSpPr txBox="1"/>
          <p:nvPr/>
        </p:nvSpPr>
        <p:spPr>
          <a:xfrm>
            <a:off x="777240" y="2487168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Topografía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5" name="Google Shape;2105;p23"/>
          <p:cNvSpPr/>
          <p:nvPr/>
        </p:nvSpPr>
        <p:spPr>
          <a:xfrm>
            <a:off x="2103120" y="2487168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6" name="Google Shape;2106;p23"/>
          <p:cNvSpPr/>
          <p:nvPr/>
        </p:nvSpPr>
        <p:spPr>
          <a:xfrm>
            <a:off x="2103120" y="2487168"/>
            <a:ext cx="1645920" cy="155448"/>
          </a:xfrm>
          <a:prstGeom prst="rect">
            <a:avLst/>
          </a:prstGeom>
          <a:solidFill>
            <a:srgbClr val="2E7D4F"/>
          </a:solidFill>
          <a:ln cap="flat" cmpd="sng" w="9525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7" name="Google Shape;2107;p23"/>
          <p:cNvSpPr txBox="1"/>
          <p:nvPr/>
        </p:nvSpPr>
        <p:spPr>
          <a:xfrm>
            <a:off x="11201400" y="2487168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27 %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8" name="Google Shape;2108;p23"/>
          <p:cNvSpPr txBox="1"/>
          <p:nvPr/>
        </p:nvSpPr>
        <p:spPr>
          <a:xfrm>
            <a:off x="777240" y="2670048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Apiques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9" name="Google Shape;2109;p23"/>
          <p:cNvSpPr/>
          <p:nvPr/>
        </p:nvSpPr>
        <p:spPr>
          <a:xfrm>
            <a:off x="2103120" y="2670048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0" name="Google Shape;2110;p23"/>
          <p:cNvSpPr/>
          <p:nvPr/>
        </p:nvSpPr>
        <p:spPr>
          <a:xfrm>
            <a:off x="2103120" y="2670048"/>
            <a:ext cx="3017520" cy="155448"/>
          </a:xfrm>
          <a:prstGeom prst="rect">
            <a:avLst/>
          </a:prstGeom>
          <a:solidFill>
            <a:srgbClr val="2E7D4F"/>
          </a:solidFill>
          <a:ln cap="flat" cmpd="sng" w="9525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1" name="Google Shape;2111;p23"/>
          <p:cNvSpPr/>
          <p:nvPr/>
        </p:nvSpPr>
        <p:spPr>
          <a:xfrm>
            <a:off x="9235440" y="2670048"/>
            <a:ext cx="1920240" cy="155448"/>
          </a:xfrm>
          <a:prstGeom prst="rect">
            <a:avLst/>
          </a:prstGeom>
          <a:solidFill>
            <a:srgbClr val="2E7D4F"/>
          </a:solidFill>
          <a:ln cap="flat" cmpd="sng" w="9525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2" name="Google Shape;2112;p23"/>
          <p:cNvSpPr txBox="1"/>
          <p:nvPr/>
        </p:nvSpPr>
        <p:spPr>
          <a:xfrm>
            <a:off x="11201400" y="2670048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74 %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13" name="Google Shape;2113;p23"/>
          <p:cNvCxnSpPr/>
          <p:nvPr/>
        </p:nvCxnSpPr>
        <p:spPr>
          <a:xfrm>
            <a:off x="731520" y="2953512"/>
            <a:ext cx="0" cy="466344"/>
          </a:xfrm>
          <a:prstGeom prst="straightConnector1">
            <a:avLst/>
          </a:prstGeom>
          <a:noFill/>
          <a:ln cap="flat" cmpd="sng" w="19050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14" name="Google Shape;2114;p23"/>
          <p:cNvSpPr txBox="1"/>
          <p:nvPr/>
        </p:nvSpPr>
        <p:spPr>
          <a:xfrm rot="-5400000">
            <a:off x="260604" y="3104388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700"/>
              <a:buFont typeface="Calibri"/>
              <a:buNone/>
            </a:pPr>
            <a:r>
              <a:rPr b="1" i="0" lang="es-CO" sz="7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ESTRUCTURA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5" name="Google Shape;2115;p23"/>
          <p:cNvSpPr txBox="1"/>
          <p:nvPr/>
        </p:nvSpPr>
        <p:spPr>
          <a:xfrm>
            <a:off x="777240" y="2953512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Rodadura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6" name="Google Shape;2116;p23"/>
          <p:cNvSpPr/>
          <p:nvPr/>
        </p:nvSpPr>
        <p:spPr>
          <a:xfrm>
            <a:off x="2103120" y="2953512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7" name="Google Shape;2117;p23"/>
          <p:cNvSpPr txBox="1"/>
          <p:nvPr/>
        </p:nvSpPr>
        <p:spPr>
          <a:xfrm>
            <a:off x="11201400" y="2953512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8" name="Google Shape;2118;p23"/>
          <p:cNvSpPr txBox="1"/>
          <p:nvPr/>
        </p:nvSpPr>
        <p:spPr>
          <a:xfrm>
            <a:off x="777240" y="3108960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Capa granular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9" name="Google Shape;2119;p23"/>
          <p:cNvSpPr/>
          <p:nvPr/>
        </p:nvSpPr>
        <p:spPr>
          <a:xfrm>
            <a:off x="2103120" y="3108960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0" name="Google Shape;2120;p23"/>
          <p:cNvSpPr txBox="1"/>
          <p:nvPr/>
        </p:nvSpPr>
        <p:spPr>
          <a:xfrm>
            <a:off x="11201400" y="3108960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1" name="Google Shape;2121;p23"/>
          <p:cNvSpPr txBox="1"/>
          <p:nvPr/>
        </p:nvSpPr>
        <p:spPr>
          <a:xfrm>
            <a:off x="777240" y="3264408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Subrasante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2" name="Google Shape;2122;p23"/>
          <p:cNvSpPr/>
          <p:nvPr/>
        </p:nvSpPr>
        <p:spPr>
          <a:xfrm>
            <a:off x="2103120" y="3264408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3" name="Google Shape;2123;p23"/>
          <p:cNvSpPr txBox="1"/>
          <p:nvPr/>
        </p:nvSpPr>
        <p:spPr>
          <a:xfrm>
            <a:off x="11201400" y="3264408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24" name="Google Shape;2124;p23"/>
          <p:cNvCxnSpPr/>
          <p:nvPr/>
        </p:nvCxnSpPr>
        <p:spPr>
          <a:xfrm>
            <a:off x="731520" y="3511296"/>
            <a:ext cx="0" cy="521208"/>
          </a:xfrm>
          <a:prstGeom prst="straightConnector1">
            <a:avLst/>
          </a:prstGeom>
          <a:noFill/>
          <a:ln cap="flat" cmpd="sng" w="19050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25" name="Google Shape;2125;p23"/>
          <p:cNvSpPr txBox="1"/>
          <p:nvPr/>
        </p:nvSpPr>
        <p:spPr>
          <a:xfrm rot="-5400000">
            <a:off x="260604" y="3689604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700"/>
              <a:buFont typeface="Calibri"/>
              <a:buNone/>
            </a:pPr>
            <a:r>
              <a:rPr b="1" i="0" lang="es-CO" sz="7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DRENAJE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6" name="Google Shape;2126;p23"/>
          <p:cNvSpPr txBox="1"/>
          <p:nvPr/>
        </p:nvSpPr>
        <p:spPr>
          <a:xfrm>
            <a:off x="777240" y="3511296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Cunetas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7" name="Google Shape;2127;p23"/>
          <p:cNvSpPr/>
          <p:nvPr/>
        </p:nvSpPr>
        <p:spPr>
          <a:xfrm>
            <a:off x="2103120" y="3511296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8" name="Google Shape;2128;p23"/>
          <p:cNvSpPr txBox="1"/>
          <p:nvPr/>
        </p:nvSpPr>
        <p:spPr>
          <a:xfrm>
            <a:off x="11201400" y="3511296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9" name="Google Shape;2129;p23"/>
          <p:cNvSpPr txBox="1"/>
          <p:nvPr/>
        </p:nvSpPr>
        <p:spPr>
          <a:xfrm>
            <a:off x="777240" y="3694176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Filtros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0" name="Google Shape;2130;p23"/>
          <p:cNvSpPr txBox="1"/>
          <p:nvPr/>
        </p:nvSpPr>
        <p:spPr>
          <a:xfrm>
            <a:off x="1920240" y="3694176"/>
            <a:ext cx="137160" cy="777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700"/>
              <a:buFont typeface="Calibri"/>
              <a:buNone/>
            </a:pPr>
            <a:r>
              <a:rPr b="0" i="0" lang="es-CO" sz="7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1" name="Google Shape;2131;p23"/>
          <p:cNvSpPr txBox="1"/>
          <p:nvPr/>
        </p:nvSpPr>
        <p:spPr>
          <a:xfrm>
            <a:off x="1920240" y="3771900"/>
            <a:ext cx="137160" cy="777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700"/>
              <a:buFont typeface="Calibri"/>
              <a:buNone/>
            </a:pPr>
            <a:r>
              <a:rPr b="0" i="0" lang="es-CO" sz="7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2" name="Google Shape;2132;p23"/>
          <p:cNvSpPr/>
          <p:nvPr/>
        </p:nvSpPr>
        <p:spPr>
          <a:xfrm>
            <a:off x="2103120" y="3694176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33" name="Google Shape;2133;p23"/>
          <p:cNvCxnSpPr/>
          <p:nvPr/>
        </p:nvCxnSpPr>
        <p:spPr>
          <a:xfrm>
            <a:off x="2103120" y="3771900"/>
            <a:ext cx="9052560" cy="0"/>
          </a:xfrm>
          <a:prstGeom prst="straightConnector1">
            <a:avLst/>
          </a:prstGeom>
          <a:noFill/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34" name="Google Shape;2134;p23"/>
          <p:cNvSpPr/>
          <p:nvPr/>
        </p:nvSpPr>
        <p:spPr>
          <a:xfrm>
            <a:off x="2215600" y="3694175"/>
            <a:ext cx="68700" cy="73200"/>
          </a:xfrm>
          <a:prstGeom prst="rect">
            <a:avLst/>
          </a:prstGeom>
          <a:solidFill>
            <a:srgbClr val="2E7D4F"/>
          </a:solidFill>
          <a:ln cap="flat" cmpd="sng" w="9525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5" name="Google Shape;2135;p23"/>
          <p:cNvSpPr/>
          <p:nvPr/>
        </p:nvSpPr>
        <p:spPr>
          <a:xfrm>
            <a:off x="2583180" y="3776472"/>
            <a:ext cx="68580" cy="73152"/>
          </a:xfrm>
          <a:prstGeom prst="rect">
            <a:avLst/>
          </a:prstGeom>
          <a:solidFill>
            <a:srgbClr val="2E7D4F"/>
          </a:solidFill>
          <a:ln cap="flat" cmpd="sng" w="9525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6" name="Google Shape;2136;p23"/>
          <p:cNvSpPr txBox="1"/>
          <p:nvPr/>
        </p:nvSpPr>
        <p:spPr>
          <a:xfrm>
            <a:off x="11201400" y="3694176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4,6 %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7" name="Google Shape;2137;p23"/>
          <p:cNvSpPr txBox="1"/>
          <p:nvPr/>
        </p:nvSpPr>
        <p:spPr>
          <a:xfrm>
            <a:off x="777240" y="3877056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Alcantarillas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8" name="Google Shape;2138;p23"/>
          <p:cNvSpPr/>
          <p:nvPr/>
        </p:nvSpPr>
        <p:spPr>
          <a:xfrm>
            <a:off x="2103120" y="3877056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9" name="Google Shape;2139;p23"/>
          <p:cNvSpPr/>
          <p:nvPr/>
        </p:nvSpPr>
        <p:spPr>
          <a:xfrm>
            <a:off x="2103120" y="3877056"/>
            <a:ext cx="3017520" cy="155448"/>
          </a:xfrm>
          <a:prstGeom prst="rect">
            <a:avLst/>
          </a:prstGeom>
          <a:solidFill>
            <a:srgbClr val="A9C7B3"/>
          </a:solidFill>
          <a:ln cap="flat" cmpd="sng" w="9525">
            <a:solidFill>
              <a:srgbClr val="A9C7B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0" name="Google Shape;2140;p23"/>
          <p:cNvSpPr/>
          <p:nvPr/>
        </p:nvSpPr>
        <p:spPr>
          <a:xfrm>
            <a:off x="9235440" y="3877056"/>
            <a:ext cx="1692554" cy="155448"/>
          </a:xfrm>
          <a:prstGeom prst="rect">
            <a:avLst/>
          </a:prstGeom>
          <a:solidFill>
            <a:srgbClr val="A9C7B3"/>
          </a:solidFill>
          <a:ln cap="flat" cmpd="sng" w="9525">
            <a:solidFill>
              <a:srgbClr val="A9C7B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1" name="Google Shape;2141;p23"/>
          <p:cNvSpPr/>
          <p:nvPr/>
        </p:nvSpPr>
        <p:spPr>
          <a:xfrm>
            <a:off x="2244950" y="3877000"/>
            <a:ext cx="27300" cy="155400"/>
          </a:xfrm>
          <a:prstGeom prst="rect">
            <a:avLst/>
          </a:prstGeom>
          <a:solidFill>
            <a:srgbClr val="E07B2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2" name="Google Shape;2142;p23"/>
          <p:cNvSpPr/>
          <p:nvPr/>
        </p:nvSpPr>
        <p:spPr>
          <a:xfrm>
            <a:off x="2284301" y="3877050"/>
            <a:ext cx="27300" cy="155400"/>
          </a:xfrm>
          <a:prstGeom prst="rect">
            <a:avLst/>
          </a:prstGeom>
          <a:solidFill>
            <a:srgbClr val="E07B2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3" name="Google Shape;2143;p23"/>
          <p:cNvSpPr txBox="1"/>
          <p:nvPr/>
        </p:nvSpPr>
        <p:spPr>
          <a:xfrm>
            <a:off x="11201400" y="3877056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17,24 %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4" name="Google Shape;2144;p23"/>
          <p:cNvSpPr txBox="1"/>
          <p:nvPr/>
        </p:nvSpPr>
        <p:spPr>
          <a:xfrm>
            <a:off x="457200" y="4078224"/>
            <a:ext cx="11277295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D9A6"/>
              </a:buClr>
              <a:buSzPts val="800"/>
              <a:buFont typeface="Calibri"/>
              <a:buNone/>
            </a:pPr>
            <a:r>
              <a:rPr b="0" i="0" lang="es-CO" sz="800" u="none" cap="none" strike="noStrike">
                <a:solidFill>
                  <a:srgbClr val="EBD9A6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Natural    </a:t>
            </a:r>
            <a:r>
              <a:rPr b="0" i="0" lang="es-CO" sz="800" u="none" cap="none" strike="noStrike">
                <a:solidFill>
                  <a:srgbClr val="8C6A4F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Cal    </a:t>
            </a:r>
            <a:r>
              <a:rPr b="0" i="0" lang="es-CO" sz="800" u="none" cap="none" strike="noStrike">
                <a:solidFill>
                  <a:srgbClr val="D9A441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Cemento    </a:t>
            </a:r>
            <a:r>
              <a:rPr b="0" i="0" lang="es-CO" sz="800" u="none" cap="none" strike="noStrike">
                <a:solidFill>
                  <a:srgbClr val="1F2A36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TSD    </a:t>
            </a:r>
            <a:r>
              <a:rPr b="0" i="0" lang="es-CO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MDC-19    </a:t>
            </a:r>
            <a:r>
              <a:rPr b="0" i="0" lang="es-CO" sz="8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Ejecutado    </a:t>
            </a:r>
            <a:r>
              <a:rPr b="0" i="0" lang="es-CO" sz="800" u="none" cap="none" strike="noStrike">
                <a:solidFill>
                  <a:srgbClr val="A9C7B3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Limpieza alcantarillas    </a:t>
            </a:r>
            <a:r>
              <a:rPr b="0" i="0" lang="es-CO" sz="800" u="none" cap="none" strike="noStrike">
                <a:solidFill>
                  <a:srgbClr val="2F6FB0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Alcantarilla nueva    </a:t>
            </a:r>
            <a:r>
              <a:rPr b="0" i="0" lang="es-CO" sz="800" u="none" cap="none" strike="noStrike">
                <a:solidFill>
                  <a:srgbClr val="E07B24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Reemplazada    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5" name="Google Shape;2145;p23"/>
          <p:cNvSpPr txBox="1"/>
          <p:nvPr/>
        </p:nvSpPr>
        <p:spPr>
          <a:xfrm>
            <a:off x="457200" y="4078224"/>
            <a:ext cx="5760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00"/>
              <a:buFont typeface="Calibri"/>
              <a:buNone/>
            </a:pP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Escala según abscisas de los sectores intervenidos (hasta K33+000)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6" name="Google Shape;2146;p23"/>
          <p:cNvSpPr txBox="1"/>
          <p:nvPr/>
        </p:nvSpPr>
        <p:spPr>
          <a:xfrm>
            <a:off x="566928" y="4425696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CO" sz="1100" u="none" cap="none" strike="noStrike">
                <a:solidFill>
                  <a:srgbClr val="2F8052"/>
                </a:solidFill>
                <a:latin typeface="Arial"/>
                <a:ea typeface="Arial"/>
                <a:cs typeface="Arial"/>
                <a:sym typeface="Arial"/>
              </a:rPr>
              <a:t>AVANCE POR ACTIVIDAD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7" name="Google Shape;2147;p23"/>
          <p:cNvSpPr txBox="1"/>
          <p:nvPr/>
        </p:nvSpPr>
        <p:spPr>
          <a:xfrm>
            <a:off x="566928" y="4737095"/>
            <a:ext cx="2331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0"/>
              <a:buFont typeface="Arial"/>
              <a:buNone/>
            </a:pPr>
            <a:r>
              <a:rPr b="0" i="0" lang="es-CO" sz="910" u="none" cap="none" strike="noStrike">
                <a:solidFill>
                  <a:srgbClr val="1F2D26"/>
                </a:solidFill>
                <a:latin typeface="Arial"/>
                <a:ea typeface="Arial"/>
                <a:cs typeface="Arial"/>
                <a:sym typeface="Arial"/>
              </a:rPr>
              <a:t>Construcción alcantarilla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8" name="Google Shape;2148;p23"/>
          <p:cNvSpPr/>
          <p:nvPr/>
        </p:nvSpPr>
        <p:spPr>
          <a:xfrm>
            <a:off x="3063240" y="4784405"/>
            <a:ext cx="2456077" cy="98722"/>
          </a:xfrm>
          <a:prstGeom prst="rect">
            <a:avLst/>
          </a:prstGeom>
          <a:solidFill>
            <a:srgbClr val="E2E8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9" name="Google Shape;2149;p23"/>
          <p:cNvSpPr/>
          <p:nvPr/>
        </p:nvSpPr>
        <p:spPr>
          <a:xfrm>
            <a:off x="3063240" y="4911334"/>
            <a:ext cx="3611880" cy="98722"/>
          </a:xfrm>
          <a:prstGeom prst="rect">
            <a:avLst/>
          </a:prstGeom>
          <a:solidFill>
            <a:srgbClr val="2F805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0" name="Google Shape;2150;p23"/>
          <p:cNvSpPr txBox="1"/>
          <p:nvPr/>
        </p:nvSpPr>
        <p:spPr>
          <a:xfrm>
            <a:off x="566928" y="4968447"/>
            <a:ext cx="2331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0"/>
              <a:buFont typeface="Arial"/>
              <a:buNone/>
            </a:pPr>
            <a:r>
              <a:rPr b="0" i="0" lang="es-CO" sz="910" u="none" cap="none" strike="noStrike">
                <a:solidFill>
                  <a:srgbClr val="1F2D26"/>
                </a:solidFill>
                <a:latin typeface="Arial"/>
                <a:ea typeface="Arial"/>
                <a:cs typeface="Arial"/>
                <a:sym typeface="Arial"/>
              </a:rPr>
              <a:t>Construcción cuneta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1" name="Google Shape;2151;p23"/>
          <p:cNvSpPr/>
          <p:nvPr/>
        </p:nvSpPr>
        <p:spPr>
          <a:xfrm>
            <a:off x="3063240" y="5015757"/>
            <a:ext cx="3611880" cy="98722"/>
          </a:xfrm>
          <a:prstGeom prst="rect">
            <a:avLst/>
          </a:prstGeom>
          <a:solidFill>
            <a:srgbClr val="E2E8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2" name="Google Shape;2152;p23"/>
          <p:cNvSpPr/>
          <p:nvPr/>
        </p:nvSpPr>
        <p:spPr>
          <a:xfrm>
            <a:off x="3063240" y="5142685"/>
            <a:ext cx="3611880" cy="98722"/>
          </a:xfrm>
          <a:prstGeom prst="rect">
            <a:avLst/>
          </a:prstGeom>
          <a:solidFill>
            <a:srgbClr val="2F805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3" name="Google Shape;2153;p23"/>
          <p:cNvSpPr txBox="1"/>
          <p:nvPr/>
        </p:nvSpPr>
        <p:spPr>
          <a:xfrm>
            <a:off x="566928" y="5199798"/>
            <a:ext cx="2331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0"/>
              <a:buFont typeface="Arial"/>
              <a:buNone/>
            </a:pPr>
            <a:r>
              <a:rPr b="0" i="0" lang="es-CO" sz="910" u="none" cap="none" strike="noStrike">
                <a:solidFill>
                  <a:srgbClr val="1F2D26"/>
                </a:solidFill>
                <a:latin typeface="Arial"/>
                <a:ea typeface="Arial"/>
                <a:cs typeface="Arial"/>
                <a:sym typeface="Arial"/>
              </a:rPr>
              <a:t>Construcción filtro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4" name="Google Shape;2154;p23"/>
          <p:cNvSpPr/>
          <p:nvPr/>
        </p:nvSpPr>
        <p:spPr>
          <a:xfrm>
            <a:off x="3063240" y="5247108"/>
            <a:ext cx="3611880" cy="98722"/>
          </a:xfrm>
          <a:prstGeom prst="rect">
            <a:avLst/>
          </a:prstGeom>
          <a:solidFill>
            <a:srgbClr val="E2E8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5" name="Google Shape;2155;p23"/>
          <p:cNvSpPr/>
          <p:nvPr/>
        </p:nvSpPr>
        <p:spPr>
          <a:xfrm>
            <a:off x="3063240" y="5374037"/>
            <a:ext cx="3016247" cy="98722"/>
          </a:xfrm>
          <a:prstGeom prst="rect">
            <a:avLst/>
          </a:prstGeom>
          <a:solidFill>
            <a:srgbClr val="2F805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6" name="Google Shape;2156;p23"/>
          <p:cNvSpPr txBox="1"/>
          <p:nvPr/>
        </p:nvSpPr>
        <p:spPr>
          <a:xfrm>
            <a:off x="566928" y="5431150"/>
            <a:ext cx="2331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0"/>
              <a:buFont typeface="Arial"/>
              <a:buNone/>
            </a:pPr>
            <a:r>
              <a:rPr b="0" i="0" lang="es-CO" sz="910" u="none" cap="none" strike="noStrike">
                <a:solidFill>
                  <a:srgbClr val="1F2D26"/>
                </a:solidFill>
                <a:latin typeface="Arial"/>
                <a:ea typeface="Arial"/>
                <a:cs typeface="Arial"/>
                <a:sym typeface="Arial"/>
              </a:rPr>
              <a:t>Construcción bordillos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7" name="Google Shape;2157;p23"/>
          <p:cNvSpPr/>
          <p:nvPr/>
        </p:nvSpPr>
        <p:spPr>
          <a:xfrm>
            <a:off x="3063240" y="5478460"/>
            <a:ext cx="3611880" cy="98722"/>
          </a:xfrm>
          <a:prstGeom prst="rect">
            <a:avLst/>
          </a:prstGeom>
          <a:solidFill>
            <a:srgbClr val="E2E8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8" name="Google Shape;2158;p23"/>
          <p:cNvSpPr/>
          <p:nvPr/>
        </p:nvSpPr>
        <p:spPr>
          <a:xfrm>
            <a:off x="3063240" y="5605389"/>
            <a:ext cx="130970" cy="98722"/>
          </a:xfrm>
          <a:prstGeom prst="rect">
            <a:avLst/>
          </a:prstGeom>
          <a:solidFill>
            <a:srgbClr val="2F805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9" name="Google Shape;2159;p23"/>
          <p:cNvSpPr txBox="1"/>
          <p:nvPr/>
        </p:nvSpPr>
        <p:spPr>
          <a:xfrm>
            <a:off x="566928" y="5662502"/>
            <a:ext cx="2331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0"/>
              <a:buFont typeface="Arial"/>
              <a:buNone/>
            </a:pPr>
            <a:r>
              <a:rPr b="0" i="0" lang="es-CO" sz="910" u="none" cap="none" strike="noStrike">
                <a:solidFill>
                  <a:srgbClr val="1F2D26"/>
                </a:solidFill>
                <a:latin typeface="Arial"/>
                <a:ea typeface="Arial"/>
                <a:cs typeface="Arial"/>
                <a:sym typeface="Arial"/>
              </a:rPr>
              <a:t>Estabilización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0" name="Google Shape;2160;p23"/>
          <p:cNvSpPr/>
          <p:nvPr/>
        </p:nvSpPr>
        <p:spPr>
          <a:xfrm>
            <a:off x="3063240" y="5709811"/>
            <a:ext cx="162534" cy="98722"/>
          </a:xfrm>
          <a:prstGeom prst="rect">
            <a:avLst/>
          </a:prstGeom>
          <a:solidFill>
            <a:srgbClr val="E2E8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1" name="Google Shape;2161;p23"/>
          <p:cNvSpPr/>
          <p:nvPr/>
        </p:nvSpPr>
        <p:spPr>
          <a:xfrm>
            <a:off x="3063240" y="5836740"/>
            <a:ext cx="3611880" cy="98722"/>
          </a:xfrm>
          <a:prstGeom prst="rect">
            <a:avLst/>
          </a:prstGeom>
          <a:solidFill>
            <a:srgbClr val="2F805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2" name="Google Shape;2162;p23"/>
          <p:cNvSpPr txBox="1"/>
          <p:nvPr/>
        </p:nvSpPr>
        <p:spPr>
          <a:xfrm>
            <a:off x="566928" y="5893853"/>
            <a:ext cx="2331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0"/>
              <a:buFont typeface="Arial"/>
              <a:buNone/>
            </a:pPr>
            <a:r>
              <a:rPr b="0" i="0" lang="es-CO" sz="910" u="none" cap="none" strike="noStrike">
                <a:solidFill>
                  <a:srgbClr val="1F2D26"/>
                </a:solidFill>
                <a:latin typeface="Arial"/>
                <a:ea typeface="Arial"/>
                <a:cs typeface="Arial"/>
                <a:sym typeface="Arial"/>
              </a:rPr>
              <a:t>Señalización vial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3" name="Google Shape;2163;p23"/>
          <p:cNvSpPr/>
          <p:nvPr/>
        </p:nvSpPr>
        <p:spPr>
          <a:xfrm>
            <a:off x="3063240" y="5941163"/>
            <a:ext cx="3611880" cy="98722"/>
          </a:xfrm>
          <a:prstGeom prst="rect">
            <a:avLst/>
          </a:prstGeom>
          <a:solidFill>
            <a:srgbClr val="E2E8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4" name="Google Shape;2164;p23"/>
          <p:cNvSpPr/>
          <p:nvPr/>
        </p:nvSpPr>
        <p:spPr>
          <a:xfrm>
            <a:off x="3063240" y="6068092"/>
            <a:ext cx="3611880" cy="98722"/>
          </a:xfrm>
          <a:prstGeom prst="rect">
            <a:avLst/>
          </a:prstGeom>
          <a:solidFill>
            <a:srgbClr val="2F805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5" name="Google Shape;2165;p23"/>
          <p:cNvSpPr txBox="1"/>
          <p:nvPr/>
        </p:nvSpPr>
        <p:spPr>
          <a:xfrm>
            <a:off x="566928" y="6272784"/>
            <a:ext cx="7955279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0"/>
              <a:buFont typeface="Arial"/>
              <a:buNone/>
            </a:pPr>
            <a:r>
              <a:rPr b="0" i="1" lang="es-CO" sz="700" u="none" cap="none" strike="noStrike">
                <a:solidFill>
                  <a:srgbClr val="637068"/>
                </a:solidFill>
                <a:latin typeface="Arial"/>
                <a:ea typeface="Arial"/>
                <a:cs typeface="Arial"/>
                <a:sym typeface="Arial"/>
              </a:rPr>
              <a:t>Nota: Solo se presupuestó 1,88 km de estabilización de los 22 km requeridos.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6" name="Google Shape;2166;p23"/>
          <p:cNvSpPr/>
          <p:nvPr/>
        </p:nvSpPr>
        <p:spPr>
          <a:xfrm>
            <a:off x="3840480" y="4440000"/>
            <a:ext cx="109728" cy="109728"/>
          </a:xfrm>
          <a:prstGeom prst="rect">
            <a:avLst/>
          </a:prstGeom>
          <a:solidFill>
            <a:srgbClr val="E2E8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7" name="Google Shape;2167;p23"/>
          <p:cNvSpPr txBox="1"/>
          <p:nvPr/>
        </p:nvSpPr>
        <p:spPr>
          <a:xfrm>
            <a:off x="3995928" y="4430000"/>
            <a:ext cx="11430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</a:pPr>
            <a:r>
              <a:rPr b="0" i="0" lang="es-CO" sz="730" u="none" cap="none" strike="noStrike">
                <a:solidFill>
                  <a:srgbClr val="637068"/>
                </a:solidFill>
                <a:latin typeface="Arial"/>
                <a:ea typeface="Arial"/>
                <a:cs typeface="Arial"/>
                <a:sym typeface="Arial"/>
              </a:rPr>
              <a:t>Presupuestada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8" name="Google Shape;2168;p23"/>
          <p:cNvSpPr/>
          <p:nvPr/>
        </p:nvSpPr>
        <p:spPr>
          <a:xfrm>
            <a:off x="5257800" y="4440000"/>
            <a:ext cx="109728" cy="109728"/>
          </a:xfrm>
          <a:prstGeom prst="rect">
            <a:avLst/>
          </a:prstGeom>
          <a:solidFill>
            <a:srgbClr val="2F805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9" name="Google Shape;2169;p23"/>
          <p:cNvSpPr txBox="1"/>
          <p:nvPr/>
        </p:nvSpPr>
        <p:spPr>
          <a:xfrm>
            <a:off x="5413248" y="4430000"/>
            <a:ext cx="5943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"/>
              <a:buFont typeface="Arial"/>
              <a:buNone/>
            </a:pPr>
            <a:r>
              <a:rPr b="0" i="0" lang="es-CO" sz="730" u="none" cap="none" strike="noStrike">
                <a:solidFill>
                  <a:srgbClr val="637068"/>
                </a:solidFill>
                <a:latin typeface="Arial"/>
                <a:ea typeface="Arial"/>
                <a:cs typeface="Arial"/>
                <a:sym typeface="Arial"/>
              </a:rPr>
              <a:t>Real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170" name="Google Shape;2170;p23"/>
          <p:cNvGraphicFramePr/>
          <p:nvPr/>
        </p:nvGraphicFramePr>
        <p:xfrm>
          <a:off x="6766560" y="458588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{2219430B-40B1-4F13-8D99-EA5D7966678A}</a:tableStyleId>
              </a:tblPr>
              <a:tblGrid>
                <a:gridCol w="457200"/>
                <a:gridCol w="841250"/>
                <a:gridCol w="841250"/>
                <a:gridCol w="914400"/>
                <a:gridCol w="914400"/>
                <a:gridCol w="850400"/>
              </a:tblGrid>
              <a:tr h="233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s-CO" sz="8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Unidad</a:t>
                      </a:r>
                      <a:endParaRPr sz="8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s-CO" sz="8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Presupuestada</a:t>
                      </a:r>
                      <a:endParaRPr sz="8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s-CO" sz="8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Real</a:t>
                      </a:r>
                      <a:endParaRPr sz="8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s-CO" sz="8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Ejec. anterior</a:t>
                      </a:r>
                      <a:endParaRPr sz="8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s-CO" sz="8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Ejec. actual</a:t>
                      </a:r>
                      <a:endParaRPr sz="8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s-CO" sz="8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Δ semana</a:t>
                      </a:r>
                      <a:endParaRPr sz="8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</a:tr>
              <a:tr h="233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und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5F6B66"/>
                          </a:solidFill>
                        </a:rPr>
                        <a:t>0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1D2B24"/>
                          </a:solidFill>
                        </a:rPr>
                        <a:t>5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2E7D4F"/>
                          </a:solidFill>
                        </a:rPr>
                        <a:t>+5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3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22.000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22.000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5F6B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8A94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233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22.000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18.372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5F6B66"/>
                          </a:solidFill>
                        </a:rPr>
                        <a:t>0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1D2B24"/>
                          </a:solidFill>
                        </a:rPr>
                        <a:t>1.014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2E7D4F"/>
                          </a:solidFill>
                        </a:rPr>
                        <a:t>+1.014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3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4.440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161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5F6B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s.r.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s.r.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8A94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233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m²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5.940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132.000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5F6B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8A94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3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66.000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66.000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5F6B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s.r.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s.r.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8A94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</a:tbl>
          </a:graphicData>
        </a:graphic>
      </p:graphicFrame>
      <p:sp>
        <p:nvSpPr>
          <p:cNvPr id="2171" name="Google Shape;2171;p23"/>
          <p:cNvSpPr/>
          <p:nvPr/>
        </p:nvSpPr>
        <p:spPr>
          <a:xfrm>
            <a:off x="2311600" y="3694725"/>
            <a:ext cx="131100" cy="73200"/>
          </a:xfrm>
          <a:prstGeom prst="rect">
            <a:avLst/>
          </a:prstGeom>
          <a:solidFill>
            <a:srgbClr val="2E7D4F"/>
          </a:solidFill>
          <a:ln cap="flat" cmpd="sng" w="9525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2" name="Google Shape;2172;p23"/>
          <p:cNvSpPr/>
          <p:nvPr/>
        </p:nvSpPr>
        <p:spPr>
          <a:xfrm>
            <a:off x="2470000" y="3694700"/>
            <a:ext cx="39900" cy="73200"/>
          </a:xfrm>
          <a:prstGeom prst="rect">
            <a:avLst/>
          </a:prstGeom>
          <a:solidFill>
            <a:srgbClr val="2E7D4F"/>
          </a:solidFill>
          <a:ln cap="flat" cmpd="sng" w="9525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3" name="Google Shape;2173;p23"/>
          <p:cNvSpPr/>
          <p:nvPr/>
        </p:nvSpPr>
        <p:spPr>
          <a:xfrm>
            <a:off x="2898650" y="3694725"/>
            <a:ext cx="27300" cy="73200"/>
          </a:xfrm>
          <a:prstGeom prst="rect">
            <a:avLst/>
          </a:prstGeom>
          <a:solidFill>
            <a:srgbClr val="2E7D4F"/>
          </a:solidFill>
          <a:ln cap="flat" cmpd="sng" w="9525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4" name="Google Shape;2174;p23"/>
          <p:cNvSpPr/>
          <p:nvPr/>
        </p:nvSpPr>
        <p:spPr>
          <a:xfrm>
            <a:off x="2331725" y="3771925"/>
            <a:ext cx="27300" cy="77700"/>
          </a:xfrm>
          <a:prstGeom prst="rect">
            <a:avLst/>
          </a:prstGeom>
          <a:solidFill>
            <a:srgbClr val="2E7D4F"/>
          </a:solidFill>
          <a:ln cap="flat" cmpd="sng" w="9525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5" name="Google Shape;2175;p23"/>
          <p:cNvSpPr/>
          <p:nvPr/>
        </p:nvSpPr>
        <p:spPr>
          <a:xfrm>
            <a:off x="2426451" y="3878700"/>
            <a:ext cx="27300" cy="155400"/>
          </a:xfrm>
          <a:prstGeom prst="rect">
            <a:avLst/>
          </a:prstGeom>
          <a:solidFill>
            <a:srgbClr val="E07B2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6" name="Google Shape;2176;p23"/>
          <p:cNvSpPr/>
          <p:nvPr/>
        </p:nvSpPr>
        <p:spPr>
          <a:xfrm>
            <a:off x="2500951" y="3878700"/>
            <a:ext cx="27300" cy="155400"/>
          </a:xfrm>
          <a:prstGeom prst="rect">
            <a:avLst/>
          </a:prstGeom>
          <a:solidFill>
            <a:srgbClr val="E07B2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7" name="Google Shape;2177;p23"/>
          <p:cNvSpPr/>
          <p:nvPr/>
        </p:nvSpPr>
        <p:spPr>
          <a:xfrm>
            <a:off x="3246125" y="3886225"/>
            <a:ext cx="27300" cy="146400"/>
          </a:xfrm>
          <a:prstGeom prst="rect">
            <a:avLst/>
          </a:prstGeom>
          <a:solidFill>
            <a:srgbClr val="2F6FB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8" name="Google Shape;2178;p23"/>
          <p:cNvSpPr txBox="1"/>
          <p:nvPr/>
        </p:nvSpPr>
        <p:spPr>
          <a:xfrm>
            <a:off x="457200" y="6400000"/>
            <a:ext cx="5000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s-CO" sz="9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TIEMPO TRANSCURRIDO DEL PLAZO CONTRACTUAL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9" name="Google Shape;2179;p23"/>
          <p:cNvSpPr txBox="1"/>
          <p:nvPr/>
        </p:nvSpPr>
        <p:spPr>
          <a:xfrm>
            <a:off x="5000000" y="6400000"/>
            <a:ext cx="6734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Inicio: </a:t>
            </a:r>
            <a:r>
              <a:rPr b="1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04/02/2026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   ·   Terminación: </a:t>
            </a:r>
            <a:r>
              <a:rPr b="1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03/08/2027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   ·   Al: </a:t>
            </a:r>
            <a:r>
              <a:rPr b="1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02/10/2026</a:t>
            </a: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   ·   240 de 545 días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0" name="Google Shape;2180;p23"/>
          <p:cNvSpPr/>
          <p:nvPr/>
        </p:nvSpPr>
        <p:spPr>
          <a:xfrm>
            <a:off x="457200" y="6598920"/>
            <a:ext cx="11277600" cy="164592"/>
          </a:xfrm>
          <a:prstGeom prst="roundRect">
            <a:avLst>
              <a:gd fmla="val 50000" name="adj"/>
            </a:avLst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1" name="Google Shape;2181;p23"/>
          <p:cNvSpPr/>
          <p:nvPr/>
        </p:nvSpPr>
        <p:spPr>
          <a:xfrm>
            <a:off x="457200" y="6598920"/>
            <a:ext cx="4966282" cy="164592"/>
          </a:xfrm>
          <a:prstGeom prst="roundRect">
            <a:avLst>
              <a:gd fmla="val 50000" name="adj"/>
            </a:avLst>
          </a:prstGeom>
          <a:solidFill>
            <a:srgbClr val="2E7D4F"/>
          </a:solidFill>
          <a:ln cap="flat" cmpd="sng" w="9525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s-CO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44,0 %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82" name="Google Shape;2182;p23"/>
          <p:cNvCxnSpPr/>
          <p:nvPr/>
        </p:nvCxnSpPr>
        <p:spPr>
          <a:xfrm>
            <a:off x="974521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83" name="Google Shape;2183;p23"/>
          <p:cNvCxnSpPr/>
          <p:nvPr/>
        </p:nvCxnSpPr>
        <p:spPr>
          <a:xfrm>
            <a:off x="1615999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84" name="Google Shape;2184;p23"/>
          <p:cNvCxnSpPr/>
          <p:nvPr/>
        </p:nvCxnSpPr>
        <p:spPr>
          <a:xfrm>
            <a:off x="2236784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85" name="Google Shape;2185;p23"/>
          <p:cNvCxnSpPr/>
          <p:nvPr/>
        </p:nvCxnSpPr>
        <p:spPr>
          <a:xfrm>
            <a:off x="2878262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86" name="Google Shape;2186;p23"/>
          <p:cNvCxnSpPr/>
          <p:nvPr/>
        </p:nvCxnSpPr>
        <p:spPr>
          <a:xfrm>
            <a:off x="3499048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87" name="Google Shape;2187;p23"/>
          <p:cNvCxnSpPr/>
          <p:nvPr/>
        </p:nvCxnSpPr>
        <p:spPr>
          <a:xfrm>
            <a:off x="4140526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88" name="Google Shape;2188;p23"/>
          <p:cNvCxnSpPr/>
          <p:nvPr/>
        </p:nvCxnSpPr>
        <p:spPr>
          <a:xfrm>
            <a:off x="4782004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89" name="Google Shape;2189;p23"/>
          <p:cNvCxnSpPr/>
          <p:nvPr/>
        </p:nvCxnSpPr>
        <p:spPr>
          <a:xfrm>
            <a:off x="5402789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90" name="Google Shape;2190;p23"/>
          <p:cNvCxnSpPr/>
          <p:nvPr/>
        </p:nvCxnSpPr>
        <p:spPr>
          <a:xfrm>
            <a:off x="6044267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91" name="Google Shape;2191;p23"/>
          <p:cNvCxnSpPr/>
          <p:nvPr/>
        </p:nvCxnSpPr>
        <p:spPr>
          <a:xfrm>
            <a:off x="6665053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92" name="Google Shape;2192;p23"/>
          <p:cNvCxnSpPr/>
          <p:nvPr/>
        </p:nvCxnSpPr>
        <p:spPr>
          <a:xfrm>
            <a:off x="7306531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93" name="Google Shape;2193;p23"/>
          <p:cNvCxnSpPr/>
          <p:nvPr/>
        </p:nvCxnSpPr>
        <p:spPr>
          <a:xfrm>
            <a:off x="7948009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94" name="Google Shape;2194;p23"/>
          <p:cNvCxnSpPr/>
          <p:nvPr/>
        </p:nvCxnSpPr>
        <p:spPr>
          <a:xfrm>
            <a:off x="8527409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95" name="Google Shape;2195;p23"/>
          <p:cNvCxnSpPr/>
          <p:nvPr/>
        </p:nvCxnSpPr>
        <p:spPr>
          <a:xfrm>
            <a:off x="9168887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96" name="Google Shape;2196;p23"/>
          <p:cNvCxnSpPr/>
          <p:nvPr/>
        </p:nvCxnSpPr>
        <p:spPr>
          <a:xfrm>
            <a:off x="9789672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97" name="Google Shape;2197;p23"/>
          <p:cNvCxnSpPr/>
          <p:nvPr/>
        </p:nvCxnSpPr>
        <p:spPr>
          <a:xfrm>
            <a:off x="10431150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98" name="Google Shape;2198;p23"/>
          <p:cNvCxnSpPr/>
          <p:nvPr/>
        </p:nvCxnSpPr>
        <p:spPr>
          <a:xfrm>
            <a:off x="11051936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99" name="Google Shape;2199;p23"/>
          <p:cNvCxnSpPr/>
          <p:nvPr/>
        </p:nvCxnSpPr>
        <p:spPr>
          <a:xfrm>
            <a:off x="11693414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00" name="Google Shape;2200;p23"/>
          <p:cNvCxnSpPr/>
          <p:nvPr/>
        </p:nvCxnSpPr>
        <p:spPr>
          <a:xfrm>
            <a:off x="5423482" y="6562344"/>
            <a:ext cx="0" cy="237744"/>
          </a:xfrm>
          <a:prstGeom prst="straightConnector1">
            <a:avLst/>
          </a:prstGeom>
          <a:noFill/>
          <a:ln cap="flat" cmpd="sng" w="19050">
            <a:solidFill>
              <a:srgbClr val="B3261E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05" name="Shape 2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6" name="Google Shape;2206;p24"/>
          <p:cNvSpPr txBox="1"/>
          <p:nvPr/>
        </p:nvSpPr>
        <p:spPr>
          <a:xfrm>
            <a:off x="457200" y="320040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1200"/>
              <a:buFont typeface="Calibri"/>
              <a:buNone/>
            </a:pPr>
            <a:r>
              <a:rPr b="1" i="0" lang="es-CO" sz="1200" u="none" cap="none" strike="noStrike">
                <a:solidFill>
                  <a:srgbClr val="2E7D4F"/>
                </a:solidFill>
                <a:latin typeface="Poppins"/>
                <a:ea typeface="Poppins"/>
                <a:cs typeface="Poppins"/>
                <a:sym typeface="Poppins"/>
              </a:rPr>
              <a:t>INFORME DE VARIACIÓN DE ALCANCES  ·  LOTE 3 – SUBREGIÓN URABÁ</a:t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07" name="Google Shape;2207;p24"/>
          <p:cNvSpPr txBox="1"/>
          <p:nvPr/>
        </p:nvSpPr>
        <p:spPr>
          <a:xfrm>
            <a:off x="457200" y="594360"/>
            <a:ext cx="9692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2800"/>
              <a:buFont typeface="Calibri"/>
              <a:buNone/>
            </a:pPr>
            <a:r>
              <a:rPr b="1" i="0" lang="es-CO" sz="28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Arboletes – San Pedro de Urabá</a:t>
            </a:r>
            <a:endParaRPr b="0" i="0" sz="2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descr="logo.png" id="2208" name="Google Shape;220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78440" y="320040"/>
            <a:ext cx="1371600" cy="676656"/>
          </a:xfrm>
          <a:prstGeom prst="rect">
            <a:avLst/>
          </a:prstGeom>
          <a:noFill/>
          <a:ln>
            <a:noFill/>
          </a:ln>
        </p:spPr>
      </p:pic>
      <p:sp>
        <p:nvSpPr>
          <p:cNvPr id="2209" name="Google Shape;2209;p24"/>
          <p:cNvSpPr/>
          <p:nvPr/>
        </p:nvSpPr>
        <p:spPr>
          <a:xfrm>
            <a:off x="457200" y="132588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0" name="Google Shape;2210;p24"/>
          <p:cNvSpPr txBox="1"/>
          <p:nvPr/>
        </p:nvSpPr>
        <p:spPr>
          <a:xfrm>
            <a:off x="594360" y="1417320"/>
            <a:ext cx="183483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100"/>
              <a:buFont typeface="Calibri"/>
              <a:buNone/>
            </a:pPr>
            <a:r>
              <a:rPr b="0" i="0" lang="es-CO" sz="11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Longitud contractual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1" name="Google Shape;2211;p24"/>
          <p:cNvSpPr txBox="1"/>
          <p:nvPr/>
        </p:nvSpPr>
        <p:spPr>
          <a:xfrm>
            <a:off x="594360" y="1691640"/>
            <a:ext cx="183483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700"/>
              <a:buFont typeface="Calibri"/>
              <a:buNone/>
            </a:pPr>
            <a:r>
              <a:rPr b="1" i="0" lang="es-CO" sz="17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30,00 km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2" name="Google Shape;2212;p24"/>
          <p:cNvSpPr/>
          <p:nvPr/>
        </p:nvSpPr>
        <p:spPr>
          <a:xfrm>
            <a:off x="2749235" y="132588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3" name="Google Shape;2213;p24"/>
          <p:cNvSpPr txBox="1"/>
          <p:nvPr/>
        </p:nvSpPr>
        <p:spPr>
          <a:xfrm>
            <a:off x="2886395" y="1417320"/>
            <a:ext cx="183483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100"/>
              <a:buFont typeface="Calibri"/>
              <a:buNone/>
            </a:pPr>
            <a:r>
              <a:rPr b="0" i="0" lang="es-CO" sz="11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Longitud probable a cubrir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4" name="Google Shape;2214;p24"/>
          <p:cNvSpPr txBox="1"/>
          <p:nvPr/>
        </p:nvSpPr>
        <p:spPr>
          <a:xfrm>
            <a:off x="2886395" y="1691640"/>
            <a:ext cx="183483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700"/>
              <a:buFont typeface="Calibri"/>
              <a:buNone/>
            </a:pPr>
            <a:r>
              <a:rPr b="1" i="0" lang="es-CO" sz="17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21,60 km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5" name="Google Shape;2215;p24"/>
          <p:cNvSpPr/>
          <p:nvPr/>
        </p:nvSpPr>
        <p:spPr>
          <a:xfrm>
            <a:off x="5041270" y="132588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6" name="Google Shape;2216;p24"/>
          <p:cNvSpPr txBox="1"/>
          <p:nvPr/>
        </p:nvSpPr>
        <p:spPr>
          <a:xfrm>
            <a:off x="5178430" y="1417320"/>
            <a:ext cx="183483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100"/>
              <a:buFont typeface="Calibri"/>
              <a:buNone/>
            </a:pPr>
            <a:r>
              <a:rPr b="0" i="0" lang="es-CO" sz="11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Valor por km contractual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7" name="Google Shape;2217;p24"/>
          <p:cNvSpPr txBox="1"/>
          <p:nvPr/>
        </p:nvSpPr>
        <p:spPr>
          <a:xfrm>
            <a:off x="5178430" y="1691640"/>
            <a:ext cx="183483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700"/>
              <a:buFont typeface="Calibri"/>
              <a:buNone/>
            </a:pPr>
            <a:r>
              <a:rPr b="1" i="0" lang="es-CO" sz="17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$ 1.252.205.808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8" name="Google Shape;2218;p24"/>
          <p:cNvSpPr/>
          <p:nvPr/>
        </p:nvSpPr>
        <p:spPr>
          <a:xfrm>
            <a:off x="7333305" y="132588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9" name="Google Shape;2219;p24"/>
          <p:cNvSpPr txBox="1"/>
          <p:nvPr/>
        </p:nvSpPr>
        <p:spPr>
          <a:xfrm>
            <a:off x="7470465" y="1417320"/>
            <a:ext cx="183483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100"/>
              <a:buFont typeface="Calibri"/>
              <a:buNone/>
            </a:pPr>
            <a:r>
              <a:rPr b="0" i="0" lang="es-CO" sz="11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Valor por km proyectado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0" name="Google Shape;2220;p24"/>
          <p:cNvSpPr txBox="1"/>
          <p:nvPr/>
        </p:nvSpPr>
        <p:spPr>
          <a:xfrm>
            <a:off x="7470465" y="1691640"/>
            <a:ext cx="183483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700"/>
              <a:buFont typeface="Calibri"/>
              <a:buNone/>
            </a:pPr>
            <a:r>
              <a:rPr b="1" i="0" lang="es-CO" sz="17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$ 1.738.790.741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1" name="Google Shape;2221;p24"/>
          <p:cNvSpPr/>
          <p:nvPr/>
        </p:nvSpPr>
        <p:spPr>
          <a:xfrm>
            <a:off x="9625340" y="132588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FBEAEA"/>
          </a:solidFill>
          <a:ln cap="flat" cmpd="sng" w="12700">
            <a:solidFill>
              <a:srgbClr val="FBEA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2" name="Google Shape;2222;p24"/>
          <p:cNvSpPr txBox="1"/>
          <p:nvPr/>
        </p:nvSpPr>
        <p:spPr>
          <a:xfrm>
            <a:off x="9762500" y="1417320"/>
            <a:ext cx="183483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100"/>
              <a:buFont typeface="Calibri"/>
              <a:buNone/>
            </a:pPr>
            <a:r>
              <a:rPr b="0" i="0" lang="es-CO" sz="11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Variación total (valor adicional)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3" name="Google Shape;2223;p24"/>
          <p:cNvSpPr txBox="1"/>
          <p:nvPr/>
        </p:nvSpPr>
        <p:spPr>
          <a:xfrm>
            <a:off x="9762500" y="1691640"/>
            <a:ext cx="183483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261E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B3261E"/>
                </a:solidFill>
                <a:latin typeface="Arial"/>
                <a:ea typeface="Arial"/>
                <a:cs typeface="Arial"/>
                <a:sym typeface="Arial"/>
              </a:rPr>
              <a:t>▲ </a:t>
            </a:r>
            <a:r>
              <a:rPr b="1" i="0" lang="es-CO" sz="1500" u="none" cap="none" strike="noStrike">
                <a:solidFill>
                  <a:srgbClr val="B3261E"/>
                </a:solidFill>
                <a:latin typeface="Calibri"/>
                <a:ea typeface="Calibri"/>
                <a:cs typeface="Calibri"/>
                <a:sym typeface="Calibri"/>
              </a:rPr>
              <a:t>$ 14.597.547.971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4" name="Google Shape;2224;p24"/>
          <p:cNvSpPr/>
          <p:nvPr/>
        </p:nvSpPr>
        <p:spPr>
          <a:xfrm>
            <a:off x="457200" y="2423160"/>
            <a:ext cx="3154680" cy="4114800"/>
          </a:xfrm>
          <a:prstGeom prst="roundRect">
            <a:avLst>
              <a:gd fmla="val 1739" name="adj"/>
            </a:avLst>
          </a:prstGeom>
          <a:solidFill>
            <a:srgbClr val="FFFFFF"/>
          </a:solidFill>
          <a:ln cap="flat" cmpd="sng" w="12700">
            <a:solidFill>
              <a:srgbClr val="D5DD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5" name="Google Shape;2225;p24"/>
          <p:cNvSpPr txBox="1"/>
          <p:nvPr/>
        </p:nvSpPr>
        <p:spPr>
          <a:xfrm>
            <a:off x="640080" y="2560320"/>
            <a:ext cx="2788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1100"/>
              <a:buFont typeface="Calibri"/>
              <a:buNone/>
            </a:pPr>
            <a:r>
              <a:rPr b="1" i="0" lang="es-CO" sz="11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ESTRUCTURA DE PAVIMENTO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6" name="Google Shape;2226;p24"/>
          <p:cNvSpPr txBox="1"/>
          <p:nvPr/>
        </p:nvSpPr>
        <p:spPr>
          <a:xfrm>
            <a:off x="640080" y="2816352"/>
            <a:ext cx="2788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1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Arboletes – San Pedro de Urabá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7" name="Google Shape;2227;p24"/>
          <p:cNvSpPr txBox="1"/>
          <p:nvPr/>
        </p:nvSpPr>
        <p:spPr>
          <a:xfrm>
            <a:off x="640080" y="3172968"/>
            <a:ext cx="2788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LOTE 3 · Longitud: 30.000 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Tránsito – Estructuración: </a:t>
            </a: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231.000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Tránsito – Diseño: </a:t>
            </a: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294.281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8" name="Google Shape;2228;p24"/>
          <p:cNvSpPr txBox="1"/>
          <p:nvPr/>
        </p:nvSpPr>
        <p:spPr>
          <a:xfrm>
            <a:off x="457200" y="3794760"/>
            <a:ext cx="3154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1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Estructura de diseño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9" name="Google Shape;2229;p24"/>
          <p:cNvSpPr/>
          <p:nvPr/>
        </p:nvSpPr>
        <p:spPr>
          <a:xfrm>
            <a:off x="1348740" y="4087368"/>
            <a:ext cx="960120" cy="182880"/>
          </a:xfrm>
          <a:prstGeom prst="rect">
            <a:avLst/>
          </a:prstGeom>
          <a:solidFill>
            <a:srgbClr val="1F2A36"/>
          </a:solidFill>
          <a:ln cap="flat" cmpd="sng" w="12700">
            <a:solidFill>
              <a:srgbClr val="1F2A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0" name="Google Shape;2230;p24"/>
          <p:cNvSpPr txBox="1"/>
          <p:nvPr/>
        </p:nvSpPr>
        <p:spPr>
          <a:xfrm>
            <a:off x="1348740" y="4087368"/>
            <a:ext cx="9601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s-CO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TSD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1" name="Google Shape;2231;p24"/>
          <p:cNvSpPr/>
          <p:nvPr/>
        </p:nvSpPr>
        <p:spPr>
          <a:xfrm>
            <a:off x="1348740" y="4270248"/>
            <a:ext cx="960120" cy="1056132"/>
          </a:xfrm>
          <a:prstGeom prst="rect">
            <a:avLst/>
          </a:prstGeom>
          <a:solidFill>
            <a:srgbClr val="D9A44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2" name="Google Shape;2232;p24"/>
          <p:cNvSpPr txBox="1"/>
          <p:nvPr/>
        </p:nvSpPr>
        <p:spPr>
          <a:xfrm>
            <a:off x="1348740" y="4270248"/>
            <a:ext cx="960120" cy="453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800"/>
              <a:buFont typeface="Calibri"/>
              <a:buNone/>
            </a:pPr>
            <a:r>
              <a:rPr b="1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MGTC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3" name="Google Shape;2233;p24"/>
          <p:cNvSpPr/>
          <p:nvPr/>
        </p:nvSpPr>
        <p:spPr>
          <a:xfrm>
            <a:off x="1412748" y="4724019"/>
            <a:ext cx="832104" cy="565785"/>
          </a:xfrm>
          <a:prstGeom prst="rect">
            <a:avLst/>
          </a:prstGeom>
          <a:solidFill>
            <a:srgbClr val="F2D58E"/>
          </a:solidFill>
          <a:ln cap="flat" cmpd="sng" w="9525">
            <a:solidFill>
              <a:srgbClr val="A87B1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4" name="Google Shape;2234;p24"/>
          <p:cNvSpPr txBox="1"/>
          <p:nvPr/>
        </p:nvSpPr>
        <p:spPr>
          <a:xfrm>
            <a:off x="1412748" y="4724019"/>
            <a:ext cx="832104" cy="565785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800"/>
              <a:buFont typeface="Calibri"/>
              <a:buNone/>
            </a:pPr>
            <a:r>
              <a:rPr b="0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Subbase 15 cm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5" name="Google Shape;2235;p24"/>
          <p:cNvSpPr txBox="1"/>
          <p:nvPr/>
        </p:nvSpPr>
        <p:spPr>
          <a:xfrm>
            <a:off x="2363724" y="4270248"/>
            <a:ext cx="457200" cy="10561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28 cm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6" name="Google Shape;2236;p24"/>
          <p:cNvSpPr/>
          <p:nvPr/>
        </p:nvSpPr>
        <p:spPr>
          <a:xfrm>
            <a:off x="1348740" y="5326380"/>
            <a:ext cx="960120" cy="754380"/>
          </a:xfrm>
          <a:prstGeom prst="rect">
            <a:avLst/>
          </a:prstGeom>
          <a:solidFill>
            <a:srgbClr val="8C6A4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7" name="Google Shape;2237;p24"/>
          <p:cNvSpPr txBox="1"/>
          <p:nvPr/>
        </p:nvSpPr>
        <p:spPr>
          <a:xfrm>
            <a:off x="1348740" y="5326380"/>
            <a:ext cx="960120" cy="754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s-CO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Subrasante estabilizada con cal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8" name="Google Shape;2238;p24"/>
          <p:cNvSpPr txBox="1"/>
          <p:nvPr/>
        </p:nvSpPr>
        <p:spPr>
          <a:xfrm>
            <a:off x="2363724" y="5326380"/>
            <a:ext cx="457200" cy="754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20 cm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39" name="Google Shape;2239;p24"/>
          <p:cNvCxnSpPr/>
          <p:nvPr/>
        </p:nvCxnSpPr>
        <p:spPr>
          <a:xfrm>
            <a:off x="1257300" y="6080760"/>
            <a:ext cx="1143000" cy="0"/>
          </a:xfrm>
          <a:prstGeom prst="straightConnector1">
            <a:avLst/>
          </a:prstGeom>
          <a:noFill/>
          <a:ln cap="flat" cmpd="sng" w="12700">
            <a:solidFill>
              <a:srgbClr val="1D2B2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40" name="Google Shape;2240;p24"/>
          <p:cNvSpPr txBox="1"/>
          <p:nvPr/>
        </p:nvSpPr>
        <p:spPr>
          <a:xfrm>
            <a:off x="457200" y="6153912"/>
            <a:ext cx="31546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Espesor total: </a:t>
            </a:r>
            <a:r>
              <a:rPr b="1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48 cm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41" name="Google Shape;2241;p24"/>
          <p:cNvGraphicFramePr/>
          <p:nvPr/>
        </p:nvGraphicFramePr>
        <p:xfrm>
          <a:off x="3840480" y="24231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{2219430B-40B1-4F13-8D99-EA5D7966678A}</a:tableStyleId>
              </a:tblPr>
              <a:tblGrid>
                <a:gridCol w="2395725"/>
                <a:gridCol w="1097275"/>
                <a:gridCol w="603500"/>
                <a:gridCol w="1097275"/>
                <a:gridCol w="603500"/>
                <a:gridCol w="237750"/>
                <a:gridCol w="1097275"/>
                <a:gridCol w="758950"/>
              </a:tblGrid>
              <a:tr h="438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Grupo – actividad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Valor contractual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 sobre corredor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Valor proyectado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 sobre corredor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Variación (valor adicional)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 de variación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Construcción alcantarilla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$ 2.224.103.886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5,92%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$ 3.956.822.408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7,59%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>
                          <a:solidFill>
                            <a:srgbClr val="B32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▲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$ 1.732.718.522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77,9 %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Construcción cuneta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$ 4.980.491.692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13,26%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$ 8.273.273.788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15,86%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>
                          <a:solidFill>
                            <a:srgbClr val="B32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▲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$ 3.292.782.096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66,1 %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Construcción filtro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$ 6.637.296.000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17,67%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$ 7.833.584.000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15,02%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>
                          <a:solidFill>
                            <a:srgbClr val="B32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▲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$ 1.196.288.000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18,0 %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Construcción bordillos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$ 677.708.880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1,80%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$ 331.523.211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0,64%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>
                          <a:solidFill>
                            <a:srgbClr val="0B5D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▼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0B5D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–$ 346.185.669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0B5D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–51,1 %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Construcción disipadores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$ 310.799.979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0,83%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$ 455.839.969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0,87%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>
                          <a:solidFill>
                            <a:srgbClr val="B32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▲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$ 145.039.990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46,7 %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Estabilización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$ 22.326.637.710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59,43%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$ 30.837.626.370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59,12%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B32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▲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$ 8.510.988.660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38,1 %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Señalización vial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$ 409.136.100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1,09%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$ 475.052.472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0,91%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>
                          <a:solidFill>
                            <a:srgbClr val="B32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▲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$ 65.916.372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16,1 %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CORREDOR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$ 37.566.174.247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100%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$ 52.163.722.218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100%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B32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▲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+$ 14.597.547.971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38,9 %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</a:tr>
            </a:tbl>
          </a:graphicData>
        </a:graphic>
      </p:graphicFrame>
      <p:sp>
        <p:nvSpPr>
          <p:cNvPr id="2242" name="Google Shape;2242;p24"/>
          <p:cNvSpPr txBox="1"/>
          <p:nvPr/>
        </p:nvSpPr>
        <p:spPr>
          <a:xfrm>
            <a:off x="3840480" y="5413248"/>
            <a:ext cx="78912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261E"/>
              </a:buClr>
              <a:buSzPts val="900"/>
              <a:buFont typeface="Arial"/>
              <a:buNone/>
            </a:pPr>
            <a:r>
              <a:rPr b="0" i="0" lang="es-CO" sz="900" u="none" cap="none" strike="noStrike">
                <a:solidFill>
                  <a:srgbClr val="B3261E"/>
                </a:solidFill>
                <a:latin typeface="Arial"/>
                <a:ea typeface="Arial"/>
                <a:cs typeface="Arial"/>
                <a:sym typeface="Arial"/>
              </a:rPr>
              <a:t>▲</a:t>
            </a: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 Se requiere mayor valor     </a:t>
            </a:r>
            <a:r>
              <a:rPr b="0" i="0" lang="es-CO" sz="900" u="none" cap="none" strike="noStrike">
                <a:solidFill>
                  <a:srgbClr val="0B5D2E"/>
                </a:solidFill>
                <a:latin typeface="Arial"/>
                <a:ea typeface="Arial"/>
                <a:cs typeface="Arial"/>
                <a:sym typeface="Arial"/>
              </a:rPr>
              <a:t>▼</a:t>
            </a: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 Sobra valor     % de variación = (valor proyectado – valor contractual) / valor contractual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3" name="Google Shape;2243;p24"/>
          <p:cNvSpPr/>
          <p:nvPr/>
        </p:nvSpPr>
        <p:spPr>
          <a:xfrm>
            <a:off x="3840480" y="5687568"/>
            <a:ext cx="7891272" cy="850392"/>
          </a:xfrm>
          <a:prstGeom prst="roundRect">
            <a:avLst>
              <a:gd fmla="val 6452" name="adj"/>
            </a:avLst>
          </a:prstGeom>
          <a:solidFill>
            <a:srgbClr val="FFFFFF"/>
          </a:solidFill>
          <a:ln cap="flat" cmpd="sng" w="12700">
            <a:solidFill>
              <a:srgbClr val="9AA7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00" lIns="1000" spcFirstLastPara="1" rIns="1500" wrap="square" tIns="15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100"/>
              <a:buFont typeface="Calibri"/>
              <a:buNone/>
            </a:pPr>
            <a:r>
              <a:rPr b="1" i="0" lang="es-CO" sz="11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Notas: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48" name="Shape 2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9" name="Google Shape;2249;p25"/>
          <p:cNvSpPr txBox="1"/>
          <p:nvPr/>
        </p:nvSpPr>
        <p:spPr>
          <a:xfrm>
            <a:off x="457200" y="320040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1200"/>
              <a:buFont typeface="Calibri"/>
              <a:buNone/>
            </a:pPr>
            <a:r>
              <a:rPr b="1" i="0" lang="es-CO" sz="1200" u="none" cap="none" strike="noStrike">
                <a:solidFill>
                  <a:srgbClr val="2E7D4F"/>
                </a:solidFill>
                <a:latin typeface="Poppins"/>
                <a:ea typeface="Poppins"/>
                <a:cs typeface="Poppins"/>
                <a:sym typeface="Poppins"/>
              </a:rPr>
              <a:t>INFORME DE EJECUCIÓN  ·  LOTE 3 – SUBREGIÓN URABÁ</a:t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50" name="Google Shape;2250;p25"/>
          <p:cNvSpPr txBox="1"/>
          <p:nvPr/>
        </p:nvSpPr>
        <p:spPr>
          <a:xfrm>
            <a:off x="457200" y="594360"/>
            <a:ext cx="9692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2800"/>
              <a:buFont typeface="Calibri"/>
              <a:buNone/>
            </a:pPr>
            <a:r>
              <a:rPr b="1" i="0" lang="es-CO" sz="28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Arboletes – San Pedro de Urabá</a:t>
            </a:r>
            <a:endParaRPr b="0" i="0" sz="2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descr="logo.png" id="2251" name="Google Shape;225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78440" y="320040"/>
            <a:ext cx="1371600" cy="676656"/>
          </a:xfrm>
          <a:prstGeom prst="rect">
            <a:avLst/>
          </a:prstGeom>
          <a:noFill/>
          <a:ln>
            <a:noFill/>
          </a:ln>
        </p:spPr>
      </p:pic>
      <p:sp>
        <p:nvSpPr>
          <p:cNvPr id="2252" name="Google Shape;2252;p25"/>
          <p:cNvSpPr txBox="1"/>
          <p:nvPr/>
        </p:nvSpPr>
        <p:spPr>
          <a:xfrm>
            <a:off x="566928" y="4365696"/>
            <a:ext cx="2926080" cy="2048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-CO" sz="1000" u="none" cap="none" strike="noStrike">
                <a:solidFill>
                  <a:srgbClr val="2F8052"/>
                </a:solidFill>
                <a:latin typeface="Arial"/>
                <a:ea typeface="Arial"/>
                <a:cs typeface="Arial"/>
                <a:sym typeface="Arial"/>
              </a:rPr>
              <a:t>AVANCE POR ACTIVIDAD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3" name="Google Shape;2253;p25"/>
          <p:cNvSpPr txBox="1"/>
          <p:nvPr/>
        </p:nvSpPr>
        <p:spPr>
          <a:xfrm>
            <a:off x="566928" y="4719037"/>
            <a:ext cx="2331720" cy="2048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-CO" sz="800" u="none" cap="none" strike="noStrike">
                <a:solidFill>
                  <a:srgbClr val="1F2D26"/>
                </a:solidFill>
                <a:latin typeface="Arial"/>
                <a:ea typeface="Arial"/>
                <a:cs typeface="Arial"/>
                <a:sym typeface="Arial"/>
              </a:rPr>
              <a:t>Construcción alcantarilla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4" name="Google Shape;2254;p25"/>
          <p:cNvSpPr/>
          <p:nvPr/>
        </p:nvSpPr>
        <p:spPr>
          <a:xfrm>
            <a:off x="3063240" y="4743619"/>
            <a:ext cx="2460840" cy="114716"/>
          </a:xfrm>
          <a:prstGeom prst="rect">
            <a:avLst/>
          </a:prstGeom>
          <a:solidFill>
            <a:srgbClr val="E2E8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5" name="Google Shape;2255;p25"/>
          <p:cNvSpPr/>
          <p:nvPr/>
        </p:nvSpPr>
        <p:spPr>
          <a:xfrm>
            <a:off x="3063240" y="4891112"/>
            <a:ext cx="3611880" cy="114716"/>
          </a:xfrm>
          <a:prstGeom prst="rect">
            <a:avLst/>
          </a:prstGeom>
          <a:solidFill>
            <a:srgbClr val="2F805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6" name="Google Shape;2256;p25"/>
          <p:cNvSpPr txBox="1"/>
          <p:nvPr/>
        </p:nvSpPr>
        <p:spPr>
          <a:xfrm>
            <a:off x="566928" y="4987871"/>
            <a:ext cx="2331720" cy="2048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-CO" sz="800" u="none" cap="none" strike="noStrike">
                <a:solidFill>
                  <a:srgbClr val="1F2D26"/>
                </a:solidFill>
                <a:latin typeface="Arial"/>
                <a:ea typeface="Arial"/>
                <a:cs typeface="Arial"/>
                <a:sym typeface="Arial"/>
              </a:rPr>
              <a:t>Construcción cuneta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7" name="Google Shape;2257;p25"/>
          <p:cNvSpPr/>
          <p:nvPr/>
        </p:nvSpPr>
        <p:spPr>
          <a:xfrm>
            <a:off x="3063240" y="5012453"/>
            <a:ext cx="2462645" cy="114716"/>
          </a:xfrm>
          <a:prstGeom prst="rect">
            <a:avLst/>
          </a:prstGeom>
          <a:solidFill>
            <a:srgbClr val="E2E8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8" name="Google Shape;2258;p25"/>
          <p:cNvSpPr/>
          <p:nvPr/>
        </p:nvSpPr>
        <p:spPr>
          <a:xfrm>
            <a:off x="3063240" y="5159946"/>
            <a:ext cx="3611880" cy="114716"/>
          </a:xfrm>
          <a:prstGeom prst="rect">
            <a:avLst/>
          </a:prstGeom>
          <a:solidFill>
            <a:srgbClr val="2F805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9" name="Google Shape;2259;p25"/>
          <p:cNvSpPr txBox="1"/>
          <p:nvPr/>
        </p:nvSpPr>
        <p:spPr>
          <a:xfrm>
            <a:off x="566928" y="5256705"/>
            <a:ext cx="2331720" cy="2048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-CO" sz="800" u="none" cap="none" strike="noStrike">
                <a:solidFill>
                  <a:srgbClr val="1F2D26"/>
                </a:solidFill>
                <a:latin typeface="Arial"/>
                <a:ea typeface="Arial"/>
                <a:cs typeface="Arial"/>
                <a:sym typeface="Arial"/>
              </a:rPr>
              <a:t>Construcción filtro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0" name="Google Shape;2260;p25"/>
          <p:cNvSpPr/>
          <p:nvPr/>
        </p:nvSpPr>
        <p:spPr>
          <a:xfrm>
            <a:off x="3063240" y="5281287"/>
            <a:ext cx="2462645" cy="114716"/>
          </a:xfrm>
          <a:prstGeom prst="rect">
            <a:avLst/>
          </a:prstGeom>
          <a:solidFill>
            <a:srgbClr val="E2E8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1" name="Google Shape;2261;p25"/>
          <p:cNvSpPr/>
          <p:nvPr/>
        </p:nvSpPr>
        <p:spPr>
          <a:xfrm>
            <a:off x="3063240" y="5428780"/>
            <a:ext cx="3611880" cy="114716"/>
          </a:xfrm>
          <a:prstGeom prst="rect">
            <a:avLst/>
          </a:prstGeom>
          <a:solidFill>
            <a:srgbClr val="2F805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2" name="Google Shape;2262;p25"/>
          <p:cNvSpPr txBox="1"/>
          <p:nvPr/>
        </p:nvSpPr>
        <p:spPr>
          <a:xfrm>
            <a:off x="566928" y="5525539"/>
            <a:ext cx="2331720" cy="2048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-CO" sz="800" u="none" cap="none" strike="noStrike">
                <a:solidFill>
                  <a:srgbClr val="1F2D26"/>
                </a:solidFill>
                <a:latin typeface="Arial"/>
                <a:ea typeface="Arial"/>
                <a:cs typeface="Arial"/>
                <a:sym typeface="Arial"/>
              </a:rPr>
              <a:t>Construcción bordillos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3" name="Google Shape;2263;p25"/>
          <p:cNvSpPr/>
          <p:nvPr/>
        </p:nvSpPr>
        <p:spPr>
          <a:xfrm>
            <a:off x="3063240" y="5550121"/>
            <a:ext cx="3611880" cy="114716"/>
          </a:xfrm>
          <a:prstGeom prst="rect">
            <a:avLst/>
          </a:prstGeom>
          <a:solidFill>
            <a:srgbClr val="E2E8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4" name="Google Shape;2264;p25"/>
          <p:cNvSpPr/>
          <p:nvPr/>
        </p:nvSpPr>
        <p:spPr>
          <a:xfrm>
            <a:off x="3063240" y="5697614"/>
            <a:ext cx="1765606" cy="114716"/>
          </a:xfrm>
          <a:prstGeom prst="rect">
            <a:avLst/>
          </a:prstGeom>
          <a:solidFill>
            <a:srgbClr val="2F805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5" name="Google Shape;2265;p25"/>
          <p:cNvSpPr txBox="1"/>
          <p:nvPr/>
        </p:nvSpPr>
        <p:spPr>
          <a:xfrm>
            <a:off x="566928" y="5794373"/>
            <a:ext cx="2331720" cy="2048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-CO" sz="800" u="none" cap="none" strike="noStrike">
                <a:solidFill>
                  <a:srgbClr val="1F2D26"/>
                </a:solidFill>
                <a:latin typeface="Arial"/>
                <a:ea typeface="Arial"/>
                <a:cs typeface="Arial"/>
                <a:sym typeface="Arial"/>
              </a:rPr>
              <a:t>Estabilización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6" name="Google Shape;2266;p25"/>
          <p:cNvSpPr/>
          <p:nvPr/>
        </p:nvSpPr>
        <p:spPr>
          <a:xfrm>
            <a:off x="3063240" y="5818955"/>
            <a:ext cx="3113689" cy="114716"/>
          </a:xfrm>
          <a:prstGeom prst="rect">
            <a:avLst/>
          </a:prstGeom>
          <a:solidFill>
            <a:srgbClr val="E2E8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7" name="Google Shape;2267;p25"/>
          <p:cNvSpPr/>
          <p:nvPr/>
        </p:nvSpPr>
        <p:spPr>
          <a:xfrm>
            <a:off x="3063240" y="5966448"/>
            <a:ext cx="3611880" cy="114716"/>
          </a:xfrm>
          <a:prstGeom prst="rect">
            <a:avLst/>
          </a:prstGeom>
          <a:solidFill>
            <a:srgbClr val="2F805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8" name="Google Shape;2268;p25"/>
          <p:cNvSpPr txBox="1"/>
          <p:nvPr/>
        </p:nvSpPr>
        <p:spPr>
          <a:xfrm>
            <a:off x="566928" y="6063207"/>
            <a:ext cx="2331720" cy="2048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-CO" sz="800" u="none" cap="none" strike="noStrike">
                <a:solidFill>
                  <a:srgbClr val="1F2D26"/>
                </a:solidFill>
                <a:latin typeface="Arial"/>
                <a:ea typeface="Arial"/>
                <a:cs typeface="Arial"/>
                <a:sym typeface="Arial"/>
              </a:rPr>
              <a:t>Señalización vial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9" name="Google Shape;2269;p25"/>
          <p:cNvSpPr/>
          <p:nvPr/>
        </p:nvSpPr>
        <p:spPr>
          <a:xfrm>
            <a:off x="3063240" y="6087789"/>
            <a:ext cx="3611880" cy="114716"/>
          </a:xfrm>
          <a:prstGeom prst="rect">
            <a:avLst/>
          </a:prstGeom>
          <a:solidFill>
            <a:srgbClr val="E2E8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0" name="Google Shape;2270;p25"/>
          <p:cNvSpPr/>
          <p:nvPr/>
        </p:nvSpPr>
        <p:spPr>
          <a:xfrm>
            <a:off x="3063240" y="6235283"/>
            <a:ext cx="3611880" cy="114716"/>
          </a:xfrm>
          <a:prstGeom prst="rect">
            <a:avLst/>
          </a:prstGeom>
          <a:solidFill>
            <a:srgbClr val="2F805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1" name="Google Shape;2271;p25"/>
          <p:cNvSpPr/>
          <p:nvPr/>
        </p:nvSpPr>
        <p:spPr>
          <a:xfrm>
            <a:off x="3840480" y="4378514"/>
            <a:ext cx="109728" cy="98328"/>
          </a:xfrm>
          <a:prstGeom prst="rect">
            <a:avLst/>
          </a:prstGeom>
          <a:solidFill>
            <a:srgbClr val="E2E8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2" name="Google Shape;2272;p25"/>
          <p:cNvSpPr txBox="1"/>
          <p:nvPr/>
        </p:nvSpPr>
        <p:spPr>
          <a:xfrm>
            <a:off x="3995928" y="4369552"/>
            <a:ext cx="1143000" cy="1311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b="0" i="0" lang="es-CO" sz="650" u="none" cap="none" strike="noStrike">
                <a:solidFill>
                  <a:srgbClr val="637068"/>
                </a:solidFill>
                <a:latin typeface="Arial"/>
                <a:ea typeface="Arial"/>
                <a:cs typeface="Arial"/>
                <a:sym typeface="Arial"/>
              </a:rPr>
              <a:t>Presupuestada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3" name="Google Shape;2273;p25"/>
          <p:cNvSpPr/>
          <p:nvPr/>
        </p:nvSpPr>
        <p:spPr>
          <a:xfrm>
            <a:off x="5257800" y="4378514"/>
            <a:ext cx="109728" cy="98328"/>
          </a:xfrm>
          <a:prstGeom prst="rect">
            <a:avLst/>
          </a:prstGeom>
          <a:solidFill>
            <a:srgbClr val="2F805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4" name="Google Shape;2274;p25"/>
          <p:cNvSpPr txBox="1"/>
          <p:nvPr/>
        </p:nvSpPr>
        <p:spPr>
          <a:xfrm>
            <a:off x="5413248" y="4369552"/>
            <a:ext cx="594360" cy="1311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b="0" i="0" lang="es-CO" sz="650" u="none" cap="none" strike="noStrike">
                <a:solidFill>
                  <a:srgbClr val="637068"/>
                </a:solidFill>
                <a:latin typeface="Arial"/>
                <a:ea typeface="Arial"/>
                <a:cs typeface="Arial"/>
                <a:sym typeface="Arial"/>
              </a:rPr>
              <a:t>Real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275" name="Google Shape;2275;p25"/>
          <p:cNvGraphicFramePr/>
          <p:nvPr/>
        </p:nvGraphicFramePr>
        <p:xfrm>
          <a:off x="6766560" y="451293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{9EE2CB2E-1363-49F8-B8BA-952F5347F8D7}</a:tableStyleId>
              </a:tblPr>
              <a:tblGrid>
                <a:gridCol w="457200"/>
                <a:gridCol w="841250"/>
                <a:gridCol w="841250"/>
                <a:gridCol w="914400"/>
                <a:gridCol w="914400"/>
                <a:gridCol w="850400"/>
              </a:tblGrid>
              <a:tr h="300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1" lang="es-CO" sz="7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Unidad</a:t>
                      </a:r>
                      <a:endParaRPr sz="7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1" lang="es-CO" sz="7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Presupuestada</a:t>
                      </a:r>
                      <a:endParaRPr sz="7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1" lang="es-CO" sz="7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Real</a:t>
                      </a:r>
                      <a:endParaRPr sz="7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1" lang="es-CO" sz="7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Ejec. anterior</a:t>
                      </a:r>
                      <a:endParaRPr sz="7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1" lang="es-CO" sz="7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Ejec. actual</a:t>
                      </a:r>
                      <a:endParaRPr sz="7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1" lang="es-CO" sz="7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Δ semana</a:t>
                      </a:r>
                      <a:endParaRPr sz="7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</a:tr>
              <a:tr h="264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s-CO" sz="80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und</a:t>
                      </a:r>
                      <a:endParaRPr sz="8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s-CO" sz="8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62</a:t>
                      </a:r>
                      <a:endParaRPr sz="8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s-CO" sz="8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91</a:t>
                      </a:r>
                      <a:endParaRPr sz="8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s-CO" sz="800" u="none" cap="none" strike="noStrike">
                          <a:solidFill>
                            <a:srgbClr val="5F6B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8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O" sz="8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8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s-CO" sz="800" u="none" cap="none" strike="noStrike">
                          <a:solidFill>
                            <a:srgbClr val="8A94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8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64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s-CO" sz="80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</a:t>
                      </a:r>
                      <a:endParaRPr sz="8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s-CO" sz="8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30.000</a:t>
                      </a:r>
                      <a:endParaRPr sz="8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s-CO" sz="8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44.000</a:t>
                      </a:r>
                      <a:endParaRPr sz="8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s-CO" sz="800" u="none" cap="none" strike="noStrike">
                          <a:solidFill>
                            <a:srgbClr val="5F6B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8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O" sz="8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8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s-CO" sz="800" u="none" cap="none" strike="noStrike">
                          <a:solidFill>
                            <a:srgbClr val="8A94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8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264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s-CO" sz="80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</a:t>
                      </a:r>
                      <a:endParaRPr sz="8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s-CO" sz="8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30.000</a:t>
                      </a:r>
                      <a:endParaRPr sz="8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s-CO" sz="8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44.000</a:t>
                      </a:r>
                      <a:endParaRPr sz="8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s-CO" sz="800" u="none" cap="none" strike="noStrike">
                          <a:solidFill>
                            <a:srgbClr val="5F6B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8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O" sz="8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8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s-CO" sz="800" u="none" cap="none" strike="noStrike">
                          <a:solidFill>
                            <a:srgbClr val="8A94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8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64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s-CO" sz="80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</a:t>
                      </a:r>
                      <a:endParaRPr sz="8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s-CO" sz="8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6.000</a:t>
                      </a:r>
                      <a:endParaRPr sz="8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s-CO" sz="8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2.933</a:t>
                      </a:r>
                      <a:endParaRPr sz="8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s-CO" sz="800" u="none" cap="none" strike="noStrike">
                          <a:solidFill>
                            <a:srgbClr val="5F6B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s.r.</a:t>
                      </a:r>
                      <a:endParaRPr sz="8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O" sz="8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s.r.</a:t>
                      </a:r>
                      <a:endParaRPr sz="8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s-CO" sz="800" u="none" cap="none" strike="noStrike">
                          <a:solidFill>
                            <a:srgbClr val="8A94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8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264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s-CO" sz="80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m²</a:t>
                      </a:r>
                      <a:endParaRPr sz="8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s-CO" sz="8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150.000</a:t>
                      </a:r>
                      <a:endParaRPr sz="8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s-CO" sz="8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174.000</a:t>
                      </a:r>
                      <a:endParaRPr sz="8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s-CO" sz="800" u="none" cap="none" strike="noStrike">
                          <a:solidFill>
                            <a:srgbClr val="5F6B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8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O" sz="8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8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s-CO" sz="800" u="none" cap="none" strike="noStrike">
                          <a:solidFill>
                            <a:srgbClr val="8A94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8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64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s-CO" sz="80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</a:t>
                      </a:r>
                      <a:endParaRPr sz="8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s-CO" sz="8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90.000</a:t>
                      </a:r>
                      <a:endParaRPr sz="8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s-CO" sz="8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90.000</a:t>
                      </a:r>
                      <a:endParaRPr sz="8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s-CO" sz="800" u="none" cap="none" strike="noStrike">
                          <a:solidFill>
                            <a:srgbClr val="5F6B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s.r.</a:t>
                      </a:r>
                      <a:endParaRPr sz="8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O" sz="8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s.r.</a:t>
                      </a:r>
                      <a:endParaRPr sz="8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s-CO" sz="800" u="none" cap="none" strike="noStrike">
                          <a:solidFill>
                            <a:srgbClr val="8A94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8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</a:tbl>
          </a:graphicData>
        </a:graphic>
      </p:graphicFrame>
      <p:sp>
        <p:nvSpPr>
          <p:cNvPr id="2276" name="Google Shape;2276;p25"/>
          <p:cNvSpPr txBox="1"/>
          <p:nvPr/>
        </p:nvSpPr>
        <p:spPr>
          <a:xfrm>
            <a:off x="457200" y="6400000"/>
            <a:ext cx="5000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s-CO" sz="9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TIEMPO TRANSCURRIDO DEL PLAZO CONTRACTUAL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7" name="Google Shape;2277;p25"/>
          <p:cNvSpPr txBox="1"/>
          <p:nvPr/>
        </p:nvSpPr>
        <p:spPr>
          <a:xfrm>
            <a:off x="5000000" y="6400000"/>
            <a:ext cx="6734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Inicio: </a:t>
            </a:r>
            <a:r>
              <a:rPr b="1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04/02/2026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   ·   Terminación: </a:t>
            </a:r>
            <a:r>
              <a:rPr b="1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03/08/2027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   ·   Al: </a:t>
            </a:r>
            <a:r>
              <a:rPr b="1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02/10/2026</a:t>
            </a: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   ·   240 de 545 días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8" name="Google Shape;2278;p25"/>
          <p:cNvSpPr/>
          <p:nvPr/>
        </p:nvSpPr>
        <p:spPr>
          <a:xfrm>
            <a:off x="457200" y="6598920"/>
            <a:ext cx="11277600" cy="164592"/>
          </a:xfrm>
          <a:prstGeom prst="roundRect">
            <a:avLst>
              <a:gd fmla="val 50000" name="adj"/>
            </a:avLst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9" name="Google Shape;2279;p25"/>
          <p:cNvSpPr/>
          <p:nvPr/>
        </p:nvSpPr>
        <p:spPr>
          <a:xfrm>
            <a:off x="457200" y="6598920"/>
            <a:ext cx="4966282" cy="164592"/>
          </a:xfrm>
          <a:prstGeom prst="roundRect">
            <a:avLst>
              <a:gd fmla="val 50000" name="adj"/>
            </a:avLst>
          </a:prstGeom>
          <a:solidFill>
            <a:srgbClr val="2E7D4F"/>
          </a:solidFill>
          <a:ln cap="flat" cmpd="sng" w="9525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s-CO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44,0 %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80" name="Google Shape;2280;p25"/>
          <p:cNvCxnSpPr/>
          <p:nvPr/>
        </p:nvCxnSpPr>
        <p:spPr>
          <a:xfrm>
            <a:off x="974521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81" name="Google Shape;2281;p25"/>
          <p:cNvCxnSpPr/>
          <p:nvPr/>
        </p:nvCxnSpPr>
        <p:spPr>
          <a:xfrm>
            <a:off x="1615999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82" name="Google Shape;2282;p25"/>
          <p:cNvCxnSpPr/>
          <p:nvPr/>
        </p:nvCxnSpPr>
        <p:spPr>
          <a:xfrm>
            <a:off x="2236784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83" name="Google Shape;2283;p25"/>
          <p:cNvCxnSpPr/>
          <p:nvPr/>
        </p:nvCxnSpPr>
        <p:spPr>
          <a:xfrm>
            <a:off x="2878262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84" name="Google Shape;2284;p25"/>
          <p:cNvCxnSpPr/>
          <p:nvPr/>
        </p:nvCxnSpPr>
        <p:spPr>
          <a:xfrm>
            <a:off x="3499048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85" name="Google Shape;2285;p25"/>
          <p:cNvCxnSpPr/>
          <p:nvPr/>
        </p:nvCxnSpPr>
        <p:spPr>
          <a:xfrm>
            <a:off x="4140526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86" name="Google Shape;2286;p25"/>
          <p:cNvCxnSpPr/>
          <p:nvPr/>
        </p:nvCxnSpPr>
        <p:spPr>
          <a:xfrm>
            <a:off x="4782004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87" name="Google Shape;2287;p25"/>
          <p:cNvCxnSpPr/>
          <p:nvPr/>
        </p:nvCxnSpPr>
        <p:spPr>
          <a:xfrm>
            <a:off x="5402789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88" name="Google Shape;2288;p25"/>
          <p:cNvCxnSpPr/>
          <p:nvPr/>
        </p:nvCxnSpPr>
        <p:spPr>
          <a:xfrm>
            <a:off x="6044267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89" name="Google Shape;2289;p25"/>
          <p:cNvCxnSpPr/>
          <p:nvPr/>
        </p:nvCxnSpPr>
        <p:spPr>
          <a:xfrm>
            <a:off x="6665053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90" name="Google Shape;2290;p25"/>
          <p:cNvCxnSpPr/>
          <p:nvPr/>
        </p:nvCxnSpPr>
        <p:spPr>
          <a:xfrm>
            <a:off x="7306531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91" name="Google Shape;2291;p25"/>
          <p:cNvCxnSpPr/>
          <p:nvPr/>
        </p:nvCxnSpPr>
        <p:spPr>
          <a:xfrm>
            <a:off x="7948009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92" name="Google Shape;2292;p25"/>
          <p:cNvCxnSpPr/>
          <p:nvPr/>
        </p:nvCxnSpPr>
        <p:spPr>
          <a:xfrm>
            <a:off x="8527409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93" name="Google Shape;2293;p25"/>
          <p:cNvCxnSpPr/>
          <p:nvPr/>
        </p:nvCxnSpPr>
        <p:spPr>
          <a:xfrm>
            <a:off x="9168887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94" name="Google Shape;2294;p25"/>
          <p:cNvCxnSpPr/>
          <p:nvPr/>
        </p:nvCxnSpPr>
        <p:spPr>
          <a:xfrm>
            <a:off x="9789672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95" name="Google Shape;2295;p25"/>
          <p:cNvCxnSpPr/>
          <p:nvPr/>
        </p:nvCxnSpPr>
        <p:spPr>
          <a:xfrm>
            <a:off x="10431150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96" name="Google Shape;2296;p25"/>
          <p:cNvCxnSpPr/>
          <p:nvPr/>
        </p:nvCxnSpPr>
        <p:spPr>
          <a:xfrm>
            <a:off x="11051936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97" name="Google Shape;2297;p25"/>
          <p:cNvCxnSpPr/>
          <p:nvPr/>
        </p:nvCxnSpPr>
        <p:spPr>
          <a:xfrm>
            <a:off x="11693414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98" name="Google Shape;2298;p25"/>
          <p:cNvCxnSpPr/>
          <p:nvPr/>
        </p:nvCxnSpPr>
        <p:spPr>
          <a:xfrm>
            <a:off x="5423482" y="6562344"/>
            <a:ext cx="0" cy="237744"/>
          </a:xfrm>
          <a:prstGeom prst="straightConnector1">
            <a:avLst/>
          </a:prstGeom>
          <a:noFill/>
          <a:ln cap="flat" cmpd="sng" w="19050">
            <a:solidFill>
              <a:srgbClr val="B3261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99" name="Google Shape;2299;p25"/>
          <p:cNvSpPr/>
          <p:nvPr/>
        </p:nvSpPr>
        <p:spPr>
          <a:xfrm>
            <a:off x="457200" y="1234440"/>
            <a:ext cx="1765249" cy="658368"/>
          </a:xfrm>
          <a:prstGeom prst="roundRect">
            <a:avLst>
              <a:gd fmla="val 1111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0" name="Google Shape;2300;p25"/>
          <p:cNvSpPr txBox="1"/>
          <p:nvPr/>
        </p:nvSpPr>
        <p:spPr>
          <a:xfrm>
            <a:off x="566928" y="1289304"/>
            <a:ext cx="154579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50"/>
              <a:buFont typeface="Calibri"/>
              <a:buNone/>
            </a:pPr>
            <a:r>
              <a:rPr b="0" i="0" lang="es-CO" sz="9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Longitud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1" name="Google Shape;2301;p25"/>
          <p:cNvSpPr txBox="1"/>
          <p:nvPr/>
        </p:nvSpPr>
        <p:spPr>
          <a:xfrm>
            <a:off x="566928" y="1453896"/>
            <a:ext cx="154579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30,00 km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2" name="Google Shape;2302;p25"/>
          <p:cNvSpPr txBox="1"/>
          <p:nvPr/>
        </p:nvSpPr>
        <p:spPr>
          <a:xfrm>
            <a:off x="566928" y="1700784"/>
            <a:ext cx="1545793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00"/>
              <a:buFont typeface="Calibri"/>
              <a:buNone/>
            </a:pP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Alcance real 21,60 km · dif. 8,40 km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3" name="Google Shape;2303;p25"/>
          <p:cNvSpPr/>
          <p:nvPr/>
        </p:nvSpPr>
        <p:spPr>
          <a:xfrm>
            <a:off x="2359609" y="1234440"/>
            <a:ext cx="1765249" cy="658368"/>
          </a:xfrm>
          <a:prstGeom prst="roundRect">
            <a:avLst>
              <a:gd fmla="val 1111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4" name="Google Shape;2304;p25"/>
          <p:cNvSpPr txBox="1"/>
          <p:nvPr/>
        </p:nvSpPr>
        <p:spPr>
          <a:xfrm>
            <a:off x="2469337" y="1289304"/>
            <a:ext cx="154579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50"/>
              <a:buFont typeface="Calibri"/>
              <a:buNone/>
            </a:pPr>
            <a:r>
              <a:rPr b="0" i="0" lang="es-CO" sz="9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Valor total del corredor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5" name="Google Shape;2305;p25"/>
          <p:cNvSpPr txBox="1"/>
          <p:nvPr/>
        </p:nvSpPr>
        <p:spPr>
          <a:xfrm>
            <a:off x="2469337" y="1453896"/>
            <a:ext cx="154579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$ 41.437.224.038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6" name="Google Shape;2306;p25"/>
          <p:cNvSpPr txBox="1"/>
          <p:nvPr/>
        </p:nvSpPr>
        <p:spPr>
          <a:xfrm>
            <a:off x="2469337" y="1700784"/>
            <a:ext cx="1545793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00"/>
              <a:buFont typeface="Calibri"/>
              <a:buNone/>
            </a:pP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$ 1.381.240.801 por km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7" name="Google Shape;2307;p25"/>
          <p:cNvSpPr/>
          <p:nvPr/>
        </p:nvSpPr>
        <p:spPr>
          <a:xfrm>
            <a:off x="4262018" y="1234440"/>
            <a:ext cx="1765249" cy="658368"/>
          </a:xfrm>
          <a:prstGeom prst="roundRect">
            <a:avLst>
              <a:gd fmla="val 11111" name="adj"/>
            </a:avLst>
          </a:prstGeom>
          <a:solidFill>
            <a:srgbClr val="FBEAEA"/>
          </a:solidFill>
          <a:ln cap="flat" cmpd="sng" w="12700">
            <a:solidFill>
              <a:srgbClr val="FBEA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8" name="Google Shape;2308;p25"/>
          <p:cNvSpPr txBox="1"/>
          <p:nvPr/>
        </p:nvSpPr>
        <p:spPr>
          <a:xfrm>
            <a:off x="4371746" y="1289304"/>
            <a:ext cx="154579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50"/>
              <a:buFont typeface="Calibri"/>
              <a:buNone/>
            </a:pPr>
            <a:r>
              <a:rPr b="0" i="0" lang="es-CO" sz="9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Avance físico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9" name="Google Shape;2309;p25"/>
          <p:cNvSpPr txBox="1"/>
          <p:nvPr/>
        </p:nvSpPr>
        <p:spPr>
          <a:xfrm>
            <a:off x="4371746" y="1453896"/>
            <a:ext cx="154579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261E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B3261E"/>
                </a:solidFill>
                <a:latin typeface="Calibri"/>
                <a:ea typeface="Calibri"/>
                <a:cs typeface="Calibri"/>
                <a:sym typeface="Calibri"/>
              </a:rPr>
              <a:t>0,004 %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0" name="Google Shape;2310;p25"/>
          <p:cNvSpPr txBox="1"/>
          <p:nvPr/>
        </p:nvSpPr>
        <p:spPr>
          <a:xfrm>
            <a:off x="4371746" y="1700784"/>
            <a:ext cx="1545793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00"/>
              <a:buFont typeface="Calibri"/>
              <a:buNone/>
            </a:pP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Frente a 44,0 % del plazo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1" name="Google Shape;2311;p25"/>
          <p:cNvSpPr/>
          <p:nvPr/>
        </p:nvSpPr>
        <p:spPr>
          <a:xfrm>
            <a:off x="6164428" y="1234440"/>
            <a:ext cx="1765249" cy="658368"/>
          </a:xfrm>
          <a:prstGeom prst="roundRect">
            <a:avLst>
              <a:gd fmla="val 1111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2" name="Google Shape;2312;p25"/>
          <p:cNvSpPr txBox="1"/>
          <p:nvPr/>
        </p:nvSpPr>
        <p:spPr>
          <a:xfrm>
            <a:off x="6274156" y="1289304"/>
            <a:ext cx="154579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50"/>
              <a:buFont typeface="Calibri"/>
              <a:buNone/>
            </a:pPr>
            <a:r>
              <a:rPr b="0" i="0" lang="es-CO" sz="9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Avance financiero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3" name="Google Shape;2313;p25"/>
          <p:cNvSpPr txBox="1"/>
          <p:nvPr/>
        </p:nvSpPr>
        <p:spPr>
          <a:xfrm>
            <a:off x="6274156" y="1453896"/>
            <a:ext cx="154579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0,02 %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4" name="Google Shape;2314;p25"/>
          <p:cNvSpPr/>
          <p:nvPr/>
        </p:nvSpPr>
        <p:spPr>
          <a:xfrm>
            <a:off x="8066837" y="1234440"/>
            <a:ext cx="1765249" cy="658368"/>
          </a:xfrm>
          <a:prstGeom prst="roundRect">
            <a:avLst>
              <a:gd fmla="val 1111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5" name="Google Shape;2315;p25"/>
          <p:cNvSpPr txBox="1"/>
          <p:nvPr/>
        </p:nvSpPr>
        <p:spPr>
          <a:xfrm>
            <a:off x="8176565" y="1289304"/>
            <a:ext cx="154579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50"/>
              <a:buFont typeface="Calibri"/>
              <a:buNone/>
            </a:pPr>
            <a:r>
              <a:rPr b="0" i="0" lang="es-CO" sz="9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Plazo transcurrido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6" name="Google Shape;2316;p25"/>
          <p:cNvSpPr txBox="1"/>
          <p:nvPr/>
        </p:nvSpPr>
        <p:spPr>
          <a:xfrm>
            <a:off x="8176565" y="1453896"/>
            <a:ext cx="154579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44,0 %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7" name="Google Shape;2317;p25"/>
          <p:cNvSpPr txBox="1"/>
          <p:nvPr/>
        </p:nvSpPr>
        <p:spPr>
          <a:xfrm>
            <a:off x="8176565" y="1700784"/>
            <a:ext cx="1545793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00"/>
              <a:buFont typeface="Calibri"/>
              <a:buNone/>
            </a:pP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7,9 de 18 meses (al 02/10/2026)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8" name="Google Shape;2318;p25"/>
          <p:cNvSpPr/>
          <p:nvPr/>
        </p:nvSpPr>
        <p:spPr>
          <a:xfrm>
            <a:off x="9969246" y="1234440"/>
            <a:ext cx="1765249" cy="658368"/>
          </a:xfrm>
          <a:prstGeom prst="roundRect">
            <a:avLst>
              <a:gd fmla="val 1111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9" name="Google Shape;2319;p25"/>
          <p:cNvSpPr txBox="1"/>
          <p:nvPr/>
        </p:nvSpPr>
        <p:spPr>
          <a:xfrm>
            <a:off x="10078974" y="1289304"/>
            <a:ext cx="1545793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Inicio: </a:t>
            </a: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04/02/2026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Terminación: </a:t>
            </a: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03/08/2027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Corte: </a:t>
            </a: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25/09/2026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0" name="Google Shape;2320;p25"/>
          <p:cNvSpPr txBox="1"/>
          <p:nvPr/>
        </p:nvSpPr>
        <p:spPr>
          <a:xfrm>
            <a:off x="457200" y="1956816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1000"/>
              <a:buFont typeface="Calibri"/>
              <a:buNone/>
            </a:pPr>
            <a:r>
              <a:rPr b="1" i="0" lang="es-CO" sz="10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AVANCE POR ABSCISA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21" name="Google Shape;2321;p25"/>
          <p:cNvCxnSpPr/>
          <p:nvPr/>
        </p:nvCxnSpPr>
        <p:spPr>
          <a:xfrm>
            <a:off x="2103120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22" name="Google Shape;2322;p25"/>
          <p:cNvCxnSpPr/>
          <p:nvPr/>
        </p:nvCxnSpPr>
        <p:spPr>
          <a:xfrm>
            <a:off x="2404872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23" name="Google Shape;2323;p25"/>
          <p:cNvCxnSpPr/>
          <p:nvPr/>
        </p:nvCxnSpPr>
        <p:spPr>
          <a:xfrm>
            <a:off x="2706624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24" name="Google Shape;2324;p25"/>
          <p:cNvCxnSpPr/>
          <p:nvPr/>
        </p:nvCxnSpPr>
        <p:spPr>
          <a:xfrm>
            <a:off x="3008376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25" name="Google Shape;2325;p25"/>
          <p:cNvCxnSpPr/>
          <p:nvPr/>
        </p:nvCxnSpPr>
        <p:spPr>
          <a:xfrm>
            <a:off x="3310128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26" name="Google Shape;2326;p25"/>
          <p:cNvCxnSpPr/>
          <p:nvPr/>
        </p:nvCxnSpPr>
        <p:spPr>
          <a:xfrm>
            <a:off x="3611880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27" name="Google Shape;2327;p25"/>
          <p:cNvCxnSpPr/>
          <p:nvPr/>
        </p:nvCxnSpPr>
        <p:spPr>
          <a:xfrm>
            <a:off x="3913632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28" name="Google Shape;2328;p25"/>
          <p:cNvCxnSpPr/>
          <p:nvPr/>
        </p:nvCxnSpPr>
        <p:spPr>
          <a:xfrm>
            <a:off x="4215384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29" name="Google Shape;2329;p25"/>
          <p:cNvCxnSpPr/>
          <p:nvPr/>
        </p:nvCxnSpPr>
        <p:spPr>
          <a:xfrm>
            <a:off x="4517136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30" name="Google Shape;2330;p25"/>
          <p:cNvCxnSpPr/>
          <p:nvPr/>
        </p:nvCxnSpPr>
        <p:spPr>
          <a:xfrm>
            <a:off x="4818888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31" name="Google Shape;2331;p25"/>
          <p:cNvCxnSpPr/>
          <p:nvPr/>
        </p:nvCxnSpPr>
        <p:spPr>
          <a:xfrm>
            <a:off x="5120640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32" name="Google Shape;2332;p25"/>
          <p:cNvCxnSpPr/>
          <p:nvPr/>
        </p:nvCxnSpPr>
        <p:spPr>
          <a:xfrm>
            <a:off x="5422392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33" name="Google Shape;2333;p25"/>
          <p:cNvCxnSpPr/>
          <p:nvPr/>
        </p:nvCxnSpPr>
        <p:spPr>
          <a:xfrm>
            <a:off x="5724144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34" name="Google Shape;2334;p25"/>
          <p:cNvCxnSpPr/>
          <p:nvPr/>
        </p:nvCxnSpPr>
        <p:spPr>
          <a:xfrm>
            <a:off x="6025896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35" name="Google Shape;2335;p25"/>
          <p:cNvCxnSpPr/>
          <p:nvPr/>
        </p:nvCxnSpPr>
        <p:spPr>
          <a:xfrm>
            <a:off x="6327648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36" name="Google Shape;2336;p25"/>
          <p:cNvCxnSpPr/>
          <p:nvPr/>
        </p:nvCxnSpPr>
        <p:spPr>
          <a:xfrm>
            <a:off x="6629400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37" name="Google Shape;2337;p25"/>
          <p:cNvCxnSpPr/>
          <p:nvPr/>
        </p:nvCxnSpPr>
        <p:spPr>
          <a:xfrm>
            <a:off x="6931152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38" name="Google Shape;2338;p25"/>
          <p:cNvCxnSpPr/>
          <p:nvPr/>
        </p:nvCxnSpPr>
        <p:spPr>
          <a:xfrm>
            <a:off x="7232904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39" name="Google Shape;2339;p25"/>
          <p:cNvCxnSpPr/>
          <p:nvPr/>
        </p:nvCxnSpPr>
        <p:spPr>
          <a:xfrm>
            <a:off x="7534656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40" name="Google Shape;2340;p25"/>
          <p:cNvCxnSpPr/>
          <p:nvPr/>
        </p:nvCxnSpPr>
        <p:spPr>
          <a:xfrm>
            <a:off x="7836408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41" name="Google Shape;2341;p25"/>
          <p:cNvCxnSpPr/>
          <p:nvPr/>
        </p:nvCxnSpPr>
        <p:spPr>
          <a:xfrm>
            <a:off x="8138160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42" name="Google Shape;2342;p25"/>
          <p:cNvCxnSpPr/>
          <p:nvPr/>
        </p:nvCxnSpPr>
        <p:spPr>
          <a:xfrm>
            <a:off x="8439912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43" name="Google Shape;2343;p25"/>
          <p:cNvCxnSpPr/>
          <p:nvPr/>
        </p:nvCxnSpPr>
        <p:spPr>
          <a:xfrm>
            <a:off x="8741664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44" name="Google Shape;2344;p25"/>
          <p:cNvCxnSpPr/>
          <p:nvPr/>
        </p:nvCxnSpPr>
        <p:spPr>
          <a:xfrm>
            <a:off x="9043416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45" name="Google Shape;2345;p25"/>
          <p:cNvCxnSpPr/>
          <p:nvPr/>
        </p:nvCxnSpPr>
        <p:spPr>
          <a:xfrm>
            <a:off x="9345168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46" name="Google Shape;2346;p25"/>
          <p:cNvCxnSpPr/>
          <p:nvPr/>
        </p:nvCxnSpPr>
        <p:spPr>
          <a:xfrm>
            <a:off x="9646920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47" name="Google Shape;2347;p25"/>
          <p:cNvCxnSpPr/>
          <p:nvPr/>
        </p:nvCxnSpPr>
        <p:spPr>
          <a:xfrm>
            <a:off x="9948672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48" name="Google Shape;2348;p25"/>
          <p:cNvCxnSpPr/>
          <p:nvPr/>
        </p:nvCxnSpPr>
        <p:spPr>
          <a:xfrm>
            <a:off x="10250424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49" name="Google Shape;2349;p25"/>
          <p:cNvCxnSpPr/>
          <p:nvPr/>
        </p:nvCxnSpPr>
        <p:spPr>
          <a:xfrm>
            <a:off x="10552176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50" name="Google Shape;2350;p25"/>
          <p:cNvCxnSpPr/>
          <p:nvPr/>
        </p:nvCxnSpPr>
        <p:spPr>
          <a:xfrm>
            <a:off x="10853928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51" name="Google Shape;2351;p25"/>
          <p:cNvCxnSpPr/>
          <p:nvPr/>
        </p:nvCxnSpPr>
        <p:spPr>
          <a:xfrm>
            <a:off x="11155680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52" name="Google Shape;2352;p25"/>
          <p:cNvSpPr txBox="1"/>
          <p:nvPr/>
        </p:nvSpPr>
        <p:spPr>
          <a:xfrm>
            <a:off x="1874520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3" name="Google Shape;2353;p25"/>
          <p:cNvSpPr txBox="1"/>
          <p:nvPr/>
        </p:nvSpPr>
        <p:spPr>
          <a:xfrm>
            <a:off x="2478024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4" name="Google Shape;2354;p25"/>
          <p:cNvSpPr txBox="1"/>
          <p:nvPr/>
        </p:nvSpPr>
        <p:spPr>
          <a:xfrm>
            <a:off x="3081528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K4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5" name="Google Shape;2355;p25"/>
          <p:cNvSpPr txBox="1"/>
          <p:nvPr/>
        </p:nvSpPr>
        <p:spPr>
          <a:xfrm>
            <a:off x="3685032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6" name="Google Shape;2356;p25"/>
          <p:cNvSpPr txBox="1"/>
          <p:nvPr/>
        </p:nvSpPr>
        <p:spPr>
          <a:xfrm>
            <a:off x="4288536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K8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7" name="Google Shape;2357;p25"/>
          <p:cNvSpPr txBox="1"/>
          <p:nvPr/>
        </p:nvSpPr>
        <p:spPr>
          <a:xfrm>
            <a:off x="4892040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K10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8" name="Google Shape;2358;p25"/>
          <p:cNvSpPr txBox="1"/>
          <p:nvPr/>
        </p:nvSpPr>
        <p:spPr>
          <a:xfrm>
            <a:off x="5495544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K12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9" name="Google Shape;2359;p25"/>
          <p:cNvSpPr txBox="1"/>
          <p:nvPr/>
        </p:nvSpPr>
        <p:spPr>
          <a:xfrm>
            <a:off x="6099048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K14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0" name="Google Shape;2360;p25"/>
          <p:cNvSpPr txBox="1"/>
          <p:nvPr/>
        </p:nvSpPr>
        <p:spPr>
          <a:xfrm>
            <a:off x="6702552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K16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1" name="Google Shape;2361;p25"/>
          <p:cNvSpPr txBox="1"/>
          <p:nvPr/>
        </p:nvSpPr>
        <p:spPr>
          <a:xfrm>
            <a:off x="7306056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K18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2" name="Google Shape;2362;p25"/>
          <p:cNvSpPr txBox="1"/>
          <p:nvPr/>
        </p:nvSpPr>
        <p:spPr>
          <a:xfrm>
            <a:off x="7909560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K20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3" name="Google Shape;2363;p25"/>
          <p:cNvSpPr txBox="1"/>
          <p:nvPr/>
        </p:nvSpPr>
        <p:spPr>
          <a:xfrm>
            <a:off x="8513064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K22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4" name="Google Shape;2364;p25"/>
          <p:cNvSpPr txBox="1"/>
          <p:nvPr/>
        </p:nvSpPr>
        <p:spPr>
          <a:xfrm>
            <a:off x="9116568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K24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5" name="Google Shape;2365;p25"/>
          <p:cNvSpPr txBox="1"/>
          <p:nvPr/>
        </p:nvSpPr>
        <p:spPr>
          <a:xfrm>
            <a:off x="9720072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K26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6" name="Google Shape;2366;p25"/>
          <p:cNvSpPr txBox="1"/>
          <p:nvPr/>
        </p:nvSpPr>
        <p:spPr>
          <a:xfrm>
            <a:off x="10323576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K28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7" name="Google Shape;2367;p25"/>
          <p:cNvSpPr txBox="1"/>
          <p:nvPr/>
        </p:nvSpPr>
        <p:spPr>
          <a:xfrm>
            <a:off x="10835640" y="2139696"/>
            <a:ext cx="54864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K30+000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8" name="Google Shape;2368;p25"/>
          <p:cNvSpPr/>
          <p:nvPr/>
        </p:nvSpPr>
        <p:spPr>
          <a:xfrm>
            <a:off x="2103120" y="2359152"/>
            <a:ext cx="9052560" cy="73152"/>
          </a:xfrm>
          <a:prstGeom prst="rect">
            <a:avLst/>
          </a:prstGeom>
          <a:solidFill>
            <a:srgbClr val="1F2A36"/>
          </a:solidFill>
          <a:ln cap="flat" cmpd="sng" w="12700">
            <a:solidFill>
              <a:srgbClr val="1F2A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69" name="Google Shape;2369;p25"/>
          <p:cNvCxnSpPr/>
          <p:nvPr/>
        </p:nvCxnSpPr>
        <p:spPr>
          <a:xfrm>
            <a:off x="2139696" y="2395728"/>
            <a:ext cx="8979408" cy="0"/>
          </a:xfrm>
          <a:prstGeom prst="straightConnector1">
            <a:avLst/>
          </a:prstGeom>
          <a:noFill/>
          <a:ln cap="flat" cmpd="sng" w="9525">
            <a:solidFill>
              <a:srgbClr val="F2C94C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370" name="Google Shape;2370;p25"/>
          <p:cNvCxnSpPr/>
          <p:nvPr/>
        </p:nvCxnSpPr>
        <p:spPr>
          <a:xfrm>
            <a:off x="731520" y="2487168"/>
            <a:ext cx="0" cy="338328"/>
          </a:xfrm>
          <a:prstGeom prst="straightConnector1">
            <a:avLst/>
          </a:prstGeom>
          <a:noFill/>
          <a:ln cap="flat" cmpd="sng" w="19050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71" name="Google Shape;2371;p25"/>
          <p:cNvSpPr txBox="1"/>
          <p:nvPr/>
        </p:nvSpPr>
        <p:spPr>
          <a:xfrm rot="-5400000">
            <a:off x="260604" y="2574036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700"/>
              <a:buFont typeface="Calibri"/>
              <a:buNone/>
            </a:pPr>
            <a:r>
              <a:rPr b="1" i="0" lang="es-CO" sz="7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CAMPO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2" name="Google Shape;2372;p25"/>
          <p:cNvSpPr txBox="1"/>
          <p:nvPr/>
        </p:nvSpPr>
        <p:spPr>
          <a:xfrm>
            <a:off x="777240" y="2487168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Topografía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3" name="Google Shape;2373;p25"/>
          <p:cNvSpPr/>
          <p:nvPr/>
        </p:nvSpPr>
        <p:spPr>
          <a:xfrm>
            <a:off x="2103120" y="2487168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4" name="Google Shape;2374;p25"/>
          <p:cNvSpPr/>
          <p:nvPr/>
        </p:nvSpPr>
        <p:spPr>
          <a:xfrm>
            <a:off x="2202699" y="2487175"/>
            <a:ext cx="805800" cy="155400"/>
          </a:xfrm>
          <a:prstGeom prst="rect">
            <a:avLst/>
          </a:prstGeom>
          <a:solidFill>
            <a:srgbClr val="2E7D4F"/>
          </a:solidFill>
          <a:ln cap="flat" cmpd="sng" w="9525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5" name="Google Shape;2375;p25"/>
          <p:cNvSpPr txBox="1"/>
          <p:nvPr/>
        </p:nvSpPr>
        <p:spPr>
          <a:xfrm>
            <a:off x="11201400" y="2487168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8,9 %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6" name="Google Shape;2376;p25"/>
          <p:cNvSpPr txBox="1"/>
          <p:nvPr/>
        </p:nvSpPr>
        <p:spPr>
          <a:xfrm>
            <a:off x="777240" y="2670048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Apiques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7" name="Google Shape;2377;p25"/>
          <p:cNvSpPr/>
          <p:nvPr/>
        </p:nvSpPr>
        <p:spPr>
          <a:xfrm>
            <a:off x="2103120" y="2670048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8" name="Google Shape;2378;p25"/>
          <p:cNvSpPr/>
          <p:nvPr/>
        </p:nvSpPr>
        <p:spPr>
          <a:xfrm>
            <a:off x="2217786" y="2670048"/>
            <a:ext cx="1394094" cy="155448"/>
          </a:xfrm>
          <a:prstGeom prst="rect">
            <a:avLst/>
          </a:prstGeom>
          <a:solidFill>
            <a:srgbClr val="2E7D4F"/>
          </a:solidFill>
          <a:ln cap="flat" cmpd="sng" w="9525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9" name="Google Shape;2379;p25"/>
          <p:cNvSpPr txBox="1"/>
          <p:nvPr/>
        </p:nvSpPr>
        <p:spPr>
          <a:xfrm>
            <a:off x="11201400" y="2670048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15,83 %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80" name="Google Shape;2380;p25"/>
          <p:cNvCxnSpPr/>
          <p:nvPr/>
        </p:nvCxnSpPr>
        <p:spPr>
          <a:xfrm>
            <a:off x="731520" y="2953512"/>
            <a:ext cx="0" cy="466344"/>
          </a:xfrm>
          <a:prstGeom prst="straightConnector1">
            <a:avLst/>
          </a:prstGeom>
          <a:noFill/>
          <a:ln cap="flat" cmpd="sng" w="19050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81" name="Google Shape;2381;p25"/>
          <p:cNvSpPr txBox="1"/>
          <p:nvPr/>
        </p:nvSpPr>
        <p:spPr>
          <a:xfrm rot="-5400000">
            <a:off x="260604" y="3104388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700"/>
              <a:buFont typeface="Calibri"/>
              <a:buNone/>
            </a:pPr>
            <a:r>
              <a:rPr b="1" i="0" lang="es-CO" sz="7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ESTRUCTURA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2" name="Google Shape;2382;p25"/>
          <p:cNvSpPr txBox="1"/>
          <p:nvPr/>
        </p:nvSpPr>
        <p:spPr>
          <a:xfrm>
            <a:off x="777240" y="2953512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Rodadura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3" name="Google Shape;2383;p25"/>
          <p:cNvSpPr/>
          <p:nvPr/>
        </p:nvSpPr>
        <p:spPr>
          <a:xfrm>
            <a:off x="2103120" y="2953512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4" name="Google Shape;2384;p25"/>
          <p:cNvSpPr txBox="1"/>
          <p:nvPr/>
        </p:nvSpPr>
        <p:spPr>
          <a:xfrm>
            <a:off x="11201400" y="2953512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5" name="Google Shape;2385;p25"/>
          <p:cNvSpPr txBox="1"/>
          <p:nvPr/>
        </p:nvSpPr>
        <p:spPr>
          <a:xfrm>
            <a:off x="777240" y="3108960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Capa granular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6" name="Google Shape;2386;p25"/>
          <p:cNvSpPr/>
          <p:nvPr/>
        </p:nvSpPr>
        <p:spPr>
          <a:xfrm>
            <a:off x="2103120" y="3108960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7" name="Google Shape;2387;p25"/>
          <p:cNvSpPr txBox="1"/>
          <p:nvPr/>
        </p:nvSpPr>
        <p:spPr>
          <a:xfrm>
            <a:off x="2194560" y="3108960"/>
            <a:ext cx="886968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00"/>
              <a:buFont typeface="Calibri"/>
              <a:buNone/>
            </a:pP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Diseño de estructura pendiente de presentación por el contratista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8" name="Google Shape;2388;p25"/>
          <p:cNvSpPr txBox="1"/>
          <p:nvPr/>
        </p:nvSpPr>
        <p:spPr>
          <a:xfrm>
            <a:off x="11201400" y="3108960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9" name="Google Shape;2389;p25"/>
          <p:cNvSpPr txBox="1"/>
          <p:nvPr/>
        </p:nvSpPr>
        <p:spPr>
          <a:xfrm>
            <a:off x="777240" y="3264408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Subrasante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0" name="Google Shape;2390;p25"/>
          <p:cNvSpPr/>
          <p:nvPr/>
        </p:nvSpPr>
        <p:spPr>
          <a:xfrm>
            <a:off x="2103120" y="3264408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1" name="Google Shape;2391;p25"/>
          <p:cNvSpPr txBox="1"/>
          <p:nvPr/>
        </p:nvSpPr>
        <p:spPr>
          <a:xfrm>
            <a:off x="11201400" y="3264408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92" name="Google Shape;2392;p25"/>
          <p:cNvCxnSpPr/>
          <p:nvPr/>
        </p:nvCxnSpPr>
        <p:spPr>
          <a:xfrm>
            <a:off x="731520" y="3511296"/>
            <a:ext cx="0" cy="521208"/>
          </a:xfrm>
          <a:prstGeom prst="straightConnector1">
            <a:avLst/>
          </a:prstGeom>
          <a:noFill/>
          <a:ln cap="flat" cmpd="sng" w="19050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93" name="Google Shape;2393;p25"/>
          <p:cNvSpPr txBox="1"/>
          <p:nvPr/>
        </p:nvSpPr>
        <p:spPr>
          <a:xfrm rot="-5400000">
            <a:off x="260604" y="3689604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700"/>
              <a:buFont typeface="Calibri"/>
              <a:buNone/>
            </a:pPr>
            <a:r>
              <a:rPr b="1" i="0" lang="es-CO" sz="7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DRENAJE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4" name="Google Shape;2394;p25"/>
          <p:cNvSpPr txBox="1"/>
          <p:nvPr/>
        </p:nvSpPr>
        <p:spPr>
          <a:xfrm>
            <a:off x="777240" y="3511296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Cunetas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5" name="Google Shape;2395;p25"/>
          <p:cNvSpPr/>
          <p:nvPr/>
        </p:nvSpPr>
        <p:spPr>
          <a:xfrm>
            <a:off x="2103120" y="3511296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6" name="Google Shape;2396;p25"/>
          <p:cNvSpPr txBox="1"/>
          <p:nvPr/>
        </p:nvSpPr>
        <p:spPr>
          <a:xfrm>
            <a:off x="11201400" y="3511296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7" name="Google Shape;2397;p25"/>
          <p:cNvSpPr txBox="1"/>
          <p:nvPr/>
        </p:nvSpPr>
        <p:spPr>
          <a:xfrm>
            <a:off x="777240" y="3694176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Filtros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8" name="Google Shape;2398;p25"/>
          <p:cNvSpPr txBox="1"/>
          <p:nvPr/>
        </p:nvSpPr>
        <p:spPr>
          <a:xfrm>
            <a:off x="1920240" y="3694176"/>
            <a:ext cx="137160" cy="777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700"/>
              <a:buFont typeface="Calibri"/>
              <a:buNone/>
            </a:pPr>
            <a:r>
              <a:rPr b="0" i="0" lang="es-CO" sz="7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9" name="Google Shape;2399;p25"/>
          <p:cNvSpPr txBox="1"/>
          <p:nvPr/>
        </p:nvSpPr>
        <p:spPr>
          <a:xfrm>
            <a:off x="1920240" y="3771900"/>
            <a:ext cx="137160" cy="777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700"/>
              <a:buFont typeface="Calibri"/>
              <a:buNone/>
            </a:pPr>
            <a:r>
              <a:rPr b="0" i="0" lang="es-CO" sz="7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0" name="Google Shape;2400;p25"/>
          <p:cNvSpPr/>
          <p:nvPr/>
        </p:nvSpPr>
        <p:spPr>
          <a:xfrm>
            <a:off x="2103120" y="3694176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01" name="Google Shape;2401;p25"/>
          <p:cNvCxnSpPr/>
          <p:nvPr/>
        </p:nvCxnSpPr>
        <p:spPr>
          <a:xfrm>
            <a:off x="2103120" y="3771900"/>
            <a:ext cx="9052560" cy="0"/>
          </a:xfrm>
          <a:prstGeom prst="straightConnector1">
            <a:avLst/>
          </a:prstGeom>
          <a:noFill/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02" name="Google Shape;2402;p25"/>
          <p:cNvSpPr txBox="1"/>
          <p:nvPr/>
        </p:nvSpPr>
        <p:spPr>
          <a:xfrm>
            <a:off x="11201400" y="3694176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3" name="Google Shape;2403;p25"/>
          <p:cNvSpPr txBox="1"/>
          <p:nvPr/>
        </p:nvSpPr>
        <p:spPr>
          <a:xfrm>
            <a:off x="777240" y="3877056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Alcantarillas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4" name="Google Shape;2404;p25"/>
          <p:cNvSpPr/>
          <p:nvPr/>
        </p:nvSpPr>
        <p:spPr>
          <a:xfrm>
            <a:off x="2103120" y="3877056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5" name="Google Shape;2405;p25"/>
          <p:cNvSpPr/>
          <p:nvPr/>
        </p:nvSpPr>
        <p:spPr>
          <a:xfrm>
            <a:off x="2619375" y="3877050"/>
            <a:ext cx="279300" cy="155400"/>
          </a:xfrm>
          <a:prstGeom prst="rect">
            <a:avLst/>
          </a:prstGeom>
          <a:solidFill>
            <a:srgbClr val="A9C7B3"/>
          </a:solidFill>
          <a:ln cap="flat" cmpd="sng" w="9525">
            <a:solidFill>
              <a:srgbClr val="A9C7B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6" name="Google Shape;2406;p25"/>
          <p:cNvSpPr txBox="1"/>
          <p:nvPr/>
        </p:nvSpPr>
        <p:spPr>
          <a:xfrm>
            <a:off x="11201400" y="3877056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5,83 %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7" name="Google Shape;2407;p25"/>
          <p:cNvSpPr txBox="1"/>
          <p:nvPr/>
        </p:nvSpPr>
        <p:spPr>
          <a:xfrm>
            <a:off x="457200" y="4078224"/>
            <a:ext cx="11277295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D9A6"/>
              </a:buClr>
              <a:buSzPts val="800"/>
              <a:buFont typeface="Calibri"/>
              <a:buNone/>
            </a:pPr>
            <a:r>
              <a:rPr b="0" i="0" lang="es-CO" sz="800" u="none" cap="none" strike="noStrike">
                <a:solidFill>
                  <a:srgbClr val="EBD9A6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Natural    </a:t>
            </a:r>
            <a:r>
              <a:rPr b="0" i="0" lang="es-CO" sz="800" u="none" cap="none" strike="noStrike">
                <a:solidFill>
                  <a:srgbClr val="8C6A4F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Cal    </a:t>
            </a:r>
            <a:r>
              <a:rPr b="0" i="0" lang="es-CO" sz="800" u="none" cap="none" strike="noStrike">
                <a:solidFill>
                  <a:srgbClr val="D9A441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Cemento    </a:t>
            </a:r>
            <a:r>
              <a:rPr b="0" i="0" lang="es-CO" sz="800" u="none" cap="none" strike="noStrike">
                <a:solidFill>
                  <a:srgbClr val="1F2A36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TSD    </a:t>
            </a:r>
            <a:r>
              <a:rPr b="0" i="0" lang="es-CO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MDC-19    </a:t>
            </a:r>
            <a:r>
              <a:rPr b="0" i="0" lang="es-CO" sz="8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Ejecutado    </a:t>
            </a:r>
            <a:r>
              <a:rPr b="0" i="0" lang="es-CO" sz="800" u="none" cap="none" strike="noStrike">
                <a:solidFill>
                  <a:srgbClr val="A9C7B3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Limpieza alcantarillas    </a:t>
            </a:r>
            <a:r>
              <a:rPr b="0" i="0" lang="es-CO" sz="800" u="none" cap="none" strike="noStrike">
                <a:solidFill>
                  <a:srgbClr val="2F6FB0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Alcantarilla nueva    </a:t>
            </a:r>
            <a:r>
              <a:rPr b="0" i="0" lang="es-CO" sz="800" u="none" cap="none" strike="noStrike">
                <a:solidFill>
                  <a:srgbClr val="E07B24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Reemplazada    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12" name="Shape 2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3" name="Google Shape;2413;p26"/>
          <p:cNvSpPr txBox="1"/>
          <p:nvPr/>
        </p:nvSpPr>
        <p:spPr>
          <a:xfrm>
            <a:off x="457200" y="320040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1200"/>
              <a:buFont typeface="Calibri"/>
              <a:buNone/>
            </a:pPr>
            <a:r>
              <a:rPr b="1" i="0" lang="es-CO" sz="1200" u="none" cap="none" strike="noStrike">
                <a:solidFill>
                  <a:srgbClr val="2E7D4F"/>
                </a:solidFill>
                <a:latin typeface="Poppins"/>
                <a:ea typeface="Poppins"/>
                <a:cs typeface="Poppins"/>
                <a:sym typeface="Poppins"/>
              </a:rPr>
              <a:t>CONSOLIDADO DE VARIACIÓN DE ALCANCES  ·  LOTE 3 – SUBREGIÓN URABÁ</a:t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14" name="Google Shape;2414;p26"/>
          <p:cNvSpPr txBox="1"/>
          <p:nvPr/>
        </p:nvSpPr>
        <p:spPr>
          <a:xfrm>
            <a:off x="457200" y="594360"/>
            <a:ext cx="9692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2800"/>
              <a:buFont typeface="Calibri"/>
              <a:buNone/>
            </a:pPr>
            <a:r>
              <a:rPr b="1" i="0" lang="es-CO" sz="28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Consolidado Lote 3 – Urabá</a:t>
            </a:r>
            <a:endParaRPr b="0" i="0" sz="2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descr="logo.png" id="2415" name="Google Shape;241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78440" y="320040"/>
            <a:ext cx="1371600" cy="676656"/>
          </a:xfrm>
          <a:prstGeom prst="rect">
            <a:avLst/>
          </a:prstGeom>
          <a:noFill/>
          <a:ln>
            <a:noFill/>
          </a:ln>
        </p:spPr>
      </p:pic>
      <p:sp>
        <p:nvSpPr>
          <p:cNvPr id="2416" name="Google Shape;2416;p26"/>
          <p:cNvSpPr/>
          <p:nvPr/>
        </p:nvSpPr>
        <p:spPr>
          <a:xfrm>
            <a:off x="457200" y="128016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7" name="Google Shape;2417;p26"/>
          <p:cNvSpPr txBox="1"/>
          <p:nvPr/>
        </p:nvSpPr>
        <p:spPr>
          <a:xfrm>
            <a:off x="594360" y="1353312"/>
            <a:ext cx="1834835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050"/>
              <a:buFont typeface="Calibri"/>
              <a:buNone/>
            </a:pPr>
            <a:r>
              <a:rPr b="0" i="0" lang="es-CO" sz="10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Km contratados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8" name="Google Shape;2418;p26"/>
          <p:cNvSpPr txBox="1"/>
          <p:nvPr/>
        </p:nvSpPr>
        <p:spPr>
          <a:xfrm>
            <a:off x="594360" y="1581912"/>
            <a:ext cx="183483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120,65 km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9" name="Google Shape;2419;p26"/>
          <p:cNvSpPr txBox="1"/>
          <p:nvPr/>
        </p:nvSpPr>
        <p:spPr>
          <a:xfrm>
            <a:off x="594360" y="1901952"/>
            <a:ext cx="1834835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1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4 corredores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0" name="Google Shape;2420;p26"/>
          <p:cNvSpPr/>
          <p:nvPr/>
        </p:nvSpPr>
        <p:spPr>
          <a:xfrm>
            <a:off x="2749235" y="128016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1" name="Google Shape;2421;p26"/>
          <p:cNvSpPr txBox="1"/>
          <p:nvPr/>
        </p:nvSpPr>
        <p:spPr>
          <a:xfrm>
            <a:off x="2886395" y="1353312"/>
            <a:ext cx="1834835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050"/>
              <a:buFont typeface="Calibri"/>
              <a:buNone/>
            </a:pPr>
            <a:r>
              <a:rPr b="0" i="0" lang="es-CO" sz="10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Km que se alcanzan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2" name="Google Shape;2422;p26"/>
          <p:cNvSpPr txBox="1"/>
          <p:nvPr/>
        </p:nvSpPr>
        <p:spPr>
          <a:xfrm>
            <a:off x="2886395" y="1581912"/>
            <a:ext cx="183483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D2E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0B5D2E"/>
                </a:solidFill>
                <a:latin typeface="Calibri"/>
                <a:ea typeface="Calibri"/>
                <a:cs typeface="Calibri"/>
                <a:sym typeface="Calibri"/>
              </a:rPr>
              <a:t>86,59 km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3" name="Google Shape;2423;p26"/>
          <p:cNvSpPr txBox="1"/>
          <p:nvPr/>
        </p:nvSpPr>
        <p:spPr>
          <a:xfrm>
            <a:off x="2886395" y="1901952"/>
            <a:ext cx="1834835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1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Cobertura 71,0 % del valor proyectado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4" name="Google Shape;2424;p26"/>
          <p:cNvSpPr/>
          <p:nvPr/>
        </p:nvSpPr>
        <p:spPr>
          <a:xfrm>
            <a:off x="5041270" y="128016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5" name="Google Shape;2425;p26"/>
          <p:cNvSpPr txBox="1"/>
          <p:nvPr/>
        </p:nvSpPr>
        <p:spPr>
          <a:xfrm>
            <a:off x="5178430" y="1353312"/>
            <a:ext cx="1834835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050"/>
              <a:buFont typeface="Calibri"/>
              <a:buNone/>
            </a:pPr>
            <a:r>
              <a:rPr b="0" i="0" lang="es-CO" sz="10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Valor contractual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6" name="Google Shape;2426;p26"/>
          <p:cNvSpPr txBox="1"/>
          <p:nvPr/>
        </p:nvSpPr>
        <p:spPr>
          <a:xfrm>
            <a:off x="5178430" y="1581912"/>
            <a:ext cx="183483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$ 131.134.918.626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7" name="Google Shape;2427;p26"/>
          <p:cNvSpPr txBox="1"/>
          <p:nvPr/>
        </p:nvSpPr>
        <p:spPr>
          <a:xfrm>
            <a:off x="5178430" y="1901952"/>
            <a:ext cx="1834835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1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$ 1.086.903.594 por km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8" name="Google Shape;2428;p26"/>
          <p:cNvSpPr/>
          <p:nvPr/>
        </p:nvSpPr>
        <p:spPr>
          <a:xfrm>
            <a:off x="7333305" y="128016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9" name="Google Shape;2429;p26"/>
          <p:cNvSpPr txBox="1"/>
          <p:nvPr/>
        </p:nvSpPr>
        <p:spPr>
          <a:xfrm>
            <a:off x="7470465" y="1353312"/>
            <a:ext cx="1834835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050"/>
              <a:buFont typeface="Calibri"/>
              <a:buNone/>
            </a:pPr>
            <a:r>
              <a:rPr b="0" i="0" lang="es-CO" sz="10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Valor proyectado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0" name="Google Shape;2430;p26"/>
          <p:cNvSpPr txBox="1"/>
          <p:nvPr/>
        </p:nvSpPr>
        <p:spPr>
          <a:xfrm>
            <a:off x="7470465" y="1581912"/>
            <a:ext cx="183483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$ 184.657.078.439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1" name="Google Shape;2431;p26"/>
          <p:cNvSpPr txBox="1"/>
          <p:nvPr/>
        </p:nvSpPr>
        <p:spPr>
          <a:xfrm>
            <a:off x="7470465" y="1901952"/>
            <a:ext cx="1834835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1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$ 1.530.518.677 por km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2" name="Google Shape;2432;p26"/>
          <p:cNvSpPr/>
          <p:nvPr/>
        </p:nvSpPr>
        <p:spPr>
          <a:xfrm>
            <a:off x="9625340" y="128016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FBEAEA"/>
          </a:solidFill>
          <a:ln cap="flat" cmpd="sng" w="12700">
            <a:solidFill>
              <a:srgbClr val="FBEA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3" name="Google Shape;2433;p26"/>
          <p:cNvSpPr txBox="1"/>
          <p:nvPr/>
        </p:nvSpPr>
        <p:spPr>
          <a:xfrm>
            <a:off x="9762500" y="1353312"/>
            <a:ext cx="1834835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050"/>
              <a:buFont typeface="Calibri"/>
              <a:buNone/>
            </a:pPr>
            <a:r>
              <a:rPr b="0" i="0" lang="es-CO" sz="10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Adición estimada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4" name="Google Shape;2434;p26"/>
          <p:cNvSpPr txBox="1"/>
          <p:nvPr/>
        </p:nvSpPr>
        <p:spPr>
          <a:xfrm>
            <a:off x="9762500" y="1581912"/>
            <a:ext cx="183483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261E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B3261E"/>
                </a:solidFill>
                <a:latin typeface="Calibri"/>
                <a:ea typeface="Calibri"/>
                <a:cs typeface="Calibri"/>
                <a:sym typeface="Calibri"/>
              </a:rPr>
              <a:t>▲ $ 53.522.159.813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5" name="Google Shape;2435;p26"/>
          <p:cNvSpPr txBox="1"/>
          <p:nvPr/>
        </p:nvSpPr>
        <p:spPr>
          <a:xfrm>
            <a:off x="9762500" y="1901952"/>
            <a:ext cx="1834835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1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+40,8 % sobre lo contractual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36" name="Google Shape;2436;p26"/>
          <p:cNvGraphicFramePr/>
          <p:nvPr/>
        </p:nvGraphicFramePr>
        <p:xfrm>
          <a:off x="457200" y="23774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{2219430B-40B1-4F13-8D99-EA5D7966678A}</a:tableStyleId>
              </a:tblPr>
              <a:tblGrid>
                <a:gridCol w="2743200"/>
                <a:gridCol w="621800"/>
                <a:gridCol w="1280150"/>
                <a:gridCol w="1005850"/>
                <a:gridCol w="1280150"/>
                <a:gridCol w="1005850"/>
                <a:gridCol w="795525"/>
                <a:gridCol w="1280150"/>
                <a:gridCol w="640075"/>
                <a:gridCol w="62180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Corredor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Longitud (km)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Valor contractual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$/km contractual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Valor proyectado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$/km proyectado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Longitud probable (km)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Variación (valor adicional)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 variación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Cobertura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San Pedro de Urabá – Necoclí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58,65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$ 63.704.286.922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$ 1.086.177.100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$ 93.432.954.152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$ 1.593.059.747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39,99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▲ $ 29.728.667.230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46,7 %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68,2 %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Mutatá – Pavarandó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10,00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$ 10.158.861.861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$ 1.015.886.186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$ 10.158.861.860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$ 1.015.886.186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10,00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0,0 %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100,0 %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 Tres – San Pedro de Urabá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22,00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$ 19.705.595.596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$ 895.708.891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$ 28.901.540.209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$ 1.313.706.373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15,00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▲ $ 9.195.944.613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46,7 %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68,2 %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Arboletes – San Pedro de Urabá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30,00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$ 37.566.174.247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$ 1.252.205.808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$ 52.163.722.218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$ 1.738.790.741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21,60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▲ $ 14.597.547.971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38,9 %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72,0 %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LOTE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120,65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$ 131.134.918.626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$ 1.086.903.594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$ 184.657.078.439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$ 1.530.518.677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86,59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▲ $ 53.522.159.813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40,8 %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71,0 %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</a:tr>
            </a:tbl>
          </a:graphicData>
        </a:graphic>
      </p:graphicFrame>
      <p:sp>
        <p:nvSpPr>
          <p:cNvPr id="2437" name="Google Shape;2437;p26"/>
          <p:cNvSpPr txBox="1"/>
          <p:nvPr/>
        </p:nvSpPr>
        <p:spPr>
          <a:xfrm>
            <a:off x="457200" y="4690872"/>
            <a:ext cx="1127455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00"/>
              <a:buFont typeface="Calibri"/>
              <a:buNone/>
            </a:pP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Valor total del contrato $ 144.973.755.369 · Valor contractual de obra $ 131.134.918.626 · Valores reembolsables $ 13.838.836.743.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8" name="Google Shape;2438;p26"/>
          <p:cNvSpPr txBox="1"/>
          <p:nvPr/>
        </p:nvSpPr>
        <p:spPr>
          <a:xfrm>
            <a:off x="457200" y="4864608"/>
            <a:ext cx="1127455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00"/>
              <a:buFont typeface="Calibri"/>
              <a:buNone/>
            </a:pP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Longitud probable = longitud × valor contractual ÷ valor proyectado · Cobertura = valor contractual ÷ valor proyectado.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9" name="Google Shape;2439;p26"/>
          <p:cNvSpPr txBox="1"/>
          <p:nvPr/>
        </p:nvSpPr>
        <p:spPr>
          <a:xfrm>
            <a:off x="457200" y="5148072"/>
            <a:ext cx="112745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950"/>
              <a:buFont typeface="Calibri"/>
              <a:buNone/>
            </a:pPr>
            <a:r>
              <a:rPr b="1" i="0" lang="es-CO" sz="95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KILÓMETROS DEL LOTE QUE SE CUBREN CON EL VALOR CONTRACTUAL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0" name="Google Shape;2440;p26"/>
          <p:cNvSpPr/>
          <p:nvPr/>
        </p:nvSpPr>
        <p:spPr>
          <a:xfrm>
            <a:off x="457200" y="5385816"/>
            <a:ext cx="8093986" cy="384048"/>
          </a:xfrm>
          <a:prstGeom prst="rect">
            <a:avLst/>
          </a:prstGeom>
          <a:solidFill>
            <a:srgbClr val="2E7D4F"/>
          </a:solidFill>
          <a:ln cap="flat" cmpd="sng" w="12700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1" name="Google Shape;2441;p26"/>
          <p:cNvSpPr/>
          <p:nvPr/>
        </p:nvSpPr>
        <p:spPr>
          <a:xfrm>
            <a:off x="8551186" y="5385816"/>
            <a:ext cx="3183309" cy="384048"/>
          </a:xfrm>
          <a:prstGeom prst="rect">
            <a:avLst/>
          </a:prstGeom>
          <a:solidFill>
            <a:srgbClr val="B3261E"/>
          </a:solidFill>
          <a:ln cap="flat" cmpd="sng" w="12700">
            <a:solidFill>
              <a:srgbClr val="B326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2" name="Google Shape;2442;p26"/>
          <p:cNvSpPr txBox="1"/>
          <p:nvPr/>
        </p:nvSpPr>
        <p:spPr>
          <a:xfrm>
            <a:off x="566928" y="5385816"/>
            <a:ext cx="787453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s-CO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86,59 km</a:t>
            </a:r>
            <a:r>
              <a:rPr b="0" i="0" lang="es-CO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·  71,8 % se alcanza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3" name="Google Shape;2443;p26"/>
          <p:cNvSpPr txBox="1"/>
          <p:nvPr/>
        </p:nvSpPr>
        <p:spPr>
          <a:xfrm>
            <a:off x="8660914" y="5385816"/>
            <a:ext cx="296385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s-CO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34,06 km</a:t>
            </a:r>
            <a:r>
              <a:rPr b="0" i="0" lang="es-CO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·  28,2 % pendiente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48" name="Shape 2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9" name="Google Shape;2449;p27"/>
          <p:cNvSpPr txBox="1"/>
          <p:nvPr/>
        </p:nvSpPr>
        <p:spPr>
          <a:xfrm>
            <a:off x="457200" y="320040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1200"/>
              <a:buFont typeface="Calibri"/>
              <a:buNone/>
            </a:pPr>
            <a:r>
              <a:rPr b="1" i="0" lang="es-CO" sz="1200" u="none" cap="none" strike="noStrike">
                <a:solidFill>
                  <a:srgbClr val="2E7D4F"/>
                </a:solidFill>
                <a:latin typeface="Poppins"/>
                <a:ea typeface="Poppins"/>
                <a:cs typeface="Poppins"/>
                <a:sym typeface="Poppins"/>
              </a:rPr>
              <a:t>INFORME DE VARIACIÓN DE ALCANCES  ·  LOTE 4 – SUBREGIÓN MAGDALENA MEDIO</a:t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50" name="Google Shape;2450;p27"/>
          <p:cNvSpPr txBox="1"/>
          <p:nvPr/>
        </p:nvSpPr>
        <p:spPr>
          <a:xfrm>
            <a:off x="457200" y="594360"/>
            <a:ext cx="9692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2800"/>
              <a:buFont typeface="Calibri"/>
              <a:buNone/>
            </a:pPr>
            <a:r>
              <a:rPr b="1" i="0" lang="es-CO" sz="28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Remedios – La Y de la Virgen – Puerto Berrío</a:t>
            </a:r>
            <a:endParaRPr b="0" i="0" sz="2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descr="logo.png" id="2451" name="Google Shape;245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78440" y="320040"/>
            <a:ext cx="1371600" cy="676656"/>
          </a:xfrm>
          <a:prstGeom prst="rect">
            <a:avLst/>
          </a:prstGeom>
          <a:noFill/>
          <a:ln>
            <a:noFill/>
          </a:ln>
        </p:spPr>
      </p:pic>
      <p:sp>
        <p:nvSpPr>
          <p:cNvPr id="2452" name="Google Shape;2452;p27"/>
          <p:cNvSpPr/>
          <p:nvPr/>
        </p:nvSpPr>
        <p:spPr>
          <a:xfrm>
            <a:off x="457200" y="132588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3" name="Google Shape;2453;p27"/>
          <p:cNvSpPr txBox="1"/>
          <p:nvPr/>
        </p:nvSpPr>
        <p:spPr>
          <a:xfrm>
            <a:off x="594360" y="1417320"/>
            <a:ext cx="183483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100"/>
              <a:buFont typeface="Calibri"/>
              <a:buNone/>
            </a:pPr>
            <a:r>
              <a:rPr b="0" i="0" lang="es-CO" sz="11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Longitud contractual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4" name="Google Shape;2454;p27"/>
          <p:cNvSpPr txBox="1"/>
          <p:nvPr/>
        </p:nvSpPr>
        <p:spPr>
          <a:xfrm>
            <a:off x="594360" y="1691640"/>
            <a:ext cx="183483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700"/>
              <a:buFont typeface="Calibri"/>
              <a:buNone/>
            </a:pPr>
            <a:r>
              <a:rPr b="1" i="0" lang="es-CO" sz="17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25,00 km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5" name="Google Shape;2455;p27"/>
          <p:cNvSpPr/>
          <p:nvPr/>
        </p:nvSpPr>
        <p:spPr>
          <a:xfrm>
            <a:off x="2749235" y="132588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6" name="Google Shape;2456;p27"/>
          <p:cNvSpPr txBox="1"/>
          <p:nvPr/>
        </p:nvSpPr>
        <p:spPr>
          <a:xfrm>
            <a:off x="2886395" y="1417320"/>
            <a:ext cx="183483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100"/>
              <a:buFont typeface="Calibri"/>
              <a:buNone/>
            </a:pPr>
            <a:r>
              <a:rPr b="0" i="0" lang="es-CO" sz="11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Longitud probable a cubrir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7" name="Google Shape;2457;p27"/>
          <p:cNvSpPr txBox="1"/>
          <p:nvPr/>
        </p:nvSpPr>
        <p:spPr>
          <a:xfrm>
            <a:off x="2886395" y="1691640"/>
            <a:ext cx="183483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700"/>
              <a:buFont typeface="Calibri"/>
              <a:buNone/>
            </a:pPr>
            <a:r>
              <a:rPr b="1" i="0" lang="es-CO" sz="17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15,47 km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8" name="Google Shape;2458;p27"/>
          <p:cNvSpPr/>
          <p:nvPr/>
        </p:nvSpPr>
        <p:spPr>
          <a:xfrm>
            <a:off x="5041270" y="132588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9" name="Google Shape;2459;p27"/>
          <p:cNvSpPr txBox="1"/>
          <p:nvPr/>
        </p:nvSpPr>
        <p:spPr>
          <a:xfrm>
            <a:off x="5178430" y="1417320"/>
            <a:ext cx="183483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100"/>
              <a:buFont typeface="Calibri"/>
              <a:buNone/>
            </a:pPr>
            <a:r>
              <a:rPr b="0" i="0" lang="es-CO" sz="11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Valor por km contractual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0" name="Google Shape;2460;p27"/>
          <p:cNvSpPr txBox="1"/>
          <p:nvPr/>
        </p:nvSpPr>
        <p:spPr>
          <a:xfrm>
            <a:off x="5178430" y="1691640"/>
            <a:ext cx="183483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700"/>
              <a:buFont typeface="Calibri"/>
              <a:buNone/>
            </a:pPr>
            <a:r>
              <a:rPr b="1" i="0" lang="es-CO" sz="17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$ 974.030.486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1" name="Google Shape;2461;p27"/>
          <p:cNvSpPr/>
          <p:nvPr/>
        </p:nvSpPr>
        <p:spPr>
          <a:xfrm>
            <a:off x="7333305" y="132588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2" name="Google Shape;2462;p27"/>
          <p:cNvSpPr txBox="1"/>
          <p:nvPr/>
        </p:nvSpPr>
        <p:spPr>
          <a:xfrm>
            <a:off x="7470465" y="1417320"/>
            <a:ext cx="183483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100"/>
              <a:buFont typeface="Calibri"/>
              <a:buNone/>
            </a:pPr>
            <a:r>
              <a:rPr b="0" i="0" lang="es-CO" sz="11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Valor por km proyectado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3" name="Google Shape;2463;p27"/>
          <p:cNvSpPr txBox="1"/>
          <p:nvPr/>
        </p:nvSpPr>
        <p:spPr>
          <a:xfrm>
            <a:off x="7470465" y="1691640"/>
            <a:ext cx="183483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700"/>
              <a:buFont typeface="Calibri"/>
              <a:buNone/>
            </a:pPr>
            <a:r>
              <a:rPr b="1" i="0" lang="es-CO" sz="17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$ 1.574.030.486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4" name="Google Shape;2464;p27"/>
          <p:cNvSpPr/>
          <p:nvPr/>
        </p:nvSpPr>
        <p:spPr>
          <a:xfrm>
            <a:off x="9625340" y="132588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FBEAEA"/>
          </a:solidFill>
          <a:ln cap="flat" cmpd="sng" w="12700">
            <a:solidFill>
              <a:srgbClr val="FBEA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5" name="Google Shape;2465;p27"/>
          <p:cNvSpPr txBox="1"/>
          <p:nvPr/>
        </p:nvSpPr>
        <p:spPr>
          <a:xfrm>
            <a:off x="9762500" y="1417320"/>
            <a:ext cx="183483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100"/>
              <a:buFont typeface="Calibri"/>
              <a:buNone/>
            </a:pPr>
            <a:r>
              <a:rPr b="0" i="0" lang="es-CO" sz="11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Variación total (valor adicional)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6" name="Google Shape;2466;p27"/>
          <p:cNvSpPr txBox="1"/>
          <p:nvPr/>
        </p:nvSpPr>
        <p:spPr>
          <a:xfrm>
            <a:off x="9762500" y="1691640"/>
            <a:ext cx="183483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261E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B3261E"/>
                </a:solidFill>
                <a:latin typeface="Arial"/>
                <a:ea typeface="Arial"/>
                <a:cs typeface="Arial"/>
                <a:sym typeface="Arial"/>
              </a:rPr>
              <a:t>▲ </a:t>
            </a:r>
            <a:r>
              <a:rPr b="1" i="0" lang="es-CO" sz="1500" u="none" cap="none" strike="noStrike">
                <a:solidFill>
                  <a:srgbClr val="B3261E"/>
                </a:solidFill>
                <a:latin typeface="Calibri"/>
                <a:ea typeface="Calibri"/>
                <a:cs typeface="Calibri"/>
                <a:sym typeface="Calibri"/>
              </a:rPr>
              <a:t>$ 15.000.000.000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7" name="Google Shape;2467;p27"/>
          <p:cNvSpPr/>
          <p:nvPr/>
        </p:nvSpPr>
        <p:spPr>
          <a:xfrm>
            <a:off x="457200" y="2423160"/>
            <a:ext cx="3154680" cy="4114800"/>
          </a:xfrm>
          <a:prstGeom prst="roundRect">
            <a:avLst>
              <a:gd fmla="val 1739" name="adj"/>
            </a:avLst>
          </a:prstGeom>
          <a:solidFill>
            <a:srgbClr val="FFFFFF"/>
          </a:solidFill>
          <a:ln cap="flat" cmpd="sng" w="12700">
            <a:solidFill>
              <a:srgbClr val="D5DD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8" name="Google Shape;2468;p27"/>
          <p:cNvSpPr txBox="1"/>
          <p:nvPr/>
        </p:nvSpPr>
        <p:spPr>
          <a:xfrm>
            <a:off x="640080" y="2560320"/>
            <a:ext cx="2788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1100"/>
              <a:buFont typeface="Calibri"/>
              <a:buNone/>
            </a:pPr>
            <a:r>
              <a:rPr b="1" i="0" lang="es-CO" sz="11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ESTRUCTURA DE PAVIMENTO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9" name="Google Shape;2469;p27"/>
          <p:cNvSpPr txBox="1"/>
          <p:nvPr/>
        </p:nvSpPr>
        <p:spPr>
          <a:xfrm>
            <a:off x="640080" y="2816352"/>
            <a:ext cx="2788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1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Remedios – La Y de la Virgen – Puerto Berrío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0" name="Google Shape;2470;p27"/>
          <p:cNvSpPr txBox="1"/>
          <p:nvPr/>
        </p:nvSpPr>
        <p:spPr>
          <a:xfrm>
            <a:off x="640080" y="3172968"/>
            <a:ext cx="2788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LOTE 4 · Longitud: 10.000 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Tránsito – Estructuración: </a:t>
            </a: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231.000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Tránsito – Diseño: </a:t>
            </a: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454.138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1" name="Google Shape;2471;p27"/>
          <p:cNvSpPr txBox="1"/>
          <p:nvPr/>
        </p:nvSpPr>
        <p:spPr>
          <a:xfrm>
            <a:off x="457200" y="3794760"/>
            <a:ext cx="15773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1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Teórica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2" name="Google Shape;2472;p27"/>
          <p:cNvSpPr/>
          <p:nvPr/>
        </p:nvSpPr>
        <p:spPr>
          <a:xfrm>
            <a:off x="560070" y="4087368"/>
            <a:ext cx="960120" cy="182880"/>
          </a:xfrm>
          <a:prstGeom prst="rect">
            <a:avLst/>
          </a:prstGeom>
          <a:solidFill>
            <a:srgbClr val="1F2A36"/>
          </a:solidFill>
          <a:ln cap="flat" cmpd="sng" w="12700">
            <a:solidFill>
              <a:srgbClr val="1F2A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3" name="Google Shape;2473;p27"/>
          <p:cNvSpPr txBox="1"/>
          <p:nvPr/>
        </p:nvSpPr>
        <p:spPr>
          <a:xfrm>
            <a:off x="560070" y="4087368"/>
            <a:ext cx="9601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s-CO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TSD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4" name="Google Shape;2474;p27"/>
          <p:cNvSpPr/>
          <p:nvPr/>
        </p:nvSpPr>
        <p:spPr>
          <a:xfrm>
            <a:off x="560070" y="4270248"/>
            <a:ext cx="960120" cy="1056132"/>
          </a:xfrm>
          <a:prstGeom prst="rect">
            <a:avLst/>
          </a:prstGeom>
          <a:solidFill>
            <a:srgbClr val="D9A44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5" name="Google Shape;2475;p27"/>
          <p:cNvSpPr txBox="1"/>
          <p:nvPr/>
        </p:nvSpPr>
        <p:spPr>
          <a:xfrm>
            <a:off x="560070" y="4270248"/>
            <a:ext cx="960120" cy="49149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800"/>
              <a:buFont typeface="Calibri"/>
              <a:buNone/>
            </a:pPr>
            <a:r>
              <a:rPr b="1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MGTC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6" name="Google Shape;2476;p27"/>
          <p:cNvSpPr/>
          <p:nvPr/>
        </p:nvSpPr>
        <p:spPr>
          <a:xfrm>
            <a:off x="624078" y="4761738"/>
            <a:ext cx="832104" cy="528066"/>
          </a:xfrm>
          <a:prstGeom prst="rect">
            <a:avLst/>
          </a:prstGeom>
          <a:solidFill>
            <a:srgbClr val="F2D58E"/>
          </a:solidFill>
          <a:ln cap="flat" cmpd="sng" w="9525">
            <a:solidFill>
              <a:srgbClr val="A87B1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7" name="Google Shape;2477;p27"/>
          <p:cNvSpPr txBox="1"/>
          <p:nvPr/>
        </p:nvSpPr>
        <p:spPr>
          <a:xfrm>
            <a:off x="624078" y="4761738"/>
            <a:ext cx="832104" cy="528066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800"/>
              <a:buFont typeface="Calibri"/>
              <a:buNone/>
            </a:pPr>
            <a:r>
              <a:rPr b="0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Subbase 14 cm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8" name="Google Shape;2478;p27"/>
          <p:cNvSpPr txBox="1"/>
          <p:nvPr/>
        </p:nvSpPr>
        <p:spPr>
          <a:xfrm>
            <a:off x="1575054" y="4270248"/>
            <a:ext cx="457200" cy="10561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28 cm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9" name="Google Shape;2479;p27"/>
          <p:cNvSpPr/>
          <p:nvPr/>
        </p:nvSpPr>
        <p:spPr>
          <a:xfrm>
            <a:off x="560070" y="5326380"/>
            <a:ext cx="960120" cy="754380"/>
          </a:xfrm>
          <a:prstGeom prst="rect">
            <a:avLst/>
          </a:prstGeom>
          <a:solidFill>
            <a:srgbClr val="8C6A4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0" name="Google Shape;2480;p27"/>
          <p:cNvSpPr txBox="1"/>
          <p:nvPr/>
        </p:nvSpPr>
        <p:spPr>
          <a:xfrm>
            <a:off x="560070" y="5326380"/>
            <a:ext cx="960120" cy="754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s-CO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Subrasante estabilizada con cal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1" name="Google Shape;2481;p27"/>
          <p:cNvSpPr txBox="1"/>
          <p:nvPr/>
        </p:nvSpPr>
        <p:spPr>
          <a:xfrm>
            <a:off x="1575054" y="5326380"/>
            <a:ext cx="457200" cy="754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20 cm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82" name="Google Shape;2482;p27"/>
          <p:cNvCxnSpPr/>
          <p:nvPr/>
        </p:nvCxnSpPr>
        <p:spPr>
          <a:xfrm>
            <a:off x="468630" y="6080760"/>
            <a:ext cx="1143000" cy="0"/>
          </a:xfrm>
          <a:prstGeom prst="straightConnector1">
            <a:avLst/>
          </a:prstGeom>
          <a:noFill/>
          <a:ln cap="flat" cmpd="sng" w="12700">
            <a:solidFill>
              <a:srgbClr val="1D2B2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83" name="Google Shape;2483;p27"/>
          <p:cNvSpPr txBox="1"/>
          <p:nvPr/>
        </p:nvSpPr>
        <p:spPr>
          <a:xfrm>
            <a:off x="457200" y="6153912"/>
            <a:ext cx="15773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Espesor total: </a:t>
            </a:r>
            <a:r>
              <a:rPr b="1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48 cm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4" name="Google Shape;2484;p27"/>
          <p:cNvSpPr txBox="1"/>
          <p:nvPr/>
        </p:nvSpPr>
        <p:spPr>
          <a:xfrm>
            <a:off x="2034540" y="3794760"/>
            <a:ext cx="15773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1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Aprobada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5" name="Google Shape;2485;p27"/>
          <p:cNvSpPr/>
          <p:nvPr/>
        </p:nvSpPr>
        <p:spPr>
          <a:xfrm>
            <a:off x="2137410" y="4087368"/>
            <a:ext cx="960120" cy="182880"/>
          </a:xfrm>
          <a:prstGeom prst="rect">
            <a:avLst/>
          </a:prstGeom>
          <a:solidFill>
            <a:srgbClr val="1F2A36"/>
          </a:solidFill>
          <a:ln cap="flat" cmpd="sng" w="12700">
            <a:solidFill>
              <a:srgbClr val="1F2A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6" name="Google Shape;2486;p27"/>
          <p:cNvSpPr txBox="1"/>
          <p:nvPr/>
        </p:nvSpPr>
        <p:spPr>
          <a:xfrm>
            <a:off x="2137410" y="4087368"/>
            <a:ext cx="9601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s-CO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TSD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7" name="Google Shape;2487;p27"/>
          <p:cNvSpPr/>
          <p:nvPr/>
        </p:nvSpPr>
        <p:spPr>
          <a:xfrm>
            <a:off x="2137410" y="4270248"/>
            <a:ext cx="960120" cy="942975"/>
          </a:xfrm>
          <a:prstGeom prst="rect">
            <a:avLst/>
          </a:prstGeom>
          <a:solidFill>
            <a:srgbClr val="D9A44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8" name="Google Shape;2488;p27"/>
          <p:cNvSpPr txBox="1"/>
          <p:nvPr/>
        </p:nvSpPr>
        <p:spPr>
          <a:xfrm>
            <a:off x="2137410" y="4270248"/>
            <a:ext cx="960120" cy="942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800"/>
              <a:buFont typeface="Calibri"/>
              <a:buNone/>
            </a:pPr>
            <a:r>
              <a:rPr b="1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MGTC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9" name="Google Shape;2489;p27"/>
          <p:cNvSpPr txBox="1"/>
          <p:nvPr/>
        </p:nvSpPr>
        <p:spPr>
          <a:xfrm>
            <a:off x="3152394" y="4270248"/>
            <a:ext cx="457200" cy="942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25 cm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0" name="Google Shape;2490;p27"/>
          <p:cNvSpPr/>
          <p:nvPr/>
        </p:nvSpPr>
        <p:spPr>
          <a:xfrm>
            <a:off x="2137410" y="5213223"/>
            <a:ext cx="960120" cy="565785"/>
          </a:xfrm>
          <a:prstGeom prst="rect">
            <a:avLst/>
          </a:prstGeom>
          <a:solidFill>
            <a:srgbClr val="C9C29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1" name="Google Shape;2491;p27"/>
          <p:cNvSpPr txBox="1"/>
          <p:nvPr/>
        </p:nvSpPr>
        <p:spPr>
          <a:xfrm>
            <a:off x="2137410" y="5213223"/>
            <a:ext cx="960120" cy="56578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800"/>
              <a:buFont typeface="Calibri"/>
              <a:buNone/>
            </a:pPr>
            <a:r>
              <a:rPr b="1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Material de préstamo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2" name="Google Shape;2492;p27"/>
          <p:cNvSpPr txBox="1"/>
          <p:nvPr/>
        </p:nvSpPr>
        <p:spPr>
          <a:xfrm>
            <a:off x="3152394" y="5213223"/>
            <a:ext cx="457200" cy="5657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15 cm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93" name="Google Shape;2493;p27"/>
          <p:cNvCxnSpPr/>
          <p:nvPr/>
        </p:nvCxnSpPr>
        <p:spPr>
          <a:xfrm>
            <a:off x="2045970" y="5779008"/>
            <a:ext cx="1143000" cy="0"/>
          </a:xfrm>
          <a:prstGeom prst="straightConnector1">
            <a:avLst/>
          </a:prstGeom>
          <a:noFill/>
          <a:ln cap="flat" cmpd="sng" w="12700">
            <a:solidFill>
              <a:srgbClr val="1D2B2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94" name="Google Shape;2494;p27"/>
          <p:cNvSpPr txBox="1"/>
          <p:nvPr/>
        </p:nvSpPr>
        <p:spPr>
          <a:xfrm>
            <a:off x="2034540" y="5852160"/>
            <a:ext cx="15773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Espesor total: </a:t>
            </a:r>
            <a:r>
              <a:rPr b="1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40 cm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95" name="Google Shape;2495;p27"/>
          <p:cNvGraphicFramePr/>
          <p:nvPr/>
        </p:nvGraphicFramePr>
        <p:xfrm>
          <a:off x="3840480" y="24231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{2219430B-40B1-4F13-8D99-EA5D7966678A}</a:tableStyleId>
              </a:tblPr>
              <a:tblGrid>
                <a:gridCol w="2395725"/>
                <a:gridCol w="1097275"/>
                <a:gridCol w="603500"/>
                <a:gridCol w="1097275"/>
                <a:gridCol w="603500"/>
                <a:gridCol w="237750"/>
                <a:gridCol w="1097275"/>
                <a:gridCol w="758950"/>
              </a:tblGrid>
              <a:tr h="438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Grupo – actividad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Valor contractual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 sobre corredor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Valor proyectado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 sobre corredor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Variación (valor adicional)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 de variación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</a:tr>
              <a:tr h="27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Construcción alcantarilla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$ 2.389.188.881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$ 3.389.188.881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>
                          <a:solidFill>
                            <a:srgbClr val="B32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▲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$ 1.000.000.000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41,9 %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Construcción cuneta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$ 3.495.305.761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$ 3.495.305.761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0,0 %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27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Construcción filtro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$ 5.168.502.541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$ 5.168.502.541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0,0 %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Construcción bordillos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$ 488.166.821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$ 488.166.821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0,0 %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27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Construcción disipadores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$ 334.739.060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$ 334.739.060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0,0 %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Estabilización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$ 12.179.799.531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$ 22.179.799.531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56%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B32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▲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$ 10.000.000.000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82,1 %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27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Señalización vial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$ 295.059.551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$ 295.059.551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0,0 %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Realce de vía por inundación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50"/>
                        <a:buFont typeface="Calibri"/>
                        <a:buNone/>
                      </a:pPr>
                      <a:r>
                        <a:t/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50"/>
                        <a:buFont typeface="Calibri"/>
                        <a:buNone/>
                      </a:pPr>
                      <a:r>
                        <a:t/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$ 4.000.000.000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>
                          <a:solidFill>
                            <a:srgbClr val="B32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▲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$ 4.000.000.000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B65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N/A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27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CORREDOR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$ 24.350.762.146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100%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$ 39.350.762.146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100%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B32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▲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+$ 15.000.000.000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61,6 %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</a:tr>
            </a:tbl>
          </a:graphicData>
        </a:graphic>
      </p:graphicFrame>
      <p:sp>
        <p:nvSpPr>
          <p:cNvPr id="2496" name="Google Shape;2496;p27"/>
          <p:cNvSpPr txBox="1"/>
          <p:nvPr/>
        </p:nvSpPr>
        <p:spPr>
          <a:xfrm>
            <a:off x="3840480" y="5413248"/>
            <a:ext cx="78912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261E"/>
              </a:buClr>
              <a:buSzPts val="900"/>
              <a:buFont typeface="Arial"/>
              <a:buNone/>
            </a:pPr>
            <a:r>
              <a:rPr b="0" i="0" lang="es-CO" sz="900" u="none" cap="none" strike="noStrike">
                <a:solidFill>
                  <a:srgbClr val="B3261E"/>
                </a:solidFill>
                <a:latin typeface="Arial"/>
                <a:ea typeface="Arial"/>
                <a:cs typeface="Arial"/>
                <a:sym typeface="Arial"/>
              </a:rPr>
              <a:t>▲</a:t>
            </a: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 Se requiere mayor valor     </a:t>
            </a:r>
            <a:r>
              <a:rPr b="0" i="0" lang="es-CO" sz="900" u="none" cap="none" strike="noStrike">
                <a:solidFill>
                  <a:srgbClr val="0B5D2E"/>
                </a:solidFill>
                <a:latin typeface="Arial"/>
                <a:ea typeface="Arial"/>
                <a:cs typeface="Arial"/>
                <a:sym typeface="Arial"/>
              </a:rPr>
              <a:t>▼</a:t>
            </a: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 Sobra valor     % de variación = (valor proyectado – valor contractual) / valor contractual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7" name="Google Shape;2497;p27"/>
          <p:cNvSpPr/>
          <p:nvPr/>
        </p:nvSpPr>
        <p:spPr>
          <a:xfrm>
            <a:off x="3840480" y="5687568"/>
            <a:ext cx="7891272" cy="850392"/>
          </a:xfrm>
          <a:prstGeom prst="roundRect">
            <a:avLst>
              <a:gd fmla="val 6452" name="adj"/>
            </a:avLst>
          </a:prstGeom>
          <a:solidFill>
            <a:srgbClr val="FFFFFF"/>
          </a:solidFill>
          <a:ln cap="flat" cmpd="sng" w="12700">
            <a:solidFill>
              <a:srgbClr val="9AA7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00" lIns="1000" spcFirstLastPara="1" rIns="1500" wrap="square" tIns="15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100"/>
              <a:buFont typeface="Calibri"/>
              <a:buNone/>
            </a:pPr>
            <a:r>
              <a:rPr b="1" i="0" lang="es-CO" sz="11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Notas: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02" name="Shape 2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3" name="Google Shape;2503;p28"/>
          <p:cNvSpPr txBox="1"/>
          <p:nvPr/>
        </p:nvSpPr>
        <p:spPr>
          <a:xfrm>
            <a:off x="457200" y="320040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1200"/>
              <a:buFont typeface="Calibri"/>
              <a:buNone/>
            </a:pPr>
            <a:r>
              <a:rPr b="1" i="0" lang="es-CO" sz="1200" u="none" cap="none" strike="noStrike">
                <a:solidFill>
                  <a:srgbClr val="2E7D4F"/>
                </a:solidFill>
                <a:latin typeface="Poppins"/>
                <a:ea typeface="Poppins"/>
                <a:cs typeface="Poppins"/>
                <a:sym typeface="Poppins"/>
              </a:rPr>
              <a:t>INFORME DE EJECUCIÓN  ·  LOTE 4 – SUBREGIÓN MAGDALENA MEDIO  </a:t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04" name="Google Shape;2504;p28"/>
          <p:cNvSpPr txBox="1"/>
          <p:nvPr/>
        </p:nvSpPr>
        <p:spPr>
          <a:xfrm>
            <a:off x="457200" y="594360"/>
            <a:ext cx="9692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CO" sz="28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Remedios – La Y de la Virgen – Puerto Berrío</a:t>
            </a:r>
            <a:endParaRPr b="0" i="0" sz="2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descr="logo.png" id="2505" name="Google Shape;250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78440" y="320040"/>
            <a:ext cx="1371600" cy="676656"/>
          </a:xfrm>
          <a:prstGeom prst="rect">
            <a:avLst/>
          </a:prstGeom>
          <a:noFill/>
          <a:ln>
            <a:noFill/>
          </a:ln>
        </p:spPr>
      </p:pic>
      <p:sp>
        <p:nvSpPr>
          <p:cNvPr id="2506" name="Google Shape;2506;p28"/>
          <p:cNvSpPr/>
          <p:nvPr/>
        </p:nvSpPr>
        <p:spPr>
          <a:xfrm>
            <a:off x="457200" y="1234440"/>
            <a:ext cx="1765249" cy="658368"/>
          </a:xfrm>
          <a:prstGeom prst="roundRect">
            <a:avLst>
              <a:gd fmla="val 1111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7" name="Google Shape;2507;p28"/>
          <p:cNvSpPr txBox="1"/>
          <p:nvPr/>
        </p:nvSpPr>
        <p:spPr>
          <a:xfrm>
            <a:off x="566928" y="1289304"/>
            <a:ext cx="154579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50"/>
              <a:buFont typeface="Calibri"/>
              <a:buNone/>
            </a:pPr>
            <a:r>
              <a:rPr b="0" i="0" lang="es-CO" sz="9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Longitud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8" name="Google Shape;2508;p28"/>
          <p:cNvSpPr txBox="1"/>
          <p:nvPr/>
        </p:nvSpPr>
        <p:spPr>
          <a:xfrm>
            <a:off x="566928" y="1453896"/>
            <a:ext cx="154579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25,00 km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9" name="Google Shape;2509;p28"/>
          <p:cNvSpPr txBox="1"/>
          <p:nvPr/>
        </p:nvSpPr>
        <p:spPr>
          <a:xfrm>
            <a:off x="566928" y="1700784"/>
            <a:ext cx="1545793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00"/>
              <a:buFont typeface="Calibri"/>
              <a:buNone/>
            </a:pP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Alcance real 25,00 km · dif. 0,00 km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0" name="Google Shape;2510;p28"/>
          <p:cNvSpPr/>
          <p:nvPr/>
        </p:nvSpPr>
        <p:spPr>
          <a:xfrm>
            <a:off x="2359609" y="1234440"/>
            <a:ext cx="1765249" cy="658368"/>
          </a:xfrm>
          <a:prstGeom prst="roundRect">
            <a:avLst>
              <a:gd fmla="val 1111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1" name="Google Shape;2511;p28"/>
          <p:cNvSpPr txBox="1"/>
          <p:nvPr/>
        </p:nvSpPr>
        <p:spPr>
          <a:xfrm>
            <a:off x="2469337" y="1289304"/>
            <a:ext cx="154579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50"/>
              <a:buFont typeface="Calibri"/>
              <a:buNone/>
            </a:pPr>
            <a:r>
              <a:rPr b="0" i="0" lang="es-CO" sz="9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Valor total del corredor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2" name="Google Shape;2512;p28"/>
          <p:cNvSpPr txBox="1"/>
          <p:nvPr/>
        </p:nvSpPr>
        <p:spPr>
          <a:xfrm>
            <a:off x="2469337" y="1453896"/>
            <a:ext cx="154579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CO" sz="16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$ 24.350.762.146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3" name="Google Shape;2513;p28"/>
          <p:cNvSpPr txBox="1"/>
          <p:nvPr/>
        </p:nvSpPr>
        <p:spPr>
          <a:xfrm>
            <a:off x="2469337" y="1700784"/>
            <a:ext cx="1545793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00"/>
              <a:buFont typeface="Calibri"/>
              <a:buNone/>
            </a:pP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$  974.030.486 por km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4" name="Google Shape;2514;p28"/>
          <p:cNvSpPr/>
          <p:nvPr/>
        </p:nvSpPr>
        <p:spPr>
          <a:xfrm>
            <a:off x="4262018" y="1234440"/>
            <a:ext cx="1765249" cy="658368"/>
          </a:xfrm>
          <a:prstGeom prst="roundRect">
            <a:avLst>
              <a:gd fmla="val 11111" name="adj"/>
            </a:avLst>
          </a:prstGeom>
          <a:solidFill>
            <a:srgbClr val="FBEAEA"/>
          </a:solidFill>
          <a:ln cap="flat" cmpd="sng" w="12700">
            <a:solidFill>
              <a:srgbClr val="FBEA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5" name="Google Shape;2515;p28"/>
          <p:cNvSpPr txBox="1"/>
          <p:nvPr/>
        </p:nvSpPr>
        <p:spPr>
          <a:xfrm>
            <a:off x="4371746" y="1289304"/>
            <a:ext cx="154579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50"/>
              <a:buFont typeface="Calibri"/>
              <a:buNone/>
            </a:pPr>
            <a:r>
              <a:rPr b="0" i="0" lang="es-CO" sz="9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Avance físico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6" name="Google Shape;2516;p28"/>
          <p:cNvSpPr txBox="1"/>
          <p:nvPr/>
        </p:nvSpPr>
        <p:spPr>
          <a:xfrm>
            <a:off x="4371746" y="1453896"/>
            <a:ext cx="154579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261E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B3261E"/>
                </a:solidFill>
                <a:latin typeface="Calibri"/>
                <a:ea typeface="Calibri"/>
                <a:cs typeface="Calibri"/>
                <a:sym typeface="Calibri"/>
              </a:rPr>
              <a:t>3,53 %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7" name="Google Shape;2517;p28"/>
          <p:cNvSpPr txBox="1"/>
          <p:nvPr/>
        </p:nvSpPr>
        <p:spPr>
          <a:xfrm>
            <a:off x="4371746" y="1700784"/>
            <a:ext cx="1545793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00"/>
              <a:buFont typeface="Calibri"/>
              <a:buNone/>
            </a:pP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Frente a 42,9 % del plazo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8" name="Google Shape;2518;p28"/>
          <p:cNvSpPr/>
          <p:nvPr/>
        </p:nvSpPr>
        <p:spPr>
          <a:xfrm>
            <a:off x="6164428" y="1234440"/>
            <a:ext cx="1765249" cy="658368"/>
          </a:xfrm>
          <a:prstGeom prst="roundRect">
            <a:avLst>
              <a:gd fmla="val 1111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9" name="Google Shape;2519;p28"/>
          <p:cNvSpPr txBox="1"/>
          <p:nvPr/>
        </p:nvSpPr>
        <p:spPr>
          <a:xfrm>
            <a:off x="6274156" y="1289304"/>
            <a:ext cx="154579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50"/>
              <a:buFont typeface="Calibri"/>
              <a:buNone/>
            </a:pPr>
            <a:r>
              <a:rPr b="0" i="0" lang="es-CO" sz="9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Avance financiero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0" name="Google Shape;2520;p28"/>
          <p:cNvSpPr txBox="1"/>
          <p:nvPr/>
        </p:nvSpPr>
        <p:spPr>
          <a:xfrm>
            <a:off x="6274156" y="1453896"/>
            <a:ext cx="154579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3,97 %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1" name="Google Shape;2521;p28"/>
          <p:cNvSpPr/>
          <p:nvPr/>
        </p:nvSpPr>
        <p:spPr>
          <a:xfrm>
            <a:off x="8066837" y="1234440"/>
            <a:ext cx="1765249" cy="658368"/>
          </a:xfrm>
          <a:prstGeom prst="roundRect">
            <a:avLst>
              <a:gd fmla="val 1111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2" name="Google Shape;2522;p28"/>
          <p:cNvSpPr txBox="1"/>
          <p:nvPr/>
        </p:nvSpPr>
        <p:spPr>
          <a:xfrm>
            <a:off x="8176565" y="1289304"/>
            <a:ext cx="154579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50"/>
              <a:buFont typeface="Calibri"/>
              <a:buNone/>
            </a:pPr>
            <a:r>
              <a:rPr b="0" i="0" lang="es-CO" sz="9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Plazo transcurrido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3" name="Google Shape;2523;p28"/>
          <p:cNvSpPr txBox="1"/>
          <p:nvPr/>
        </p:nvSpPr>
        <p:spPr>
          <a:xfrm>
            <a:off x="8176565" y="1453896"/>
            <a:ext cx="154579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42,9 %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4" name="Google Shape;2524;p28"/>
          <p:cNvSpPr txBox="1"/>
          <p:nvPr/>
        </p:nvSpPr>
        <p:spPr>
          <a:xfrm>
            <a:off x="8176565" y="1700784"/>
            <a:ext cx="1545793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00"/>
              <a:buFont typeface="Calibri"/>
              <a:buNone/>
            </a:pP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7,7 de 18 meses (al 02/10/2026)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5" name="Google Shape;2525;p28"/>
          <p:cNvSpPr/>
          <p:nvPr/>
        </p:nvSpPr>
        <p:spPr>
          <a:xfrm>
            <a:off x="9969246" y="1234440"/>
            <a:ext cx="1765249" cy="658368"/>
          </a:xfrm>
          <a:prstGeom prst="roundRect">
            <a:avLst>
              <a:gd fmla="val 1111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6" name="Google Shape;2526;p28"/>
          <p:cNvSpPr txBox="1"/>
          <p:nvPr/>
        </p:nvSpPr>
        <p:spPr>
          <a:xfrm>
            <a:off x="10078974" y="1289304"/>
            <a:ext cx="1545793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Inicio: </a:t>
            </a: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10/02/2026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Terminación: </a:t>
            </a: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10/08/2027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Corte: </a:t>
            </a: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25/09/2026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7" name="Google Shape;2527;p28"/>
          <p:cNvSpPr txBox="1"/>
          <p:nvPr/>
        </p:nvSpPr>
        <p:spPr>
          <a:xfrm>
            <a:off x="457200" y="1956816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1000"/>
              <a:buFont typeface="Calibri"/>
              <a:buNone/>
            </a:pPr>
            <a:r>
              <a:rPr b="1" i="0" lang="es-CO" sz="10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AVANCE POR ABSCISA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28" name="Google Shape;2528;p28"/>
          <p:cNvCxnSpPr/>
          <p:nvPr/>
        </p:nvCxnSpPr>
        <p:spPr>
          <a:xfrm>
            <a:off x="2103120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29" name="Google Shape;2529;p28"/>
          <p:cNvCxnSpPr/>
          <p:nvPr/>
        </p:nvCxnSpPr>
        <p:spPr>
          <a:xfrm>
            <a:off x="2404872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30" name="Google Shape;2530;p28"/>
          <p:cNvCxnSpPr/>
          <p:nvPr/>
        </p:nvCxnSpPr>
        <p:spPr>
          <a:xfrm>
            <a:off x="2706624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31" name="Google Shape;2531;p28"/>
          <p:cNvCxnSpPr/>
          <p:nvPr/>
        </p:nvCxnSpPr>
        <p:spPr>
          <a:xfrm>
            <a:off x="3008376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32" name="Google Shape;2532;p28"/>
          <p:cNvCxnSpPr/>
          <p:nvPr/>
        </p:nvCxnSpPr>
        <p:spPr>
          <a:xfrm>
            <a:off x="3310128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33" name="Google Shape;2533;p28"/>
          <p:cNvCxnSpPr/>
          <p:nvPr/>
        </p:nvCxnSpPr>
        <p:spPr>
          <a:xfrm>
            <a:off x="3611880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34" name="Google Shape;2534;p28"/>
          <p:cNvCxnSpPr/>
          <p:nvPr/>
        </p:nvCxnSpPr>
        <p:spPr>
          <a:xfrm>
            <a:off x="3913632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35" name="Google Shape;2535;p28"/>
          <p:cNvCxnSpPr/>
          <p:nvPr/>
        </p:nvCxnSpPr>
        <p:spPr>
          <a:xfrm>
            <a:off x="4215384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36" name="Google Shape;2536;p28"/>
          <p:cNvCxnSpPr/>
          <p:nvPr/>
        </p:nvCxnSpPr>
        <p:spPr>
          <a:xfrm>
            <a:off x="4517136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37" name="Google Shape;2537;p28"/>
          <p:cNvCxnSpPr/>
          <p:nvPr/>
        </p:nvCxnSpPr>
        <p:spPr>
          <a:xfrm>
            <a:off x="4818888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38" name="Google Shape;2538;p28"/>
          <p:cNvCxnSpPr/>
          <p:nvPr/>
        </p:nvCxnSpPr>
        <p:spPr>
          <a:xfrm>
            <a:off x="5120640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39" name="Google Shape;2539;p28"/>
          <p:cNvCxnSpPr/>
          <p:nvPr/>
        </p:nvCxnSpPr>
        <p:spPr>
          <a:xfrm>
            <a:off x="5422392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40" name="Google Shape;2540;p28"/>
          <p:cNvCxnSpPr/>
          <p:nvPr/>
        </p:nvCxnSpPr>
        <p:spPr>
          <a:xfrm>
            <a:off x="5724144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41" name="Google Shape;2541;p28"/>
          <p:cNvCxnSpPr/>
          <p:nvPr/>
        </p:nvCxnSpPr>
        <p:spPr>
          <a:xfrm>
            <a:off x="6025896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42" name="Google Shape;2542;p28"/>
          <p:cNvCxnSpPr/>
          <p:nvPr/>
        </p:nvCxnSpPr>
        <p:spPr>
          <a:xfrm>
            <a:off x="6327648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43" name="Google Shape;2543;p28"/>
          <p:cNvCxnSpPr/>
          <p:nvPr/>
        </p:nvCxnSpPr>
        <p:spPr>
          <a:xfrm>
            <a:off x="6629400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44" name="Google Shape;2544;p28"/>
          <p:cNvCxnSpPr/>
          <p:nvPr/>
        </p:nvCxnSpPr>
        <p:spPr>
          <a:xfrm>
            <a:off x="6931152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45" name="Google Shape;2545;p28"/>
          <p:cNvCxnSpPr/>
          <p:nvPr/>
        </p:nvCxnSpPr>
        <p:spPr>
          <a:xfrm>
            <a:off x="7232904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46" name="Google Shape;2546;p28"/>
          <p:cNvCxnSpPr/>
          <p:nvPr/>
        </p:nvCxnSpPr>
        <p:spPr>
          <a:xfrm>
            <a:off x="7534656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47" name="Google Shape;2547;p28"/>
          <p:cNvCxnSpPr/>
          <p:nvPr/>
        </p:nvCxnSpPr>
        <p:spPr>
          <a:xfrm>
            <a:off x="7836408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48" name="Google Shape;2548;p28"/>
          <p:cNvCxnSpPr/>
          <p:nvPr/>
        </p:nvCxnSpPr>
        <p:spPr>
          <a:xfrm>
            <a:off x="8138160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49" name="Google Shape;2549;p28"/>
          <p:cNvCxnSpPr/>
          <p:nvPr/>
        </p:nvCxnSpPr>
        <p:spPr>
          <a:xfrm>
            <a:off x="8439912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50" name="Google Shape;2550;p28"/>
          <p:cNvCxnSpPr/>
          <p:nvPr/>
        </p:nvCxnSpPr>
        <p:spPr>
          <a:xfrm>
            <a:off x="8741664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51" name="Google Shape;2551;p28"/>
          <p:cNvCxnSpPr/>
          <p:nvPr/>
        </p:nvCxnSpPr>
        <p:spPr>
          <a:xfrm>
            <a:off x="9043416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52" name="Google Shape;2552;p28"/>
          <p:cNvCxnSpPr/>
          <p:nvPr/>
        </p:nvCxnSpPr>
        <p:spPr>
          <a:xfrm>
            <a:off x="9345168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53" name="Google Shape;2553;p28"/>
          <p:cNvCxnSpPr/>
          <p:nvPr/>
        </p:nvCxnSpPr>
        <p:spPr>
          <a:xfrm>
            <a:off x="9646920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54" name="Google Shape;2554;p28"/>
          <p:cNvCxnSpPr/>
          <p:nvPr/>
        </p:nvCxnSpPr>
        <p:spPr>
          <a:xfrm>
            <a:off x="9948672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55" name="Google Shape;2555;p28"/>
          <p:cNvCxnSpPr/>
          <p:nvPr/>
        </p:nvCxnSpPr>
        <p:spPr>
          <a:xfrm>
            <a:off x="10250424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56" name="Google Shape;2556;p28"/>
          <p:cNvCxnSpPr/>
          <p:nvPr/>
        </p:nvCxnSpPr>
        <p:spPr>
          <a:xfrm>
            <a:off x="10552176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57" name="Google Shape;2557;p28"/>
          <p:cNvCxnSpPr/>
          <p:nvPr/>
        </p:nvCxnSpPr>
        <p:spPr>
          <a:xfrm>
            <a:off x="10853928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58" name="Google Shape;2558;p28"/>
          <p:cNvCxnSpPr/>
          <p:nvPr/>
        </p:nvCxnSpPr>
        <p:spPr>
          <a:xfrm>
            <a:off x="11155680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59" name="Google Shape;2559;p28"/>
          <p:cNvSpPr txBox="1"/>
          <p:nvPr/>
        </p:nvSpPr>
        <p:spPr>
          <a:xfrm>
            <a:off x="1874520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0" name="Google Shape;2560;p28"/>
          <p:cNvSpPr txBox="1"/>
          <p:nvPr/>
        </p:nvSpPr>
        <p:spPr>
          <a:xfrm>
            <a:off x="2478024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1" name="Google Shape;2561;p28"/>
          <p:cNvSpPr txBox="1"/>
          <p:nvPr/>
        </p:nvSpPr>
        <p:spPr>
          <a:xfrm>
            <a:off x="3081528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K4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2" name="Google Shape;2562;p28"/>
          <p:cNvSpPr txBox="1"/>
          <p:nvPr/>
        </p:nvSpPr>
        <p:spPr>
          <a:xfrm>
            <a:off x="3685032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3" name="Google Shape;2563;p28"/>
          <p:cNvSpPr txBox="1"/>
          <p:nvPr/>
        </p:nvSpPr>
        <p:spPr>
          <a:xfrm>
            <a:off x="4288536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K8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4" name="Google Shape;2564;p28"/>
          <p:cNvSpPr txBox="1"/>
          <p:nvPr/>
        </p:nvSpPr>
        <p:spPr>
          <a:xfrm>
            <a:off x="4892040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K10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5" name="Google Shape;2565;p28"/>
          <p:cNvSpPr txBox="1"/>
          <p:nvPr/>
        </p:nvSpPr>
        <p:spPr>
          <a:xfrm>
            <a:off x="5495544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K12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6" name="Google Shape;2566;p28"/>
          <p:cNvSpPr txBox="1"/>
          <p:nvPr/>
        </p:nvSpPr>
        <p:spPr>
          <a:xfrm>
            <a:off x="6099048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K14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7" name="Google Shape;2567;p28"/>
          <p:cNvSpPr txBox="1"/>
          <p:nvPr/>
        </p:nvSpPr>
        <p:spPr>
          <a:xfrm>
            <a:off x="6702552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K16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8" name="Google Shape;2568;p28"/>
          <p:cNvSpPr txBox="1"/>
          <p:nvPr/>
        </p:nvSpPr>
        <p:spPr>
          <a:xfrm>
            <a:off x="7306056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K18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9" name="Google Shape;2569;p28"/>
          <p:cNvSpPr txBox="1"/>
          <p:nvPr/>
        </p:nvSpPr>
        <p:spPr>
          <a:xfrm>
            <a:off x="7909560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K20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0" name="Google Shape;2570;p28"/>
          <p:cNvSpPr txBox="1"/>
          <p:nvPr/>
        </p:nvSpPr>
        <p:spPr>
          <a:xfrm>
            <a:off x="8513064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K22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1" name="Google Shape;2571;p28"/>
          <p:cNvSpPr txBox="1"/>
          <p:nvPr/>
        </p:nvSpPr>
        <p:spPr>
          <a:xfrm>
            <a:off x="9116568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K24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2" name="Google Shape;2572;p28"/>
          <p:cNvSpPr txBox="1"/>
          <p:nvPr/>
        </p:nvSpPr>
        <p:spPr>
          <a:xfrm>
            <a:off x="9720072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K26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3" name="Google Shape;2573;p28"/>
          <p:cNvSpPr txBox="1"/>
          <p:nvPr/>
        </p:nvSpPr>
        <p:spPr>
          <a:xfrm>
            <a:off x="10323576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K28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4" name="Google Shape;2574;p28"/>
          <p:cNvSpPr txBox="1"/>
          <p:nvPr/>
        </p:nvSpPr>
        <p:spPr>
          <a:xfrm>
            <a:off x="10835640" y="2139696"/>
            <a:ext cx="54864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K30+000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5" name="Google Shape;2575;p28"/>
          <p:cNvSpPr/>
          <p:nvPr/>
        </p:nvSpPr>
        <p:spPr>
          <a:xfrm>
            <a:off x="2103120" y="2359152"/>
            <a:ext cx="9052560" cy="73152"/>
          </a:xfrm>
          <a:prstGeom prst="rect">
            <a:avLst/>
          </a:prstGeom>
          <a:solidFill>
            <a:srgbClr val="1F2A36"/>
          </a:solidFill>
          <a:ln cap="flat" cmpd="sng" w="12700">
            <a:solidFill>
              <a:srgbClr val="1F2A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76" name="Google Shape;2576;p28"/>
          <p:cNvCxnSpPr/>
          <p:nvPr/>
        </p:nvCxnSpPr>
        <p:spPr>
          <a:xfrm>
            <a:off x="2139696" y="2395728"/>
            <a:ext cx="8979408" cy="0"/>
          </a:xfrm>
          <a:prstGeom prst="straightConnector1">
            <a:avLst/>
          </a:prstGeom>
          <a:noFill/>
          <a:ln cap="flat" cmpd="sng" w="9525">
            <a:solidFill>
              <a:srgbClr val="F2C94C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577" name="Google Shape;2577;p28"/>
          <p:cNvCxnSpPr/>
          <p:nvPr/>
        </p:nvCxnSpPr>
        <p:spPr>
          <a:xfrm>
            <a:off x="731520" y="2487168"/>
            <a:ext cx="0" cy="338328"/>
          </a:xfrm>
          <a:prstGeom prst="straightConnector1">
            <a:avLst/>
          </a:prstGeom>
          <a:noFill/>
          <a:ln cap="flat" cmpd="sng" w="19050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78" name="Google Shape;2578;p28"/>
          <p:cNvSpPr txBox="1"/>
          <p:nvPr/>
        </p:nvSpPr>
        <p:spPr>
          <a:xfrm rot="-5400000">
            <a:off x="260604" y="2574036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700"/>
              <a:buFont typeface="Calibri"/>
              <a:buNone/>
            </a:pPr>
            <a:r>
              <a:rPr b="1" i="0" lang="es-CO" sz="7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CAMPO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9" name="Google Shape;2579;p28"/>
          <p:cNvSpPr txBox="1"/>
          <p:nvPr/>
        </p:nvSpPr>
        <p:spPr>
          <a:xfrm>
            <a:off x="777240" y="2487168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Topografía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0" name="Google Shape;2580;p28"/>
          <p:cNvSpPr/>
          <p:nvPr/>
        </p:nvSpPr>
        <p:spPr>
          <a:xfrm>
            <a:off x="2103120" y="2487168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1" name="Google Shape;2581;p28"/>
          <p:cNvSpPr/>
          <p:nvPr/>
        </p:nvSpPr>
        <p:spPr>
          <a:xfrm>
            <a:off x="2103120" y="2487168"/>
            <a:ext cx="9052560" cy="155448"/>
          </a:xfrm>
          <a:prstGeom prst="rect">
            <a:avLst/>
          </a:prstGeom>
          <a:solidFill>
            <a:srgbClr val="2E7D4F"/>
          </a:solidFill>
          <a:ln cap="flat" cmpd="sng" w="9525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2" name="Google Shape;2582;p28"/>
          <p:cNvSpPr txBox="1"/>
          <p:nvPr/>
        </p:nvSpPr>
        <p:spPr>
          <a:xfrm>
            <a:off x="11201400" y="2487168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100 %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3" name="Google Shape;2583;p28"/>
          <p:cNvSpPr txBox="1"/>
          <p:nvPr/>
        </p:nvSpPr>
        <p:spPr>
          <a:xfrm>
            <a:off x="777240" y="2670048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Apiques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4" name="Google Shape;2584;p28"/>
          <p:cNvSpPr/>
          <p:nvPr/>
        </p:nvSpPr>
        <p:spPr>
          <a:xfrm>
            <a:off x="2103120" y="2670048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5" name="Google Shape;2585;p28"/>
          <p:cNvSpPr/>
          <p:nvPr/>
        </p:nvSpPr>
        <p:spPr>
          <a:xfrm>
            <a:off x="2103120" y="2670048"/>
            <a:ext cx="9052560" cy="155448"/>
          </a:xfrm>
          <a:prstGeom prst="rect">
            <a:avLst/>
          </a:prstGeom>
          <a:solidFill>
            <a:srgbClr val="2E7D4F"/>
          </a:solidFill>
          <a:ln cap="flat" cmpd="sng" w="9525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6" name="Google Shape;2586;p28"/>
          <p:cNvSpPr txBox="1"/>
          <p:nvPr/>
        </p:nvSpPr>
        <p:spPr>
          <a:xfrm>
            <a:off x="11201400" y="2670048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100 %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87" name="Google Shape;2587;p28"/>
          <p:cNvCxnSpPr/>
          <p:nvPr/>
        </p:nvCxnSpPr>
        <p:spPr>
          <a:xfrm>
            <a:off x="731520" y="2953512"/>
            <a:ext cx="0" cy="466344"/>
          </a:xfrm>
          <a:prstGeom prst="straightConnector1">
            <a:avLst/>
          </a:prstGeom>
          <a:noFill/>
          <a:ln cap="flat" cmpd="sng" w="19050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88" name="Google Shape;2588;p28"/>
          <p:cNvSpPr txBox="1"/>
          <p:nvPr/>
        </p:nvSpPr>
        <p:spPr>
          <a:xfrm rot="-5400000">
            <a:off x="260604" y="3104388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700"/>
              <a:buFont typeface="Calibri"/>
              <a:buNone/>
            </a:pPr>
            <a:r>
              <a:rPr b="1" i="0" lang="es-CO" sz="7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ESTRUCTURA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9" name="Google Shape;2589;p28"/>
          <p:cNvSpPr txBox="1"/>
          <p:nvPr/>
        </p:nvSpPr>
        <p:spPr>
          <a:xfrm>
            <a:off x="777240" y="2953512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Rodadura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0" name="Google Shape;2590;p28"/>
          <p:cNvSpPr/>
          <p:nvPr/>
        </p:nvSpPr>
        <p:spPr>
          <a:xfrm>
            <a:off x="2103120" y="2953512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1" name="Google Shape;2591;p28"/>
          <p:cNvSpPr txBox="1"/>
          <p:nvPr/>
        </p:nvSpPr>
        <p:spPr>
          <a:xfrm>
            <a:off x="11201400" y="2953512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2" name="Google Shape;2592;p28"/>
          <p:cNvSpPr txBox="1"/>
          <p:nvPr/>
        </p:nvSpPr>
        <p:spPr>
          <a:xfrm>
            <a:off x="777240" y="3108960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Capa granular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3" name="Google Shape;2593;p28"/>
          <p:cNvSpPr/>
          <p:nvPr/>
        </p:nvSpPr>
        <p:spPr>
          <a:xfrm>
            <a:off x="2103120" y="3108960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4" name="Google Shape;2594;p28"/>
          <p:cNvSpPr txBox="1"/>
          <p:nvPr/>
        </p:nvSpPr>
        <p:spPr>
          <a:xfrm>
            <a:off x="11201400" y="3108960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5" name="Google Shape;2595;p28"/>
          <p:cNvSpPr txBox="1"/>
          <p:nvPr/>
        </p:nvSpPr>
        <p:spPr>
          <a:xfrm>
            <a:off x="777240" y="3264408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Subrasante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6" name="Google Shape;2596;p28"/>
          <p:cNvSpPr/>
          <p:nvPr/>
        </p:nvSpPr>
        <p:spPr>
          <a:xfrm>
            <a:off x="2103120" y="3264408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7" name="Google Shape;2597;p28"/>
          <p:cNvSpPr txBox="1"/>
          <p:nvPr/>
        </p:nvSpPr>
        <p:spPr>
          <a:xfrm>
            <a:off x="11201400" y="3264408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98" name="Google Shape;2598;p28"/>
          <p:cNvCxnSpPr/>
          <p:nvPr/>
        </p:nvCxnSpPr>
        <p:spPr>
          <a:xfrm>
            <a:off x="731520" y="3511296"/>
            <a:ext cx="0" cy="521208"/>
          </a:xfrm>
          <a:prstGeom prst="straightConnector1">
            <a:avLst/>
          </a:prstGeom>
          <a:noFill/>
          <a:ln cap="flat" cmpd="sng" w="19050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99" name="Google Shape;2599;p28"/>
          <p:cNvSpPr txBox="1"/>
          <p:nvPr/>
        </p:nvSpPr>
        <p:spPr>
          <a:xfrm rot="-5400000">
            <a:off x="260604" y="3689604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700"/>
              <a:buFont typeface="Calibri"/>
              <a:buNone/>
            </a:pPr>
            <a:r>
              <a:rPr b="1" i="0" lang="es-CO" sz="7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DRENAJE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0" name="Google Shape;2600;p28"/>
          <p:cNvSpPr txBox="1"/>
          <p:nvPr/>
        </p:nvSpPr>
        <p:spPr>
          <a:xfrm>
            <a:off x="777240" y="3511296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Cunetas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1" name="Google Shape;2601;p28"/>
          <p:cNvSpPr/>
          <p:nvPr/>
        </p:nvSpPr>
        <p:spPr>
          <a:xfrm>
            <a:off x="2103120" y="3511296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2" name="Google Shape;2602;p28"/>
          <p:cNvSpPr txBox="1"/>
          <p:nvPr/>
        </p:nvSpPr>
        <p:spPr>
          <a:xfrm>
            <a:off x="11201400" y="3511296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3" name="Google Shape;2603;p28"/>
          <p:cNvSpPr txBox="1"/>
          <p:nvPr/>
        </p:nvSpPr>
        <p:spPr>
          <a:xfrm>
            <a:off x="777240" y="3694176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Filtros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4" name="Google Shape;2604;p28"/>
          <p:cNvSpPr txBox="1"/>
          <p:nvPr/>
        </p:nvSpPr>
        <p:spPr>
          <a:xfrm>
            <a:off x="1920240" y="3694176"/>
            <a:ext cx="137160" cy="777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700"/>
              <a:buFont typeface="Calibri"/>
              <a:buNone/>
            </a:pPr>
            <a:r>
              <a:rPr b="0" i="0" lang="es-CO" sz="7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5" name="Google Shape;2605;p28"/>
          <p:cNvSpPr txBox="1"/>
          <p:nvPr/>
        </p:nvSpPr>
        <p:spPr>
          <a:xfrm>
            <a:off x="1920240" y="3771900"/>
            <a:ext cx="137160" cy="777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700"/>
              <a:buFont typeface="Calibri"/>
              <a:buNone/>
            </a:pPr>
            <a:r>
              <a:rPr b="0" i="0" lang="es-CO" sz="7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6" name="Google Shape;2606;p28"/>
          <p:cNvSpPr/>
          <p:nvPr/>
        </p:nvSpPr>
        <p:spPr>
          <a:xfrm>
            <a:off x="2103120" y="3694176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07" name="Google Shape;2607;p28"/>
          <p:cNvCxnSpPr/>
          <p:nvPr/>
        </p:nvCxnSpPr>
        <p:spPr>
          <a:xfrm>
            <a:off x="2103120" y="3771900"/>
            <a:ext cx="9052560" cy="0"/>
          </a:xfrm>
          <a:prstGeom prst="straightConnector1">
            <a:avLst/>
          </a:prstGeom>
          <a:noFill/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08" name="Google Shape;2608;p28"/>
          <p:cNvSpPr txBox="1"/>
          <p:nvPr/>
        </p:nvSpPr>
        <p:spPr>
          <a:xfrm>
            <a:off x="11201400" y="3694176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9" name="Google Shape;2609;p28"/>
          <p:cNvSpPr txBox="1"/>
          <p:nvPr/>
        </p:nvSpPr>
        <p:spPr>
          <a:xfrm>
            <a:off x="777240" y="3877056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Alcantarillas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0" name="Google Shape;2610;p28"/>
          <p:cNvSpPr/>
          <p:nvPr/>
        </p:nvSpPr>
        <p:spPr>
          <a:xfrm>
            <a:off x="2103120" y="3877056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1" name="Google Shape;2611;p28"/>
          <p:cNvSpPr txBox="1"/>
          <p:nvPr/>
        </p:nvSpPr>
        <p:spPr>
          <a:xfrm>
            <a:off x="11201400" y="3877056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2" name="Google Shape;2612;p28"/>
          <p:cNvSpPr txBox="1"/>
          <p:nvPr/>
        </p:nvSpPr>
        <p:spPr>
          <a:xfrm>
            <a:off x="457200" y="4078224"/>
            <a:ext cx="11277295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D9A6"/>
              </a:buClr>
              <a:buSzPts val="800"/>
              <a:buFont typeface="Calibri"/>
              <a:buNone/>
            </a:pPr>
            <a:r>
              <a:rPr b="0" i="0" lang="es-CO" sz="800" u="none" cap="none" strike="noStrike">
                <a:solidFill>
                  <a:srgbClr val="EBD9A6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Natural    </a:t>
            </a:r>
            <a:r>
              <a:rPr b="0" i="0" lang="es-CO" sz="800" u="none" cap="none" strike="noStrike">
                <a:solidFill>
                  <a:srgbClr val="8C6A4F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Cal    </a:t>
            </a:r>
            <a:r>
              <a:rPr b="0" i="0" lang="es-CO" sz="800" u="none" cap="none" strike="noStrike">
                <a:solidFill>
                  <a:srgbClr val="D9A441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Cemento    </a:t>
            </a:r>
            <a:r>
              <a:rPr b="0" i="0" lang="es-CO" sz="800" u="none" cap="none" strike="noStrike">
                <a:solidFill>
                  <a:srgbClr val="1F2A36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TSD    </a:t>
            </a:r>
            <a:r>
              <a:rPr b="0" i="0" lang="es-CO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MDC-19    </a:t>
            </a:r>
            <a:r>
              <a:rPr b="0" i="0" lang="es-CO" sz="8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Ejecutado    </a:t>
            </a:r>
            <a:r>
              <a:rPr b="0" i="0" lang="es-CO" sz="800" u="none" cap="none" strike="noStrike">
                <a:solidFill>
                  <a:srgbClr val="A9C7B3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Limpieza alcantarillas    </a:t>
            </a:r>
            <a:r>
              <a:rPr b="0" i="0" lang="es-CO" sz="800" u="none" cap="none" strike="noStrike">
                <a:solidFill>
                  <a:srgbClr val="2F6FB0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Alcantarilla nueva    </a:t>
            </a:r>
            <a:r>
              <a:rPr b="0" i="0" lang="es-CO" sz="800" u="none" cap="none" strike="noStrike">
                <a:solidFill>
                  <a:srgbClr val="E07B24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Reemplazada    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3" name="Google Shape;2613;p28"/>
          <p:cNvSpPr txBox="1"/>
          <p:nvPr/>
        </p:nvSpPr>
        <p:spPr>
          <a:xfrm>
            <a:off x="457200" y="4301688"/>
            <a:ext cx="5486400" cy="1658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1000"/>
              <a:buFont typeface="Calibri"/>
              <a:buNone/>
            </a:pPr>
            <a:r>
              <a:rPr b="1" i="0" lang="es-CO" sz="9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AVANCE POR ACTIVIDAD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4" name="Google Shape;2614;p28"/>
          <p:cNvSpPr txBox="1"/>
          <p:nvPr/>
        </p:nvSpPr>
        <p:spPr>
          <a:xfrm>
            <a:off x="457200" y="4716328"/>
            <a:ext cx="2011680" cy="1476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Topografía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5" name="Google Shape;2615;p28"/>
          <p:cNvSpPr/>
          <p:nvPr/>
        </p:nvSpPr>
        <p:spPr>
          <a:xfrm>
            <a:off x="2514600" y="4738469"/>
            <a:ext cx="4206240" cy="103328"/>
          </a:xfrm>
          <a:prstGeom prst="rect">
            <a:avLst/>
          </a:prstGeom>
          <a:solidFill>
            <a:srgbClr val="E3E8E5"/>
          </a:solidFill>
          <a:ln cap="flat" cmpd="sng" w="12700">
            <a:solidFill>
              <a:srgbClr val="E3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6" name="Google Shape;2616;p28"/>
          <p:cNvSpPr txBox="1"/>
          <p:nvPr/>
        </p:nvSpPr>
        <p:spPr>
          <a:xfrm>
            <a:off x="457200" y="4880525"/>
            <a:ext cx="2011680" cy="1476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Apiques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7" name="Google Shape;2617;p28"/>
          <p:cNvSpPr/>
          <p:nvPr/>
        </p:nvSpPr>
        <p:spPr>
          <a:xfrm>
            <a:off x="2514600" y="4902667"/>
            <a:ext cx="4206240" cy="103328"/>
          </a:xfrm>
          <a:prstGeom prst="rect">
            <a:avLst/>
          </a:prstGeom>
          <a:solidFill>
            <a:srgbClr val="E3E8E5"/>
          </a:solidFill>
          <a:ln cap="flat" cmpd="sng" w="12700">
            <a:solidFill>
              <a:srgbClr val="E3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8" name="Google Shape;2618;p28"/>
          <p:cNvSpPr txBox="1"/>
          <p:nvPr/>
        </p:nvSpPr>
        <p:spPr>
          <a:xfrm>
            <a:off x="457200" y="5044722"/>
            <a:ext cx="2011680" cy="1476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Limpieza obras transversales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9" name="Google Shape;2619;p28"/>
          <p:cNvSpPr/>
          <p:nvPr/>
        </p:nvSpPr>
        <p:spPr>
          <a:xfrm>
            <a:off x="2514600" y="5066865"/>
            <a:ext cx="4206240" cy="103328"/>
          </a:xfrm>
          <a:prstGeom prst="rect">
            <a:avLst/>
          </a:prstGeom>
          <a:solidFill>
            <a:srgbClr val="E3E8E5"/>
          </a:solidFill>
          <a:ln cap="flat" cmpd="sng" w="12700">
            <a:solidFill>
              <a:srgbClr val="E3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0" name="Google Shape;2620;p28"/>
          <p:cNvSpPr txBox="1"/>
          <p:nvPr/>
        </p:nvSpPr>
        <p:spPr>
          <a:xfrm>
            <a:off x="457200" y="5208921"/>
            <a:ext cx="2011680" cy="1476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Alcantarillas construidas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1" name="Google Shape;2621;p28"/>
          <p:cNvSpPr/>
          <p:nvPr/>
        </p:nvSpPr>
        <p:spPr>
          <a:xfrm>
            <a:off x="2514600" y="5231062"/>
            <a:ext cx="4206240" cy="103328"/>
          </a:xfrm>
          <a:prstGeom prst="rect">
            <a:avLst/>
          </a:prstGeom>
          <a:solidFill>
            <a:srgbClr val="E3E8E5"/>
          </a:solidFill>
          <a:ln cap="flat" cmpd="sng" w="12700">
            <a:solidFill>
              <a:srgbClr val="E3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2" name="Google Shape;2622;p28"/>
          <p:cNvSpPr txBox="1"/>
          <p:nvPr/>
        </p:nvSpPr>
        <p:spPr>
          <a:xfrm>
            <a:off x="457200" y="5373118"/>
            <a:ext cx="2011680" cy="1476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Filtros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3" name="Google Shape;2623;p28"/>
          <p:cNvSpPr/>
          <p:nvPr/>
        </p:nvSpPr>
        <p:spPr>
          <a:xfrm>
            <a:off x="2514600" y="5395259"/>
            <a:ext cx="4206240" cy="103328"/>
          </a:xfrm>
          <a:prstGeom prst="rect">
            <a:avLst/>
          </a:prstGeom>
          <a:solidFill>
            <a:srgbClr val="E3E8E5"/>
          </a:solidFill>
          <a:ln cap="flat" cmpd="sng" w="12700">
            <a:solidFill>
              <a:srgbClr val="E3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4" name="Google Shape;2624;p28"/>
          <p:cNvSpPr txBox="1"/>
          <p:nvPr/>
        </p:nvSpPr>
        <p:spPr>
          <a:xfrm>
            <a:off x="457200" y="5537315"/>
            <a:ext cx="2011680" cy="1476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Conformación y adecuación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5" name="Google Shape;2625;p28"/>
          <p:cNvSpPr/>
          <p:nvPr/>
        </p:nvSpPr>
        <p:spPr>
          <a:xfrm>
            <a:off x="2514600" y="5559457"/>
            <a:ext cx="4206240" cy="103328"/>
          </a:xfrm>
          <a:prstGeom prst="rect">
            <a:avLst/>
          </a:prstGeom>
          <a:solidFill>
            <a:srgbClr val="E3E8E5"/>
          </a:solidFill>
          <a:ln cap="flat" cmpd="sng" w="12700">
            <a:solidFill>
              <a:srgbClr val="E3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6" name="Google Shape;2626;p28"/>
          <p:cNvSpPr txBox="1"/>
          <p:nvPr/>
        </p:nvSpPr>
        <p:spPr>
          <a:xfrm>
            <a:off x="457200" y="5701513"/>
            <a:ext cx="2011680" cy="1476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Estabilización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7" name="Google Shape;2627;p28"/>
          <p:cNvSpPr/>
          <p:nvPr/>
        </p:nvSpPr>
        <p:spPr>
          <a:xfrm>
            <a:off x="2514600" y="5723655"/>
            <a:ext cx="4206240" cy="103328"/>
          </a:xfrm>
          <a:prstGeom prst="rect">
            <a:avLst/>
          </a:prstGeom>
          <a:solidFill>
            <a:srgbClr val="E3E8E5"/>
          </a:solidFill>
          <a:ln cap="flat" cmpd="sng" w="12700">
            <a:solidFill>
              <a:srgbClr val="E3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8" name="Google Shape;2628;p28"/>
          <p:cNvSpPr txBox="1"/>
          <p:nvPr/>
        </p:nvSpPr>
        <p:spPr>
          <a:xfrm>
            <a:off x="457200" y="5865710"/>
            <a:ext cx="2011680" cy="1476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Cunetas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9" name="Google Shape;2629;p28"/>
          <p:cNvSpPr/>
          <p:nvPr/>
        </p:nvSpPr>
        <p:spPr>
          <a:xfrm>
            <a:off x="2514600" y="5887852"/>
            <a:ext cx="4206240" cy="103328"/>
          </a:xfrm>
          <a:prstGeom prst="rect">
            <a:avLst/>
          </a:prstGeom>
          <a:solidFill>
            <a:srgbClr val="E3E8E5"/>
          </a:solidFill>
          <a:ln cap="flat" cmpd="sng" w="12700">
            <a:solidFill>
              <a:srgbClr val="E3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0" name="Google Shape;2630;p28"/>
          <p:cNvSpPr txBox="1"/>
          <p:nvPr/>
        </p:nvSpPr>
        <p:spPr>
          <a:xfrm>
            <a:off x="457200" y="6029908"/>
            <a:ext cx="2011680" cy="1476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Bordillos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1" name="Google Shape;2631;p28"/>
          <p:cNvSpPr/>
          <p:nvPr/>
        </p:nvSpPr>
        <p:spPr>
          <a:xfrm>
            <a:off x="2514600" y="6052050"/>
            <a:ext cx="4206240" cy="103328"/>
          </a:xfrm>
          <a:prstGeom prst="rect">
            <a:avLst/>
          </a:prstGeom>
          <a:solidFill>
            <a:srgbClr val="E3E8E5"/>
          </a:solidFill>
          <a:ln cap="flat" cmpd="sng" w="12700">
            <a:solidFill>
              <a:srgbClr val="E3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2" name="Google Shape;2632;p28"/>
          <p:cNvSpPr txBox="1"/>
          <p:nvPr/>
        </p:nvSpPr>
        <p:spPr>
          <a:xfrm>
            <a:off x="457200" y="6194106"/>
            <a:ext cx="2011680" cy="1476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Señalización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3" name="Google Shape;2633;p28"/>
          <p:cNvSpPr/>
          <p:nvPr/>
        </p:nvSpPr>
        <p:spPr>
          <a:xfrm>
            <a:off x="2514600" y="6216247"/>
            <a:ext cx="4206240" cy="103328"/>
          </a:xfrm>
          <a:prstGeom prst="rect">
            <a:avLst/>
          </a:prstGeom>
          <a:solidFill>
            <a:srgbClr val="E3E8E5"/>
          </a:solidFill>
          <a:ln cap="flat" cmpd="sng" w="12700">
            <a:solidFill>
              <a:srgbClr val="E3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634" name="Google Shape;2634;p28"/>
          <p:cNvGraphicFramePr/>
          <p:nvPr/>
        </p:nvGraphicFramePr>
        <p:xfrm>
          <a:off x="6858000" y="450071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{9EE2CB2E-1363-49F8-B8BA-952F5347F8D7}</a:tableStyleId>
              </a:tblPr>
              <a:tblGrid>
                <a:gridCol w="566925"/>
                <a:gridCol w="719350"/>
                <a:gridCol w="920200"/>
                <a:gridCol w="954400"/>
                <a:gridCol w="1060700"/>
              </a:tblGrid>
              <a:tr h="182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1" lang="es-CO" sz="7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Unidad</a:t>
                      </a:r>
                      <a:endParaRPr sz="7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1" lang="es-CO" sz="7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Presupuestada</a:t>
                      </a:r>
                      <a:endParaRPr sz="7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1" lang="es-CO" sz="7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Ejec. anterior</a:t>
                      </a:r>
                      <a:endParaRPr sz="7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1" lang="es-CO" sz="7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Ejec. actual</a:t>
                      </a:r>
                      <a:endParaRPr sz="7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1" lang="es-CO" sz="7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Δ semana</a:t>
                      </a:r>
                      <a:endParaRPr sz="7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0" lang="es-CO" sz="7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km</a:t>
                      </a:r>
                      <a:endParaRPr sz="7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0" lang="es-CO" sz="7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</a:t>
                      </a:r>
                      <a:endParaRPr sz="7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0" lang="es-CO" sz="750" u="none" cap="none" strike="noStrike">
                          <a:solidFill>
                            <a:srgbClr val="5F6B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</a:t>
                      </a:r>
                      <a:endParaRPr sz="7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1" lang="es-CO" sz="7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</a:t>
                      </a:r>
                      <a:endParaRPr sz="7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0" lang="es-CO" sz="750" u="none" cap="none" strike="noStrike">
                          <a:solidFill>
                            <a:srgbClr val="8A94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7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82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0" lang="es-CO" sz="7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und</a:t>
                      </a:r>
                      <a:endParaRPr sz="7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s-CO" sz="750">
                          <a:solidFill>
                            <a:srgbClr val="1D2B24"/>
                          </a:solidFill>
                        </a:rPr>
                        <a:t>100</a:t>
                      </a:r>
                      <a:endParaRPr sz="750">
                        <a:solidFill>
                          <a:srgbClr val="1D2B24"/>
                        </a:solidFill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0" lang="es-CO" sz="750" u="none" cap="none" strike="noStrike">
                          <a:solidFill>
                            <a:srgbClr val="5F6B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</a:t>
                      </a:r>
                      <a:endParaRPr sz="7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1" lang="es-CO" sz="7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</a:t>
                      </a:r>
                      <a:endParaRPr sz="7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0" lang="es-CO" sz="750" u="none" cap="none" strike="noStrike">
                          <a:solidFill>
                            <a:srgbClr val="8A94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7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95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0" lang="es-CO" sz="7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und</a:t>
                      </a:r>
                      <a:endParaRPr sz="7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750">
                          <a:solidFill>
                            <a:srgbClr val="1D2B24"/>
                          </a:solidFill>
                        </a:rPr>
                        <a:t>108</a:t>
                      </a:r>
                      <a:endParaRPr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0" lang="es-CO" sz="750" u="none" cap="none" strike="noStrike">
                          <a:solidFill>
                            <a:srgbClr val="5F6B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</a:t>
                      </a:r>
                      <a:endParaRPr sz="7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1" lang="es-CO" sz="7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</a:t>
                      </a:r>
                      <a:endParaRPr sz="7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1" lang="es-CO" sz="750" u="none" cap="none" strike="noStrike">
                          <a:solidFill>
                            <a:srgbClr val="2E7D4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+40,5 ml</a:t>
                      </a:r>
                      <a:endParaRPr sz="7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0" lang="es-CO" sz="7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und</a:t>
                      </a:r>
                      <a:endParaRPr sz="7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s-CO" sz="750"/>
                        <a:t>108</a:t>
                      </a:r>
                      <a:endParaRPr sz="7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0" lang="es-CO" sz="750" u="none" cap="none" strike="noStrike">
                          <a:solidFill>
                            <a:srgbClr val="5F6B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7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1" lang="es-CO" sz="7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7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1" lang="es-CO" sz="750" u="none" cap="none" strike="noStrike">
                          <a:solidFill>
                            <a:srgbClr val="2E7D4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+6,74 ml</a:t>
                      </a:r>
                      <a:endParaRPr sz="7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0" lang="es-CO" sz="7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</a:t>
                      </a:r>
                      <a:endParaRPr sz="7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0" lang="es-CO" sz="7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25.000</a:t>
                      </a:r>
                      <a:endParaRPr sz="7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0" lang="es-CO" sz="750" u="none" cap="none" strike="noStrike">
                          <a:solidFill>
                            <a:srgbClr val="5F6B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170</a:t>
                      </a:r>
                      <a:endParaRPr sz="7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1" lang="es-CO" sz="7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220</a:t>
                      </a:r>
                      <a:endParaRPr sz="7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1" lang="es-CO" sz="750" u="none" cap="none" strike="noStrike">
                          <a:solidFill>
                            <a:srgbClr val="2E7D4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+220</a:t>
                      </a:r>
                      <a:endParaRPr sz="7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0" lang="es-CO" sz="7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</a:t>
                      </a:r>
                      <a:endParaRPr sz="7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0" lang="es-CO" sz="7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25.000</a:t>
                      </a:r>
                      <a:endParaRPr sz="7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0" lang="es-CO" sz="750" u="none" cap="none" strike="noStrike">
                          <a:solidFill>
                            <a:srgbClr val="5F6B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80</a:t>
                      </a:r>
                      <a:endParaRPr sz="7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1" lang="es-CO" sz="7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960</a:t>
                      </a:r>
                      <a:endParaRPr sz="7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0" lang="es-CO" sz="750" u="none" cap="none" strike="noStrike">
                          <a:solidFill>
                            <a:srgbClr val="8A94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7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75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0" lang="es-CO" sz="7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</a:t>
                      </a:r>
                      <a:endParaRPr sz="7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0" lang="es-CO" sz="7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25.000</a:t>
                      </a:r>
                      <a:endParaRPr sz="7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0" lang="es-CO" sz="750" u="none" cap="none" strike="noStrike">
                          <a:solidFill>
                            <a:srgbClr val="5F6B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200</a:t>
                      </a:r>
                      <a:endParaRPr sz="7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1" lang="es-CO" sz="7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390</a:t>
                      </a:r>
                      <a:endParaRPr sz="7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1" lang="es-CO" sz="750" u="none" cap="none" strike="noStrike">
                          <a:solidFill>
                            <a:srgbClr val="2E7D4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+0,17</a:t>
                      </a:r>
                      <a:endParaRPr sz="7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0" lang="es-CO" sz="7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</a:t>
                      </a:r>
                      <a:endParaRPr sz="7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0" lang="es-CO" sz="7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25.000</a:t>
                      </a:r>
                      <a:endParaRPr sz="7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0" lang="es-CO" sz="750" u="none" cap="none" strike="noStrike">
                          <a:solidFill>
                            <a:srgbClr val="5F6B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7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1" lang="es-CO" sz="7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s.r.</a:t>
                      </a:r>
                      <a:endParaRPr sz="7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0" lang="es-CO" sz="750" u="none" cap="none" strike="noStrike">
                          <a:solidFill>
                            <a:srgbClr val="8A94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7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0" lang="es-CO" sz="7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</a:t>
                      </a:r>
                      <a:endParaRPr sz="7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0" lang="es-CO" sz="7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6.000</a:t>
                      </a:r>
                      <a:endParaRPr sz="7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0" lang="es-CO" sz="750" u="none" cap="none" strike="noStrike">
                          <a:solidFill>
                            <a:srgbClr val="5F6B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7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1" lang="es-CO" sz="7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s.r.</a:t>
                      </a:r>
                      <a:endParaRPr sz="7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0" lang="es-CO" sz="750" u="none" cap="none" strike="noStrike">
                          <a:solidFill>
                            <a:srgbClr val="8A94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7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0" lang="es-CO" sz="7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ml</a:t>
                      </a:r>
                      <a:endParaRPr sz="7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0" lang="es-CO" sz="7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N/A</a:t>
                      </a:r>
                      <a:endParaRPr sz="7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0" lang="es-CO" sz="750" u="none" cap="none" strike="noStrike">
                          <a:solidFill>
                            <a:srgbClr val="5F6B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7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1" lang="es-CO" sz="7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s.r.</a:t>
                      </a:r>
                      <a:endParaRPr sz="7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0" lang="es-CO" sz="750" u="none" cap="none" strike="noStrike">
                          <a:solidFill>
                            <a:srgbClr val="8A94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7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</a:tbl>
          </a:graphicData>
        </a:graphic>
      </p:graphicFrame>
      <p:sp>
        <p:nvSpPr>
          <p:cNvPr id="2635" name="Google Shape;2635;p28"/>
          <p:cNvSpPr txBox="1"/>
          <p:nvPr/>
        </p:nvSpPr>
        <p:spPr>
          <a:xfrm>
            <a:off x="457200" y="6400000"/>
            <a:ext cx="5000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s-CO" sz="9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TIEMPO TRANSCURRIDO DEL PLAZO CONTRACTUAL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6" name="Google Shape;2636;p28"/>
          <p:cNvSpPr txBox="1"/>
          <p:nvPr/>
        </p:nvSpPr>
        <p:spPr>
          <a:xfrm>
            <a:off x="5000000" y="6400000"/>
            <a:ext cx="6734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Inicio: </a:t>
            </a:r>
            <a:r>
              <a:rPr b="1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10/02/2026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   ·   Terminación: </a:t>
            </a:r>
            <a:r>
              <a:rPr b="1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10/08/2027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   ·   Al: </a:t>
            </a:r>
            <a:r>
              <a:rPr b="1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02/10/2026</a:t>
            </a: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   ·   234 de 546 días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7" name="Google Shape;2637;p28"/>
          <p:cNvSpPr/>
          <p:nvPr/>
        </p:nvSpPr>
        <p:spPr>
          <a:xfrm>
            <a:off x="457200" y="6598920"/>
            <a:ext cx="11277600" cy="164592"/>
          </a:xfrm>
          <a:prstGeom prst="roundRect">
            <a:avLst>
              <a:gd fmla="val 50000" name="adj"/>
            </a:avLst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8" name="Google Shape;2638;p28"/>
          <p:cNvSpPr/>
          <p:nvPr/>
        </p:nvSpPr>
        <p:spPr>
          <a:xfrm>
            <a:off x="457200" y="6598920"/>
            <a:ext cx="4833257" cy="164592"/>
          </a:xfrm>
          <a:prstGeom prst="roundRect">
            <a:avLst>
              <a:gd fmla="val 50000" name="adj"/>
            </a:avLst>
          </a:prstGeom>
          <a:solidFill>
            <a:srgbClr val="2E7D4F"/>
          </a:solidFill>
          <a:ln cap="flat" cmpd="sng" w="9525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s-CO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42,9 %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39" name="Google Shape;2639;p28"/>
          <p:cNvCxnSpPr/>
          <p:nvPr/>
        </p:nvCxnSpPr>
        <p:spPr>
          <a:xfrm>
            <a:off x="849643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40" name="Google Shape;2640;p28"/>
          <p:cNvCxnSpPr/>
          <p:nvPr/>
        </p:nvCxnSpPr>
        <p:spPr>
          <a:xfrm>
            <a:off x="1489947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41" name="Google Shape;2641;p28"/>
          <p:cNvCxnSpPr/>
          <p:nvPr/>
        </p:nvCxnSpPr>
        <p:spPr>
          <a:xfrm>
            <a:off x="2109595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42" name="Google Shape;2642;p28"/>
          <p:cNvCxnSpPr/>
          <p:nvPr/>
        </p:nvCxnSpPr>
        <p:spPr>
          <a:xfrm>
            <a:off x="2749898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43" name="Google Shape;2643;p28"/>
          <p:cNvCxnSpPr/>
          <p:nvPr/>
        </p:nvCxnSpPr>
        <p:spPr>
          <a:xfrm>
            <a:off x="3369547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44" name="Google Shape;2644;p28"/>
          <p:cNvCxnSpPr/>
          <p:nvPr/>
        </p:nvCxnSpPr>
        <p:spPr>
          <a:xfrm>
            <a:off x="4009850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45" name="Google Shape;2645;p28"/>
          <p:cNvCxnSpPr/>
          <p:nvPr/>
        </p:nvCxnSpPr>
        <p:spPr>
          <a:xfrm>
            <a:off x="4650153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46" name="Google Shape;2646;p28"/>
          <p:cNvCxnSpPr/>
          <p:nvPr/>
        </p:nvCxnSpPr>
        <p:spPr>
          <a:xfrm>
            <a:off x="5269802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47" name="Google Shape;2647;p28"/>
          <p:cNvCxnSpPr/>
          <p:nvPr/>
        </p:nvCxnSpPr>
        <p:spPr>
          <a:xfrm>
            <a:off x="5910105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48" name="Google Shape;2648;p28"/>
          <p:cNvCxnSpPr/>
          <p:nvPr/>
        </p:nvCxnSpPr>
        <p:spPr>
          <a:xfrm>
            <a:off x="6529753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49" name="Google Shape;2649;p28"/>
          <p:cNvCxnSpPr/>
          <p:nvPr/>
        </p:nvCxnSpPr>
        <p:spPr>
          <a:xfrm>
            <a:off x="7170057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50" name="Google Shape;2650;p28"/>
          <p:cNvCxnSpPr/>
          <p:nvPr/>
        </p:nvCxnSpPr>
        <p:spPr>
          <a:xfrm>
            <a:off x="7810360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51" name="Google Shape;2651;p28"/>
          <p:cNvCxnSpPr/>
          <p:nvPr/>
        </p:nvCxnSpPr>
        <p:spPr>
          <a:xfrm>
            <a:off x="8388698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52" name="Google Shape;2652;p28"/>
          <p:cNvCxnSpPr/>
          <p:nvPr/>
        </p:nvCxnSpPr>
        <p:spPr>
          <a:xfrm>
            <a:off x="9029002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53" name="Google Shape;2653;p28"/>
          <p:cNvCxnSpPr/>
          <p:nvPr/>
        </p:nvCxnSpPr>
        <p:spPr>
          <a:xfrm>
            <a:off x="9648650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54" name="Google Shape;2654;p28"/>
          <p:cNvCxnSpPr/>
          <p:nvPr/>
        </p:nvCxnSpPr>
        <p:spPr>
          <a:xfrm>
            <a:off x="10288953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55" name="Google Shape;2655;p28"/>
          <p:cNvCxnSpPr/>
          <p:nvPr/>
        </p:nvCxnSpPr>
        <p:spPr>
          <a:xfrm>
            <a:off x="10908602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56" name="Google Shape;2656;p28"/>
          <p:cNvCxnSpPr/>
          <p:nvPr/>
        </p:nvCxnSpPr>
        <p:spPr>
          <a:xfrm>
            <a:off x="11548905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57" name="Google Shape;2657;p28"/>
          <p:cNvCxnSpPr/>
          <p:nvPr/>
        </p:nvCxnSpPr>
        <p:spPr>
          <a:xfrm>
            <a:off x="5290457" y="6562344"/>
            <a:ext cx="0" cy="237744"/>
          </a:xfrm>
          <a:prstGeom prst="straightConnector1">
            <a:avLst/>
          </a:prstGeom>
          <a:noFill/>
          <a:ln cap="flat" cmpd="sng" w="19050">
            <a:solidFill>
              <a:srgbClr val="B3261E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62" name="Shape 2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3" name="Google Shape;2663;p29"/>
          <p:cNvSpPr txBox="1"/>
          <p:nvPr/>
        </p:nvSpPr>
        <p:spPr>
          <a:xfrm>
            <a:off x="457200" y="320040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1200"/>
              <a:buFont typeface="Calibri"/>
              <a:buNone/>
            </a:pPr>
            <a:r>
              <a:rPr b="1" i="0" lang="es-CO" sz="1200" u="none" cap="none" strike="noStrike">
                <a:solidFill>
                  <a:srgbClr val="2E7D4F"/>
                </a:solidFill>
                <a:latin typeface="Poppins"/>
                <a:ea typeface="Poppins"/>
                <a:cs typeface="Poppins"/>
                <a:sym typeface="Poppins"/>
              </a:rPr>
              <a:t>CONSOLIDADO DE VARIACIÓN DE ALCANCES  ·  LOTE 4 – SUBREGIÓN MAGDALENA MEDIO</a:t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64" name="Google Shape;2664;p29"/>
          <p:cNvSpPr txBox="1"/>
          <p:nvPr/>
        </p:nvSpPr>
        <p:spPr>
          <a:xfrm>
            <a:off x="457200" y="594360"/>
            <a:ext cx="9692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2800"/>
              <a:buFont typeface="Calibri"/>
              <a:buNone/>
            </a:pPr>
            <a:r>
              <a:rPr b="1" i="0" lang="es-CO" sz="28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Consolidado Lote 4 – Magdalena Medio</a:t>
            </a:r>
            <a:endParaRPr b="0" i="0" sz="2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descr="logo.png" id="2665" name="Google Shape;266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78440" y="320040"/>
            <a:ext cx="1371600" cy="676656"/>
          </a:xfrm>
          <a:prstGeom prst="rect">
            <a:avLst/>
          </a:prstGeom>
          <a:noFill/>
          <a:ln>
            <a:noFill/>
          </a:ln>
        </p:spPr>
      </p:pic>
      <p:sp>
        <p:nvSpPr>
          <p:cNvPr id="2666" name="Google Shape;2666;p29"/>
          <p:cNvSpPr/>
          <p:nvPr/>
        </p:nvSpPr>
        <p:spPr>
          <a:xfrm>
            <a:off x="457200" y="128016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7" name="Google Shape;2667;p29"/>
          <p:cNvSpPr txBox="1"/>
          <p:nvPr/>
        </p:nvSpPr>
        <p:spPr>
          <a:xfrm>
            <a:off x="594360" y="1353312"/>
            <a:ext cx="1834835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050"/>
              <a:buFont typeface="Calibri"/>
              <a:buNone/>
            </a:pPr>
            <a:r>
              <a:rPr b="0" i="0" lang="es-CO" sz="10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Km contratados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8" name="Google Shape;2668;p29"/>
          <p:cNvSpPr txBox="1"/>
          <p:nvPr/>
        </p:nvSpPr>
        <p:spPr>
          <a:xfrm>
            <a:off x="594360" y="1581912"/>
            <a:ext cx="183483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55,00 km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9" name="Google Shape;2669;p29"/>
          <p:cNvSpPr txBox="1"/>
          <p:nvPr/>
        </p:nvSpPr>
        <p:spPr>
          <a:xfrm>
            <a:off x="594360" y="1901952"/>
            <a:ext cx="1834835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1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2 corredores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0" name="Google Shape;2670;p29"/>
          <p:cNvSpPr/>
          <p:nvPr/>
        </p:nvSpPr>
        <p:spPr>
          <a:xfrm>
            <a:off x="2749235" y="128016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1" name="Google Shape;2671;p29"/>
          <p:cNvSpPr txBox="1"/>
          <p:nvPr/>
        </p:nvSpPr>
        <p:spPr>
          <a:xfrm>
            <a:off x="2886395" y="1353312"/>
            <a:ext cx="1834835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050"/>
              <a:buFont typeface="Calibri"/>
              <a:buNone/>
            </a:pPr>
            <a:r>
              <a:rPr b="0" i="0" lang="es-CO" sz="10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Km que se alcanzan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2" name="Google Shape;2672;p29"/>
          <p:cNvSpPr txBox="1"/>
          <p:nvPr/>
        </p:nvSpPr>
        <p:spPr>
          <a:xfrm>
            <a:off x="2886395" y="1581912"/>
            <a:ext cx="183483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D2E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0B5D2E"/>
                </a:solidFill>
                <a:latin typeface="Calibri"/>
                <a:ea typeface="Calibri"/>
                <a:cs typeface="Calibri"/>
                <a:sym typeface="Calibri"/>
              </a:rPr>
              <a:t>32,76 km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3" name="Google Shape;2673;p29"/>
          <p:cNvSpPr txBox="1"/>
          <p:nvPr/>
        </p:nvSpPr>
        <p:spPr>
          <a:xfrm>
            <a:off x="2886395" y="1901952"/>
            <a:ext cx="1834835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1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Cobertura 59,6 % del valor proyectado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4" name="Google Shape;2674;p29"/>
          <p:cNvSpPr/>
          <p:nvPr/>
        </p:nvSpPr>
        <p:spPr>
          <a:xfrm>
            <a:off x="5041270" y="128016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5" name="Google Shape;2675;p29"/>
          <p:cNvSpPr txBox="1"/>
          <p:nvPr/>
        </p:nvSpPr>
        <p:spPr>
          <a:xfrm>
            <a:off x="5178430" y="1353312"/>
            <a:ext cx="1834835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050"/>
              <a:buFont typeface="Calibri"/>
              <a:buNone/>
            </a:pPr>
            <a:r>
              <a:rPr b="0" i="0" lang="es-CO" sz="10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Valor contractual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6" name="Google Shape;2676;p29"/>
          <p:cNvSpPr txBox="1"/>
          <p:nvPr/>
        </p:nvSpPr>
        <p:spPr>
          <a:xfrm>
            <a:off x="5178430" y="1581912"/>
            <a:ext cx="183483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$ 51.571.662.606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7" name="Google Shape;2677;p29"/>
          <p:cNvSpPr txBox="1"/>
          <p:nvPr/>
        </p:nvSpPr>
        <p:spPr>
          <a:xfrm>
            <a:off x="5178430" y="1901952"/>
            <a:ext cx="1834835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1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$ 937.666.593 por km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8" name="Google Shape;2678;p29"/>
          <p:cNvSpPr/>
          <p:nvPr/>
        </p:nvSpPr>
        <p:spPr>
          <a:xfrm>
            <a:off x="7333305" y="128016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9" name="Google Shape;2679;p29"/>
          <p:cNvSpPr txBox="1"/>
          <p:nvPr/>
        </p:nvSpPr>
        <p:spPr>
          <a:xfrm>
            <a:off x="7470465" y="1353312"/>
            <a:ext cx="1834835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050"/>
              <a:buFont typeface="Calibri"/>
              <a:buNone/>
            </a:pPr>
            <a:r>
              <a:rPr b="0" i="0" lang="es-CO" sz="10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Valor proyectado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0" name="Google Shape;2680;p29"/>
          <p:cNvSpPr txBox="1"/>
          <p:nvPr/>
        </p:nvSpPr>
        <p:spPr>
          <a:xfrm>
            <a:off x="7470465" y="1581912"/>
            <a:ext cx="183483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$ 86.571.676.721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1" name="Google Shape;2681;p29"/>
          <p:cNvSpPr txBox="1"/>
          <p:nvPr/>
        </p:nvSpPr>
        <p:spPr>
          <a:xfrm>
            <a:off x="7470465" y="1901952"/>
            <a:ext cx="1834835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1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$ 1.574.030.486 por km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2" name="Google Shape;2682;p29"/>
          <p:cNvSpPr/>
          <p:nvPr/>
        </p:nvSpPr>
        <p:spPr>
          <a:xfrm>
            <a:off x="9625340" y="128016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FBEAEA"/>
          </a:solidFill>
          <a:ln cap="flat" cmpd="sng" w="12700">
            <a:solidFill>
              <a:srgbClr val="FBEA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3" name="Google Shape;2683;p29"/>
          <p:cNvSpPr txBox="1"/>
          <p:nvPr/>
        </p:nvSpPr>
        <p:spPr>
          <a:xfrm>
            <a:off x="9762500" y="1353312"/>
            <a:ext cx="1834835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050"/>
              <a:buFont typeface="Calibri"/>
              <a:buNone/>
            </a:pPr>
            <a:r>
              <a:rPr b="0" i="0" lang="es-CO" sz="10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Adición estimada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4" name="Google Shape;2684;p29"/>
          <p:cNvSpPr txBox="1"/>
          <p:nvPr/>
        </p:nvSpPr>
        <p:spPr>
          <a:xfrm>
            <a:off x="9762500" y="1581912"/>
            <a:ext cx="183483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261E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B3261E"/>
                </a:solidFill>
                <a:latin typeface="Calibri"/>
                <a:ea typeface="Calibri"/>
                <a:cs typeface="Calibri"/>
                <a:sym typeface="Calibri"/>
              </a:rPr>
              <a:t>▲ $ 35.000.014.115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5" name="Google Shape;2685;p29"/>
          <p:cNvSpPr txBox="1"/>
          <p:nvPr/>
        </p:nvSpPr>
        <p:spPr>
          <a:xfrm>
            <a:off x="9762500" y="1901952"/>
            <a:ext cx="1834835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1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+67,9 % sobre lo contractual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686" name="Google Shape;2686;p29"/>
          <p:cNvGraphicFramePr/>
          <p:nvPr/>
        </p:nvGraphicFramePr>
        <p:xfrm>
          <a:off x="457200" y="23774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{2219430B-40B1-4F13-8D99-EA5D7966678A}</a:tableStyleId>
              </a:tblPr>
              <a:tblGrid>
                <a:gridCol w="2743200"/>
                <a:gridCol w="621800"/>
                <a:gridCol w="1280150"/>
                <a:gridCol w="1005850"/>
                <a:gridCol w="1280150"/>
                <a:gridCol w="1005850"/>
                <a:gridCol w="795525"/>
                <a:gridCol w="1280150"/>
                <a:gridCol w="640075"/>
                <a:gridCol w="62180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Corredor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Longitud (km)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Valor contractual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$/km contractual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Valor proyectado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$/km proyectado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Longitud probable (km)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Variación (valor adicional)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 variación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Cobertura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Remedios – La Y de la Virgen – Puerto Berrío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25,00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$ 24.350.762.146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$ 974.030.486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$ 39.350.762.146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$ 1.574.030.486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15,47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▲ $ 15.000.000.000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61,6 %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61,9 %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SUBTOTAL CORREDORES CON PROYECCIÓN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25,00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$ 24.350.762.146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$ 974.030.486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$ 39.350.762.146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$ 1.574.030.486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15,47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▲ $ 15.000.000.000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61,6 %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61,9 %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B65"/>
                        </a:buClr>
                        <a:buSzPts val="950"/>
                        <a:buFont typeface="Calibri"/>
                        <a:buNone/>
                      </a:pPr>
                      <a:r>
                        <a:rPr i="1" lang="es-CO" sz="9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 Ye – Yondó *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B65"/>
                        </a:buClr>
                        <a:buSzPts val="950"/>
                        <a:buFont typeface="Calibri"/>
                        <a:buNone/>
                      </a:pPr>
                      <a:r>
                        <a:rPr i="1" lang="es-CO" sz="9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30,00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B65"/>
                        </a:buClr>
                        <a:buSzPts val="950"/>
                        <a:buFont typeface="Calibri"/>
                        <a:buNone/>
                      </a:pPr>
                      <a:r>
                        <a:rPr i="1" lang="es-CO" sz="9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$ 27.220.900.460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B65"/>
                        </a:buClr>
                        <a:buSzPts val="950"/>
                        <a:buFont typeface="Calibri"/>
                        <a:buNone/>
                      </a:pPr>
                      <a:r>
                        <a:rPr i="1" lang="es-CO" sz="9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$ 907.363.349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B65"/>
                        </a:buClr>
                        <a:buSzPts val="950"/>
                        <a:buFont typeface="Calibri"/>
                        <a:buNone/>
                      </a:pPr>
                      <a:r>
                        <a:rPr i="1" lang="es-CO" sz="9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$ 47.220.914.575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B65"/>
                        </a:buClr>
                        <a:buSzPts val="950"/>
                        <a:buFont typeface="Calibri"/>
                        <a:buNone/>
                      </a:pPr>
                      <a:r>
                        <a:rPr i="1" lang="es-CO" sz="9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$ 1.574.030.486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B65"/>
                        </a:buClr>
                        <a:buSzPts val="950"/>
                        <a:buFont typeface="Calibri"/>
                        <a:buNone/>
                      </a:pPr>
                      <a:r>
                        <a:rPr b="1" i="1" lang="es-CO" sz="9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17,29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i="1"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▲ $ 20.000.014.115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i="1"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73,5 %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B65"/>
                        </a:buClr>
                        <a:buSzPts val="950"/>
                        <a:buFont typeface="Calibri"/>
                        <a:buNone/>
                      </a:pPr>
                      <a:r>
                        <a:rPr i="1" lang="es-CO" sz="9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57,6 %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LOTE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55,00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$ 51.571.662.606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$ 937.666.593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$ 86.571.676.721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$ 1.574.030.486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32,76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▲ $ 35.000.014.115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67,9 %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59,6 %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</a:tr>
            </a:tbl>
          </a:graphicData>
        </a:graphic>
      </p:graphicFrame>
      <p:sp>
        <p:nvSpPr>
          <p:cNvPr id="2687" name="Google Shape;2687;p29"/>
          <p:cNvSpPr txBox="1"/>
          <p:nvPr/>
        </p:nvSpPr>
        <p:spPr>
          <a:xfrm>
            <a:off x="457200" y="4325112"/>
            <a:ext cx="1127455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00"/>
              <a:buFont typeface="Calibri"/>
              <a:buNone/>
            </a:pP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* Valor contractual según presupuesto del oferente; valor proyectado estimado con el promedio del valor por km proyectado de los corredores con proyección del lote ($ 1.574.030.486).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8" name="Google Shape;2688;p29"/>
          <p:cNvSpPr txBox="1"/>
          <p:nvPr/>
        </p:nvSpPr>
        <p:spPr>
          <a:xfrm>
            <a:off x="457200" y="4498848"/>
            <a:ext cx="1127455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00"/>
              <a:buFont typeface="Calibri"/>
              <a:buNone/>
            </a:pP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Valor total del contrato $ 54.441.800.920 · Valor contractual de obra $ 51.571.662.606 · Valores reembolsables $ 2.870.138.314.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9" name="Google Shape;2689;p29"/>
          <p:cNvSpPr txBox="1"/>
          <p:nvPr/>
        </p:nvSpPr>
        <p:spPr>
          <a:xfrm>
            <a:off x="457200" y="4672584"/>
            <a:ext cx="1127455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00"/>
              <a:buFont typeface="Calibri"/>
              <a:buNone/>
            </a:pP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Longitud probable = longitud × valor contractual ÷ valor proyectado · Cobertura = valor contractual ÷ valor proyectado.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0" name="Google Shape;2690;p29"/>
          <p:cNvSpPr txBox="1"/>
          <p:nvPr/>
        </p:nvSpPr>
        <p:spPr>
          <a:xfrm>
            <a:off x="457200" y="4956048"/>
            <a:ext cx="112745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950"/>
              <a:buFont typeface="Calibri"/>
              <a:buNone/>
            </a:pPr>
            <a:r>
              <a:rPr b="1" i="0" lang="es-CO" sz="95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KILÓMETROS DEL LOTE QUE SE CUBREN CON EL VALOR CONTRACTUAL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1" name="Google Shape;2691;p29"/>
          <p:cNvSpPr/>
          <p:nvPr/>
        </p:nvSpPr>
        <p:spPr>
          <a:xfrm>
            <a:off x="457200" y="5193792"/>
            <a:ext cx="6718004" cy="384048"/>
          </a:xfrm>
          <a:prstGeom prst="rect">
            <a:avLst/>
          </a:prstGeom>
          <a:solidFill>
            <a:srgbClr val="2E7D4F"/>
          </a:solidFill>
          <a:ln cap="flat" cmpd="sng" w="12700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2" name="Google Shape;2692;p29"/>
          <p:cNvSpPr/>
          <p:nvPr/>
        </p:nvSpPr>
        <p:spPr>
          <a:xfrm>
            <a:off x="7175204" y="5193792"/>
            <a:ext cx="4559291" cy="384048"/>
          </a:xfrm>
          <a:prstGeom prst="rect">
            <a:avLst/>
          </a:prstGeom>
          <a:solidFill>
            <a:srgbClr val="B3261E"/>
          </a:solidFill>
          <a:ln cap="flat" cmpd="sng" w="12700">
            <a:solidFill>
              <a:srgbClr val="B326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3" name="Google Shape;2693;p29"/>
          <p:cNvSpPr txBox="1"/>
          <p:nvPr/>
        </p:nvSpPr>
        <p:spPr>
          <a:xfrm>
            <a:off x="566928" y="5193792"/>
            <a:ext cx="64985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s-CO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32,76 km</a:t>
            </a:r>
            <a:r>
              <a:rPr b="0" i="0" lang="es-CO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·  59,6 % se alcanza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4" name="Google Shape;2694;p29"/>
          <p:cNvSpPr txBox="1"/>
          <p:nvPr/>
        </p:nvSpPr>
        <p:spPr>
          <a:xfrm>
            <a:off x="7284932" y="5193792"/>
            <a:ext cx="433983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s-CO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22,24 km</a:t>
            </a:r>
            <a:r>
              <a:rPr b="0" i="0" lang="es-CO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·  40,4 % pendiente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8" name="Shape 2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9" name="Google Shape;2699;p30"/>
          <p:cNvSpPr txBox="1"/>
          <p:nvPr/>
        </p:nvSpPr>
        <p:spPr>
          <a:xfrm>
            <a:off x="457200" y="320040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1200"/>
              <a:buFont typeface="Calibri"/>
              <a:buNone/>
            </a:pPr>
            <a:r>
              <a:rPr b="1" i="0" lang="es-CO" sz="1200" u="none" cap="none" strike="noStrike">
                <a:solidFill>
                  <a:srgbClr val="2E7D4F"/>
                </a:solidFill>
                <a:latin typeface="Poppins"/>
                <a:ea typeface="Poppins"/>
                <a:cs typeface="Poppins"/>
                <a:sym typeface="Poppins"/>
              </a:rPr>
              <a:t>INFORME DE VARIACIÓN DE ALCANCES  ·  LOTE 5 – SUBREGIÓN SUROESTE</a:t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00" name="Google Shape;2700;p30"/>
          <p:cNvSpPr txBox="1"/>
          <p:nvPr/>
        </p:nvSpPr>
        <p:spPr>
          <a:xfrm>
            <a:off x="457200" y="594360"/>
            <a:ext cx="9692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2800"/>
              <a:buFont typeface="Calibri"/>
              <a:buNone/>
            </a:pPr>
            <a:r>
              <a:rPr b="1" i="0" lang="es-CO" sz="28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Salgar – La Cámara – La Quiebra</a:t>
            </a:r>
            <a:endParaRPr b="0" i="0" sz="2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01" name="Google Shape;2701;p30"/>
          <p:cNvSpPr/>
          <p:nvPr/>
        </p:nvSpPr>
        <p:spPr>
          <a:xfrm>
            <a:off x="457200" y="132588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2" name="Google Shape;2702;p30"/>
          <p:cNvSpPr txBox="1"/>
          <p:nvPr/>
        </p:nvSpPr>
        <p:spPr>
          <a:xfrm>
            <a:off x="594360" y="1417320"/>
            <a:ext cx="183483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100"/>
              <a:buFont typeface="Calibri"/>
              <a:buNone/>
            </a:pPr>
            <a:r>
              <a:rPr b="0" i="0" lang="es-CO" sz="11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Longitud contractual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3" name="Google Shape;2703;p30"/>
          <p:cNvSpPr txBox="1"/>
          <p:nvPr/>
        </p:nvSpPr>
        <p:spPr>
          <a:xfrm>
            <a:off x="594360" y="1691640"/>
            <a:ext cx="183483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700"/>
              <a:buFont typeface="Calibri"/>
              <a:buNone/>
            </a:pPr>
            <a:r>
              <a:rPr b="1" i="0" lang="es-CO" sz="17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15,93 km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4" name="Google Shape;2704;p30"/>
          <p:cNvSpPr/>
          <p:nvPr/>
        </p:nvSpPr>
        <p:spPr>
          <a:xfrm>
            <a:off x="2749235" y="132588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5" name="Google Shape;2705;p30"/>
          <p:cNvSpPr txBox="1"/>
          <p:nvPr/>
        </p:nvSpPr>
        <p:spPr>
          <a:xfrm>
            <a:off x="2886395" y="1417320"/>
            <a:ext cx="183483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100"/>
              <a:buFont typeface="Calibri"/>
              <a:buNone/>
            </a:pPr>
            <a:r>
              <a:rPr b="0" i="0" lang="es-CO" sz="11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Longitud probable a cubrir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6" name="Google Shape;2706;p30"/>
          <p:cNvSpPr/>
          <p:nvPr/>
        </p:nvSpPr>
        <p:spPr>
          <a:xfrm>
            <a:off x="5041270" y="132588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7" name="Google Shape;2707;p30"/>
          <p:cNvSpPr txBox="1"/>
          <p:nvPr/>
        </p:nvSpPr>
        <p:spPr>
          <a:xfrm>
            <a:off x="5178430" y="1417320"/>
            <a:ext cx="183483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100"/>
              <a:buFont typeface="Calibri"/>
              <a:buNone/>
            </a:pPr>
            <a:r>
              <a:rPr b="0" i="0" lang="es-CO" sz="11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Valor por km contractual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8" name="Google Shape;2708;p30"/>
          <p:cNvSpPr txBox="1"/>
          <p:nvPr/>
        </p:nvSpPr>
        <p:spPr>
          <a:xfrm>
            <a:off x="5178430" y="1691640"/>
            <a:ext cx="183483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700"/>
              <a:buFont typeface="Calibri"/>
              <a:buNone/>
            </a:pPr>
            <a:r>
              <a:rPr b="1" i="0" lang="es-CO" sz="17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$ 963.958.963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9" name="Google Shape;2709;p30"/>
          <p:cNvSpPr/>
          <p:nvPr/>
        </p:nvSpPr>
        <p:spPr>
          <a:xfrm>
            <a:off x="7333305" y="132588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0" name="Google Shape;2710;p30"/>
          <p:cNvSpPr txBox="1"/>
          <p:nvPr/>
        </p:nvSpPr>
        <p:spPr>
          <a:xfrm>
            <a:off x="7470465" y="1417320"/>
            <a:ext cx="183483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100"/>
              <a:buFont typeface="Calibri"/>
              <a:buNone/>
            </a:pPr>
            <a:r>
              <a:rPr b="0" i="0" lang="es-CO" sz="11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Valor por km proyectado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1" name="Google Shape;2711;p30"/>
          <p:cNvSpPr/>
          <p:nvPr/>
        </p:nvSpPr>
        <p:spPr>
          <a:xfrm>
            <a:off x="9625340" y="132588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FBEAEA"/>
          </a:solidFill>
          <a:ln cap="flat" cmpd="sng" w="12700">
            <a:solidFill>
              <a:srgbClr val="FBEA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2" name="Google Shape;2712;p30"/>
          <p:cNvSpPr txBox="1"/>
          <p:nvPr/>
        </p:nvSpPr>
        <p:spPr>
          <a:xfrm>
            <a:off x="9762500" y="1417320"/>
            <a:ext cx="183483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100"/>
              <a:buFont typeface="Calibri"/>
              <a:buNone/>
            </a:pPr>
            <a:r>
              <a:rPr b="0" i="0" lang="es-CO" sz="11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Variación total (valor adicional)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3" name="Google Shape;2713;p30"/>
          <p:cNvSpPr/>
          <p:nvPr/>
        </p:nvSpPr>
        <p:spPr>
          <a:xfrm>
            <a:off x="457200" y="2423160"/>
            <a:ext cx="3154680" cy="4114800"/>
          </a:xfrm>
          <a:prstGeom prst="roundRect">
            <a:avLst>
              <a:gd fmla="val 1739" name="adj"/>
            </a:avLst>
          </a:prstGeom>
          <a:solidFill>
            <a:srgbClr val="FFFFFF"/>
          </a:solidFill>
          <a:ln cap="flat" cmpd="sng" w="12700">
            <a:solidFill>
              <a:srgbClr val="D5DD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4" name="Google Shape;2714;p30"/>
          <p:cNvSpPr txBox="1"/>
          <p:nvPr/>
        </p:nvSpPr>
        <p:spPr>
          <a:xfrm>
            <a:off x="640080" y="2560320"/>
            <a:ext cx="2788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1100"/>
              <a:buFont typeface="Calibri"/>
              <a:buNone/>
            </a:pPr>
            <a:r>
              <a:rPr b="1" i="0" lang="es-CO" sz="11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ESTRUCTURA DE PAVIMENTO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5" name="Google Shape;2715;p30"/>
          <p:cNvSpPr txBox="1"/>
          <p:nvPr/>
        </p:nvSpPr>
        <p:spPr>
          <a:xfrm>
            <a:off x="640080" y="2816352"/>
            <a:ext cx="2788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1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Salgar – La Cámara – La Quiebra</a:t>
            </a:r>
            <a:endParaRPr b="1" i="0" sz="1000" u="none" cap="none" strike="noStrike">
              <a:solidFill>
                <a:srgbClr val="1D2B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6" name="Google Shape;2716;p30"/>
          <p:cNvSpPr txBox="1"/>
          <p:nvPr/>
        </p:nvSpPr>
        <p:spPr>
          <a:xfrm>
            <a:off x="640080" y="3172968"/>
            <a:ext cx="2788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LOTE 5 · Longitud: 15.930 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Tránsito – Estructuración: 169.000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Tránsito – Diseño: 124.932 / 541.266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7" name="Google Shape;2717;p30"/>
          <p:cNvSpPr txBox="1"/>
          <p:nvPr/>
        </p:nvSpPr>
        <p:spPr>
          <a:xfrm>
            <a:off x="457200" y="3794760"/>
            <a:ext cx="15773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1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Teórica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8" name="Google Shape;2718;p30"/>
          <p:cNvSpPr/>
          <p:nvPr/>
        </p:nvSpPr>
        <p:spPr>
          <a:xfrm>
            <a:off x="560070" y="4087368"/>
            <a:ext cx="960120" cy="182880"/>
          </a:xfrm>
          <a:prstGeom prst="rect">
            <a:avLst/>
          </a:prstGeom>
          <a:solidFill>
            <a:srgbClr val="1F2A36"/>
          </a:solidFill>
          <a:ln cap="flat" cmpd="sng" w="12700">
            <a:solidFill>
              <a:srgbClr val="1F2A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9" name="Google Shape;2719;p30"/>
          <p:cNvSpPr txBox="1"/>
          <p:nvPr/>
        </p:nvSpPr>
        <p:spPr>
          <a:xfrm>
            <a:off x="560070" y="4087368"/>
            <a:ext cx="9601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s-CO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TSD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0" name="Google Shape;2720;p30"/>
          <p:cNvSpPr/>
          <p:nvPr/>
        </p:nvSpPr>
        <p:spPr>
          <a:xfrm>
            <a:off x="560070" y="4270248"/>
            <a:ext cx="960120" cy="773959"/>
          </a:xfrm>
          <a:prstGeom prst="rect">
            <a:avLst/>
          </a:prstGeom>
          <a:solidFill>
            <a:srgbClr val="D9A44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1" name="Google Shape;2721;p30"/>
          <p:cNvSpPr txBox="1"/>
          <p:nvPr/>
        </p:nvSpPr>
        <p:spPr>
          <a:xfrm>
            <a:off x="560070" y="4270248"/>
            <a:ext cx="960120" cy="35040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800"/>
              <a:buFont typeface="Calibri"/>
              <a:buNone/>
            </a:pPr>
            <a:r>
              <a:rPr b="1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BGTC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2" name="Google Shape;2722;p30"/>
          <p:cNvSpPr/>
          <p:nvPr/>
        </p:nvSpPr>
        <p:spPr>
          <a:xfrm>
            <a:off x="624078" y="4620652"/>
            <a:ext cx="832104" cy="386980"/>
          </a:xfrm>
          <a:prstGeom prst="rect">
            <a:avLst/>
          </a:prstGeom>
          <a:solidFill>
            <a:srgbClr val="F2D58E"/>
          </a:solidFill>
          <a:ln cap="flat" cmpd="sng" w="9525">
            <a:solidFill>
              <a:srgbClr val="A87B1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3" name="Google Shape;2723;p30"/>
          <p:cNvSpPr txBox="1"/>
          <p:nvPr/>
        </p:nvSpPr>
        <p:spPr>
          <a:xfrm>
            <a:off x="624078" y="4620652"/>
            <a:ext cx="832104" cy="386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800"/>
              <a:buFont typeface="Calibri"/>
              <a:buNone/>
            </a:pPr>
            <a:r>
              <a:rPr b="0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Subbase 18 cm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4" name="Google Shape;2724;p30"/>
          <p:cNvSpPr txBox="1"/>
          <p:nvPr/>
        </p:nvSpPr>
        <p:spPr>
          <a:xfrm>
            <a:off x="1575054" y="4270248"/>
            <a:ext cx="457200" cy="77395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28 cm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5" name="Google Shape;2725;p30"/>
          <p:cNvSpPr/>
          <p:nvPr/>
        </p:nvSpPr>
        <p:spPr>
          <a:xfrm>
            <a:off x="560070" y="5044207"/>
            <a:ext cx="960120" cy="552828"/>
          </a:xfrm>
          <a:prstGeom prst="rect">
            <a:avLst/>
          </a:prstGeom>
          <a:solidFill>
            <a:srgbClr val="8C6A4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6" name="Google Shape;2726;p30"/>
          <p:cNvSpPr txBox="1"/>
          <p:nvPr/>
        </p:nvSpPr>
        <p:spPr>
          <a:xfrm>
            <a:off x="560070" y="5044207"/>
            <a:ext cx="960120" cy="5528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s-CO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Subrasante estabilizada con cal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7" name="Google Shape;2727;p30"/>
          <p:cNvSpPr txBox="1"/>
          <p:nvPr/>
        </p:nvSpPr>
        <p:spPr>
          <a:xfrm>
            <a:off x="1575054" y="5044207"/>
            <a:ext cx="457200" cy="5528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20 cm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28" name="Google Shape;2728;p30"/>
          <p:cNvCxnSpPr/>
          <p:nvPr/>
        </p:nvCxnSpPr>
        <p:spPr>
          <a:xfrm>
            <a:off x="468630" y="5597035"/>
            <a:ext cx="1143000" cy="0"/>
          </a:xfrm>
          <a:prstGeom prst="straightConnector1">
            <a:avLst/>
          </a:prstGeom>
          <a:noFill/>
          <a:ln cap="flat" cmpd="sng" w="12700">
            <a:solidFill>
              <a:srgbClr val="1D2B2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29" name="Google Shape;2729;p30"/>
          <p:cNvSpPr txBox="1"/>
          <p:nvPr/>
        </p:nvSpPr>
        <p:spPr>
          <a:xfrm>
            <a:off x="457200" y="5670187"/>
            <a:ext cx="15773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Espesor total: 48 cm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0" name="Google Shape;2730;p30"/>
          <p:cNvSpPr txBox="1"/>
          <p:nvPr/>
        </p:nvSpPr>
        <p:spPr>
          <a:xfrm>
            <a:off x="2034540" y="3794760"/>
            <a:ext cx="15773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1" name="Google Shape;2731;p30"/>
          <p:cNvSpPr/>
          <p:nvPr/>
        </p:nvSpPr>
        <p:spPr>
          <a:xfrm>
            <a:off x="2137410" y="4087368"/>
            <a:ext cx="9601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2" name="Google Shape;2732;p30"/>
          <p:cNvSpPr txBox="1"/>
          <p:nvPr/>
        </p:nvSpPr>
        <p:spPr>
          <a:xfrm>
            <a:off x="2137410" y="4087368"/>
            <a:ext cx="9601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3" name="Google Shape;2733;p30"/>
          <p:cNvSpPr/>
          <p:nvPr/>
        </p:nvSpPr>
        <p:spPr>
          <a:xfrm>
            <a:off x="2137410" y="4270248"/>
            <a:ext cx="960120" cy="9674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4" name="Google Shape;2734;p30"/>
          <p:cNvSpPr txBox="1"/>
          <p:nvPr/>
        </p:nvSpPr>
        <p:spPr>
          <a:xfrm>
            <a:off x="2137410" y="4270248"/>
            <a:ext cx="960120" cy="96744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800"/>
              <a:buFont typeface="Calibri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5" name="Google Shape;2735;p30"/>
          <p:cNvSpPr txBox="1"/>
          <p:nvPr/>
        </p:nvSpPr>
        <p:spPr>
          <a:xfrm>
            <a:off x="3152394" y="4270248"/>
            <a:ext cx="457200" cy="96744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6" name="Google Shape;2736;p30"/>
          <p:cNvSpPr/>
          <p:nvPr/>
        </p:nvSpPr>
        <p:spPr>
          <a:xfrm>
            <a:off x="2137410" y="5237697"/>
            <a:ext cx="960120" cy="6910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7" name="Google Shape;2737;p30"/>
          <p:cNvSpPr txBox="1"/>
          <p:nvPr/>
        </p:nvSpPr>
        <p:spPr>
          <a:xfrm>
            <a:off x="2137410" y="5237697"/>
            <a:ext cx="960120" cy="69103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800"/>
              <a:buFont typeface="Calibri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8" name="Google Shape;2738;p30"/>
          <p:cNvSpPr txBox="1"/>
          <p:nvPr/>
        </p:nvSpPr>
        <p:spPr>
          <a:xfrm>
            <a:off x="3152394" y="5237697"/>
            <a:ext cx="457200" cy="6910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39" name="Google Shape;2739;p30"/>
          <p:cNvCxnSpPr/>
          <p:nvPr/>
        </p:nvCxnSpPr>
        <p:spPr>
          <a:xfrm>
            <a:off x="2045970" y="5928732"/>
            <a:ext cx="1143000" cy="0"/>
          </a:xfrm>
          <a:prstGeom prst="straightConnector1">
            <a:avLst/>
          </a:prstGeom>
          <a:noFill/>
          <a:ln cap="flat" cmpd="sng" w="12700">
            <a:solidFill>
              <a:srgbClr val="1D2B2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40" name="Google Shape;2740;p30"/>
          <p:cNvSpPr txBox="1"/>
          <p:nvPr/>
        </p:nvSpPr>
        <p:spPr>
          <a:xfrm>
            <a:off x="2137410" y="5956164"/>
            <a:ext cx="960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00"/>
              <a:buFont typeface="Calibri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1" name="Google Shape;2741;p30"/>
          <p:cNvSpPr txBox="1"/>
          <p:nvPr/>
        </p:nvSpPr>
        <p:spPr>
          <a:xfrm>
            <a:off x="2034540" y="6203052"/>
            <a:ext cx="15773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742" name="Google Shape;2742;p30"/>
          <p:cNvGraphicFramePr/>
          <p:nvPr/>
        </p:nvGraphicFramePr>
        <p:xfrm>
          <a:off x="3840480" y="24231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{2219430B-40B1-4F13-8D99-EA5D7966678A}</a:tableStyleId>
              </a:tblPr>
              <a:tblGrid>
                <a:gridCol w="2395725"/>
                <a:gridCol w="1097275"/>
                <a:gridCol w="603500"/>
                <a:gridCol w="1097275"/>
                <a:gridCol w="603500"/>
                <a:gridCol w="237750"/>
                <a:gridCol w="1097275"/>
                <a:gridCol w="758950"/>
              </a:tblGrid>
              <a:tr h="438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Grupo – actividad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Valor contractual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 sobre corredor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Valor proyectado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 sobre corredor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Variación (valor adicional)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 de variación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</a:tr>
              <a:tr h="27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Construcción de alcantarillas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$ 2.589.421.366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16,9 %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t/>
                      </a:r>
                      <a:endParaRPr sz="950" u="none" cap="none" strike="noStrike">
                        <a:solidFill>
                          <a:srgbClr val="1D2B2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t/>
                      </a:r>
                      <a:endParaRPr sz="950" u="none" cap="none" strike="noStrike">
                        <a:solidFill>
                          <a:srgbClr val="1D2B2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950" u="none" cap="none" strike="noStrike">
                        <a:solidFill>
                          <a:srgbClr val="B326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t/>
                      </a:r>
                      <a:endParaRPr sz="950" u="none" cap="none" strike="noStrike">
                        <a:solidFill>
                          <a:srgbClr val="B326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t/>
                      </a:r>
                      <a:endParaRPr sz="950" u="none" cap="none" strike="noStrike">
                        <a:solidFill>
                          <a:srgbClr val="B326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Construcción de cunetas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$ 2.415.026.789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15,7 %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t/>
                      </a:r>
                      <a:endParaRPr sz="950" u="none" cap="none" strike="noStrike">
                        <a:solidFill>
                          <a:srgbClr val="1D2B2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t/>
                      </a:r>
                      <a:endParaRPr sz="950" u="none" cap="none" strike="noStrike">
                        <a:solidFill>
                          <a:srgbClr val="1D2B2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950" u="none" cap="none" strike="noStrike">
                        <a:solidFill>
                          <a:srgbClr val="0B5D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t/>
                      </a:r>
                      <a:endParaRPr sz="950" u="none" cap="none" strike="noStrike">
                        <a:solidFill>
                          <a:srgbClr val="0B5D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t/>
                      </a:r>
                      <a:endParaRPr sz="950" u="none" cap="none" strike="noStrike">
                        <a:solidFill>
                          <a:srgbClr val="0B5D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27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Construcción de filtros para cunetas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$ 2.543.361.498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16,6 %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t/>
                      </a:r>
                      <a:endParaRPr sz="950" u="none" cap="none" strike="noStrike">
                        <a:solidFill>
                          <a:srgbClr val="1D2B2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t/>
                      </a:r>
                      <a:endParaRPr sz="950" u="none" cap="none" strike="noStrike">
                        <a:solidFill>
                          <a:srgbClr val="1D2B2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950" u="none" cap="none" strike="noStrike">
                        <a:solidFill>
                          <a:srgbClr val="0B5D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t/>
                      </a:r>
                      <a:endParaRPr sz="950" u="none" cap="none" strike="noStrike">
                        <a:solidFill>
                          <a:srgbClr val="0B5D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t/>
                      </a:r>
                      <a:endParaRPr sz="950" u="none" cap="none" strike="noStrike">
                        <a:solidFill>
                          <a:srgbClr val="0B5D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Construcción de bordillos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$ 362.917.244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2,4 %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t/>
                      </a:r>
                      <a:endParaRPr sz="950" u="none" cap="none" strike="noStrike">
                        <a:solidFill>
                          <a:srgbClr val="1D2B2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t/>
                      </a:r>
                      <a:endParaRPr sz="950" u="none" cap="none" strike="noStrike">
                        <a:solidFill>
                          <a:srgbClr val="1D2B2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950" u="none" cap="none" strike="noStrike">
                        <a:solidFill>
                          <a:srgbClr val="0B5D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950"/>
                        <a:buFont typeface="Calibri"/>
                        <a:buNone/>
                      </a:pPr>
                      <a:r>
                        <a:t/>
                      </a:r>
                      <a:endParaRPr sz="950" u="none" cap="none" strike="noStrike">
                        <a:solidFill>
                          <a:srgbClr val="0B5D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950"/>
                        <a:buFont typeface="Calibri"/>
                        <a:buNone/>
                      </a:pPr>
                      <a:r>
                        <a:t/>
                      </a:r>
                      <a:endParaRPr sz="950" u="none" cap="none" strike="noStrike">
                        <a:solidFill>
                          <a:srgbClr val="0B5D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27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Construcción de disipadores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$ 398.742.286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2,6 %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t/>
                      </a:r>
                      <a:endParaRPr sz="950" u="none" cap="none" strike="noStrike">
                        <a:solidFill>
                          <a:srgbClr val="1D2B2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t/>
                      </a:r>
                      <a:endParaRPr sz="950" u="none" cap="none" strike="noStrike">
                        <a:solidFill>
                          <a:srgbClr val="1D2B2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950" u="none" cap="none" strike="noStrike">
                        <a:solidFill>
                          <a:srgbClr val="0B5D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t/>
                      </a:r>
                      <a:endParaRPr sz="950" u="none" cap="none" strike="noStrike">
                        <a:solidFill>
                          <a:srgbClr val="0B5D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t/>
                      </a:r>
                      <a:endParaRPr sz="950" u="none" cap="none" strike="noStrike">
                        <a:solidFill>
                          <a:srgbClr val="0B5D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Estabilización con material granular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$ 6.828.134.354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44,5 %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t/>
                      </a:r>
                      <a:endParaRPr b="1" sz="950" u="none" cap="none" strike="noStrike">
                        <a:solidFill>
                          <a:srgbClr val="1D2B2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t/>
                      </a:r>
                      <a:endParaRPr b="1" sz="950" u="none" cap="none" strike="noStrike">
                        <a:solidFill>
                          <a:srgbClr val="1D2B2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1" sz="950" u="none" cap="none" strike="noStrike">
                        <a:solidFill>
                          <a:srgbClr val="B326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t/>
                      </a:r>
                      <a:endParaRPr b="1" sz="950" u="none" cap="none" strike="noStrike">
                        <a:solidFill>
                          <a:srgbClr val="B326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t/>
                      </a:r>
                      <a:endParaRPr b="1" sz="950" u="none" cap="none" strike="noStrike">
                        <a:solidFill>
                          <a:srgbClr val="B326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27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Señalización vial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$ 218.262.750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1,4 %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t/>
                      </a:r>
                      <a:endParaRPr sz="950" u="none" cap="none" strike="noStrike">
                        <a:solidFill>
                          <a:srgbClr val="1D2B2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t/>
                      </a:r>
                      <a:endParaRPr sz="950" u="none" cap="none" strike="noStrike">
                        <a:solidFill>
                          <a:srgbClr val="1D2B2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8300" marB="18300" marR="45725" marL="45725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t/>
                      </a:r>
                      <a:endParaRPr sz="950" u="none" cap="none" strike="noStrike">
                        <a:solidFill>
                          <a:srgbClr val="1D2B2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t/>
                      </a:r>
                      <a:endParaRPr sz="950" u="none" cap="none" strike="noStrike">
                        <a:solidFill>
                          <a:srgbClr val="1D2B2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Alternativas constructivas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–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0,0 %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t/>
                      </a:r>
                      <a:endParaRPr sz="950" u="none" cap="none" strike="noStrike">
                        <a:solidFill>
                          <a:srgbClr val="1D2B2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t/>
                      </a:r>
                      <a:endParaRPr sz="950" u="none" cap="none" strike="noStrike">
                        <a:solidFill>
                          <a:srgbClr val="1D2B2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950" u="none" cap="none" strike="noStrike">
                        <a:solidFill>
                          <a:srgbClr val="B326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t/>
                      </a:r>
                      <a:endParaRPr sz="950" u="none" cap="none" strike="noStrike">
                        <a:solidFill>
                          <a:srgbClr val="B326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950"/>
                        <a:buFont typeface="Calibri"/>
                        <a:buNone/>
                      </a:pPr>
                      <a:r>
                        <a:t/>
                      </a:r>
                      <a:endParaRPr sz="950" u="none" cap="none" strike="noStrike">
                        <a:solidFill>
                          <a:srgbClr val="B326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27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CORREDOR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$ 15.355.866.287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100%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b="1" sz="1000" u="none" cap="none" strike="noStrike">
                        <a:solidFill>
                          <a:srgbClr val="1D2B2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b="1" sz="1000" u="none" cap="none" strike="noStrike">
                        <a:solidFill>
                          <a:srgbClr val="1D2B2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1" sz="1000" u="none" cap="none" strike="noStrike">
                        <a:solidFill>
                          <a:srgbClr val="B326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b="1" sz="1000" u="none" cap="none" strike="noStrike">
                        <a:solidFill>
                          <a:srgbClr val="B326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b="1" sz="1000" u="none" cap="none" strike="noStrike">
                        <a:solidFill>
                          <a:srgbClr val="B3261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</a:tr>
            </a:tbl>
          </a:graphicData>
        </a:graphic>
      </p:graphicFrame>
      <p:sp>
        <p:nvSpPr>
          <p:cNvPr id="2743" name="Google Shape;2743;p30"/>
          <p:cNvSpPr txBox="1"/>
          <p:nvPr/>
        </p:nvSpPr>
        <p:spPr>
          <a:xfrm>
            <a:off x="3840480" y="5413248"/>
            <a:ext cx="78912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261E"/>
              </a:buClr>
              <a:buSzPts val="900"/>
              <a:buFont typeface="Arial"/>
              <a:buNone/>
            </a:pPr>
            <a:r>
              <a:rPr b="0" i="0" lang="es-CO" sz="900" u="none" cap="none" strike="noStrike">
                <a:solidFill>
                  <a:srgbClr val="B3261E"/>
                </a:solidFill>
                <a:latin typeface="Arial"/>
                <a:ea typeface="Arial"/>
                <a:cs typeface="Arial"/>
                <a:sym typeface="Arial"/>
              </a:rPr>
              <a:t>▲</a:t>
            </a: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 Se requiere mayor valor     </a:t>
            </a:r>
            <a:r>
              <a:rPr b="0" i="0" lang="es-CO" sz="900" u="none" cap="none" strike="noStrike">
                <a:solidFill>
                  <a:srgbClr val="0B5D2E"/>
                </a:solidFill>
                <a:latin typeface="Arial"/>
                <a:ea typeface="Arial"/>
                <a:cs typeface="Arial"/>
                <a:sym typeface="Arial"/>
              </a:rPr>
              <a:t>▼</a:t>
            </a: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 Sobra valor     % de variación = (valor proyectado – valor contractual) / valor contractual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4" name="Google Shape;2744;p30"/>
          <p:cNvSpPr/>
          <p:nvPr/>
        </p:nvSpPr>
        <p:spPr>
          <a:xfrm>
            <a:off x="3840480" y="5687568"/>
            <a:ext cx="7891272" cy="850392"/>
          </a:xfrm>
          <a:prstGeom prst="roundRect">
            <a:avLst>
              <a:gd fmla="val 6452" name="adj"/>
            </a:avLst>
          </a:prstGeom>
          <a:solidFill>
            <a:srgbClr val="FFFFFF"/>
          </a:solidFill>
          <a:ln cap="flat" cmpd="sng" w="12700">
            <a:solidFill>
              <a:srgbClr val="9AA7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00" lIns="1000" spcFirstLastPara="1" rIns="1500" wrap="square" tIns="15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100"/>
              <a:buFont typeface="Calibri"/>
              <a:buNone/>
            </a:pPr>
            <a:r>
              <a:rPr b="1" i="0" lang="es-CO" sz="11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Notas: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.png" id="2745" name="Google Shape;2745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78440" y="320040"/>
            <a:ext cx="1371600" cy="6766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49" name="Shape 2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0" name="Google Shape;2750;p31"/>
          <p:cNvSpPr txBox="1"/>
          <p:nvPr/>
        </p:nvSpPr>
        <p:spPr>
          <a:xfrm>
            <a:off x="457200" y="320040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CO" sz="1200" u="none" cap="none" strike="noStrike">
                <a:solidFill>
                  <a:srgbClr val="2E7D4F"/>
                </a:solidFill>
                <a:latin typeface="Poppins"/>
                <a:ea typeface="Poppins"/>
                <a:cs typeface="Poppins"/>
                <a:sym typeface="Poppins"/>
              </a:rPr>
              <a:t>INFORME DE EJECUCIÓN  ·  LOTE 5 – SUBREGIÓN SUROESTE</a:t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51" name="Google Shape;2751;p31"/>
          <p:cNvSpPr txBox="1"/>
          <p:nvPr/>
        </p:nvSpPr>
        <p:spPr>
          <a:xfrm>
            <a:off x="457200" y="594360"/>
            <a:ext cx="9692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s-CO" sz="26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Salgar – La Cámara – La Quiebra</a:t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52" name="Google Shape;2752;p31"/>
          <p:cNvSpPr/>
          <p:nvPr/>
        </p:nvSpPr>
        <p:spPr>
          <a:xfrm>
            <a:off x="457200" y="1234440"/>
            <a:ext cx="1765249" cy="658368"/>
          </a:xfrm>
          <a:prstGeom prst="roundRect">
            <a:avLst>
              <a:gd fmla="val 1111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3" name="Google Shape;2753;p31"/>
          <p:cNvSpPr txBox="1"/>
          <p:nvPr/>
        </p:nvSpPr>
        <p:spPr>
          <a:xfrm>
            <a:off x="566928" y="1289304"/>
            <a:ext cx="154579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s-CO" sz="9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Longitud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4" name="Google Shape;2754;p31"/>
          <p:cNvSpPr txBox="1"/>
          <p:nvPr/>
        </p:nvSpPr>
        <p:spPr>
          <a:xfrm>
            <a:off x="566928" y="1453896"/>
            <a:ext cx="154579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-CO" sz="15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15,93 km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5" name="Google Shape;2755;p31"/>
          <p:cNvSpPr txBox="1"/>
          <p:nvPr/>
        </p:nvSpPr>
        <p:spPr>
          <a:xfrm>
            <a:off x="566928" y="1700784"/>
            <a:ext cx="1545793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Alcance real 11,42 km · dif. 4,51 km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6" name="Google Shape;2756;p31"/>
          <p:cNvSpPr/>
          <p:nvPr/>
        </p:nvSpPr>
        <p:spPr>
          <a:xfrm>
            <a:off x="2359609" y="1234440"/>
            <a:ext cx="1765249" cy="658368"/>
          </a:xfrm>
          <a:prstGeom prst="roundRect">
            <a:avLst>
              <a:gd fmla="val 1111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7" name="Google Shape;2757;p31"/>
          <p:cNvSpPr txBox="1"/>
          <p:nvPr/>
        </p:nvSpPr>
        <p:spPr>
          <a:xfrm>
            <a:off x="2469337" y="1289304"/>
            <a:ext cx="154579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s-CO" sz="9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Valor total del corredor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8" name="Google Shape;2758;p31"/>
          <p:cNvSpPr txBox="1"/>
          <p:nvPr/>
        </p:nvSpPr>
        <p:spPr>
          <a:xfrm>
            <a:off x="2469337" y="1453896"/>
            <a:ext cx="154579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-CO" sz="15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$ 15.355.866.287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9" name="Google Shape;2759;p31"/>
          <p:cNvSpPr txBox="1"/>
          <p:nvPr/>
        </p:nvSpPr>
        <p:spPr>
          <a:xfrm>
            <a:off x="2469337" y="1700784"/>
            <a:ext cx="1545793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$ 963.958.963 por km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0" name="Google Shape;2760;p31"/>
          <p:cNvSpPr/>
          <p:nvPr/>
        </p:nvSpPr>
        <p:spPr>
          <a:xfrm>
            <a:off x="4262018" y="1234440"/>
            <a:ext cx="1765249" cy="658368"/>
          </a:xfrm>
          <a:prstGeom prst="roundRect">
            <a:avLst>
              <a:gd fmla="val 11111" name="adj"/>
            </a:avLst>
          </a:prstGeom>
          <a:solidFill>
            <a:srgbClr val="FBEAEA"/>
          </a:solidFill>
          <a:ln cap="flat" cmpd="sng" w="12700">
            <a:solidFill>
              <a:srgbClr val="FBEA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1" name="Google Shape;2761;p31"/>
          <p:cNvSpPr txBox="1"/>
          <p:nvPr/>
        </p:nvSpPr>
        <p:spPr>
          <a:xfrm>
            <a:off x="4371746" y="1289304"/>
            <a:ext cx="154579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s-CO" sz="9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Avance físico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2" name="Google Shape;2762;p31"/>
          <p:cNvSpPr txBox="1"/>
          <p:nvPr/>
        </p:nvSpPr>
        <p:spPr>
          <a:xfrm>
            <a:off x="4371746" y="1453896"/>
            <a:ext cx="154579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-CO" sz="1500" u="none" cap="none" strike="noStrike">
                <a:solidFill>
                  <a:srgbClr val="B3261E"/>
                </a:solidFill>
                <a:latin typeface="Calibri"/>
                <a:ea typeface="Calibri"/>
                <a:cs typeface="Calibri"/>
                <a:sym typeface="Calibri"/>
              </a:rPr>
              <a:t>Sin dato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3" name="Google Shape;2763;p31"/>
          <p:cNvSpPr txBox="1"/>
          <p:nvPr/>
        </p:nvSpPr>
        <p:spPr>
          <a:xfrm>
            <a:off x="4371746" y="1700784"/>
            <a:ext cx="1545793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Pendiente de reporte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4" name="Google Shape;2764;p31"/>
          <p:cNvSpPr/>
          <p:nvPr/>
        </p:nvSpPr>
        <p:spPr>
          <a:xfrm>
            <a:off x="6164427" y="1234440"/>
            <a:ext cx="1765249" cy="658368"/>
          </a:xfrm>
          <a:prstGeom prst="roundRect">
            <a:avLst>
              <a:gd fmla="val 1111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5" name="Google Shape;2765;p31"/>
          <p:cNvSpPr txBox="1"/>
          <p:nvPr/>
        </p:nvSpPr>
        <p:spPr>
          <a:xfrm>
            <a:off x="6274155" y="1289304"/>
            <a:ext cx="154579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s-CO" sz="9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Avance financiero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6" name="Google Shape;2766;p31"/>
          <p:cNvSpPr txBox="1"/>
          <p:nvPr/>
        </p:nvSpPr>
        <p:spPr>
          <a:xfrm>
            <a:off x="6274155" y="1453896"/>
            <a:ext cx="154579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-CO" sz="15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Sin dato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7" name="Google Shape;2767;p31"/>
          <p:cNvSpPr txBox="1"/>
          <p:nvPr/>
        </p:nvSpPr>
        <p:spPr>
          <a:xfrm>
            <a:off x="6274155" y="1700784"/>
            <a:ext cx="1545793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Pendiente de reporte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8" name="Google Shape;2768;p31"/>
          <p:cNvSpPr/>
          <p:nvPr/>
        </p:nvSpPr>
        <p:spPr>
          <a:xfrm>
            <a:off x="8066836" y="1234440"/>
            <a:ext cx="1765249" cy="658368"/>
          </a:xfrm>
          <a:prstGeom prst="roundRect">
            <a:avLst>
              <a:gd fmla="val 1111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9" name="Google Shape;2769;p31"/>
          <p:cNvSpPr txBox="1"/>
          <p:nvPr/>
        </p:nvSpPr>
        <p:spPr>
          <a:xfrm>
            <a:off x="8176564" y="1289304"/>
            <a:ext cx="154579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s-CO" sz="9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Plazo transcurrido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0" name="Google Shape;2770;p31"/>
          <p:cNvSpPr txBox="1"/>
          <p:nvPr/>
        </p:nvSpPr>
        <p:spPr>
          <a:xfrm>
            <a:off x="8176564" y="1453896"/>
            <a:ext cx="154579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-CO" sz="15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65,5 %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1" name="Google Shape;2771;p31"/>
          <p:cNvSpPr txBox="1"/>
          <p:nvPr/>
        </p:nvSpPr>
        <p:spPr>
          <a:xfrm>
            <a:off x="8176564" y="1700784"/>
            <a:ext cx="1545793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7,9 de 12 meses (al 02/10/2026)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2" name="Google Shape;2772;p31"/>
          <p:cNvSpPr/>
          <p:nvPr/>
        </p:nvSpPr>
        <p:spPr>
          <a:xfrm>
            <a:off x="9969245" y="1234440"/>
            <a:ext cx="1765249" cy="658368"/>
          </a:xfrm>
          <a:prstGeom prst="roundRect">
            <a:avLst>
              <a:gd fmla="val 1111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3" name="Google Shape;2773;p31"/>
          <p:cNvSpPr txBox="1"/>
          <p:nvPr/>
        </p:nvSpPr>
        <p:spPr>
          <a:xfrm>
            <a:off x="10078973" y="1289304"/>
            <a:ext cx="1545793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Inicio: </a:t>
            </a: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05/02/2026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Terminación: </a:t>
            </a: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05/02/2027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Corte: </a:t>
            </a: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25/09/2026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4" name="Google Shape;2774;p31"/>
          <p:cNvSpPr txBox="1"/>
          <p:nvPr/>
        </p:nvSpPr>
        <p:spPr>
          <a:xfrm>
            <a:off x="457200" y="1956816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s-CO" sz="95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AVANCE POR ABSCISA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5" name="Google Shape;2775;p31"/>
          <p:cNvSpPr txBox="1"/>
          <p:nvPr/>
        </p:nvSpPr>
        <p:spPr>
          <a:xfrm>
            <a:off x="1874520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76" name="Google Shape;2776;p31"/>
          <p:cNvCxnSpPr/>
          <p:nvPr/>
        </p:nvCxnSpPr>
        <p:spPr>
          <a:xfrm>
            <a:off x="2103120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77" name="Google Shape;2777;p31"/>
          <p:cNvSpPr txBox="1"/>
          <p:nvPr/>
        </p:nvSpPr>
        <p:spPr>
          <a:xfrm>
            <a:off x="3011062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78" name="Google Shape;2778;p31"/>
          <p:cNvCxnSpPr/>
          <p:nvPr/>
        </p:nvCxnSpPr>
        <p:spPr>
          <a:xfrm>
            <a:off x="3239662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79" name="Google Shape;2779;p31"/>
          <p:cNvSpPr txBox="1"/>
          <p:nvPr/>
        </p:nvSpPr>
        <p:spPr>
          <a:xfrm>
            <a:off x="4147604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80" name="Google Shape;2780;p31"/>
          <p:cNvCxnSpPr/>
          <p:nvPr/>
        </p:nvCxnSpPr>
        <p:spPr>
          <a:xfrm>
            <a:off x="4376204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81" name="Google Shape;2781;p31"/>
          <p:cNvSpPr txBox="1"/>
          <p:nvPr/>
        </p:nvSpPr>
        <p:spPr>
          <a:xfrm>
            <a:off x="5284147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82" name="Google Shape;2782;p31"/>
          <p:cNvCxnSpPr/>
          <p:nvPr/>
        </p:nvCxnSpPr>
        <p:spPr>
          <a:xfrm>
            <a:off x="5512747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83" name="Google Shape;2783;p31"/>
          <p:cNvSpPr txBox="1"/>
          <p:nvPr/>
        </p:nvSpPr>
        <p:spPr>
          <a:xfrm>
            <a:off x="6420689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84" name="Google Shape;2784;p31"/>
          <p:cNvCxnSpPr/>
          <p:nvPr/>
        </p:nvCxnSpPr>
        <p:spPr>
          <a:xfrm>
            <a:off x="6649289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85" name="Google Shape;2785;p31"/>
          <p:cNvSpPr txBox="1"/>
          <p:nvPr/>
        </p:nvSpPr>
        <p:spPr>
          <a:xfrm>
            <a:off x="7557231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86" name="Google Shape;2786;p31"/>
          <p:cNvCxnSpPr/>
          <p:nvPr/>
        </p:nvCxnSpPr>
        <p:spPr>
          <a:xfrm>
            <a:off x="7785831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87" name="Google Shape;2787;p31"/>
          <p:cNvSpPr txBox="1"/>
          <p:nvPr/>
        </p:nvSpPr>
        <p:spPr>
          <a:xfrm>
            <a:off x="8693774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88" name="Google Shape;2788;p31"/>
          <p:cNvCxnSpPr/>
          <p:nvPr/>
        </p:nvCxnSpPr>
        <p:spPr>
          <a:xfrm>
            <a:off x="8922374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89" name="Google Shape;2789;p31"/>
          <p:cNvSpPr txBox="1"/>
          <p:nvPr/>
        </p:nvSpPr>
        <p:spPr>
          <a:xfrm>
            <a:off x="9830316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90" name="Google Shape;2790;p31"/>
          <p:cNvCxnSpPr/>
          <p:nvPr/>
        </p:nvCxnSpPr>
        <p:spPr>
          <a:xfrm>
            <a:off x="10058916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91" name="Google Shape;2791;p31"/>
          <p:cNvSpPr txBox="1"/>
          <p:nvPr/>
        </p:nvSpPr>
        <p:spPr>
          <a:xfrm>
            <a:off x="10881360" y="2139696"/>
            <a:ext cx="54864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K15+930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92" name="Google Shape;2792;p31"/>
          <p:cNvCxnSpPr/>
          <p:nvPr/>
        </p:nvCxnSpPr>
        <p:spPr>
          <a:xfrm>
            <a:off x="11155680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93" name="Google Shape;2793;p31"/>
          <p:cNvSpPr/>
          <p:nvPr/>
        </p:nvSpPr>
        <p:spPr>
          <a:xfrm>
            <a:off x="2103120" y="2359152"/>
            <a:ext cx="9052560" cy="73152"/>
          </a:xfrm>
          <a:prstGeom prst="rect">
            <a:avLst/>
          </a:prstGeom>
          <a:solidFill>
            <a:srgbClr val="1F2A36"/>
          </a:solidFill>
          <a:ln cap="flat" cmpd="sng" w="12700">
            <a:solidFill>
              <a:srgbClr val="1F2A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94" name="Google Shape;2794;p31"/>
          <p:cNvCxnSpPr/>
          <p:nvPr/>
        </p:nvCxnSpPr>
        <p:spPr>
          <a:xfrm>
            <a:off x="2139696" y="2395728"/>
            <a:ext cx="8979408" cy="0"/>
          </a:xfrm>
          <a:prstGeom prst="straightConnector1">
            <a:avLst/>
          </a:prstGeom>
          <a:noFill/>
          <a:ln cap="flat" cmpd="sng" w="9525">
            <a:solidFill>
              <a:srgbClr val="F2C94C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795" name="Google Shape;2795;p31"/>
          <p:cNvSpPr txBox="1"/>
          <p:nvPr/>
        </p:nvSpPr>
        <p:spPr>
          <a:xfrm>
            <a:off x="777240" y="2487168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Topografía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6" name="Google Shape;2796;p31"/>
          <p:cNvSpPr/>
          <p:nvPr/>
        </p:nvSpPr>
        <p:spPr>
          <a:xfrm>
            <a:off x="2103120" y="2487168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7" name="Google Shape;2797;p31"/>
          <p:cNvSpPr txBox="1"/>
          <p:nvPr/>
        </p:nvSpPr>
        <p:spPr>
          <a:xfrm>
            <a:off x="11201400" y="2487168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100%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8" name="Google Shape;2798;p31"/>
          <p:cNvSpPr txBox="1"/>
          <p:nvPr/>
        </p:nvSpPr>
        <p:spPr>
          <a:xfrm>
            <a:off x="777240" y="2670048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Apiques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9" name="Google Shape;2799;p31"/>
          <p:cNvSpPr/>
          <p:nvPr/>
        </p:nvSpPr>
        <p:spPr>
          <a:xfrm>
            <a:off x="2103120" y="2670048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0" name="Google Shape;2800;p31"/>
          <p:cNvSpPr txBox="1"/>
          <p:nvPr/>
        </p:nvSpPr>
        <p:spPr>
          <a:xfrm>
            <a:off x="11201400" y="2670048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100%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01" name="Google Shape;2801;p31"/>
          <p:cNvCxnSpPr/>
          <p:nvPr/>
        </p:nvCxnSpPr>
        <p:spPr>
          <a:xfrm>
            <a:off x="731520" y="2487168"/>
            <a:ext cx="0" cy="338328"/>
          </a:xfrm>
          <a:prstGeom prst="straightConnector1">
            <a:avLst/>
          </a:prstGeom>
          <a:noFill/>
          <a:ln cap="flat" cmpd="sng" w="19050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02" name="Google Shape;2802;p31"/>
          <p:cNvSpPr txBox="1"/>
          <p:nvPr/>
        </p:nvSpPr>
        <p:spPr>
          <a:xfrm rot="-5400000">
            <a:off x="260604" y="2574036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s-CO" sz="7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CAMPO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3" name="Google Shape;2803;p31"/>
          <p:cNvSpPr txBox="1"/>
          <p:nvPr/>
        </p:nvSpPr>
        <p:spPr>
          <a:xfrm>
            <a:off x="777240" y="2953512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Rodadura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4" name="Google Shape;2804;p31"/>
          <p:cNvSpPr/>
          <p:nvPr/>
        </p:nvSpPr>
        <p:spPr>
          <a:xfrm>
            <a:off x="2103120" y="2953512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5" name="Google Shape;2805;p31"/>
          <p:cNvSpPr txBox="1"/>
          <p:nvPr/>
        </p:nvSpPr>
        <p:spPr>
          <a:xfrm>
            <a:off x="11201400" y="2953512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0 %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6" name="Google Shape;2806;p31"/>
          <p:cNvSpPr txBox="1"/>
          <p:nvPr/>
        </p:nvSpPr>
        <p:spPr>
          <a:xfrm>
            <a:off x="777240" y="3108960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Capa granular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7" name="Google Shape;2807;p31"/>
          <p:cNvSpPr/>
          <p:nvPr/>
        </p:nvSpPr>
        <p:spPr>
          <a:xfrm>
            <a:off x="2103120" y="3108960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8" name="Google Shape;2808;p31"/>
          <p:cNvSpPr txBox="1"/>
          <p:nvPr/>
        </p:nvSpPr>
        <p:spPr>
          <a:xfrm>
            <a:off x="11201400" y="3108960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0 %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9" name="Google Shape;2809;p31"/>
          <p:cNvSpPr txBox="1"/>
          <p:nvPr/>
        </p:nvSpPr>
        <p:spPr>
          <a:xfrm>
            <a:off x="777240" y="3264408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Subrasante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0" name="Google Shape;2810;p31"/>
          <p:cNvSpPr/>
          <p:nvPr/>
        </p:nvSpPr>
        <p:spPr>
          <a:xfrm>
            <a:off x="2103120" y="3264408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1" name="Google Shape;2811;p31"/>
          <p:cNvSpPr txBox="1"/>
          <p:nvPr/>
        </p:nvSpPr>
        <p:spPr>
          <a:xfrm>
            <a:off x="11201400" y="3264408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0 %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12" name="Google Shape;2812;p31"/>
          <p:cNvCxnSpPr/>
          <p:nvPr/>
        </p:nvCxnSpPr>
        <p:spPr>
          <a:xfrm>
            <a:off x="731520" y="2953512"/>
            <a:ext cx="0" cy="466344"/>
          </a:xfrm>
          <a:prstGeom prst="straightConnector1">
            <a:avLst/>
          </a:prstGeom>
          <a:noFill/>
          <a:ln cap="flat" cmpd="sng" w="19050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13" name="Google Shape;2813;p31"/>
          <p:cNvSpPr txBox="1"/>
          <p:nvPr/>
        </p:nvSpPr>
        <p:spPr>
          <a:xfrm rot="-5400000">
            <a:off x="260604" y="3104388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s-CO" sz="7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ESTRUCTURA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4" name="Google Shape;2814;p31"/>
          <p:cNvSpPr txBox="1"/>
          <p:nvPr/>
        </p:nvSpPr>
        <p:spPr>
          <a:xfrm>
            <a:off x="777240" y="3511296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Cunetas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5" name="Google Shape;2815;p31"/>
          <p:cNvSpPr/>
          <p:nvPr/>
        </p:nvSpPr>
        <p:spPr>
          <a:xfrm>
            <a:off x="2103120" y="3511296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6" name="Google Shape;2816;p31"/>
          <p:cNvSpPr txBox="1"/>
          <p:nvPr/>
        </p:nvSpPr>
        <p:spPr>
          <a:xfrm>
            <a:off x="11201400" y="3511296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0 %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7" name="Google Shape;2817;p31"/>
          <p:cNvSpPr txBox="1"/>
          <p:nvPr/>
        </p:nvSpPr>
        <p:spPr>
          <a:xfrm>
            <a:off x="777240" y="3694176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Filtros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8" name="Google Shape;2818;p31"/>
          <p:cNvSpPr/>
          <p:nvPr/>
        </p:nvSpPr>
        <p:spPr>
          <a:xfrm>
            <a:off x="2103120" y="3694176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19" name="Google Shape;2819;p31"/>
          <p:cNvCxnSpPr/>
          <p:nvPr/>
        </p:nvCxnSpPr>
        <p:spPr>
          <a:xfrm>
            <a:off x="2103120" y="3771900"/>
            <a:ext cx="9052560" cy="0"/>
          </a:xfrm>
          <a:prstGeom prst="straightConnector1">
            <a:avLst/>
          </a:prstGeom>
          <a:noFill/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20" name="Google Shape;2820;p31"/>
          <p:cNvSpPr/>
          <p:nvPr/>
        </p:nvSpPr>
        <p:spPr>
          <a:xfrm>
            <a:off x="3238933" y="3765042"/>
            <a:ext cx="99580" cy="77724"/>
          </a:xfrm>
          <a:prstGeom prst="rect">
            <a:avLst/>
          </a:prstGeom>
          <a:solidFill>
            <a:srgbClr val="2E7D4F"/>
          </a:solidFill>
          <a:ln cap="flat" cmpd="sng" w="9525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1" name="Google Shape;2821;p31"/>
          <p:cNvSpPr txBox="1"/>
          <p:nvPr/>
        </p:nvSpPr>
        <p:spPr>
          <a:xfrm>
            <a:off x="11201400" y="3694176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0,65 %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2" name="Google Shape;2822;p31"/>
          <p:cNvSpPr txBox="1"/>
          <p:nvPr/>
        </p:nvSpPr>
        <p:spPr>
          <a:xfrm>
            <a:off x="1920240" y="3694176"/>
            <a:ext cx="137160" cy="777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s-CO" sz="7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3" name="Google Shape;2823;p31"/>
          <p:cNvSpPr txBox="1"/>
          <p:nvPr/>
        </p:nvSpPr>
        <p:spPr>
          <a:xfrm>
            <a:off x="1920240" y="3771900"/>
            <a:ext cx="137160" cy="777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s-CO" sz="7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4" name="Google Shape;2824;p31"/>
          <p:cNvSpPr txBox="1"/>
          <p:nvPr/>
        </p:nvSpPr>
        <p:spPr>
          <a:xfrm>
            <a:off x="777240" y="3877056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Alcantarillas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5" name="Google Shape;2825;p31"/>
          <p:cNvSpPr/>
          <p:nvPr/>
        </p:nvSpPr>
        <p:spPr>
          <a:xfrm>
            <a:off x="2103120" y="3877056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6" name="Google Shape;2826;p31"/>
          <p:cNvSpPr txBox="1"/>
          <p:nvPr/>
        </p:nvSpPr>
        <p:spPr>
          <a:xfrm>
            <a:off x="11201400" y="3877056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21 und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27" name="Google Shape;2827;p31"/>
          <p:cNvCxnSpPr/>
          <p:nvPr/>
        </p:nvCxnSpPr>
        <p:spPr>
          <a:xfrm>
            <a:off x="731520" y="3511296"/>
            <a:ext cx="0" cy="521208"/>
          </a:xfrm>
          <a:prstGeom prst="straightConnector1">
            <a:avLst/>
          </a:prstGeom>
          <a:noFill/>
          <a:ln cap="flat" cmpd="sng" w="19050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28" name="Google Shape;2828;p31"/>
          <p:cNvSpPr txBox="1"/>
          <p:nvPr/>
        </p:nvSpPr>
        <p:spPr>
          <a:xfrm rot="-5400000">
            <a:off x="260604" y="3689604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s-CO" sz="7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DRENAJE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9" name="Google Shape;2829;p31"/>
          <p:cNvSpPr txBox="1"/>
          <p:nvPr/>
        </p:nvSpPr>
        <p:spPr>
          <a:xfrm>
            <a:off x="457200" y="4078224"/>
            <a:ext cx="11277295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-CO" sz="8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Ejecutado    </a:t>
            </a:r>
            <a:r>
              <a:rPr b="0" i="0" lang="es-CO" sz="800" u="none" cap="none" strike="noStrike">
                <a:solidFill>
                  <a:srgbClr val="A8CDB5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En ejecución (sin % reportado)    </a:t>
            </a:r>
            <a:r>
              <a:rPr b="0" i="0" lang="es-CO" sz="800" u="none" cap="none" strike="noStrike">
                <a:solidFill>
                  <a:srgbClr val="EEF1EF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Sin avance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0" name="Google Shape;2830;p31"/>
          <p:cNvSpPr txBox="1"/>
          <p:nvPr/>
        </p:nvSpPr>
        <p:spPr>
          <a:xfrm>
            <a:off x="457200" y="4078224"/>
            <a:ext cx="6000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1" lang="es-CO" sz="7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Porcentajes por abscisa calculados sobre la longitud contractual del corredor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1" name="Google Shape;2831;p31"/>
          <p:cNvSpPr txBox="1"/>
          <p:nvPr/>
        </p:nvSpPr>
        <p:spPr>
          <a:xfrm>
            <a:off x="457200" y="4255968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s-CO" sz="95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AVANCE POR ACTIVIDAD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.png" id="2832" name="Google Shape;283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78440" y="320040"/>
            <a:ext cx="1371600" cy="676656"/>
          </a:xfrm>
          <a:prstGeom prst="rect">
            <a:avLst/>
          </a:prstGeom>
          <a:noFill/>
          <a:ln>
            <a:noFill/>
          </a:ln>
        </p:spPr>
      </p:pic>
      <p:sp>
        <p:nvSpPr>
          <p:cNvPr id="2833" name="Google Shape;2833;p31"/>
          <p:cNvSpPr txBox="1"/>
          <p:nvPr/>
        </p:nvSpPr>
        <p:spPr>
          <a:xfrm>
            <a:off x="457200" y="6400000"/>
            <a:ext cx="5000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s-CO" sz="9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TIEMPO TRANSCURRIDO DEL PLAZO CONTRACTUAL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4" name="Google Shape;2834;p31"/>
          <p:cNvSpPr txBox="1"/>
          <p:nvPr/>
        </p:nvSpPr>
        <p:spPr>
          <a:xfrm>
            <a:off x="5000000" y="6400000"/>
            <a:ext cx="6734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Inicio: </a:t>
            </a:r>
            <a:r>
              <a:rPr b="1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05/02/2026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   ·   Terminación: </a:t>
            </a:r>
            <a:r>
              <a:rPr b="1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05/02/2027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   ·   Al: </a:t>
            </a:r>
            <a:r>
              <a:rPr b="1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02/10/2026</a:t>
            </a: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   ·   239 de 365 días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5" name="Google Shape;2835;p31"/>
          <p:cNvSpPr/>
          <p:nvPr/>
        </p:nvSpPr>
        <p:spPr>
          <a:xfrm>
            <a:off x="457200" y="6598920"/>
            <a:ext cx="11277600" cy="164592"/>
          </a:xfrm>
          <a:prstGeom prst="roundRect">
            <a:avLst>
              <a:gd fmla="val 50000" name="adj"/>
            </a:avLst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6" name="Google Shape;2836;p31"/>
          <p:cNvSpPr/>
          <p:nvPr/>
        </p:nvSpPr>
        <p:spPr>
          <a:xfrm>
            <a:off x="457200" y="6598920"/>
            <a:ext cx="7384510" cy="164592"/>
          </a:xfrm>
          <a:prstGeom prst="roundRect">
            <a:avLst>
              <a:gd fmla="val 50000" name="adj"/>
            </a:avLst>
          </a:prstGeom>
          <a:solidFill>
            <a:srgbClr val="2E7D4F"/>
          </a:solidFill>
          <a:ln cap="flat" cmpd="sng" w="9525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s-CO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65,5 %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37" name="Google Shape;2837;p31"/>
          <p:cNvCxnSpPr/>
          <p:nvPr/>
        </p:nvCxnSpPr>
        <p:spPr>
          <a:xfrm>
            <a:off x="1198740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38" name="Google Shape;2838;p31"/>
          <p:cNvCxnSpPr/>
          <p:nvPr/>
        </p:nvCxnSpPr>
        <p:spPr>
          <a:xfrm>
            <a:off x="2156564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39" name="Google Shape;2839;p31"/>
          <p:cNvCxnSpPr/>
          <p:nvPr/>
        </p:nvCxnSpPr>
        <p:spPr>
          <a:xfrm>
            <a:off x="3083490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40" name="Google Shape;2840;p31"/>
          <p:cNvCxnSpPr/>
          <p:nvPr/>
        </p:nvCxnSpPr>
        <p:spPr>
          <a:xfrm>
            <a:off x="4041313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41" name="Google Shape;2841;p31"/>
          <p:cNvCxnSpPr/>
          <p:nvPr/>
        </p:nvCxnSpPr>
        <p:spPr>
          <a:xfrm>
            <a:off x="4968240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42" name="Google Shape;2842;p31"/>
          <p:cNvCxnSpPr/>
          <p:nvPr/>
        </p:nvCxnSpPr>
        <p:spPr>
          <a:xfrm>
            <a:off x="5926063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43" name="Google Shape;2843;p31"/>
          <p:cNvCxnSpPr/>
          <p:nvPr/>
        </p:nvCxnSpPr>
        <p:spPr>
          <a:xfrm>
            <a:off x="6883887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44" name="Google Shape;2844;p31"/>
          <p:cNvCxnSpPr/>
          <p:nvPr/>
        </p:nvCxnSpPr>
        <p:spPr>
          <a:xfrm>
            <a:off x="7810813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45" name="Google Shape;2845;p31"/>
          <p:cNvCxnSpPr/>
          <p:nvPr/>
        </p:nvCxnSpPr>
        <p:spPr>
          <a:xfrm>
            <a:off x="8768636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46" name="Google Shape;2846;p31"/>
          <p:cNvCxnSpPr/>
          <p:nvPr/>
        </p:nvCxnSpPr>
        <p:spPr>
          <a:xfrm>
            <a:off x="9695562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47" name="Google Shape;2847;p31"/>
          <p:cNvCxnSpPr/>
          <p:nvPr/>
        </p:nvCxnSpPr>
        <p:spPr>
          <a:xfrm>
            <a:off x="10653386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48" name="Google Shape;2848;p31"/>
          <p:cNvCxnSpPr/>
          <p:nvPr/>
        </p:nvCxnSpPr>
        <p:spPr>
          <a:xfrm>
            <a:off x="11611209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49" name="Google Shape;2849;p31"/>
          <p:cNvCxnSpPr/>
          <p:nvPr/>
        </p:nvCxnSpPr>
        <p:spPr>
          <a:xfrm>
            <a:off x="7841710" y="6562344"/>
            <a:ext cx="0" cy="237744"/>
          </a:xfrm>
          <a:prstGeom prst="straightConnector1">
            <a:avLst/>
          </a:prstGeom>
          <a:noFill/>
          <a:ln cap="flat" cmpd="sng" w="19050">
            <a:solidFill>
              <a:srgbClr val="B3261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50" name="Google Shape;2850;p31"/>
          <p:cNvSpPr/>
          <p:nvPr/>
        </p:nvSpPr>
        <p:spPr>
          <a:xfrm>
            <a:off x="2112721" y="2497707"/>
            <a:ext cx="9052560" cy="155448"/>
          </a:xfrm>
          <a:prstGeom prst="rect">
            <a:avLst/>
          </a:prstGeom>
          <a:solidFill>
            <a:srgbClr val="2E7D4F"/>
          </a:solidFill>
          <a:ln cap="flat" cmpd="sng" w="9525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1" name="Google Shape;2851;p31"/>
          <p:cNvSpPr/>
          <p:nvPr/>
        </p:nvSpPr>
        <p:spPr>
          <a:xfrm>
            <a:off x="2112721" y="2677411"/>
            <a:ext cx="9052560" cy="155448"/>
          </a:xfrm>
          <a:prstGeom prst="rect">
            <a:avLst/>
          </a:prstGeom>
          <a:solidFill>
            <a:srgbClr val="2E7D4F"/>
          </a:solidFill>
          <a:ln cap="flat" cmpd="sng" w="9525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852" name="Google Shape;2852;p31"/>
          <p:cNvGraphicFramePr/>
          <p:nvPr/>
        </p:nvGraphicFramePr>
        <p:xfrm>
          <a:off x="5629916" y="447877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{9EE2CB2E-1363-49F8-B8BA-952F5347F8D7}</a:tableStyleId>
              </a:tblPr>
              <a:tblGrid>
                <a:gridCol w="1093675"/>
                <a:gridCol w="832875"/>
                <a:gridCol w="688375"/>
                <a:gridCol w="1151600"/>
                <a:gridCol w="1009475"/>
                <a:gridCol w="1156600"/>
              </a:tblGrid>
              <a:tr h="182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s-CO" sz="8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Actividad</a:t>
                      </a:r>
                      <a:endParaRPr sz="14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1" lang="es-CO" sz="7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Unidad</a:t>
                      </a:r>
                      <a:endParaRPr sz="7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1" lang="es-CO" sz="7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Presupuestada</a:t>
                      </a:r>
                      <a:endParaRPr sz="7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1" lang="es-CO" sz="7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Ejec. anterior</a:t>
                      </a:r>
                      <a:endParaRPr sz="7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1" lang="es-CO" sz="7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Ejec. actual</a:t>
                      </a:r>
                      <a:endParaRPr sz="7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1" lang="es-CO" sz="7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Δ semana</a:t>
                      </a:r>
                      <a:endParaRPr sz="7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-CO" sz="8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Topografía</a:t>
                      </a:r>
                      <a:endParaRPr sz="14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-CO" sz="8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km</a:t>
                      </a:r>
                      <a:endParaRPr sz="14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0" i="0" lang="es-CO" sz="8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15,93</a:t>
                      </a:r>
                      <a:endParaRPr b="0" i="0" sz="850" u="none" cap="none" strike="noStrike">
                        <a:solidFill>
                          <a:srgbClr val="5F6B6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i="0" lang="es-CO" sz="8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15,93</a:t>
                      </a:r>
                      <a:endParaRPr b="1" i="0" sz="850" u="none" cap="none" strike="noStrike">
                        <a:solidFill>
                          <a:srgbClr val="5F6B6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i="0" lang="es-CO" sz="8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15,93</a:t>
                      </a:r>
                      <a:endParaRPr b="1" i="0" sz="850" u="none" cap="none" strike="noStrike">
                        <a:solidFill>
                          <a:srgbClr val="5F6B6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0" lang="es-CO" sz="750" u="none" cap="none" strike="noStrike">
                          <a:solidFill>
                            <a:srgbClr val="8A94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7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-CO" sz="8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Apiques</a:t>
                      </a:r>
                      <a:endParaRPr sz="14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-CO" sz="8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und</a:t>
                      </a:r>
                      <a:endParaRPr sz="850" u="none" cap="none" strike="noStrike">
                        <a:solidFill>
                          <a:srgbClr val="1D2B2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0" lang="es-CO" sz="8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64</a:t>
                      </a:r>
                      <a:endParaRPr b="0" sz="850" u="none" cap="none" strike="noStrike">
                        <a:solidFill>
                          <a:srgbClr val="5F6B6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i="0" lang="es-CO" sz="8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64</a:t>
                      </a:r>
                      <a:endParaRPr b="1" i="0" sz="850" u="none" cap="none" strike="noStrike">
                        <a:solidFill>
                          <a:srgbClr val="5F6B6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i="0" lang="es-CO" sz="8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64</a:t>
                      </a:r>
                      <a:endParaRPr b="1" i="0" sz="850" u="none" cap="none" strike="noStrike">
                        <a:solidFill>
                          <a:srgbClr val="5F6B6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0" lang="es-CO" sz="750" u="none" cap="none" strike="noStrike">
                          <a:solidFill>
                            <a:srgbClr val="8A94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7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-CO" sz="8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Construcción alcantarillas</a:t>
                      </a:r>
                      <a:endParaRPr sz="14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-CO" sz="8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und</a:t>
                      </a:r>
                      <a:endParaRPr sz="14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0" lang="es-CO" sz="8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77</a:t>
                      </a:r>
                      <a:endParaRPr b="0" sz="850" u="none" cap="none" strike="noStrike">
                        <a:solidFill>
                          <a:srgbClr val="5F6B6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i="0" lang="es-CO" sz="8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</a:t>
                      </a:r>
                      <a:endParaRPr b="1" i="0" sz="850" u="none" cap="none" strike="noStrike">
                        <a:solidFill>
                          <a:srgbClr val="5F6B6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i="0" lang="es-CO" sz="8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</a:t>
                      </a:r>
                      <a:endParaRPr b="1" i="0" sz="850" u="none" cap="none" strike="noStrike">
                        <a:solidFill>
                          <a:srgbClr val="5F6B6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0" i="0" lang="es-CO" sz="750" u="none" cap="none" strike="noStrike">
                          <a:solidFill>
                            <a:srgbClr val="8A94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b="0" i="0" sz="75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-CO" sz="8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Construcción cunetas</a:t>
                      </a:r>
                      <a:endParaRPr sz="14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-CO" sz="8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</a:t>
                      </a:r>
                      <a:endParaRPr sz="14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0" lang="es-CO" sz="8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15.930</a:t>
                      </a:r>
                      <a:endParaRPr b="0" sz="850" u="none" cap="none" strike="noStrike">
                        <a:solidFill>
                          <a:srgbClr val="5F6B6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i="0" lang="es-CO" sz="8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b="1" i="0" sz="850" u="none" cap="none" strike="noStrike">
                        <a:solidFill>
                          <a:srgbClr val="5F6B6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i="0" lang="es-CO" sz="8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b="1" i="0" sz="850" u="none" cap="none" strike="noStrike">
                        <a:solidFill>
                          <a:srgbClr val="5F6B6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0" i="0" lang="es-CO" sz="750" u="none" cap="none" strike="noStrike">
                          <a:solidFill>
                            <a:srgbClr val="8A94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b="0" i="0" sz="75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-CO" sz="8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Construcción filtros</a:t>
                      </a:r>
                      <a:endParaRPr sz="14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-CO" sz="8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</a:t>
                      </a:r>
                      <a:endParaRPr sz="14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0" lang="es-CO" sz="8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15.930</a:t>
                      </a:r>
                      <a:endParaRPr b="0" sz="850" u="none" cap="none" strike="noStrike">
                        <a:solidFill>
                          <a:srgbClr val="5F6B6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i="0" lang="es-CO" sz="8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104</a:t>
                      </a:r>
                      <a:endParaRPr b="1" i="0" sz="850" u="none" cap="none" strike="noStrike">
                        <a:solidFill>
                          <a:srgbClr val="5F6B6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i="0" lang="es-CO" sz="8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230</a:t>
                      </a:r>
                      <a:endParaRPr b="1" i="0" sz="850" u="none" cap="none" strike="noStrike">
                        <a:solidFill>
                          <a:srgbClr val="5F6B6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1" lang="es-CO" sz="750" u="none" cap="none" strike="noStrike">
                          <a:solidFill>
                            <a:srgbClr val="2E7D4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+126</a:t>
                      </a:r>
                      <a:endParaRPr sz="7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-CO" sz="8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Construcción bordillos</a:t>
                      </a:r>
                      <a:endParaRPr sz="14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-CO" sz="8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</a:t>
                      </a:r>
                      <a:endParaRPr sz="14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0" lang="es-CO" sz="8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3.186</a:t>
                      </a:r>
                      <a:endParaRPr b="0" sz="850" u="none" cap="none" strike="noStrike">
                        <a:solidFill>
                          <a:srgbClr val="5F6B6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i="0" lang="es-CO" sz="8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b="1" i="0" sz="850" u="none" cap="none" strike="noStrike">
                        <a:solidFill>
                          <a:srgbClr val="5F6B6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i="0" lang="es-CO" sz="8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b="1" i="0" sz="850" u="none" cap="none" strike="noStrike">
                        <a:solidFill>
                          <a:srgbClr val="5F6B6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0" i="0" lang="es-CO" sz="750" u="none" cap="none" strike="noStrike">
                          <a:solidFill>
                            <a:srgbClr val="8A94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b="0" i="0" sz="75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-CO" sz="8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Estabilización</a:t>
                      </a:r>
                      <a:endParaRPr sz="14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-CO" sz="8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m²</a:t>
                      </a:r>
                      <a:endParaRPr sz="14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0" lang="es-CO" sz="8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79.650</a:t>
                      </a:r>
                      <a:endParaRPr b="0" sz="850" u="none" cap="none" strike="noStrike">
                        <a:solidFill>
                          <a:srgbClr val="5F6B6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i="0" lang="es-CO" sz="8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b="1" i="0" sz="850" u="none" cap="none" strike="noStrike">
                        <a:solidFill>
                          <a:srgbClr val="5F6B6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i="0" lang="es-CO" sz="8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b="1" i="0" sz="850" u="none" cap="none" strike="noStrike">
                        <a:solidFill>
                          <a:srgbClr val="5F6B6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0" i="0" lang="es-CO" sz="750" u="none" cap="none" strike="noStrike">
                          <a:solidFill>
                            <a:srgbClr val="8A94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b="0" i="0" sz="75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-CO" sz="8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Señalización vial</a:t>
                      </a:r>
                      <a:endParaRPr sz="14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-CO" sz="8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</a:t>
                      </a:r>
                      <a:endParaRPr sz="14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0" lang="es-CO" sz="8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47.790</a:t>
                      </a:r>
                      <a:endParaRPr b="0" sz="850" u="none" cap="none" strike="noStrike">
                        <a:solidFill>
                          <a:srgbClr val="5F6B6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i="0" lang="es-CO" sz="8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b="1" i="0" sz="850" u="none" cap="none" strike="noStrike">
                        <a:solidFill>
                          <a:srgbClr val="5F6B6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i="0" lang="es-CO" sz="8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b="1" i="0" sz="850" u="none" cap="none" strike="noStrike">
                        <a:solidFill>
                          <a:srgbClr val="5F6B6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0" i="0" lang="es-CO" sz="750" u="none" cap="none" strike="noStrike">
                          <a:solidFill>
                            <a:srgbClr val="8A94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b="0" i="0" sz="75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6" name="Shape 2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7" name="Google Shape;2857;p32"/>
          <p:cNvSpPr txBox="1"/>
          <p:nvPr/>
        </p:nvSpPr>
        <p:spPr>
          <a:xfrm>
            <a:off x="457200" y="320040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1200"/>
              <a:buFont typeface="Calibri"/>
              <a:buNone/>
            </a:pPr>
            <a:r>
              <a:rPr b="1" i="0" lang="es-CO" sz="1200" u="none" cap="none" strike="noStrike">
                <a:solidFill>
                  <a:srgbClr val="2E7D4F"/>
                </a:solidFill>
                <a:latin typeface="Poppins"/>
                <a:ea typeface="Poppins"/>
                <a:cs typeface="Poppins"/>
                <a:sym typeface="Poppins"/>
              </a:rPr>
              <a:t>INFORME DE VARIACIÓN DE ALCANCES  ·  LOTE 5 – SUBREGIÓN SUROESTE</a:t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58" name="Google Shape;2858;p32"/>
          <p:cNvSpPr txBox="1"/>
          <p:nvPr/>
        </p:nvSpPr>
        <p:spPr>
          <a:xfrm>
            <a:off x="457200" y="594360"/>
            <a:ext cx="9692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2800"/>
              <a:buFont typeface="Calibri"/>
              <a:buNone/>
            </a:pPr>
            <a:r>
              <a:rPr b="1" i="0" lang="es-CO" sz="28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Valparaíso – Támesis</a:t>
            </a:r>
            <a:endParaRPr b="0" i="0" sz="2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59" name="Google Shape;2859;p32"/>
          <p:cNvSpPr/>
          <p:nvPr/>
        </p:nvSpPr>
        <p:spPr>
          <a:xfrm>
            <a:off x="457200" y="132588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0" name="Google Shape;2860;p32"/>
          <p:cNvSpPr txBox="1"/>
          <p:nvPr/>
        </p:nvSpPr>
        <p:spPr>
          <a:xfrm>
            <a:off x="594360" y="1417320"/>
            <a:ext cx="183483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100"/>
              <a:buFont typeface="Calibri"/>
              <a:buNone/>
            </a:pPr>
            <a:r>
              <a:rPr b="0" i="0" lang="es-CO" sz="11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Longitud contractual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1" name="Google Shape;2861;p32"/>
          <p:cNvSpPr txBox="1"/>
          <p:nvPr/>
        </p:nvSpPr>
        <p:spPr>
          <a:xfrm>
            <a:off x="594360" y="1691640"/>
            <a:ext cx="183483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700"/>
              <a:buFont typeface="Calibri"/>
              <a:buNone/>
            </a:pPr>
            <a:r>
              <a:rPr b="1" i="0" lang="es-CO" sz="17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22,51 km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2" name="Google Shape;2862;p32"/>
          <p:cNvSpPr/>
          <p:nvPr/>
        </p:nvSpPr>
        <p:spPr>
          <a:xfrm>
            <a:off x="2749235" y="132588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3" name="Google Shape;2863;p32"/>
          <p:cNvSpPr txBox="1"/>
          <p:nvPr/>
        </p:nvSpPr>
        <p:spPr>
          <a:xfrm>
            <a:off x="2886395" y="1417320"/>
            <a:ext cx="183483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100"/>
              <a:buFont typeface="Calibri"/>
              <a:buNone/>
            </a:pPr>
            <a:r>
              <a:rPr b="0" i="0" lang="es-CO" sz="11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Longitud probable a cubrir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4" name="Google Shape;2864;p32"/>
          <p:cNvSpPr txBox="1"/>
          <p:nvPr/>
        </p:nvSpPr>
        <p:spPr>
          <a:xfrm>
            <a:off x="2886395" y="1691640"/>
            <a:ext cx="183483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700"/>
              <a:buFont typeface="Calibri"/>
              <a:buNone/>
            </a:pPr>
            <a:r>
              <a:rPr b="1" i="0" lang="es-CO" sz="17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14,90 km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5" name="Google Shape;2865;p32"/>
          <p:cNvSpPr/>
          <p:nvPr/>
        </p:nvSpPr>
        <p:spPr>
          <a:xfrm>
            <a:off x="5041270" y="132588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6" name="Google Shape;2866;p32"/>
          <p:cNvSpPr txBox="1"/>
          <p:nvPr/>
        </p:nvSpPr>
        <p:spPr>
          <a:xfrm>
            <a:off x="5178430" y="1417320"/>
            <a:ext cx="183483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100"/>
              <a:buFont typeface="Calibri"/>
              <a:buNone/>
            </a:pPr>
            <a:r>
              <a:rPr b="0" i="0" lang="es-CO" sz="11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Valor por km contractual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7" name="Google Shape;2867;p32"/>
          <p:cNvSpPr txBox="1"/>
          <p:nvPr/>
        </p:nvSpPr>
        <p:spPr>
          <a:xfrm>
            <a:off x="5178430" y="1691640"/>
            <a:ext cx="183483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700"/>
              <a:buFont typeface="Calibri"/>
              <a:buNone/>
            </a:pPr>
            <a:r>
              <a:rPr b="1" i="0" lang="es-CO" sz="17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$ 995.584.782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8" name="Google Shape;2868;p32"/>
          <p:cNvSpPr/>
          <p:nvPr/>
        </p:nvSpPr>
        <p:spPr>
          <a:xfrm>
            <a:off x="7333305" y="132588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9" name="Google Shape;2869;p32"/>
          <p:cNvSpPr txBox="1"/>
          <p:nvPr/>
        </p:nvSpPr>
        <p:spPr>
          <a:xfrm>
            <a:off x="7470465" y="1417320"/>
            <a:ext cx="183483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100"/>
              <a:buFont typeface="Calibri"/>
              <a:buNone/>
            </a:pPr>
            <a:r>
              <a:rPr b="0" i="0" lang="es-CO" sz="11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Valor por km proyectado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0" name="Google Shape;2870;p32"/>
          <p:cNvSpPr txBox="1"/>
          <p:nvPr/>
        </p:nvSpPr>
        <p:spPr>
          <a:xfrm>
            <a:off x="7470465" y="1691640"/>
            <a:ext cx="183483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700"/>
              <a:buFont typeface="Calibri"/>
              <a:buNone/>
            </a:pPr>
            <a:r>
              <a:rPr b="1" i="0" lang="es-CO" sz="17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$ 1.503.618.973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1" name="Google Shape;2871;p32"/>
          <p:cNvSpPr/>
          <p:nvPr/>
        </p:nvSpPr>
        <p:spPr>
          <a:xfrm>
            <a:off x="9625340" y="132588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FBEAEA"/>
          </a:solidFill>
          <a:ln cap="flat" cmpd="sng" w="12700">
            <a:solidFill>
              <a:srgbClr val="FBEA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2" name="Google Shape;2872;p32"/>
          <p:cNvSpPr txBox="1"/>
          <p:nvPr/>
        </p:nvSpPr>
        <p:spPr>
          <a:xfrm>
            <a:off x="9762500" y="1417320"/>
            <a:ext cx="183483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100"/>
              <a:buFont typeface="Calibri"/>
              <a:buNone/>
            </a:pPr>
            <a:r>
              <a:rPr b="0" i="0" lang="es-CO" sz="11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Variación total (valor adicional)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3" name="Google Shape;2873;p32"/>
          <p:cNvSpPr txBox="1"/>
          <p:nvPr/>
        </p:nvSpPr>
        <p:spPr>
          <a:xfrm>
            <a:off x="9762500" y="1691640"/>
            <a:ext cx="183483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261E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B3261E"/>
                </a:solidFill>
                <a:latin typeface="Arial"/>
                <a:ea typeface="Arial"/>
                <a:cs typeface="Arial"/>
                <a:sym typeface="Arial"/>
              </a:rPr>
              <a:t>▲ $ 11.435.849.630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4" name="Google Shape;2874;p32"/>
          <p:cNvSpPr/>
          <p:nvPr/>
        </p:nvSpPr>
        <p:spPr>
          <a:xfrm>
            <a:off x="457200" y="2423160"/>
            <a:ext cx="3154680" cy="4114800"/>
          </a:xfrm>
          <a:prstGeom prst="roundRect">
            <a:avLst>
              <a:gd fmla="val 1739" name="adj"/>
            </a:avLst>
          </a:prstGeom>
          <a:solidFill>
            <a:srgbClr val="FFFFFF"/>
          </a:solidFill>
          <a:ln cap="flat" cmpd="sng" w="12700">
            <a:solidFill>
              <a:srgbClr val="D5DD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5" name="Google Shape;2875;p32"/>
          <p:cNvSpPr txBox="1"/>
          <p:nvPr/>
        </p:nvSpPr>
        <p:spPr>
          <a:xfrm>
            <a:off x="640080" y="2560320"/>
            <a:ext cx="2788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1100"/>
              <a:buFont typeface="Calibri"/>
              <a:buNone/>
            </a:pPr>
            <a:r>
              <a:rPr b="1" i="0" lang="es-CO" sz="11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ESTRUCTURA DE PAVIMENTO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6" name="Google Shape;2876;p32"/>
          <p:cNvSpPr txBox="1"/>
          <p:nvPr/>
        </p:nvSpPr>
        <p:spPr>
          <a:xfrm>
            <a:off x="640080" y="2816352"/>
            <a:ext cx="2788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1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Valparaíso – Támesis</a:t>
            </a:r>
            <a:endParaRPr b="1" i="0" sz="1000" u="none" cap="none" strike="noStrike">
              <a:solidFill>
                <a:srgbClr val="1D2B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7" name="Google Shape;2877;p32"/>
          <p:cNvSpPr txBox="1"/>
          <p:nvPr/>
        </p:nvSpPr>
        <p:spPr>
          <a:xfrm>
            <a:off x="640080" y="3172968"/>
            <a:ext cx="2788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LOTE 5 · Longitud: 22.510 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Tránsito – Estructuración: 307.000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Tránsito – Diseño: 330.248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8" name="Google Shape;2878;p32"/>
          <p:cNvSpPr txBox="1"/>
          <p:nvPr/>
        </p:nvSpPr>
        <p:spPr>
          <a:xfrm>
            <a:off x="457200" y="3794760"/>
            <a:ext cx="15773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1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Teórica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9" name="Google Shape;2879;p32"/>
          <p:cNvSpPr/>
          <p:nvPr/>
        </p:nvSpPr>
        <p:spPr>
          <a:xfrm>
            <a:off x="560070" y="4087368"/>
            <a:ext cx="960120" cy="182880"/>
          </a:xfrm>
          <a:prstGeom prst="rect">
            <a:avLst/>
          </a:prstGeom>
          <a:solidFill>
            <a:srgbClr val="1F2A36"/>
          </a:solidFill>
          <a:ln cap="flat" cmpd="sng" w="12700">
            <a:solidFill>
              <a:srgbClr val="1F2A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0" name="Google Shape;2880;p32"/>
          <p:cNvSpPr txBox="1"/>
          <p:nvPr/>
        </p:nvSpPr>
        <p:spPr>
          <a:xfrm>
            <a:off x="560070" y="4087368"/>
            <a:ext cx="9601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s-CO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TSD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1" name="Google Shape;2881;p32"/>
          <p:cNvSpPr/>
          <p:nvPr/>
        </p:nvSpPr>
        <p:spPr>
          <a:xfrm>
            <a:off x="560070" y="4270248"/>
            <a:ext cx="960120" cy="773959"/>
          </a:xfrm>
          <a:prstGeom prst="rect">
            <a:avLst/>
          </a:prstGeom>
          <a:solidFill>
            <a:srgbClr val="D9A44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2" name="Google Shape;2882;p32"/>
          <p:cNvSpPr txBox="1"/>
          <p:nvPr/>
        </p:nvSpPr>
        <p:spPr>
          <a:xfrm>
            <a:off x="560070" y="4270248"/>
            <a:ext cx="960120" cy="35040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800"/>
              <a:buFont typeface="Calibri"/>
              <a:buNone/>
            </a:pPr>
            <a:r>
              <a:rPr b="1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BGTC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3" name="Google Shape;2883;p32"/>
          <p:cNvSpPr/>
          <p:nvPr/>
        </p:nvSpPr>
        <p:spPr>
          <a:xfrm>
            <a:off x="624078" y="4620652"/>
            <a:ext cx="832104" cy="386980"/>
          </a:xfrm>
          <a:prstGeom prst="rect">
            <a:avLst/>
          </a:prstGeom>
          <a:solidFill>
            <a:srgbClr val="F2D58E"/>
          </a:solidFill>
          <a:ln cap="flat" cmpd="sng" w="9525">
            <a:solidFill>
              <a:srgbClr val="A87B1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4" name="Google Shape;2884;p32"/>
          <p:cNvSpPr txBox="1"/>
          <p:nvPr/>
        </p:nvSpPr>
        <p:spPr>
          <a:xfrm>
            <a:off x="624078" y="4620652"/>
            <a:ext cx="832104" cy="386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800"/>
              <a:buFont typeface="Calibri"/>
              <a:buNone/>
            </a:pPr>
            <a:r>
              <a:rPr b="0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Subbase 18 cm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5" name="Google Shape;2885;p32"/>
          <p:cNvSpPr txBox="1"/>
          <p:nvPr/>
        </p:nvSpPr>
        <p:spPr>
          <a:xfrm>
            <a:off x="1575054" y="4270248"/>
            <a:ext cx="457200" cy="77395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28 cm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6" name="Google Shape;2886;p32"/>
          <p:cNvSpPr/>
          <p:nvPr/>
        </p:nvSpPr>
        <p:spPr>
          <a:xfrm>
            <a:off x="560070" y="5044207"/>
            <a:ext cx="960120" cy="552828"/>
          </a:xfrm>
          <a:prstGeom prst="rect">
            <a:avLst/>
          </a:prstGeom>
          <a:solidFill>
            <a:srgbClr val="8C6A4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7" name="Google Shape;2887;p32"/>
          <p:cNvSpPr txBox="1"/>
          <p:nvPr/>
        </p:nvSpPr>
        <p:spPr>
          <a:xfrm>
            <a:off x="560070" y="5044207"/>
            <a:ext cx="960120" cy="5528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s-CO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Subrasante estabilizada con cal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8" name="Google Shape;2888;p32"/>
          <p:cNvSpPr txBox="1"/>
          <p:nvPr/>
        </p:nvSpPr>
        <p:spPr>
          <a:xfrm>
            <a:off x="1575054" y="5044207"/>
            <a:ext cx="457200" cy="5528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20 cm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89" name="Google Shape;2889;p32"/>
          <p:cNvCxnSpPr/>
          <p:nvPr/>
        </p:nvCxnSpPr>
        <p:spPr>
          <a:xfrm>
            <a:off x="468630" y="5597035"/>
            <a:ext cx="1143000" cy="0"/>
          </a:xfrm>
          <a:prstGeom prst="straightConnector1">
            <a:avLst/>
          </a:prstGeom>
          <a:noFill/>
          <a:ln cap="flat" cmpd="sng" w="12700">
            <a:solidFill>
              <a:srgbClr val="1D2B2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90" name="Google Shape;2890;p32"/>
          <p:cNvSpPr txBox="1"/>
          <p:nvPr/>
        </p:nvSpPr>
        <p:spPr>
          <a:xfrm>
            <a:off x="457200" y="5670187"/>
            <a:ext cx="15773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Espesor total: 48 cm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1" name="Google Shape;2891;p32"/>
          <p:cNvSpPr txBox="1"/>
          <p:nvPr/>
        </p:nvSpPr>
        <p:spPr>
          <a:xfrm>
            <a:off x="2034540" y="3794760"/>
            <a:ext cx="15773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1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Aprobada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2" name="Google Shape;2892;p32"/>
          <p:cNvSpPr/>
          <p:nvPr/>
        </p:nvSpPr>
        <p:spPr>
          <a:xfrm>
            <a:off x="2137410" y="4087368"/>
            <a:ext cx="960120" cy="182880"/>
          </a:xfrm>
          <a:prstGeom prst="rect">
            <a:avLst/>
          </a:prstGeom>
          <a:solidFill>
            <a:srgbClr val="1F2A36"/>
          </a:solidFill>
          <a:ln cap="flat" cmpd="sng" w="12700">
            <a:solidFill>
              <a:srgbClr val="1F2A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3" name="Google Shape;2893;p32"/>
          <p:cNvSpPr txBox="1"/>
          <p:nvPr/>
        </p:nvSpPr>
        <p:spPr>
          <a:xfrm>
            <a:off x="2137410" y="4087368"/>
            <a:ext cx="9601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s-CO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TSD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4" name="Google Shape;2894;p32"/>
          <p:cNvSpPr/>
          <p:nvPr/>
        </p:nvSpPr>
        <p:spPr>
          <a:xfrm>
            <a:off x="2137410" y="4270248"/>
            <a:ext cx="960120" cy="967449"/>
          </a:xfrm>
          <a:prstGeom prst="rect">
            <a:avLst/>
          </a:prstGeom>
          <a:solidFill>
            <a:srgbClr val="D9A44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5" name="Google Shape;2895;p32"/>
          <p:cNvSpPr txBox="1"/>
          <p:nvPr/>
        </p:nvSpPr>
        <p:spPr>
          <a:xfrm>
            <a:off x="2137410" y="4270248"/>
            <a:ext cx="960120" cy="96744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800"/>
              <a:buFont typeface="Calibri"/>
              <a:buNone/>
            </a:pPr>
            <a:r>
              <a:rPr b="1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BGTC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6" name="Google Shape;2896;p32"/>
          <p:cNvSpPr txBox="1"/>
          <p:nvPr/>
        </p:nvSpPr>
        <p:spPr>
          <a:xfrm>
            <a:off x="3152394" y="4270248"/>
            <a:ext cx="457200" cy="96744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30 cm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7" name="Google Shape;2897;p32"/>
          <p:cNvSpPr/>
          <p:nvPr/>
        </p:nvSpPr>
        <p:spPr>
          <a:xfrm>
            <a:off x="2137410" y="5237697"/>
            <a:ext cx="960120" cy="691035"/>
          </a:xfrm>
          <a:prstGeom prst="rect">
            <a:avLst/>
          </a:prstGeom>
          <a:solidFill>
            <a:srgbClr val="F2B98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8" name="Google Shape;2898;p32"/>
          <p:cNvSpPr txBox="1"/>
          <p:nvPr/>
        </p:nvSpPr>
        <p:spPr>
          <a:xfrm>
            <a:off x="2137410" y="5237697"/>
            <a:ext cx="960120" cy="69103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800"/>
              <a:buFont typeface="Calibri"/>
              <a:buNone/>
            </a:pPr>
            <a:r>
              <a:rPr b="1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Subbase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9" name="Google Shape;2899;p32"/>
          <p:cNvSpPr txBox="1"/>
          <p:nvPr/>
        </p:nvSpPr>
        <p:spPr>
          <a:xfrm>
            <a:off x="3152394" y="5237697"/>
            <a:ext cx="457200" cy="6910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12 cm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00" name="Google Shape;2900;p32"/>
          <p:cNvCxnSpPr/>
          <p:nvPr/>
        </p:nvCxnSpPr>
        <p:spPr>
          <a:xfrm>
            <a:off x="2045970" y="5928732"/>
            <a:ext cx="1143000" cy="0"/>
          </a:xfrm>
          <a:prstGeom prst="straightConnector1">
            <a:avLst/>
          </a:prstGeom>
          <a:noFill/>
          <a:ln cap="flat" cmpd="sng" w="12700">
            <a:solidFill>
              <a:srgbClr val="1D2B2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01" name="Google Shape;2901;p32"/>
          <p:cNvSpPr txBox="1"/>
          <p:nvPr/>
        </p:nvSpPr>
        <p:spPr>
          <a:xfrm>
            <a:off x="2137410" y="5956164"/>
            <a:ext cx="960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00"/>
              <a:buFont typeface="Calibri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2" name="Google Shape;2902;p32"/>
          <p:cNvSpPr txBox="1"/>
          <p:nvPr/>
        </p:nvSpPr>
        <p:spPr>
          <a:xfrm>
            <a:off x="2034540" y="6203052"/>
            <a:ext cx="15773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Espesor total: 42 cm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903" name="Google Shape;2903;p32"/>
          <p:cNvGraphicFramePr/>
          <p:nvPr/>
        </p:nvGraphicFramePr>
        <p:xfrm>
          <a:off x="3840480" y="24231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{2219430B-40B1-4F13-8D99-EA5D7966678A}</a:tableStyleId>
              </a:tblPr>
              <a:tblGrid>
                <a:gridCol w="2395725"/>
                <a:gridCol w="1097275"/>
                <a:gridCol w="603500"/>
                <a:gridCol w="1097275"/>
                <a:gridCol w="603500"/>
                <a:gridCol w="237750"/>
                <a:gridCol w="1097275"/>
                <a:gridCol w="758950"/>
              </a:tblGrid>
              <a:tr h="438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Grupo – actividad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Valor contractual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 sobre corredor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Valor proyectado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 sobre corredor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Variación (valor adicional)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 de variación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</a:tr>
              <a:tr h="27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Construcción de alcantarillas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$ 4.607.828.254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20,6 %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$ 13.347.131.177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39,4 %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▲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$ 8.739.302.923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189,7 %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Construcción de cunetas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$ 3.380.741.187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15,1 %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$ 2.661.919.163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7,9 %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950" u="none" cap="none" strike="noStrike">
                          <a:solidFill>
                            <a:srgbClr val="0B5D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▼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0B5D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–$ 718.822.024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0B5D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-21,3 %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27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Construcción de filtros para cunetas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$ 3.486.471.885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15,6 %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$ 3.523.073.415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10,4 %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▲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$ 36.601.530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1,0 %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Construcción de bordillos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$ 512.753.800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2,3 %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$ 501.816.460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1,5 %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950" u="none" cap="none" strike="noStrike">
                          <a:solidFill>
                            <a:srgbClr val="0B5D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▼</a:t>
                      </a:r>
                      <a:endParaRPr sz="1400" u="none" cap="none" strike="noStrike"/>
                    </a:p>
                  </a:txBody>
                  <a:tcPr marT="18300" marB="18300" marR="45725" marL="45725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0B5D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–$ 10.937.340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0B5D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-2,1 %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27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Construcción de disipadores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$ 649.126.552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2,9 %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$ 602.451.168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1,8 %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950" u="none" cap="none" strike="noStrike">
                          <a:solidFill>
                            <a:srgbClr val="0B5D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▼</a:t>
                      </a:r>
                      <a:endParaRPr sz="1400" u="none" cap="none" strike="noStrike"/>
                    </a:p>
                  </a:txBody>
                  <a:tcPr marT="18300" marB="18300" marR="45725" marL="45725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0B5D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–$ 46.675.384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0B5D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-7,2 %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Estabilización con material granular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$ 9.463.687.575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42,2 %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$ 12.133.927.965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35,8 %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▲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$ 2.670.240.390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28,2 %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27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Señalización vial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$ 310.004.190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1,4 %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$ 310.004.190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0,9 %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8300" marB="18300" marR="45725" marL="45725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$ 0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0,0 %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Alternativas constructivas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–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0,0 %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$ 766.139.535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2,3 %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▲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$ 766.139.535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N/A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27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CORREDOR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$ 22.410.613.443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100%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$ 33.846.463.073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100%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▲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+$ 11.435.849.630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51,0 %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</a:tr>
            </a:tbl>
          </a:graphicData>
        </a:graphic>
      </p:graphicFrame>
      <p:sp>
        <p:nvSpPr>
          <p:cNvPr id="2904" name="Google Shape;2904;p32"/>
          <p:cNvSpPr txBox="1"/>
          <p:nvPr/>
        </p:nvSpPr>
        <p:spPr>
          <a:xfrm>
            <a:off x="3840480" y="5413248"/>
            <a:ext cx="78912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261E"/>
              </a:buClr>
              <a:buSzPts val="900"/>
              <a:buFont typeface="Arial"/>
              <a:buNone/>
            </a:pPr>
            <a:r>
              <a:rPr b="0" i="0" lang="es-CO" sz="900" u="none" cap="none" strike="noStrike">
                <a:solidFill>
                  <a:srgbClr val="B3261E"/>
                </a:solidFill>
                <a:latin typeface="Arial"/>
                <a:ea typeface="Arial"/>
                <a:cs typeface="Arial"/>
                <a:sym typeface="Arial"/>
              </a:rPr>
              <a:t>▲</a:t>
            </a: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 Se requiere mayor valor     </a:t>
            </a:r>
            <a:r>
              <a:rPr b="0" i="0" lang="es-CO" sz="900" u="none" cap="none" strike="noStrike">
                <a:solidFill>
                  <a:srgbClr val="0B5D2E"/>
                </a:solidFill>
                <a:latin typeface="Arial"/>
                <a:ea typeface="Arial"/>
                <a:cs typeface="Arial"/>
                <a:sym typeface="Arial"/>
              </a:rPr>
              <a:t>▼</a:t>
            </a: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 Sobra valor     % de variación = (valor proyectado – valor contractual) / valor contractual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5" name="Google Shape;2905;p32"/>
          <p:cNvSpPr/>
          <p:nvPr/>
        </p:nvSpPr>
        <p:spPr>
          <a:xfrm>
            <a:off x="3840480" y="5687568"/>
            <a:ext cx="7891272" cy="850392"/>
          </a:xfrm>
          <a:prstGeom prst="roundRect">
            <a:avLst>
              <a:gd fmla="val 6452" name="adj"/>
            </a:avLst>
          </a:prstGeom>
          <a:solidFill>
            <a:srgbClr val="FFFFFF"/>
          </a:solidFill>
          <a:ln cap="flat" cmpd="sng" w="12700">
            <a:solidFill>
              <a:srgbClr val="9AA7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00" lIns="1000" spcFirstLastPara="1" rIns="1500" wrap="square" tIns="15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100"/>
              <a:buFont typeface="Calibri"/>
              <a:buNone/>
            </a:pPr>
            <a:r>
              <a:rPr b="1" i="0" lang="es-CO" sz="11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Notas: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.png" id="2906" name="Google Shape;2906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78440" y="320040"/>
            <a:ext cx="1371600" cy="6766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10" name="Shape 2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1" name="Google Shape;2911;p33"/>
          <p:cNvSpPr txBox="1"/>
          <p:nvPr/>
        </p:nvSpPr>
        <p:spPr>
          <a:xfrm>
            <a:off x="457200" y="320040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CO" sz="1200" u="none" cap="none" strike="noStrike">
                <a:solidFill>
                  <a:srgbClr val="2E7D4F"/>
                </a:solidFill>
                <a:latin typeface="Poppins"/>
                <a:ea typeface="Poppins"/>
                <a:cs typeface="Poppins"/>
                <a:sym typeface="Poppins"/>
              </a:rPr>
              <a:t>INFORME DE EJECUCIÓN  ·  LOTE 5 – SUBREGIÓN SUROESTE</a:t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12" name="Google Shape;2912;p33"/>
          <p:cNvSpPr txBox="1"/>
          <p:nvPr/>
        </p:nvSpPr>
        <p:spPr>
          <a:xfrm>
            <a:off x="457200" y="594360"/>
            <a:ext cx="9692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s-CO" sz="26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Valparaíso – Támesis</a:t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13" name="Google Shape;2913;p33"/>
          <p:cNvSpPr/>
          <p:nvPr/>
        </p:nvSpPr>
        <p:spPr>
          <a:xfrm>
            <a:off x="457200" y="1234440"/>
            <a:ext cx="1765249" cy="658368"/>
          </a:xfrm>
          <a:prstGeom prst="roundRect">
            <a:avLst>
              <a:gd fmla="val 1111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4" name="Google Shape;2914;p33"/>
          <p:cNvSpPr txBox="1"/>
          <p:nvPr/>
        </p:nvSpPr>
        <p:spPr>
          <a:xfrm>
            <a:off x="566928" y="1289304"/>
            <a:ext cx="154579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s-CO" sz="9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Longitud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5" name="Google Shape;2915;p33"/>
          <p:cNvSpPr txBox="1"/>
          <p:nvPr/>
        </p:nvSpPr>
        <p:spPr>
          <a:xfrm>
            <a:off x="566928" y="1453896"/>
            <a:ext cx="154579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-CO" sz="15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22,51 km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6" name="Google Shape;2916;p33"/>
          <p:cNvSpPr txBox="1"/>
          <p:nvPr/>
        </p:nvSpPr>
        <p:spPr>
          <a:xfrm>
            <a:off x="566928" y="1700784"/>
            <a:ext cx="1545793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Alcance real 14,90 km · dif. 7,61 km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7" name="Google Shape;2917;p33"/>
          <p:cNvSpPr/>
          <p:nvPr/>
        </p:nvSpPr>
        <p:spPr>
          <a:xfrm>
            <a:off x="2359609" y="1234440"/>
            <a:ext cx="1765249" cy="658368"/>
          </a:xfrm>
          <a:prstGeom prst="roundRect">
            <a:avLst>
              <a:gd fmla="val 1111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8" name="Google Shape;2918;p33"/>
          <p:cNvSpPr txBox="1"/>
          <p:nvPr/>
        </p:nvSpPr>
        <p:spPr>
          <a:xfrm>
            <a:off x="2469337" y="1289304"/>
            <a:ext cx="154579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s-CO" sz="9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Valor total del corredor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9" name="Google Shape;2919;p33"/>
          <p:cNvSpPr txBox="1"/>
          <p:nvPr/>
        </p:nvSpPr>
        <p:spPr>
          <a:xfrm>
            <a:off x="2469337" y="1453896"/>
            <a:ext cx="154579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-CO" sz="15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$ 22.410.613.443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0" name="Google Shape;2920;p33"/>
          <p:cNvSpPr txBox="1"/>
          <p:nvPr/>
        </p:nvSpPr>
        <p:spPr>
          <a:xfrm>
            <a:off x="2469337" y="1700784"/>
            <a:ext cx="1545793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$ 995.584.782 por km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1" name="Google Shape;2921;p33"/>
          <p:cNvSpPr/>
          <p:nvPr/>
        </p:nvSpPr>
        <p:spPr>
          <a:xfrm>
            <a:off x="4262018" y="1234440"/>
            <a:ext cx="1765249" cy="658368"/>
          </a:xfrm>
          <a:prstGeom prst="roundRect">
            <a:avLst>
              <a:gd fmla="val 11111" name="adj"/>
            </a:avLst>
          </a:prstGeom>
          <a:solidFill>
            <a:srgbClr val="FBEAEA"/>
          </a:solidFill>
          <a:ln cap="flat" cmpd="sng" w="12700">
            <a:solidFill>
              <a:srgbClr val="FBEA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2" name="Google Shape;2922;p33"/>
          <p:cNvSpPr txBox="1"/>
          <p:nvPr/>
        </p:nvSpPr>
        <p:spPr>
          <a:xfrm>
            <a:off x="4371746" y="1289304"/>
            <a:ext cx="154579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s-CO" sz="9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Avance físico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3" name="Google Shape;2923;p33"/>
          <p:cNvSpPr txBox="1"/>
          <p:nvPr/>
        </p:nvSpPr>
        <p:spPr>
          <a:xfrm>
            <a:off x="4371746" y="1453896"/>
            <a:ext cx="154579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-CO" sz="1500" u="none" cap="none" strike="noStrike">
                <a:solidFill>
                  <a:srgbClr val="B3261E"/>
                </a:solidFill>
                <a:latin typeface="Calibri"/>
                <a:ea typeface="Calibri"/>
                <a:cs typeface="Calibri"/>
                <a:sym typeface="Calibri"/>
              </a:rPr>
              <a:t>Sin dato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4" name="Google Shape;2924;p33"/>
          <p:cNvSpPr txBox="1"/>
          <p:nvPr/>
        </p:nvSpPr>
        <p:spPr>
          <a:xfrm>
            <a:off x="4371746" y="1700784"/>
            <a:ext cx="1545793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Pendiente de reporte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5" name="Google Shape;2925;p33"/>
          <p:cNvSpPr/>
          <p:nvPr/>
        </p:nvSpPr>
        <p:spPr>
          <a:xfrm>
            <a:off x="6164427" y="1234440"/>
            <a:ext cx="1765249" cy="658368"/>
          </a:xfrm>
          <a:prstGeom prst="roundRect">
            <a:avLst>
              <a:gd fmla="val 1111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6" name="Google Shape;2926;p33"/>
          <p:cNvSpPr txBox="1"/>
          <p:nvPr/>
        </p:nvSpPr>
        <p:spPr>
          <a:xfrm>
            <a:off x="6274155" y="1289304"/>
            <a:ext cx="154579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s-CO" sz="9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Avance financiero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7" name="Google Shape;2927;p33"/>
          <p:cNvSpPr txBox="1"/>
          <p:nvPr/>
        </p:nvSpPr>
        <p:spPr>
          <a:xfrm>
            <a:off x="6274155" y="1453896"/>
            <a:ext cx="154579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-CO" sz="15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Sin dato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8" name="Google Shape;2928;p33"/>
          <p:cNvSpPr txBox="1"/>
          <p:nvPr/>
        </p:nvSpPr>
        <p:spPr>
          <a:xfrm>
            <a:off x="6274155" y="1700784"/>
            <a:ext cx="1545793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Pendiente de reporte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9" name="Google Shape;2929;p33"/>
          <p:cNvSpPr/>
          <p:nvPr/>
        </p:nvSpPr>
        <p:spPr>
          <a:xfrm>
            <a:off x="8066836" y="1234440"/>
            <a:ext cx="1765249" cy="658368"/>
          </a:xfrm>
          <a:prstGeom prst="roundRect">
            <a:avLst>
              <a:gd fmla="val 1111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0" name="Google Shape;2930;p33"/>
          <p:cNvSpPr txBox="1"/>
          <p:nvPr/>
        </p:nvSpPr>
        <p:spPr>
          <a:xfrm>
            <a:off x="8176564" y="1289304"/>
            <a:ext cx="154579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s-CO" sz="9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Plazo transcurrido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1" name="Google Shape;2931;p33"/>
          <p:cNvSpPr txBox="1"/>
          <p:nvPr/>
        </p:nvSpPr>
        <p:spPr>
          <a:xfrm>
            <a:off x="8176564" y="1453896"/>
            <a:ext cx="154579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-CO" sz="15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65,5 %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2" name="Google Shape;2932;p33"/>
          <p:cNvSpPr txBox="1"/>
          <p:nvPr/>
        </p:nvSpPr>
        <p:spPr>
          <a:xfrm>
            <a:off x="8176564" y="1700784"/>
            <a:ext cx="1545793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7,9 de 12 meses (al 02/10/2026)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3" name="Google Shape;2933;p33"/>
          <p:cNvSpPr/>
          <p:nvPr/>
        </p:nvSpPr>
        <p:spPr>
          <a:xfrm>
            <a:off x="9969245" y="1234440"/>
            <a:ext cx="1765249" cy="658368"/>
          </a:xfrm>
          <a:prstGeom prst="roundRect">
            <a:avLst>
              <a:gd fmla="val 1111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4" name="Google Shape;2934;p33"/>
          <p:cNvSpPr txBox="1"/>
          <p:nvPr/>
        </p:nvSpPr>
        <p:spPr>
          <a:xfrm>
            <a:off x="10078973" y="1289304"/>
            <a:ext cx="1545793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Inicio: </a:t>
            </a: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05/02/2026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Terminación: </a:t>
            </a: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05/02/2027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Corte: </a:t>
            </a: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25/09/2026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5" name="Google Shape;2935;p33"/>
          <p:cNvSpPr txBox="1"/>
          <p:nvPr/>
        </p:nvSpPr>
        <p:spPr>
          <a:xfrm>
            <a:off x="457200" y="1956816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s-CO" sz="95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AVANCE POR ABSCISA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6" name="Google Shape;2936;p33"/>
          <p:cNvSpPr txBox="1"/>
          <p:nvPr/>
        </p:nvSpPr>
        <p:spPr>
          <a:xfrm>
            <a:off x="1874520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37" name="Google Shape;2937;p33"/>
          <p:cNvCxnSpPr/>
          <p:nvPr/>
        </p:nvCxnSpPr>
        <p:spPr>
          <a:xfrm>
            <a:off x="2103120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38" name="Google Shape;2938;p33"/>
          <p:cNvSpPr txBox="1"/>
          <p:nvPr/>
        </p:nvSpPr>
        <p:spPr>
          <a:xfrm>
            <a:off x="2678834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39" name="Google Shape;2939;p33"/>
          <p:cNvCxnSpPr/>
          <p:nvPr/>
        </p:nvCxnSpPr>
        <p:spPr>
          <a:xfrm>
            <a:off x="2907434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40" name="Google Shape;2940;p33"/>
          <p:cNvSpPr txBox="1"/>
          <p:nvPr/>
        </p:nvSpPr>
        <p:spPr>
          <a:xfrm>
            <a:off x="3483149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41" name="Google Shape;2941;p33"/>
          <p:cNvCxnSpPr/>
          <p:nvPr/>
        </p:nvCxnSpPr>
        <p:spPr>
          <a:xfrm>
            <a:off x="3711749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42" name="Google Shape;2942;p33"/>
          <p:cNvSpPr txBox="1"/>
          <p:nvPr/>
        </p:nvSpPr>
        <p:spPr>
          <a:xfrm>
            <a:off x="4287463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43" name="Google Shape;2943;p33"/>
          <p:cNvCxnSpPr/>
          <p:nvPr/>
        </p:nvCxnSpPr>
        <p:spPr>
          <a:xfrm>
            <a:off x="4516063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44" name="Google Shape;2944;p33"/>
          <p:cNvSpPr txBox="1"/>
          <p:nvPr/>
        </p:nvSpPr>
        <p:spPr>
          <a:xfrm>
            <a:off x="5091778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45" name="Google Shape;2945;p33"/>
          <p:cNvCxnSpPr/>
          <p:nvPr/>
        </p:nvCxnSpPr>
        <p:spPr>
          <a:xfrm>
            <a:off x="5320378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46" name="Google Shape;2946;p33"/>
          <p:cNvSpPr txBox="1"/>
          <p:nvPr/>
        </p:nvSpPr>
        <p:spPr>
          <a:xfrm>
            <a:off x="5896092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47" name="Google Shape;2947;p33"/>
          <p:cNvCxnSpPr/>
          <p:nvPr/>
        </p:nvCxnSpPr>
        <p:spPr>
          <a:xfrm>
            <a:off x="6124692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48" name="Google Shape;2948;p33"/>
          <p:cNvSpPr txBox="1"/>
          <p:nvPr/>
        </p:nvSpPr>
        <p:spPr>
          <a:xfrm>
            <a:off x="6700407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49" name="Google Shape;2949;p33"/>
          <p:cNvCxnSpPr/>
          <p:nvPr/>
        </p:nvCxnSpPr>
        <p:spPr>
          <a:xfrm>
            <a:off x="6929007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50" name="Google Shape;2950;p33"/>
          <p:cNvSpPr txBox="1"/>
          <p:nvPr/>
        </p:nvSpPr>
        <p:spPr>
          <a:xfrm>
            <a:off x="7504721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51" name="Google Shape;2951;p33"/>
          <p:cNvCxnSpPr/>
          <p:nvPr/>
        </p:nvCxnSpPr>
        <p:spPr>
          <a:xfrm>
            <a:off x="7733321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52" name="Google Shape;2952;p33"/>
          <p:cNvSpPr txBox="1"/>
          <p:nvPr/>
        </p:nvSpPr>
        <p:spPr>
          <a:xfrm>
            <a:off x="8309036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K16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53" name="Google Shape;2953;p33"/>
          <p:cNvCxnSpPr/>
          <p:nvPr/>
        </p:nvCxnSpPr>
        <p:spPr>
          <a:xfrm>
            <a:off x="8537636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54" name="Google Shape;2954;p33"/>
          <p:cNvSpPr txBox="1"/>
          <p:nvPr/>
        </p:nvSpPr>
        <p:spPr>
          <a:xfrm>
            <a:off x="9113350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K18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55" name="Google Shape;2955;p33"/>
          <p:cNvCxnSpPr/>
          <p:nvPr/>
        </p:nvCxnSpPr>
        <p:spPr>
          <a:xfrm>
            <a:off x="9341950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56" name="Google Shape;2956;p33"/>
          <p:cNvSpPr txBox="1"/>
          <p:nvPr/>
        </p:nvSpPr>
        <p:spPr>
          <a:xfrm>
            <a:off x="9917665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K20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57" name="Google Shape;2957;p33"/>
          <p:cNvCxnSpPr/>
          <p:nvPr/>
        </p:nvCxnSpPr>
        <p:spPr>
          <a:xfrm>
            <a:off x="10146265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58" name="Google Shape;2958;p33"/>
          <p:cNvSpPr txBox="1"/>
          <p:nvPr/>
        </p:nvSpPr>
        <p:spPr>
          <a:xfrm>
            <a:off x="10881360" y="2139696"/>
            <a:ext cx="54864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K22+510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59" name="Google Shape;2959;p33"/>
          <p:cNvCxnSpPr/>
          <p:nvPr/>
        </p:nvCxnSpPr>
        <p:spPr>
          <a:xfrm>
            <a:off x="11155680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60" name="Google Shape;2960;p33"/>
          <p:cNvSpPr/>
          <p:nvPr/>
        </p:nvSpPr>
        <p:spPr>
          <a:xfrm>
            <a:off x="2103120" y="2359152"/>
            <a:ext cx="9052560" cy="73152"/>
          </a:xfrm>
          <a:prstGeom prst="rect">
            <a:avLst/>
          </a:prstGeom>
          <a:solidFill>
            <a:srgbClr val="1F2A36"/>
          </a:solidFill>
          <a:ln cap="flat" cmpd="sng" w="12700">
            <a:solidFill>
              <a:srgbClr val="1F2A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61" name="Google Shape;2961;p33"/>
          <p:cNvCxnSpPr/>
          <p:nvPr/>
        </p:nvCxnSpPr>
        <p:spPr>
          <a:xfrm>
            <a:off x="2139696" y="2395728"/>
            <a:ext cx="8979408" cy="0"/>
          </a:xfrm>
          <a:prstGeom prst="straightConnector1">
            <a:avLst/>
          </a:prstGeom>
          <a:noFill/>
          <a:ln cap="flat" cmpd="sng" w="9525">
            <a:solidFill>
              <a:srgbClr val="F2C94C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962" name="Google Shape;2962;p33"/>
          <p:cNvSpPr txBox="1"/>
          <p:nvPr/>
        </p:nvSpPr>
        <p:spPr>
          <a:xfrm>
            <a:off x="777240" y="2487168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Topografía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3" name="Google Shape;2963;p33"/>
          <p:cNvSpPr/>
          <p:nvPr/>
        </p:nvSpPr>
        <p:spPr>
          <a:xfrm>
            <a:off x="2103120" y="2487168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4" name="Google Shape;2964;p33"/>
          <p:cNvSpPr/>
          <p:nvPr/>
        </p:nvSpPr>
        <p:spPr>
          <a:xfrm>
            <a:off x="2103120" y="2487168"/>
            <a:ext cx="9052560" cy="155448"/>
          </a:xfrm>
          <a:prstGeom prst="rect">
            <a:avLst/>
          </a:prstGeom>
          <a:solidFill>
            <a:srgbClr val="D8EADF"/>
          </a:solidFill>
          <a:ln cap="flat" cmpd="sng" w="9525">
            <a:solidFill>
              <a:srgbClr val="A8CDB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5" name="Google Shape;2965;p33"/>
          <p:cNvSpPr txBox="1"/>
          <p:nvPr/>
        </p:nvSpPr>
        <p:spPr>
          <a:xfrm>
            <a:off x="11201400" y="2487168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En ejec.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6" name="Google Shape;2966;p33"/>
          <p:cNvSpPr txBox="1"/>
          <p:nvPr/>
        </p:nvSpPr>
        <p:spPr>
          <a:xfrm>
            <a:off x="777240" y="2670048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Apiques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7" name="Google Shape;2967;p33"/>
          <p:cNvSpPr/>
          <p:nvPr/>
        </p:nvSpPr>
        <p:spPr>
          <a:xfrm>
            <a:off x="2103120" y="2670048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8" name="Google Shape;2968;p33"/>
          <p:cNvSpPr txBox="1"/>
          <p:nvPr/>
        </p:nvSpPr>
        <p:spPr>
          <a:xfrm>
            <a:off x="11201400" y="2670048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69" name="Google Shape;2969;p33"/>
          <p:cNvCxnSpPr/>
          <p:nvPr/>
        </p:nvCxnSpPr>
        <p:spPr>
          <a:xfrm>
            <a:off x="731520" y="2487168"/>
            <a:ext cx="0" cy="338328"/>
          </a:xfrm>
          <a:prstGeom prst="straightConnector1">
            <a:avLst/>
          </a:prstGeom>
          <a:noFill/>
          <a:ln cap="flat" cmpd="sng" w="19050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70" name="Google Shape;2970;p33"/>
          <p:cNvSpPr txBox="1"/>
          <p:nvPr/>
        </p:nvSpPr>
        <p:spPr>
          <a:xfrm rot="-5400000">
            <a:off x="260604" y="2574036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s-CO" sz="7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CAMPO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1" name="Google Shape;2971;p33"/>
          <p:cNvSpPr txBox="1"/>
          <p:nvPr/>
        </p:nvSpPr>
        <p:spPr>
          <a:xfrm>
            <a:off x="777240" y="2953512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Rodadura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2" name="Google Shape;2972;p33"/>
          <p:cNvSpPr/>
          <p:nvPr/>
        </p:nvSpPr>
        <p:spPr>
          <a:xfrm>
            <a:off x="2103120" y="2953512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3" name="Google Shape;2973;p33"/>
          <p:cNvSpPr txBox="1"/>
          <p:nvPr/>
        </p:nvSpPr>
        <p:spPr>
          <a:xfrm>
            <a:off x="11201400" y="2953512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0 %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4" name="Google Shape;2974;p33"/>
          <p:cNvSpPr txBox="1"/>
          <p:nvPr/>
        </p:nvSpPr>
        <p:spPr>
          <a:xfrm>
            <a:off x="777240" y="3108960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Capa granular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5" name="Google Shape;2975;p33"/>
          <p:cNvSpPr/>
          <p:nvPr/>
        </p:nvSpPr>
        <p:spPr>
          <a:xfrm>
            <a:off x="2103120" y="3108960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6" name="Google Shape;2976;p33"/>
          <p:cNvSpPr txBox="1"/>
          <p:nvPr/>
        </p:nvSpPr>
        <p:spPr>
          <a:xfrm>
            <a:off x="11201400" y="3108960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0 %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7" name="Google Shape;2977;p33"/>
          <p:cNvSpPr txBox="1"/>
          <p:nvPr/>
        </p:nvSpPr>
        <p:spPr>
          <a:xfrm>
            <a:off x="777240" y="3264408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Subrasante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8" name="Google Shape;2978;p33"/>
          <p:cNvSpPr/>
          <p:nvPr/>
        </p:nvSpPr>
        <p:spPr>
          <a:xfrm>
            <a:off x="2103120" y="3264408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9" name="Google Shape;2979;p33"/>
          <p:cNvSpPr txBox="1"/>
          <p:nvPr/>
        </p:nvSpPr>
        <p:spPr>
          <a:xfrm>
            <a:off x="11201400" y="3264408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0 %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80" name="Google Shape;2980;p33"/>
          <p:cNvCxnSpPr/>
          <p:nvPr/>
        </p:nvCxnSpPr>
        <p:spPr>
          <a:xfrm>
            <a:off x="731520" y="2953512"/>
            <a:ext cx="0" cy="466344"/>
          </a:xfrm>
          <a:prstGeom prst="straightConnector1">
            <a:avLst/>
          </a:prstGeom>
          <a:noFill/>
          <a:ln cap="flat" cmpd="sng" w="19050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81" name="Google Shape;2981;p33"/>
          <p:cNvSpPr txBox="1"/>
          <p:nvPr/>
        </p:nvSpPr>
        <p:spPr>
          <a:xfrm rot="-5400000">
            <a:off x="260604" y="3104388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s-CO" sz="7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ESTRUCTURA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2" name="Google Shape;2982;p33"/>
          <p:cNvSpPr txBox="1"/>
          <p:nvPr/>
        </p:nvSpPr>
        <p:spPr>
          <a:xfrm>
            <a:off x="777240" y="3511296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Cunetas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3" name="Google Shape;2983;p33"/>
          <p:cNvSpPr/>
          <p:nvPr/>
        </p:nvSpPr>
        <p:spPr>
          <a:xfrm>
            <a:off x="2103120" y="3511296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4" name="Google Shape;2984;p33"/>
          <p:cNvSpPr txBox="1"/>
          <p:nvPr/>
        </p:nvSpPr>
        <p:spPr>
          <a:xfrm>
            <a:off x="11201400" y="3511296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0 %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5" name="Google Shape;2985;p33"/>
          <p:cNvSpPr txBox="1"/>
          <p:nvPr/>
        </p:nvSpPr>
        <p:spPr>
          <a:xfrm>
            <a:off x="777240" y="3694176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Filtros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6" name="Google Shape;2986;p33"/>
          <p:cNvSpPr/>
          <p:nvPr/>
        </p:nvSpPr>
        <p:spPr>
          <a:xfrm>
            <a:off x="2103120" y="3694176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87" name="Google Shape;2987;p33"/>
          <p:cNvCxnSpPr/>
          <p:nvPr/>
        </p:nvCxnSpPr>
        <p:spPr>
          <a:xfrm>
            <a:off x="2103120" y="3771900"/>
            <a:ext cx="9052560" cy="0"/>
          </a:xfrm>
          <a:prstGeom prst="straightConnector1">
            <a:avLst/>
          </a:prstGeom>
          <a:noFill/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88" name="Google Shape;2988;p33"/>
          <p:cNvSpPr/>
          <p:nvPr/>
        </p:nvSpPr>
        <p:spPr>
          <a:xfrm>
            <a:off x="2103120" y="3694176"/>
            <a:ext cx="32172" cy="77724"/>
          </a:xfrm>
          <a:prstGeom prst="rect">
            <a:avLst/>
          </a:prstGeom>
          <a:solidFill>
            <a:srgbClr val="2E7D4F"/>
          </a:solidFill>
          <a:ln cap="flat" cmpd="sng" w="9525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9" name="Google Shape;2989;p33"/>
          <p:cNvSpPr txBox="1"/>
          <p:nvPr/>
        </p:nvSpPr>
        <p:spPr>
          <a:xfrm>
            <a:off x="11201400" y="3694176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0,36 %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0" name="Google Shape;2990;p33"/>
          <p:cNvSpPr txBox="1"/>
          <p:nvPr/>
        </p:nvSpPr>
        <p:spPr>
          <a:xfrm>
            <a:off x="1920240" y="3694176"/>
            <a:ext cx="137160" cy="777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s-CO" sz="7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1" name="Google Shape;2991;p33"/>
          <p:cNvSpPr txBox="1"/>
          <p:nvPr/>
        </p:nvSpPr>
        <p:spPr>
          <a:xfrm>
            <a:off x="1920240" y="3771900"/>
            <a:ext cx="137160" cy="777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s-CO" sz="7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2" name="Google Shape;2992;p33"/>
          <p:cNvSpPr txBox="1"/>
          <p:nvPr/>
        </p:nvSpPr>
        <p:spPr>
          <a:xfrm>
            <a:off x="777240" y="3877056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Alcantarillas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3" name="Google Shape;2993;p33"/>
          <p:cNvSpPr/>
          <p:nvPr/>
        </p:nvSpPr>
        <p:spPr>
          <a:xfrm>
            <a:off x="2103120" y="3877056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4" name="Google Shape;2994;p33"/>
          <p:cNvSpPr txBox="1"/>
          <p:nvPr/>
        </p:nvSpPr>
        <p:spPr>
          <a:xfrm>
            <a:off x="11201400" y="3877056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18 und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95" name="Google Shape;2995;p33"/>
          <p:cNvCxnSpPr/>
          <p:nvPr/>
        </p:nvCxnSpPr>
        <p:spPr>
          <a:xfrm>
            <a:off x="731520" y="3511296"/>
            <a:ext cx="0" cy="521208"/>
          </a:xfrm>
          <a:prstGeom prst="straightConnector1">
            <a:avLst/>
          </a:prstGeom>
          <a:noFill/>
          <a:ln cap="flat" cmpd="sng" w="19050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96" name="Google Shape;2996;p33"/>
          <p:cNvSpPr txBox="1"/>
          <p:nvPr/>
        </p:nvSpPr>
        <p:spPr>
          <a:xfrm rot="-5400000">
            <a:off x="260604" y="3689604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s-CO" sz="7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DRENAJE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7" name="Google Shape;2997;p33"/>
          <p:cNvSpPr txBox="1"/>
          <p:nvPr/>
        </p:nvSpPr>
        <p:spPr>
          <a:xfrm>
            <a:off x="457200" y="4078224"/>
            <a:ext cx="11277295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-CO" sz="8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Ejecutado    </a:t>
            </a:r>
            <a:r>
              <a:rPr b="0" i="0" lang="es-CO" sz="800" u="none" cap="none" strike="noStrike">
                <a:solidFill>
                  <a:srgbClr val="A8CDB5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En ejecución (sin % reportado)    </a:t>
            </a:r>
            <a:r>
              <a:rPr b="0" i="0" lang="es-CO" sz="800" u="none" cap="none" strike="noStrike">
                <a:solidFill>
                  <a:srgbClr val="EEF1EF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Sin avance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8" name="Google Shape;2998;p33"/>
          <p:cNvSpPr txBox="1"/>
          <p:nvPr/>
        </p:nvSpPr>
        <p:spPr>
          <a:xfrm>
            <a:off x="457200" y="4078224"/>
            <a:ext cx="6000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1" lang="es-CO" sz="7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Porcentajes por abscisa calculados sobre la longitud contractual del corredor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9" name="Google Shape;2999;p33"/>
          <p:cNvSpPr txBox="1"/>
          <p:nvPr/>
        </p:nvSpPr>
        <p:spPr>
          <a:xfrm>
            <a:off x="457200" y="4255968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s-CO" sz="95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AVANCE POR ACTIVIDAD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.png" id="3000" name="Google Shape;300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78440" y="320040"/>
            <a:ext cx="1371600" cy="676656"/>
          </a:xfrm>
          <a:prstGeom prst="rect">
            <a:avLst/>
          </a:prstGeom>
          <a:noFill/>
          <a:ln>
            <a:noFill/>
          </a:ln>
        </p:spPr>
      </p:pic>
      <p:sp>
        <p:nvSpPr>
          <p:cNvPr id="3001" name="Google Shape;3001;p33"/>
          <p:cNvSpPr txBox="1"/>
          <p:nvPr/>
        </p:nvSpPr>
        <p:spPr>
          <a:xfrm>
            <a:off x="457200" y="6400000"/>
            <a:ext cx="5000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s-CO" sz="9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TIEMPO TRANSCURRIDO DEL PLAZO CONTRACTUAL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2" name="Google Shape;3002;p33"/>
          <p:cNvSpPr txBox="1"/>
          <p:nvPr/>
        </p:nvSpPr>
        <p:spPr>
          <a:xfrm>
            <a:off x="5000000" y="6400000"/>
            <a:ext cx="6734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Inicio: </a:t>
            </a:r>
            <a:r>
              <a:rPr b="1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05/02/2026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   ·   Terminación: </a:t>
            </a:r>
            <a:r>
              <a:rPr b="1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05/02/2027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   ·   Al: </a:t>
            </a:r>
            <a:r>
              <a:rPr b="1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02/10/2026</a:t>
            </a: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   ·   239 de 365 días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3" name="Google Shape;3003;p33"/>
          <p:cNvSpPr/>
          <p:nvPr/>
        </p:nvSpPr>
        <p:spPr>
          <a:xfrm>
            <a:off x="457200" y="6598920"/>
            <a:ext cx="11277600" cy="164592"/>
          </a:xfrm>
          <a:prstGeom prst="roundRect">
            <a:avLst>
              <a:gd fmla="val 50000" name="adj"/>
            </a:avLst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4" name="Google Shape;3004;p33"/>
          <p:cNvSpPr/>
          <p:nvPr/>
        </p:nvSpPr>
        <p:spPr>
          <a:xfrm>
            <a:off x="457200" y="6598920"/>
            <a:ext cx="7384510" cy="164592"/>
          </a:xfrm>
          <a:prstGeom prst="roundRect">
            <a:avLst>
              <a:gd fmla="val 50000" name="adj"/>
            </a:avLst>
          </a:prstGeom>
          <a:solidFill>
            <a:srgbClr val="2E7D4F"/>
          </a:solidFill>
          <a:ln cap="flat" cmpd="sng" w="9525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s-CO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65,5 %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05" name="Google Shape;3005;p33"/>
          <p:cNvCxnSpPr/>
          <p:nvPr/>
        </p:nvCxnSpPr>
        <p:spPr>
          <a:xfrm>
            <a:off x="1198740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06" name="Google Shape;3006;p33"/>
          <p:cNvCxnSpPr/>
          <p:nvPr/>
        </p:nvCxnSpPr>
        <p:spPr>
          <a:xfrm>
            <a:off x="2156564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07" name="Google Shape;3007;p33"/>
          <p:cNvCxnSpPr/>
          <p:nvPr/>
        </p:nvCxnSpPr>
        <p:spPr>
          <a:xfrm>
            <a:off x="3083490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08" name="Google Shape;3008;p33"/>
          <p:cNvCxnSpPr/>
          <p:nvPr/>
        </p:nvCxnSpPr>
        <p:spPr>
          <a:xfrm>
            <a:off x="4041313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09" name="Google Shape;3009;p33"/>
          <p:cNvCxnSpPr/>
          <p:nvPr/>
        </p:nvCxnSpPr>
        <p:spPr>
          <a:xfrm>
            <a:off x="4968240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10" name="Google Shape;3010;p33"/>
          <p:cNvCxnSpPr/>
          <p:nvPr/>
        </p:nvCxnSpPr>
        <p:spPr>
          <a:xfrm>
            <a:off x="5926063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11" name="Google Shape;3011;p33"/>
          <p:cNvCxnSpPr/>
          <p:nvPr/>
        </p:nvCxnSpPr>
        <p:spPr>
          <a:xfrm>
            <a:off x="6883887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12" name="Google Shape;3012;p33"/>
          <p:cNvCxnSpPr/>
          <p:nvPr/>
        </p:nvCxnSpPr>
        <p:spPr>
          <a:xfrm>
            <a:off x="7810813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13" name="Google Shape;3013;p33"/>
          <p:cNvCxnSpPr/>
          <p:nvPr/>
        </p:nvCxnSpPr>
        <p:spPr>
          <a:xfrm>
            <a:off x="8768636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14" name="Google Shape;3014;p33"/>
          <p:cNvCxnSpPr/>
          <p:nvPr/>
        </p:nvCxnSpPr>
        <p:spPr>
          <a:xfrm>
            <a:off x="9695562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15" name="Google Shape;3015;p33"/>
          <p:cNvCxnSpPr/>
          <p:nvPr/>
        </p:nvCxnSpPr>
        <p:spPr>
          <a:xfrm>
            <a:off x="10653386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16" name="Google Shape;3016;p33"/>
          <p:cNvCxnSpPr/>
          <p:nvPr/>
        </p:nvCxnSpPr>
        <p:spPr>
          <a:xfrm>
            <a:off x="11611209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17" name="Google Shape;3017;p33"/>
          <p:cNvCxnSpPr/>
          <p:nvPr/>
        </p:nvCxnSpPr>
        <p:spPr>
          <a:xfrm>
            <a:off x="7841710" y="6562344"/>
            <a:ext cx="0" cy="237744"/>
          </a:xfrm>
          <a:prstGeom prst="straightConnector1">
            <a:avLst/>
          </a:prstGeom>
          <a:noFill/>
          <a:ln cap="flat" cmpd="sng" w="19050">
            <a:solidFill>
              <a:srgbClr val="B3261E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3018" name="Google Shape;3018;p33"/>
          <p:cNvGraphicFramePr/>
          <p:nvPr/>
        </p:nvGraphicFramePr>
        <p:xfrm>
          <a:off x="5731752" y="44931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{9EE2CB2E-1363-49F8-B8BA-952F5347F8D7}</a:tableStyleId>
              </a:tblPr>
              <a:tblGrid>
                <a:gridCol w="1106100"/>
                <a:gridCol w="842350"/>
                <a:gridCol w="696175"/>
                <a:gridCol w="1164675"/>
                <a:gridCol w="1020950"/>
                <a:gridCol w="1169750"/>
              </a:tblGrid>
              <a:tr h="182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s-CO" sz="8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Actividad</a:t>
                      </a:r>
                      <a:endParaRPr sz="14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1" lang="es-CO" sz="7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Unidad</a:t>
                      </a:r>
                      <a:endParaRPr sz="7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1" lang="es-CO" sz="7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Presupuestada</a:t>
                      </a:r>
                      <a:endParaRPr sz="7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1" lang="es-CO" sz="7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Ejec. anterior</a:t>
                      </a:r>
                      <a:endParaRPr sz="7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1" lang="es-CO" sz="7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Ejec. actual</a:t>
                      </a:r>
                      <a:endParaRPr sz="7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1" lang="es-CO" sz="7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Δ semana</a:t>
                      </a:r>
                      <a:endParaRPr sz="7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-CO" sz="8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Topografía</a:t>
                      </a:r>
                      <a:endParaRPr sz="14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-CO" sz="8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km</a:t>
                      </a:r>
                      <a:endParaRPr sz="14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-CO" sz="8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22,51</a:t>
                      </a:r>
                      <a:endParaRPr sz="850" u="none" cap="none" strike="noStrike">
                        <a:solidFill>
                          <a:srgbClr val="5F6B6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i="0" lang="es-CO" sz="8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22,51</a:t>
                      </a:r>
                      <a:endParaRPr b="1" i="0" sz="850" u="none" cap="none" strike="noStrike">
                        <a:solidFill>
                          <a:srgbClr val="5F6B6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i="0" lang="es-CO" sz="8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22,51</a:t>
                      </a:r>
                      <a:endParaRPr b="1" i="0" sz="850" u="none" cap="none" strike="noStrike">
                        <a:solidFill>
                          <a:srgbClr val="5F6B6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0" lang="es-CO" sz="750" u="none" cap="none" strike="noStrike">
                          <a:solidFill>
                            <a:srgbClr val="8A94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7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-CO" sz="8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Apiques</a:t>
                      </a:r>
                      <a:endParaRPr sz="14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-CO" sz="8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und</a:t>
                      </a:r>
                      <a:endParaRPr sz="850" u="none" cap="none" strike="noStrike">
                        <a:solidFill>
                          <a:srgbClr val="1D2B2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-CO" sz="8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</a:t>
                      </a:r>
                      <a:endParaRPr sz="850" u="none" cap="none" strike="noStrike">
                        <a:solidFill>
                          <a:srgbClr val="5F6B6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i="0" lang="es-CO" sz="8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</a:t>
                      </a:r>
                      <a:endParaRPr b="1" i="0" sz="850" u="none" cap="none" strike="noStrike">
                        <a:solidFill>
                          <a:srgbClr val="5F6B6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i="0" lang="es-CO" sz="8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</a:t>
                      </a:r>
                      <a:endParaRPr b="1" i="0" sz="850" u="none" cap="none" strike="noStrike">
                        <a:solidFill>
                          <a:srgbClr val="5F6B6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0" lang="es-CO" sz="750" u="none" cap="none" strike="noStrike">
                          <a:solidFill>
                            <a:srgbClr val="8A94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7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-CO" sz="8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Construcción alcantarillas</a:t>
                      </a:r>
                      <a:endParaRPr sz="14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-CO" sz="8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und</a:t>
                      </a:r>
                      <a:endParaRPr sz="14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-CO" sz="8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136</a:t>
                      </a:r>
                      <a:endParaRPr sz="850" u="none" cap="none" strike="noStrike">
                        <a:solidFill>
                          <a:srgbClr val="5F6B6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i="0" lang="es-CO" sz="8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</a:t>
                      </a:r>
                      <a:endParaRPr b="1" i="0" sz="850" u="none" cap="none" strike="noStrike">
                        <a:solidFill>
                          <a:srgbClr val="5F6B6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i="0" lang="es-CO" sz="8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</a:t>
                      </a:r>
                      <a:endParaRPr b="1" i="0" sz="850" u="none" cap="none" strike="noStrike">
                        <a:solidFill>
                          <a:srgbClr val="5F6B6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0" i="0" lang="es-CO" sz="750" u="none" cap="none" strike="noStrike">
                          <a:solidFill>
                            <a:srgbClr val="8A94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b="0" i="0" sz="75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-CO" sz="8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Construcción cunetas</a:t>
                      </a:r>
                      <a:endParaRPr sz="14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-CO" sz="8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</a:t>
                      </a:r>
                      <a:endParaRPr sz="14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-CO" sz="8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22.510</a:t>
                      </a:r>
                      <a:endParaRPr sz="850" u="none" cap="none" strike="noStrike">
                        <a:solidFill>
                          <a:srgbClr val="5F6B6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i="0" lang="es-CO" sz="8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b="1" i="0" sz="850" u="none" cap="none" strike="noStrike">
                        <a:solidFill>
                          <a:srgbClr val="5F6B6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i="0" lang="es-CO" sz="8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b="1" i="0" sz="850" u="none" cap="none" strike="noStrike">
                        <a:solidFill>
                          <a:srgbClr val="5F6B6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0" i="0" lang="es-CO" sz="750" u="none" cap="none" strike="noStrike">
                          <a:solidFill>
                            <a:srgbClr val="8A94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b="0" i="0" sz="75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-CO" sz="8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Construcción filtros</a:t>
                      </a:r>
                      <a:endParaRPr sz="14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-CO" sz="8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</a:t>
                      </a:r>
                      <a:endParaRPr sz="14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-CO" sz="8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22.510</a:t>
                      </a:r>
                      <a:endParaRPr sz="850" u="none" cap="none" strike="noStrike">
                        <a:solidFill>
                          <a:srgbClr val="5F6B6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i="0" lang="es-CO" sz="8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80</a:t>
                      </a:r>
                      <a:endParaRPr b="1" i="0" sz="850" u="none" cap="none" strike="noStrike">
                        <a:solidFill>
                          <a:srgbClr val="5F6B6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i="0" lang="es-CO" sz="8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128</a:t>
                      </a:r>
                      <a:endParaRPr b="1" i="0" sz="850" u="none" cap="none" strike="noStrike">
                        <a:solidFill>
                          <a:srgbClr val="5F6B6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1" lang="es-CO" sz="750" u="none" cap="none" strike="noStrike">
                          <a:solidFill>
                            <a:srgbClr val="2E7D4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+48</a:t>
                      </a:r>
                      <a:endParaRPr sz="7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-CO" sz="8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Construcción bordillos</a:t>
                      </a:r>
                      <a:endParaRPr sz="14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-CO" sz="8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</a:t>
                      </a:r>
                      <a:endParaRPr sz="14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-CO" sz="8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4.502</a:t>
                      </a:r>
                      <a:endParaRPr sz="850" u="none" cap="none" strike="noStrike">
                        <a:solidFill>
                          <a:srgbClr val="5F6B6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i="0" lang="es-CO" sz="8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b="1" i="0" sz="850" u="none" cap="none" strike="noStrike">
                        <a:solidFill>
                          <a:srgbClr val="5F6B6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i="0" lang="es-CO" sz="8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b="1" i="0" sz="850" u="none" cap="none" strike="noStrike">
                        <a:solidFill>
                          <a:srgbClr val="5F6B6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0" i="0" lang="es-CO" sz="750" u="none" cap="none" strike="noStrike">
                          <a:solidFill>
                            <a:srgbClr val="8A94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b="0" i="0" sz="75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-CO" sz="8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Estabilización</a:t>
                      </a:r>
                      <a:endParaRPr sz="14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-CO" sz="8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m²</a:t>
                      </a:r>
                      <a:endParaRPr sz="14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-CO" sz="8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112.550</a:t>
                      </a:r>
                      <a:endParaRPr sz="850" u="none" cap="none" strike="noStrike">
                        <a:solidFill>
                          <a:srgbClr val="5F6B6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i="0" lang="es-CO" sz="8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b="1" i="0" sz="850" u="none" cap="none" strike="noStrike">
                        <a:solidFill>
                          <a:srgbClr val="5F6B6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i="0" lang="es-CO" sz="8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b="1" i="0" sz="850" u="none" cap="none" strike="noStrike">
                        <a:solidFill>
                          <a:srgbClr val="5F6B6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0" i="0" lang="es-CO" sz="750" u="none" cap="none" strike="noStrike">
                          <a:solidFill>
                            <a:srgbClr val="8A94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b="0" i="0" sz="75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-CO" sz="8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Señalización vial</a:t>
                      </a:r>
                      <a:endParaRPr sz="14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-CO" sz="8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</a:t>
                      </a:r>
                      <a:endParaRPr sz="14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-CO" sz="8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67.530</a:t>
                      </a:r>
                      <a:endParaRPr sz="850" u="none" cap="none" strike="noStrike">
                        <a:solidFill>
                          <a:srgbClr val="5F6B6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i="0" lang="es-CO" sz="8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b="1" i="0" sz="850" u="none" cap="none" strike="noStrike">
                        <a:solidFill>
                          <a:srgbClr val="5F6B6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i="0" lang="es-CO" sz="8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b="1" i="0" sz="850" u="none" cap="none" strike="noStrike">
                        <a:solidFill>
                          <a:srgbClr val="5F6B6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0" i="0" lang="es-CO" sz="750" u="none" cap="none" strike="noStrike">
                          <a:solidFill>
                            <a:srgbClr val="8A94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b="0" i="0" sz="75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2" name="Shape 3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3" name="Google Shape;3023;p34"/>
          <p:cNvSpPr txBox="1"/>
          <p:nvPr/>
        </p:nvSpPr>
        <p:spPr>
          <a:xfrm>
            <a:off x="457200" y="320040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1200"/>
              <a:buFont typeface="Calibri"/>
              <a:buNone/>
            </a:pPr>
            <a:r>
              <a:rPr b="1" i="0" lang="es-CO" sz="1200" u="none" cap="none" strike="noStrike">
                <a:solidFill>
                  <a:srgbClr val="2E7D4F"/>
                </a:solidFill>
                <a:latin typeface="Poppins"/>
                <a:ea typeface="Poppins"/>
                <a:cs typeface="Poppins"/>
                <a:sym typeface="Poppins"/>
              </a:rPr>
              <a:t>INFORME DE VARIACIÓN DE ALCANCES  ·  LOTE 5 – SUBREGIÓN SUROESTE</a:t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24" name="Google Shape;3024;p34"/>
          <p:cNvSpPr txBox="1"/>
          <p:nvPr/>
        </p:nvSpPr>
        <p:spPr>
          <a:xfrm>
            <a:off x="457200" y="594360"/>
            <a:ext cx="9692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2800"/>
              <a:buFont typeface="Calibri"/>
              <a:buNone/>
            </a:pPr>
            <a:r>
              <a:rPr b="1" i="0" lang="es-CO" sz="24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Pueblorrico – San José – Ye a la Bodega – La Bodega (Andes)</a:t>
            </a:r>
            <a:endParaRPr b="0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25" name="Google Shape;3025;p34"/>
          <p:cNvSpPr/>
          <p:nvPr/>
        </p:nvSpPr>
        <p:spPr>
          <a:xfrm>
            <a:off x="457200" y="132588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6" name="Google Shape;3026;p34"/>
          <p:cNvSpPr txBox="1"/>
          <p:nvPr/>
        </p:nvSpPr>
        <p:spPr>
          <a:xfrm>
            <a:off x="594360" y="1417320"/>
            <a:ext cx="183483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100"/>
              <a:buFont typeface="Calibri"/>
              <a:buNone/>
            </a:pPr>
            <a:r>
              <a:rPr b="0" i="0" lang="es-CO" sz="11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Longitud contractual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7" name="Google Shape;3027;p34"/>
          <p:cNvSpPr txBox="1"/>
          <p:nvPr/>
        </p:nvSpPr>
        <p:spPr>
          <a:xfrm>
            <a:off x="594360" y="1691640"/>
            <a:ext cx="183483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700"/>
              <a:buFont typeface="Calibri"/>
              <a:buNone/>
            </a:pPr>
            <a:r>
              <a:rPr b="1" i="0" lang="es-CO" sz="17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22,39 km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8" name="Google Shape;3028;p34"/>
          <p:cNvSpPr/>
          <p:nvPr/>
        </p:nvSpPr>
        <p:spPr>
          <a:xfrm>
            <a:off x="2749235" y="132588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9" name="Google Shape;3029;p34"/>
          <p:cNvSpPr txBox="1"/>
          <p:nvPr/>
        </p:nvSpPr>
        <p:spPr>
          <a:xfrm>
            <a:off x="2886395" y="1417320"/>
            <a:ext cx="183483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100"/>
              <a:buFont typeface="Calibri"/>
              <a:buNone/>
            </a:pPr>
            <a:r>
              <a:rPr b="0" i="0" lang="es-CO" sz="11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Longitud probable a cubrir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0" name="Google Shape;3030;p34"/>
          <p:cNvSpPr txBox="1"/>
          <p:nvPr/>
        </p:nvSpPr>
        <p:spPr>
          <a:xfrm>
            <a:off x="2886395" y="1691640"/>
            <a:ext cx="183483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700"/>
              <a:buFont typeface="Calibri"/>
              <a:buNone/>
            </a:pPr>
            <a:r>
              <a:rPr b="1" i="0" lang="es-CO" sz="17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13,28 km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1" name="Google Shape;3031;p34"/>
          <p:cNvSpPr/>
          <p:nvPr/>
        </p:nvSpPr>
        <p:spPr>
          <a:xfrm>
            <a:off x="5041270" y="132588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2" name="Google Shape;3032;p34"/>
          <p:cNvSpPr txBox="1"/>
          <p:nvPr/>
        </p:nvSpPr>
        <p:spPr>
          <a:xfrm>
            <a:off x="5178430" y="1417320"/>
            <a:ext cx="183483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100"/>
              <a:buFont typeface="Calibri"/>
              <a:buNone/>
            </a:pPr>
            <a:r>
              <a:rPr b="0" i="0" lang="es-CO" sz="11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Valor por km contractual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3" name="Google Shape;3033;p34"/>
          <p:cNvSpPr txBox="1"/>
          <p:nvPr/>
        </p:nvSpPr>
        <p:spPr>
          <a:xfrm>
            <a:off x="5178430" y="1691640"/>
            <a:ext cx="183483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700"/>
              <a:buFont typeface="Calibri"/>
              <a:buNone/>
            </a:pPr>
            <a:r>
              <a:rPr b="1" i="0" lang="es-CO" sz="17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$ 961.284.147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4" name="Google Shape;3034;p34"/>
          <p:cNvSpPr/>
          <p:nvPr/>
        </p:nvSpPr>
        <p:spPr>
          <a:xfrm>
            <a:off x="7333305" y="132588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5" name="Google Shape;3035;p34"/>
          <p:cNvSpPr txBox="1"/>
          <p:nvPr/>
        </p:nvSpPr>
        <p:spPr>
          <a:xfrm>
            <a:off x="7470465" y="1417320"/>
            <a:ext cx="183483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100"/>
              <a:buFont typeface="Calibri"/>
              <a:buNone/>
            </a:pPr>
            <a:r>
              <a:rPr b="0" i="0" lang="es-CO" sz="11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Valor por km proyectado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6" name="Google Shape;3036;p34"/>
          <p:cNvSpPr txBox="1"/>
          <p:nvPr/>
        </p:nvSpPr>
        <p:spPr>
          <a:xfrm>
            <a:off x="7470465" y="1691640"/>
            <a:ext cx="183483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700"/>
              <a:buFont typeface="Calibri"/>
              <a:buNone/>
            </a:pPr>
            <a:r>
              <a:rPr b="1" i="0" lang="es-CO" sz="17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$ 1.620.539.416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7" name="Google Shape;3037;p34"/>
          <p:cNvSpPr/>
          <p:nvPr/>
        </p:nvSpPr>
        <p:spPr>
          <a:xfrm>
            <a:off x="9625340" y="132588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FBEAEA"/>
          </a:solidFill>
          <a:ln cap="flat" cmpd="sng" w="12700">
            <a:solidFill>
              <a:srgbClr val="FBEA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8" name="Google Shape;3038;p34"/>
          <p:cNvSpPr txBox="1"/>
          <p:nvPr/>
        </p:nvSpPr>
        <p:spPr>
          <a:xfrm>
            <a:off x="9762500" y="1417320"/>
            <a:ext cx="183483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100"/>
              <a:buFont typeface="Calibri"/>
              <a:buNone/>
            </a:pPr>
            <a:r>
              <a:rPr b="0" i="0" lang="es-CO" sz="11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Variación total (valor adicional)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9" name="Google Shape;3039;p34"/>
          <p:cNvSpPr txBox="1"/>
          <p:nvPr/>
        </p:nvSpPr>
        <p:spPr>
          <a:xfrm>
            <a:off x="9762500" y="1691640"/>
            <a:ext cx="183483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261E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B3261E"/>
                </a:solidFill>
                <a:latin typeface="Arial"/>
                <a:ea typeface="Arial"/>
                <a:cs typeface="Arial"/>
                <a:sym typeface="Arial"/>
              </a:rPr>
              <a:t>▲ $ 14.760.725.480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0" name="Google Shape;3040;p34"/>
          <p:cNvSpPr/>
          <p:nvPr/>
        </p:nvSpPr>
        <p:spPr>
          <a:xfrm>
            <a:off x="457200" y="2423160"/>
            <a:ext cx="3154680" cy="4114800"/>
          </a:xfrm>
          <a:prstGeom prst="roundRect">
            <a:avLst>
              <a:gd fmla="val 1739" name="adj"/>
            </a:avLst>
          </a:prstGeom>
          <a:solidFill>
            <a:srgbClr val="FFFFFF"/>
          </a:solidFill>
          <a:ln cap="flat" cmpd="sng" w="12700">
            <a:solidFill>
              <a:srgbClr val="D5DD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1" name="Google Shape;3041;p34"/>
          <p:cNvSpPr txBox="1"/>
          <p:nvPr/>
        </p:nvSpPr>
        <p:spPr>
          <a:xfrm>
            <a:off x="640080" y="2560320"/>
            <a:ext cx="2788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1100"/>
              <a:buFont typeface="Calibri"/>
              <a:buNone/>
            </a:pPr>
            <a:r>
              <a:rPr b="1" i="0" lang="es-CO" sz="11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ESTRUCTURA DE PAVIMENTO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2" name="Google Shape;3042;p34"/>
          <p:cNvSpPr txBox="1"/>
          <p:nvPr/>
        </p:nvSpPr>
        <p:spPr>
          <a:xfrm>
            <a:off x="640080" y="2816352"/>
            <a:ext cx="2788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1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Pueblorrico – San José – Ye a la Bodega – La Bodega (Andes)</a:t>
            </a:r>
            <a:endParaRPr b="1" i="0" sz="1000" u="none" cap="none" strike="noStrike">
              <a:solidFill>
                <a:srgbClr val="1D2B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3" name="Google Shape;3043;p34"/>
          <p:cNvSpPr txBox="1"/>
          <p:nvPr/>
        </p:nvSpPr>
        <p:spPr>
          <a:xfrm>
            <a:off x="640080" y="3172968"/>
            <a:ext cx="2788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LOTE 5 · Longitud: 22.390 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Tránsito – Estructuración: 307.000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Tránsito – Diseño: 307.000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4" name="Google Shape;3044;p34"/>
          <p:cNvSpPr txBox="1"/>
          <p:nvPr/>
        </p:nvSpPr>
        <p:spPr>
          <a:xfrm>
            <a:off x="457200" y="3794760"/>
            <a:ext cx="15773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1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Teórica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5" name="Google Shape;3045;p34"/>
          <p:cNvSpPr/>
          <p:nvPr/>
        </p:nvSpPr>
        <p:spPr>
          <a:xfrm>
            <a:off x="560070" y="4087368"/>
            <a:ext cx="960120" cy="182880"/>
          </a:xfrm>
          <a:prstGeom prst="rect">
            <a:avLst/>
          </a:prstGeom>
          <a:solidFill>
            <a:srgbClr val="1F2A36"/>
          </a:solidFill>
          <a:ln cap="flat" cmpd="sng" w="12700">
            <a:solidFill>
              <a:srgbClr val="1F2A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6" name="Google Shape;3046;p34"/>
          <p:cNvSpPr txBox="1"/>
          <p:nvPr/>
        </p:nvSpPr>
        <p:spPr>
          <a:xfrm>
            <a:off x="560070" y="4087368"/>
            <a:ext cx="9601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s-CO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TSD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7" name="Google Shape;3047;p34"/>
          <p:cNvSpPr/>
          <p:nvPr/>
        </p:nvSpPr>
        <p:spPr>
          <a:xfrm>
            <a:off x="560070" y="4270248"/>
            <a:ext cx="960120" cy="773959"/>
          </a:xfrm>
          <a:prstGeom prst="rect">
            <a:avLst/>
          </a:prstGeom>
          <a:solidFill>
            <a:srgbClr val="D9A44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8" name="Google Shape;3048;p34"/>
          <p:cNvSpPr txBox="1"/>
          <p:nvPr/>
        </p:nvSpPr>
        <p:spPr>
          <a:xfrm>
            <a:off x="560070" y="4270248"/>
            <a:ext cx="960120" cy="35040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800"/>
              <a:buFont typeface="Calibri"/>
              <a:buNone/>
            </a:pPr>
            <a:r>
              <a:rPr b="1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BGTC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9" name="Google Shape;3049;p34"/>
          <p:cNvSpPr/>
          <p:nvPr/>
        </p:nvSpPr>
        <p:spPr>
          <a:xfrm>
            <a:off x="624078" y="4620652"/>
            <a:ext cx="832104" cy="386980"/>
          </a:xfrm>
          <a:prstGeom prst="rect">
            <a:avLst/>
          </a:prstGeom>
          <a:solidFill>
            <a:srgbClr val="F2D58E"/>
          </a:solidFill>
          <a:ln cap="flat" cmpd="sng" w="9525">
            <a:solidFill>
              <a:srgbClr val="A87B1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0" name="Google Shape;3050;p34"/>
          <p:cNvSpPr txBox="1"/>
          <p:nvPr/>
        </p:nvSpPr>
        <p:spPr>
          <a:xfrm>
            <a:off x="624078" y="4620652"/>
            <a:ext cx="832104" cy="386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800"/>
              <a:buFont typeface="Calibri"/>
              <a:buNone/>
            </a:pPr>
            <a:r>
              <a:rPr b="0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Subbase 24 cm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1" name="Google Shape;3051;p34"/>
          <p:cNvSpPr txBox="1"/>
          <p:nvPr/>
        </p:nvSpPr>
        <p:spPr>
          <a:xfrm>
            <a:off x="1575054" y="4270248"/>
            <a:ext cx="457200" cy="77395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28 cm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2" name="Google Shape;3052;p34"/>
          <p:cNvSpPr/>
          <p:nvPr/>
        </p:nvSpPr>
        <p:spPr>
          <a:xfrm>
            <a:off x="560070" y="5044207"/>
            <a:ext cx="960120" cy="552828"/>
          </a:xfrm>
          <a:prstGeom prst="rect">
            <a:avLst/>
          </a:prstGeom>
          <a:solidFill>
            <a:srgbClr val="8C6A4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3" name="Google Shape;3053;p34"/>
          <p:cNvSpPr txBox="1"/>
          <p:nvPr/>
        </p:nvSpPr>
        <p:spPr>
          <a:xfrm>
            <a:off x="560070" y="5044207"/>
            <a:ext cx="960120" cy="5528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s-CO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Subrasante estabilizada con cal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4" name="Google Shape;3054;p34"/>
          <p:cNvSpPr txBox="1"/>
          <p:nvPr/>
        </p:nvSpPr>
        <p:spPr>
          <a:xfrm>
            <a:off x="1575054" y="5044207"/>
            <a:ext cx="457200" cy="5528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20 cm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55" name="Google Shape;3055;p34"/>
          <p:cNvCxnSpPr/>
          <p:nvPr/>
        </p:nvCxnSpPr>
        <p:spPr>
          <a:xfrm>
            <a:off x="468630" y="5597035"/>
            <a:ext cx="1143000" cy="0"/>
          </a:xfrm>
          <a:prstGeom prst="straightConnector1">
            <a:avLst/>
          </a:prstGeom>
          <a:noFill/>
          <a:ln cap="flat" cmpd="sng" w="12700">
            <a:solidFill>
              <a:srgbClr val="1D2B2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56" name="Google Shape;3056;p34"/>
          <p:cNvSpPr txBox="1"/>
          <p:nvPr/>
        </p:nvSpPr>
        <p:spPr>
          <a:xfrm>
            <a:off x="457200" y="5670187"/>
            <a:ext cx="15773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Espesor total: 48 cm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7" name="Google Shape;3057;p34"/>
          <p:cNvSpPr txBox="1"/>
          <p:nvPr/>
        </p:nvSpPr>
        <p:spPr>
          <a:xfrm>
            <a:off x="2034540" y="3794760"/>
            <a:ext cx="15773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1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Aprobada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8" name="Google Shape;3058;p34"/>
          <p:cNvSpPr/>
          <p:nvPr/>
        </p:nvSpPr>
        <p:spPr>
          <a:xfrm>
            <a:off x="2137410" y="4087368"/>
            <a:ext cx="960120" cy="182880"/>
          </a:xfrm>
          <a:prstGeom prst="rect">
            <a:avLst/>
          </a:prstGeom>
          <a:solidFill>
            <a:srgbClr val="1F2A36"/>
          </a:solidFill>
          <a:ln cap="flat" cmpd="sng" w="12700">
            <a:solidFill>
              <a:srgbClr val="1F2A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9" name="Google Shape;3059;p34"/>
          <p:cNvSpPr txBox="1"/>
          <p:nvPr/>
        </p:nvSpPr>
        <p:spPr>
          <a:xfrm>
            <a:off x="2137410" y="4087368"/>
            <a:ext cx="9601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s-CO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TSD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0" name="Google Shape;3060;p34"/>
          <p:cNvSpPr/>
          <p:nvPr/>
        </p:nvSpPr>
        <p:spPr>
          <a:xfrm>
            <a:off x="2137410" y="4270248"/>
            <a:ext cx="960120" cy="967449"/>
          </a:xfrm>
          <a:prstGeom prst="rect">
            <a:avLst/>
          </a:prstGeom>
          <a:solidFill>
            <a:srgbClr val="D9A44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1" name="Google Shape;3061;p34"/>
          <p:cNvSpPr txBox="1"/>
          <p:nvPr/>
        </p:nvSpPr>
        <p:spPr>
          <a:xfrm>
            <a:off x="2137410" y="4270248"/>
            <a:ext cx="960120" cy="96744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800"/>
              <a:buFont typeface="Calibri"/>
              <a:buNone/>
            </a:pPr>
            <a:r>
              <a:rPr b="1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BGTC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2" name="Google Shape;3062;p34"/>
          <p:cNvSpPr txBox="1"/>
          <p:nvPr/>
        </p:nvSpPr>
        <p:spPr>
          <a:xfrm>
            <a:off x="3152394" y="4270248"/>
            <a:ext cx="457200" cy="96744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19 cm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3" name="Google Shape;3063;p34"/>
          <p:cNvSpPr/>
          <p:nvPr/>
        </p:nvSpPr>
        <p:spPr>
          <a:xfrm>
            <a:off x="2137410" y="5237697"/>
            <a:ext cx="960120" cy="691035"/>
          </a:xfrm>
          <a:prstGeom prst="rect">
            <a:avLst/>
          </a:prstGeom>
          <a:solidFill>
            <a:srgbClr val="F2B98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4" name="Google Shape;3064;p34"/>
          <p:cNvSpPr txBox="1"/>
          <p:nvPr/>
        </p:nvSpPr>
        <p:spPr>
          <a:xfrm>
            <a:off x="2137410" y="5237697"/>
            <a:ext cx="960120" cy="69103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800"/>
              <a:buFont typeface="Calibri"/>
              <a:buNone/>
            </a:pPr>
            <a:r>
              <a:rPr b="1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Subbase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5" name="Google Shape;3065;p34"/>
          <p:cNvSpPr txBox="1"/>
          <p:nvPr/>
        </p:nvSpPr>
        <p:spPr>
          <a:xfrm>
            <a:off x="3152394" y="5237697"/>
            <a:ext cx="457200" cy="6910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15 cm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66" name="Google Shape;3066;p34"/>
          <p:cNvCxnSpPr/>
          <p:nvPr/>
        </p:nvCxnSpPr>
        <p:spPr>
          <a:xfrm>
            <a:off x="2045970" y="5928732"/>
            <a:ext cx="1143000" cy="0"/>
          </a:xfrm>
          <a:prstGeom prst="straightConnector1">
            <a:avLst/>
          </a:prstGeom>
          <a:noFill/>
          <a:ln cap="flat" cmpd="sng" w="12700">
            <a:solidFill>
              <a:srgbClr val="1D2B2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67" name="Google Shape;3067;p34"/>
          <p:cNvSpPr txBox="1"/>
          <p:nvPr/>
        </p:nvSpPr>
        <p:spPr>
          <a:xfrm>
            <a:off x="2137410" y="5956164"/>
            <a:ext cx="960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00"/>
              <a:buFont typeface="Calibri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8" name="Google Shape;3068;p34"/>
          <p:cNvSpPr txBox="1"/>
          <p:nvPr/>
        </p:nvSpPr>
        <p:spPr>
          <a:xfrm>
            <a:off x="2034540" y="6203052"/>
            <a:ext cx="15773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Espesor total: 34 cm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069" name="Google Shape;3069;p34"/>
          <p:cNvGraphicFramePr/>
          <p:nvPr/>
        </p:nvGraphicFramePr>
        <p:xfrm>
          <a:off x="3840480" y="24231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{2219430B-40B1-4F13-8D99-EA5D7966678A}</a:tableStyleId>
              </a:tblPr>
              <a:tblGrid>
                <a:gridCol w="2395725"/>
                <a:gridCol w="1097275"/>
                <a:gridCol w="603500"/>
                <a:gridCol w="1097275"/>
                <a:gridCol w="603500"/>
                <a:gridCol w="237750"/>
                <a:gridCol w="1097275"/>
                <a:gridCol w="758950"/>
              </a:tblGrid>
              <a:tr h="438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Grupo – actividad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Valor contractual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 sobre corredor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Valor proyectado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 sobre corredor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Variación (valor adicional)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 de variación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</a:tr>
              <a:tr h="27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Construcción de alcantarillas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$ 3.686.636.435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17,1 %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$ 16.775.470.571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46,2 %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▲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$ 13.088.834.136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355,0 %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Construcción de cunetas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$ 3.311.409.419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15,4 %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$ 2.447.877.684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6,7 %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950" u="none" cap="none" strike="noStrike">
                          <a:solidFill>
                            <a:srgbClr val="0B5D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▼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0B5D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–$ 863.531.735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0B5D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-26,1 %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27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Construcción de filtros para cunetas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$ 3.295.483.670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15,3 %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$ 3.543.799.428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9,8 %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▲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$ 248.315.758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7,5 %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Construcción de bordillos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$ 510.074.696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2,4 %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$ 499.137.356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1,4 %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950" u="none" cap="none" strike="noStrike">
                          <a:solidFill>
                            <a:srgbClr val="0B5D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▼</a:t>
                      </a:r>
                      <a:endParaRPr sz="1400" u="none" cap="none" strike="noStrike"/>
                    </a:p>
                  </a:txBody>
                  <a:tcPr marT="18300" marB="18300" marR="45725" marL="45725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0B5D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–$ 10.937.340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0B5D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-2,1 %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27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Construcción de disipadores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$ 515.461.855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2,4 %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$ 492.207.079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1,4 %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950" u="none" cap="none" strike="noStrike">
                          <a:solidFill>
                            <a:srgbClr val="0B5D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▼</a:t>
                      </a:r>
                      <a:endParaRPr sz="1400" u="none" cap="none" strike="noStrike"/>
                    </a:p>
                  </a:txBody>
                  <a:tcPr marT="18300" marB="18300" marR="45725" marL="45725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0B5D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–$ 23.254.776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0B5D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-4,5 %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Estabilización con material granular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$ 9.899.293.566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46,0 %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$ 11.516.057.758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31,7 %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▲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$ 1.616.764.192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16,3 %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27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Señalización vial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$ 304.792.410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1,4 %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$ 304.792.410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0,8 %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8300" marB="18300" marR="45725" marL="45725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$ 0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0,0 %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Alternativas constructivas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–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0,0 %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$ 704.535.245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1,9 %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▲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$ 704.535.245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N/A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27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CORREDOR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$ 21.523.152.051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100%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$ 36.283.877.531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100%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▲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+$ 14.760.725.480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68,6 %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</a:tr>
            </a:tbl>
          </a:graphicData>
        </a:graphic>
      </p:graphicFrame>
      <p:sp>
        <p:nvSpPr>
          <p:cNvPr id="3070" name="Google Shape;3070;p34"/>
          <p:cNvSpPr txBox="1"/>
          <p:nvPr/>
        </p:nvSpPr>
        <p:spPr>
          <a:xfrm>
            <a:off x="3840480" y="5413248"/>
            <a:ext cx="78912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261E"/>
              </a:buClr>
              <a:buSzPts val="900"/>
              <a:buFont typeface="Arial"/>
              <a:buNone/>
            </a:pPr>
            <a:r>
              <a:rPr b="0" i="0" lang="es-CO" sz="900" u="none" cap="none" strike="noStrike">
                <a:solidFill>
                  <a:srgbClr val="B3261E"/>
                </a:solidFill>
                <a:latin typeface="Arial"/>
                <a:ea typeface="Arial"/>
                <a:cs typeface="Arial"/>
                <a:sym typeface="Arial"/>
              </a:rPr>
              <a:t>▲</a:t>
            </a: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 Se requiere mayor valor     </a:t>
            </a:r>
            <a:r>
              <a:rPr b="0" i="0" lang="es-CO" sz="900" u="none" cap="none" strike="noStrike">
                <a:solidFill>
                  <a:srgbClr val="0B5D2E"/>
                </a:solidFill>
                <a:latin typeface="Arial"/>
                <a:ea typeface="Arial"/>
                <a:cs typeface="Arial"/>
                <a:sym typeface="Arial"/>
              </a:rPr>
              <a:t>▼</a:t>
            </a: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 Sobra valor     % de variación = (valor proyectado – valor contractual) / valor contractual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1" name="Google Shape;3071;p34"/>
          <p:cNvSpPr/>
          <p:nvPr/>
        </p:nvSpPr>
        <p:spPr>
          <a:xfrm>
            <a:off x="3840480" y="5687568"/>
            <a:ext cx="7891272" cy="850392"/>
          </a:xfrm>
          <a:prstGeom prst="roundRect">
            <a:avLst>
              <a:gd fmla="val 6452" name="adj"/>
            </a:avLst>
          </a:prstGeom>
          <a:solidFill>
            <a:srgbClr val="FFFFFF"/>
          </a:solidFill>
          <a:ln cap="flat" cmpd="sng" w="12700">
            <a:solidFill>
              <a:srgbClr val="9AA7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00" lIns="1000" spcFirstLastPara="1" rIns="1500" wrap="square" tIns="15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100"/>
              <a:buFont typeface="Calibri"/>
              <a:buNone/>
            </a:pPr>
            <a:r>
              <a:rPr b="1" i="0" lang="es-CO" sz="11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Notas: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.png" id="3072" name="Google Shape;3072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78440" y="320040"/>
            <a:ext cx="1371600" cy="6766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7" name="Shape 3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8" name="Google Shape;3078;p35"/>
          <p:cNvSpPr txBox="1"/>
          <p:nvPr/>
        </p:nvSpPr>
        <p:spPr>
          <a:xfrm>
            <a:off x="457200" y="320040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1200"/>
              <a:buFont typeface="Calibri"/>
              <a:buNone/>
            </a:pPr>
            <a:r>
              <a:rPr b="1" i="0" lang="es-CO" sz="1200" u="none" cap="none" strike="noStrike">
                <a:solidFill>
                  <a:srgbClr val="2E7D4F"/>
                </a:solidFill>
                <a:latin typeface="Poppins"/>
                <a:ea typeface="Poppins"/>
                <a:cs typeface="Poppins"/>
                <a:sym typeface="Poppins"/>
              </a:rPr>
              <a:t>INFORME DE EJECUCIÓN  ·  LOTE 5 – SUBREGIÓN SUROESTE</a:t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79" name="Google Shape;3079;p35"/>
          <p:cNvSpPr txBox="1"/>
          <p:nvPr/>
        </p:nvSpPr>
        <p:spPr>
          <a:xfrm>
            <a:off x="457200" y="594360"/>
            <a:ext cx="9692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CO" sz="24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Pueblorrico – San José – Ye a la Bodega – La Bodega (Andes)</a:t>
            </a:r>
            <a:endParaRPr b="0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descr="logo.png" id="3080" name="Google Shape;3080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78440" y="320040"/>
            <a:ext cx="1371600" cy="676656"/>
          </a:xfrm>
          <a:prstGeom prst="rect">
            <a:avLst/>
          </a:prstGeom>
          <a:noFill/>
          <a:ln>
            <a:noFill/>
          </a:ln>
        </p:spPr>
      </p:pic>
      <p:sp>
        <p:nvSpPr>
          <p:cNvPr id="3081" name="Google Shape;3081;p35"/>
          <p:cNvSpPr/>
          <p:nvPr/>
        </p:nvSpPr>
        <p:spPr>
          <a:xfrm>
            <a:off x="457200" y="1234440"/>
            <a:ext cx="1765249" cy="658368"/>
          </a:xfrm>
          <a:prstGeom prst="roundRect">
            <a:avLst>
              <a:gd fmla="val 1111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2" name="Google Shape;3082;p35"/>
          <p:cNvSpPr txBox="1"/>
          <p:nvPr/>
        </p:nvSpPr>
        <p:spPr>
          <a:xfrm>
            <a:off x="566928" y="1289304"/>
            <a:ext cx="154579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50"/>
              <a:buFont typeface="Calibri"/>
              <a:buNone/>
            </a:pPr>
            <a:r>
              <a:rPr b="0" i="0" lang="es-CO" sz="9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Longitud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3" name="Google Shape;3083;p35"/>
          <p:cNvSpPr txBox="1"/>
          <p:nvPr/>
        </p:nvSpPr>
        <p:spPr>
          <a:xfrm>
            <a:off x="566928" y="1453896"/>
            <a:ext cx="154579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22,39 km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4" name="Google Shape;3084;p35"/>
          <p:cNvSpPr/>
          <p:nvPr/>
        </p:nvSpPr>
        <p:spPr>
          <a:xfrm>
            <a:off x="2359609" y="1234440"/>
            <a:ext cx="1765249" cy="658368"/>
          </a:xfrm>
          <a:prstGeom prst="roundRect">
            <a:avLst>
              <a:gd fmla="val 1111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5" name="Google Shape;3085;p35"/>
          <p:cNvSpPr txBox="1"/>
          <p:nvPr/>
        </p:nvSpPr>
        <p:spPr>
          <a:xfrm>
            <a:off x="2469337" y="1289304"/>
            <a:ext cx="154579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50"/>
              <a:buFont typeface="Calibri"/>
              <a:buNone/>
            </a:pPr>
            <a:r>
              <a:rPr b="0" i="0" lang="es-CO" sz="9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Valor total del corredor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6" name="Google Shape;3086;p35"/>
          <p:cNvSpPr txBox="1"/>
          <p:nvPr/>
        </p:nvSpPr>
        <p:spPr>
          <a:xfrm>
            <a:off x="2469337" y="1453896"/>
            <a:ext cx="154579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$ 21.523.152.051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7" name="Google Shape;3087;p35"/>
          <p:cNvSpPr txBox="1"/>
          <p:nvPr/>
        </p:nvSpPr>
        <p:spPr>
          <a:xfrm>
            <a:off x="2469337" y="1700784"/>
            <a:ext cx="1545793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$ 961.284.147</a:t>
            </a: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 por km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8" name="Google Shape;3088;p35"/>
          <p:cNvSpPr/>
          <p:nvPr/>
        </p:nvSpPr>
        <p:spPr>
          <a:xfrm>
            <a:off x="4262018" y="1234440"/>
            <a:ext cx="1765249" cy="658368"/>
          </a:xfrm>
          <a:prstGeom prst="roundRect">
            <a:avLst>
              <a:gd fmla="val 11111" name="adj"/>
            </a:avLst>
          </a:prstGeom>
          <a:solidFill>
            <a:srgbClr val="FBEAEA"/>
          </a:solidFill>
          <a:ln cap="flat" cmpd="sng" w="12700">
            <a:solidFill>
              <a:srgbClr val="FBEA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9" name="Google Shape;3089;p35"/>
          <p:cNvSpPr txBox="1"/>
          <p:nvPr/>
        </p:nvSpPr>
        <p:spPr>
          <a:xfrm>
            <a:off x="4371746" y="1289304"/>
            <a:ext cx="154579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50"/>
              <a:buFont typeface="Calibri"/>
              <a:buNone/>
            </a:pPr>
            <a:r>
              <a:rPr b="0" i="0" lang="es-CO" sz="9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Avance físico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0" name="Google Shape;3090;p35"/>
          <p:cNvSpPr txBox="1"/>
          <p:nvPr/>
        </p:nvSpPr>
        <p:spPr>
          <a:xfrm>
            <a:off x="4371746" y="1453896"/>
            <a:ext cx="154579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261E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B3261E"/>
                </a:solidFill>
                <a:latin typeface="Calibri"/>
                <a:ea typeface="Calibri"/>
                <a:cs typeface="Calibri"/>
                <a:sym typeface="Calibri"/>
              </a:rPr>
              <a:t>13,56 %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1" name="Google Shape;3091;p35"/>
          <p:cNvSpPr txBox="1"/>
          <p:nvPr/>
        </p:nvSpPr>
        <p:spPr>
          <a:xfrm>
            <a:off x="4371746" y="1700784"/>
            <a:ext cx="1545793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00"/>
              <a:buFont typeface="Calibri"/>
              <a:buNone/>
            </a:pP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Frente a 69,8 % del plazo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2" name="Google Shape;3092;p35"/>
          <p:cNvSpPr/>
          <p:nvPr/>
        </p:nvSpPr>
        <p:spPr>
          <a:xfrm>
            <a:off x="6164428" y="1234440"/>
            <a:ext cx="1765249" cy="658368"/>
          </a:xfrm>
          <a:prstGeom prst="roundRect">
            <a:avLst>
              <a:gd fmla="val 1111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3" name="Google Shape;3093;p35"/>
          <p:cNvSpPr txBox="1"/>
          <p:nvPr/>
        </p:nvSpPr>
        <p:spPr>
          <a:xfrm>
            <a:off x="6274156" y="1289304"/>
            <a:ext cx="154579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50"/>
              <a:buFont typeface="Calibri"/>
              <a:buNone/>
            </a:pPr>
            <a:r>
              <a:rPr b="0" i="0" lang="es-CO" sz="9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Avance financiero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4" name="Google Shape;3094;p35"/>
          <p:cNvSpPr txBox="1"/>
          <p:nvPr/>
        </p:nvSpPr>
        <p:spPr>
          <a:xfrm>
            <a:off x="6274156" y="1453896"/>
            <a:ext cx="154579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17,16 %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5" name="Google Shape;3095;p35"/>
          <p:cNvSpPr/>
          <p:nvPr/>
        </p:nvSpPr>
        <p:spPr>
          <a:xfrm>
            <a:off x="8066837" y="1234440"/>
            <a:ext cx="1765249" cy="658368"/>
          </a:xfrm>
          <a:prstGeom prst="roundRect">
            <a:avLst>
              <a:gd fmla="val 1111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6" name="Google Shape;3096;p35"/>
          <p:cNvSpPr txBox="1"/>
          <p:nvPr/>
        </p:nvSpPr>
        <p:spPr>
          <a:xfrm>
            <a:off x="8176565" y="1289304"/>
            <a:ext cx="154579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50"/>
              <a:buFont typeface="Calibri"/>
              <a:buNone/>
            </a:pPr>
            <a:r>
              <a:rPr b="0" i="0" lang="es-CO" sz="9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Plazo transcurrido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7" name="Google Shape;3097;p35"/>
          <p:cNvSpPr txBox="1"/>
          <p:nvPr/>
        </p:nvSpPr>
        <p:spPr>
          <a:xfrm>
            <a:off x="8176565" y="1453896"/>
            <a:ext cx="154579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69,8 %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8" name="Google Shape;3098;p35"/>
          <p:cNvSpPr txBox="1"/>
          <p:nvPr/>
        </p:nvSpPr>
        <p:spPr>
          <a:xfrm>
            <a:off x="8176565" y="1700784"/>
            <a:ext cx="1545793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00"/>
              <a:buFont typeface="Calibri"/>
              <a:buNone/>
            </a:pP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7,7 de 11 meses (al 02/10/2026)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9" name="Google Shape;3099;p35"/>
          <p:cNvSpPr/>
          <p:nvPr/>
        </p:nvSpPr>
        <p:spPr>
          <a:xfrm>
            <a:off x="9969246" y="1234440"/>
            <a:ext cx="1765249" cy="658368"/>
          </a:xfrm>
          <a:prstGeom prst="roundRect">
            <a:avLst>
              <a:gd fmla="val 1111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0" name="Google Shape;3100;p35"/>
          <p:cNvSpPr txBox="1"/>
          <p:nvPr/>
        </p:nvSpPr>
        <p:spPr>
          <a:xfrm>
            <a:off x="10078974" y="1289304"/>
            <a:ext cx="1545793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Inicio: </a:t>
            </a: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11/02/2026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Terminación: </a:t>
            </a: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11/01/2027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Corte: </a:t>
            </a: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25/09/2026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1" name="Google Shape;3101;p35"/>
          <p:cNvSpPr txBox="1"/>
          <p:nvPr/>
        </p:nvSpPr>
        <p:spPr>
          <a:xfrm>
            <a:off x="457200" y="1956816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1000"/>
              <a:buFont typeface="Calibri"/>
              <a:buNone/>
            </a:pPr>
            <a:r>
              <a:rPr b="1" i="0" lang="es-CO" sz="10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AVANCE POR ABSCISA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02" name="Google Shape;3102;p35"/>
          <p:cNvCxnSpPr/>
          <p:nvPr/>
        </p:nvCxnSpPr>
        <p:spPr>
          <a:xfrm>
            <a:off x="2103120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03" name="Google Shape;3103;p35"/>
          <p:cNvCxnSpPr/>
          <p:nvPr/>
        </p:nvCxnSpPr>
        <p:spPr>
          <a:xfrm>
            <a:off x="2465222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04" name="Google Shape;3104;p35"/>
          <p:cNvCxnSpPr/>
          <p:nvPr/>
        </p:nvCxnSpPr>
        <p:spPr>
          <a:xfrm>
            <a:off x="2827325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05" name="Google Shape;3105;p35"/>
          <p:cNvCxnSpPr/>
          <p:nvPr/>
        </p:nvCxnSpPr>
        <p:spPr>
          <a:xfrm>
            <a:off x="3189427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06" name="Google Shape;3106;p35"/>
          <p:cNvCxnSpPr/>
          <p:nvPr/>
        </p:nvCxnSpPr>
        <p:spPr>
          <a:xfrm>
            <a:off x="3551530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07" name="Google Shape;3107;p35"/>
          <p:cNvCxnSpPr/>
          <p:nvPr/>
        </p:nvCxnSpPr>
        <p:spPr>
          <a:xfrm>
            <a:off x="3913632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08" name="Google Shape;3108;p35"/>
          <p:cNvCxnSpPr/>
          <p:nvPr/>
        </p:nvCxnSpPr>
        <p:spPr>
          <a:xfrm>
            <a:off x="4275734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09" name="Google Shape;3109;p35"/>
          <p:cNvCxnSpPr/>
          <p:nvPr/>
        </p:nvCxnSpPr>
        <p:spPr>
          <a:xfrm>
            <a:off x="4637837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10" name="Google Shape;3110;p35"/>
          <p:cNvCxnSpPr/>
          <p:nvPr/>
        </p:nvCxnSpPr>
        <p:spPr>
          <a:xfrm>
            <a:off x="4999939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11" name="Google Shape;3111;p35"/>
          <p:cNvCxnSpPr/>
          <p:nvPr/>
        </p:nvCxnSpPr>
        <p:spPr>
          <a:xfrm>
            <a:off x="5362042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12" name="Google Shape;3112;p35"/>
          <p:cNvCxnSpPr/>
          <p:nvPr/>
        </p:nvCxnSpPr>
        <p:spPr>
          <a:xfrm>
            <a:off x="5724144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13" name="Google Shape;3113;p35"/>
          <p:cNvCxnSpPr/>
          <p:nvPr/>
        </p:nvCxnSpPr>
        <p:spPr>
          <a:xfrm>
            <a:off x="6086246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14" name="Google Shape;3114;p35"/>
          <p:cNvCxnSpPr/>
          <p:nvPr/>
        </p:nvCxnSpPr>
        <p:spPr>
          <a:xfrm>
            <a:off x="6448349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15" name="Google Shape;3115;p35"/>
          <p:cNvCxnSpPr/>
          <p:nvPr/>
        </p:nvCxnSpPr>
        <p:spPr>
          <a:xfrm>
            <a:off x="6810451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16" name="Google Shape;3116;p35"/>
          <p:cNvCxnSpPr/>
          <p:nvPr/>
        </p:nvCxnSpPr>
        <p:spPr>
          <a:xfrm>
            <a:off x="7172554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17" name="Google Shape;3117;p35"/>
          <p:cNvCxnSpPr/>
          <p:nvPr/>
        </p:nvCxnSpPr>
        <p:spPr>
          <a:xfrm>
            <a:off x="7534656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18" name="Google Shape;3118;p35"/>
          <p:cNvCxnSpPr/>
          <p:nvPr/>
        </p:nvCxnSpPr>
        <p:spPr>
          <a:xfrm>
            <a:off x="7896758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19" name="Google Shape;3119;p35"/>
          <p:cNvCxnSpPr/>
          <p:nvPr/>
        </p:nvCxnSpPr>
        <p:spPr>
          <a:xfrm>
            <a:off x="8258861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20" name="Google Shape;3120;p35"/>
          <p:cNvCxnSpPr/>
          <p:nvPr/>
        </p:nvCxnSpPr>
        <p:spPr>
          <a:xfrm>
            <a:off x="8620963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21" name="Google Shape;3121;p35"/>
          <p:cNvCxnSpPr/>
          <p:nvPr/>
        </p:nvCxnSpPr>
        <p:spPr>
          <a:xfrm>
            <a:off x="8983066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22" name="Google Shape;3122;p35"/>
          <p:cNvCxnSpPr/>
          <p:nvPr/>
        </p:nvCxnSpPr>
        <p:spPr>
          <a:xfrm>
            <a:off x="9345168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23" name="Google Shape;3123;p35"/>
          <p:cNvCxnSpPr/>
          <p:nvPr/>
        </p:nvCxnSpPr>
        <p:spPr>
          <a:xfrm>
            <a:off x="9707270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24" name="Google Shape;3124;p35"/>
          <p:cNvCxnSpPr/>
          <p:nvPr/>
        </p:nvCxnSpPr>
        <p:spPr>
          <a:xfrm>
            <a:off x="10069373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25" name="Google Shape;3125;p35"/>
          <p:cNvCxnSpPr/>
          <p:nvPr/>
        </p:nvCxnSpPr>
        <p:spPr>
          <a:xfrm>
            <a:off x="10431475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26" name="Google Shape;3126;p35"/>
          <p:cNvCxnSpPr/>
          <p:nvPr/>
        </p:nvCxnSpPr>
        <p:spPr>
          <a:xfrm>
            <a:off x="10793578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27" name="Google Shape;3127;p35"/>
          <p:cNvCxnSpPr/>
          <p:nvPr/>
        </p:nvCxnSpPr>
        <p:spPr>
          <a:xfrm>
            <a:off x="11155680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28" name="Google Shape;3128;p35"/>
          <p:cNvSpPr txBox="1"/>
          <p:nvPr/>
        </p:nvSpPr>
        <p:spPr>
          <a:xfrm>
            <a:off x="1874520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9" name="Google Shape;3129;p35"/>
          <p:cNvSpPr txBox="1"/>
          <p:nvPr/>
        </p:nvSpPr>
        <p:spPr>
          <a:xfrm>
            <a:off x="2598725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0" name="Google Shape;3130;p35"/>
          <p:cNvSpPr txBox="1"/>
          <p:nvPr/>
        </p:nvSpPr>
        <p:spPr>
          <a:xfrm>
            <a:off x="3322930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K4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1" name="Google Shape;3131;p35"/>
          <p:cNvSpPr txBox="1"/>
          <p:nvPr/>
        </p:nvSpPr>
        <p:spPr>
          <a:xfrm>
            <a:off x="4047134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2" name="Google Shape;3132;p35"/>
          <p:cNvSpPr txBox="1"/>
          <p:nvPr/>
        </p:nvSpPr>
        <p:spPr>
          <a:xfrm>
            <a:off x="4771339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K8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3" name="Google Shape;3133;p35"/>
          <p:cNvSpPr txBox="1"/>
          <p:nvPr/>
        </p:nvSpPr>
        <p:spPr>
          <a:xfrm>
            <a:off x="5495544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K10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4" name="Google Shape;3134;p35"/>
          <p:cNvSpPr txBox="1"/>
          <p:nvPr/>
        </p:nvSpPr>
        <p:spPr>
          <a:xfrm>
            <a:off x="6219749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K12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5" name="Google Shape;3135;p35"/>
          <p:cNvSpPr txBox="1"/>
          <p:nvPr/>
        </p:nvSpPr>
        <p:spPr>
          <a:xfrm>
            <a:off x="6943954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K14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6" name="Google Shape;3136;p35"/>
          <p:cNvSpPr txBox="1"/>
          <p:nvPr/>
        </p:nvSpPr>
        <p:spPr>
          <a:xfrm>
            <a:off x="7668158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K16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7" name="Google Shape;3137;p35"/>
          <p:cNvSpPr txBox="1"/>
          <p:nvPr/>
        </p:nvSpPr>
        <p:spPr>
          <a:xfrm>
            <a:off x="8392363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K18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8" name="Google Shape;3138;p35"/>
          <p:cNvSpPr txBox="1"/>
          <p:nvPr/>
        </p:nvSpPr>
        <p:spPr>
          <a:xfrm>
            <a:off x="9116568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K20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9" name="Google Shape;3139;p35"/>
          <p:cNvSpPr txBox="1"/>
          <p:nvPr/>
        </p:nvSpPr>
        <p:spPr>
          <a:xfrm>
            <a:off x="9840773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K21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0" name="Google Shape;3140;p35"/>
          <p:cNvSpPr txBox="1"/>
          <p:nvPr/>
        </p:nvSpPr>
        <p:spPr>
          <a:xfrm>
            <a:off x="10835640" y="2139696"/>
            <a:ext cx="54864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K22.39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1" name="Google Shape;3141;p35"/>
          <p:cNvSpPr/>
          <p:nvPr/>
        </p:nvSpPr>
        <p:spPr>
          <a:xfrm>
            <a:off x="2103120" y="2359152"/>
            <a:ext cx="9052560" cy="73152"/>
          </a:xfrm>
          <a:prstGeom prst="rect">
            <a:avLst/>
          </a:prstGeom>
          <a:solidFill>
            <a:srgbClr val="1F2A36"/>
          </a:solidFill>
          <a:ln cap="flat" cmpd="sng" w="12700">
            <a:solidFill>
              <a:srgbClr val="1F2A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42" name="Google Shape;3142;p35"/>
          <p:cNvCxnSpPr/>
          <p:nvPr/>
        </p:nvCxnSpPr>
        <p:spPr>
          <a:xfrm>
            <a:off x="2139696" y="2395728"/>
            <a:ext cx="8979408" cy="0"/>
          </a:xfrm>
          <a:prstGeom prst="straightConnector1">
            <a:avLst/>
          </a:prstGeom>
          <a:noFill/>
          <a:ln cap="flat" cmpd="sng" w="9525">
            <a:solidFill>
              <a:srgbClr val="F2C94C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143" name="Google Shape;3143;p35"/>
          <p:cNvCxnSpPr/>
          <p:nvPr/>
        </p:nvCxnSpPr>
        <p:spPr>
          <a:xfrm>
            <a:off x="731520" y="2487168"/>
            <a:ext cx="0" cy="338328"/>
          </a:xfrm>
          <a:prstGeom prst="straightConnector1">
            <a:avLst/>
          </a:prstGeom>
          <a:noFill/>
          <a:ln cap="flat" cmpd="sng" w="19050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44" name="Google Shape;3144;p35"/>
          <p:cNvSpPr txBox="1"/>
          <p:nvPr/>
        </p:nvSpPr>
        <p:spPr>
          <a:xfrm rot="-5400000">
            <a:off x="260604" y="2574036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700"/>
              <a:buFont typeface="Calibri"/>
              <a:buNone/>
            </a:pPr>
            <a:r>
              <a:rPr b="1" i="0" lang="es-CO" sz="7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CAMPO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5" name="Google Shape;3145;p35"/>
          <p:cNvSpPr txBox="1"/>
          <p:nvPr/>
        </p:nvSpPr>
        <p:spPr>
          <a:xfrm>
            <a:off x="777240" y="2487168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Topografía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6" name="Google Shape;3146;p35"/>
          <p:cNvSpPr/>
          <p:nvPr/>
        </p:nvSpPr>
        <p:spPr>
          <a:xfrm>
            <a:off x="2103120" y="2487168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7" name="Google Shape;3147;p35"/>
          <p:cNvSpPr/>
          <p:nvPr/>
        </p:nvSpPr>
        <p:spPr>
          <a:xfrm>
            <a:off x="2103120" y="2487168"/>
            <a:ext cx="9052560" cy="155448"/>
          </a:xfrm>
          <a:prstGeom prst="rect">
            <a:avLst/>
          </a:prstGeom>
          <a:solidFill>
            <a:srgbClr val="2E7D4F"/>
          </a:solidFill>
          <a:ln cap="flat" cmpd="sng" w="9525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8" name="Google Shape;3148;p35"/>
          <p:cNvSpPr txBox="1"/>
          <p:nvPr/>
        </p:nvSpPr>
        <p:spPr>
          <a:xfrm>
            <a:off x="11201400" y="2487168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100 %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9" name="Google Shape;3149;p35"/>
          <p:cNvSpPr txBox="1"/>
          <p:nvPr/>
        </p:nvSpPr>
        <p:spPr>
          <a:xfrm>
            <a:off x="777240" y="2670048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Apiques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0" name="Google Shape;3150;p35"/>
          <p:cNvSpPr/>
          <p:nvPr/>
        </p:nvSpPr>
        <p:spPr>
          <a:xfrm>
            <a:off x="2103120" y="2670048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1" name="Google Shape;3151;p35"/>
          <p:cNvSpPr/>
          <p:nvPr/>
        </p:nvSpPr>
        <p:spPr>
          <a:xfrm>
            <a:off x="2103120" y="2670048"/>
            <a:ext cx="9052560" cy="155448"/>
          </a:xfrm>
          <a:prstGeom prst="rect">
            <a:avLst/>
          </a:prstGeom>
          <a:solidFill>
            <a:srgbClr val="2E7D4F"/>
          </a:solidFill>
          <a:ln cap="flat" cmpd="sng" w="9525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2" name="Google Shape;3152;p35"/>
          <p:cNvSpPr txBox="1"/>
          <p:nvPr/>
        </p:nvSpPr>
        <p:spPr>
          <a:xfrm>
            <a:off x="11201400" y="2670048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100 %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53" name="Google Shape;3153;p35"/>
          <p:cNvCxnSpPr/>
          <p:nvPr/>
        </p:nvCxnSpPr>
        <p:spPr>
          <a:xfrm>
            <a:off x="731520" y="2953512"/>
            <a:ext cx="0" cy="466344"/>
          </a:xfrm>
          <a:prstGeom prst="straightConnector1">
            <a:avLst/>
          </a:prstGeom>
          <a:noFill/>
          <a:ln cap="flat" cmpd="sng" w="19050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54" name="Google Shape;3154;p35"/>
          <p:cNvSpPr txBox="1"/>
          <p:nvPr/>
        </p:nvSpPr>
        <p:spPr>
          <a:xfrm rot="-5400000">
            <a:off x="260604" y="3104388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700"/>
              <a:buFont typeface="Calibri"/>
              <a:buNone/>
            </a:pPr>
            <a:r>
              <a:rPr b="1" i="0" lang="es-CO" sz="7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ESTRUCTURA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5" name="Google Shape;3155;p35"/>
          <p:cNvSpPr txBox="1"/>
          <p:nvPr/>
        </p:nvSpPr>
        <p:spPr>
          <a:xfrm>
            <a:off x="777240" y="2953512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Rodadura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6" name="Google Shape;3156;p35"/>
          <p:cNvSpPr/>
          <p:nvPr/>
        </p:nvSpPr>
        <p:spPr>
          <a:xfrm>
            <a:off x="2103120" y="2953512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7" name="Google Shape;3157;p35"/>
          <p:cNvSpPr txBox="1"/>
          <p:nvPr/>
        </p:nvSpPr>
        <p:spPr>
          <a:xfrm>
            <a:off x="11201400" y="2953512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8" name="Google Shape;3158;p35"/>
          <p:cNvSpPr txBox="1"/>
          <p:nvPr/>
        </p:nvSpPr>
        <p:spPr>
          <a:xfrm>
            <a:off x="777240" y="3108960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Capa granular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9" name="Google Shape;3159;p35"/>
          <p:cNvSpPr/>
          <p:nvPr/>
        </p:nvSpPr>
        <p:spPr>
          <a:xfrm>
            <a:off x="2103120" y="3108960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0" name="Google Shape;3160;p35"/>
          <p:cNvSpPr txBox="1"/>
          <p:nvPr/>
        </p:nvSpPr>
        <p:spPr>
          <a:xfrm>
            <a:off x="11201400" y="3108960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1,0 %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1" name="Google Shape;3161;p35"/>
          <p:cNvSpPr txBox="1"/>
          <p:nvPr/>
        </p:nvSpPr>
        <p:spPr>
          <a:xfrm>
            <a:off x="777240" y="3264408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Subrasante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2" name="Google Shape;3162;p35"/>
          <p:cNvSpPr/>
          <p:nvPr/>
        </p:nvSpPr>
        <p:spPr>
          <a:xfrm>
            <a:off x="2103120" y="3264408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3" name="Google Shape;3163;p35"/>
          <p:cNvSpPr txBox="1"/>
          <p:nvPr/>
        </p:nvSpPr>
        <p:spPr>
          <a:xfrm>
            <a:off x="11201400" y="3264408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64" name="Google Shape;3164;p35"/>
          <p:cNvCxnSpPr/>
          <p:nvPr/>
        </p:nvCxnSpPr>
        <p:spPr>
          <a:xfrm>
            <a:off x="731520" y="3511296"/>
            <a:ext cx="0" cy="521208"/>
          </a:xfrm>
          <a:prstGeom prst="straightConnector1">
            <a:avLst/>
          </a:prstGeom>
          <a:noFill/>
          <a:ln cap="flat" cmpd="sng" w="19050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65" name="Google Shape;3165;p35"/>
          <p:cNvSpPr txBox="1"/>
          <p:nvPr/>
        </p:nvSpPr>
        <p:spPr>
          <a:xfrm rot="-5400000">
            <a:off x="260604" y="3689604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700"/>
              <a:buFont typeface="Calibri"/>
              <a:buNone/>
            </a:pPr>
            <a:r>
              <a:rPr b="1" i="0" lang="es-CO" sz="7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DRENAJE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6" name="Google Shape;3166;p35"/>
          <p:cNvSpPr txBox="1"/>
          <p:nvPr/>
        </p:nvSpPr>
        <p:spPr>
          <a:xfrm>
            <a:off x="777240" y="3511296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Cunetas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7" name="Google Shape;3167;p35"/>
          <p:cNvSpPr/>
          <p:nvPr/>
        </p:nvSpPr>
        <p:spPr>
          <a:xfrm>
            <a:off x="2103120" y="3511296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8" name="Google Shape;3168;p35"/>
          <p:cNvSpPr txBox="1"/>
          <p:nvPr/>
        </p:nvSpPr>
        <p:spPr>
          <a:xfrm>
            <a:off x="11201400" y="3511296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9" name="Google Shape;3169;p35"/>
          <p:cNvSpPr txBox="1"/>
          <p:nvPr/>
        </p:nvSpPr>
        <p:spPr>
          <a:xfrm>
            <a:off x="777240" y="3694176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Filtros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0" name="Google Shape;3170;p35"/>
          <p:cNvSpPr txBox="1"/>
          <p:nvPr/>
        </p:nvSpPr>
        <p:spPr>
          <a:xfrm>
            <a:off x="1920240" y="3694176"/>
            <a:ext cx="137160" cy="777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700"/>
              <a:buFont typeface="Calibri"/>
              <a:buNone/>
            </a:pPr>
            <a:r>
              <a:rPr b="0" i="0" lang="es-CO" sz="7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1" name="Google Shape;3171;p35"/>
          <p:cNvSpPr txBox="1"/>
          <p:nvPr/>
        </p:nvSpPr>
        <p:spPr>
          <a:xfrm>
            <a:off x="1920240" y="3771900"/>
            <a:ext cx="137160" cy="777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700"/>
              <a:buFont typeface="Calibri"/>
              <a:buNone/>
            </a:pPr>
            <a:r>
              <a:rPr b="0" i="0" lang="es-CO" sz="7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2" name="Google Shape;3172;p35"/>
          <p:cNvSpPr/>
          <p:nvPr/>
        </p:nvSpPr>
        <p:spPr>
          <a:xfrm>
            <a:off x="2103120" y="3694176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73" name="Google Shape;3173;p35"/>
          <p:cNvCxnSpPr/>
          <p:nvPr/>
        </p:nvCxnSpPr>
        <p:spPr>
          <a:xfrm>
            <a:off x="2103120" y="3771900"/>
            <a:ext cx="9052560" cy="0"/>
          </a:xfrm>
          <a:prstGeom prst="straightConnector1">
            <a:avLst/>
          </a:prstGeom>
          <a:noFill/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74" name="Google Shape;3174;p35"/>
          <p:cNvSpPr txBox="1"/>
          <p:nvPr/>
        </p:nvSpPr>
        <p:spPr>
          <a:xfrm>
            <a:off x="11201400" y="3694176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18 %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5" name="Google Shape;3175;p35"/>
          <p:cNvSpPr txBox="1"/>
          <p:nvPr/>
        </p:nvSpPr>
        <p:spPr>
          <a:xfrm>
            <a:off x="777240" y="3877056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Alcantarillas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6" name="Google Shape;3176;p35"/>
          <p:cNvSpPr/>
          <p:nvPr/>
        </p:nvSpPr>
        <p:spPr>
          <a:xfrm>
            <a:off x="2103120" y="3877056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7" name="Google Shape;3177;p35"/>
          <p:cNvSpPr txBox="1"/>
          <p:nvPr/>
        </p:nvSpPr>
        <p:spPr>
          <a:xfrm>
            <a:off x="11201400" y="3877056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39 %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8" name="Google Shape;3178;p35"/>
          <p:cNvSpPr txBox="1"/>
          <p:nvPr/>
        </p:nvSpPr>
        <p:spPr>
          <a:xfrm>
            <a:off x="457200" y="4078224"/>
            <a:ext cx="11277295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D9A6"/>
              </a:buClr>
              <a:buSzPts val="800"/>
              <a:buFont typeface="Calibri"/>
              <a:buNone/>
            </a:pPr>
            <a:r>
              <a:rPr b="0" i="0" lang="es-CO" sz="800" u="none" cap="none" strike="noStrike">
                <a:solidFill>
                  <a:srgbClr val="EBD9A6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Natural    </a:t>
            </a:r>
            <a:r>
              <a:rPr b="0" i="0" lang="es-CO" sz="800" u="none" cap="none" strike="noStrike">
                <a:solidFill>
                  <a:srgbClr val="8C6A4F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Cal    </a:t>
            </a:r>
            <a:r>
              <a:rPr b="0" i="0" lang="es-CO" sz="800" u="none" cap="none" strike="noStrike">
                <a:solidFill>
                  <a:srgbClr val="D9A441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Cemento    </a:t>
            </a:r>
            <a:r>
              <a:rPr b="0" i="0" lang="es-CO" sz="800" u="none" cap="none" strike="noStrike">
                <a:solidFill>
                  <a:srgbClr val="1F2A36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TSD    </a:t>
            </a:r>
            <a:r>
              <a:rPr b="0" i="0" lang="es-CO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MDC-19    </a:t>
            </a:r>
            <a:r>
              <a:rPr b="0" i="0" lang="es-CO" sz="8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Ejecutado    </a:t>
            </a:r>
            <a:r>
              <a:rPr b="0" i="0" lang="es-CO" sz="800" u="none" cap="none" strike="noStrike">
                <a:solidFill>
                  <a:srgbClr val="A9C7B3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Limpieza alcantarillas    </a:t>
            </a:r>
            <a:r>
              <a:rPr b="0" i="0" lang="es-CO" sz="800" u="none" cap="none" strike="noStrike">
                <a:solidFill>
                  <a:srgbClr val="2F6FB0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Alcantarilla nueva    </a:t>
            </a:r>
            <a:r>
              <a:rPr b="0" i="0" lang="es-CO" sz="800" u="none" cap="none" strike="noStrike">
                <a:solidFill>
                  <a:srgbClr val="E07B24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Reemplazada    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9" name="Google Shape;3179;p35"/>
          <p:cNvSpPr txBox="1"/>
          <p:nvPr/>
        </p:nvSpPr>
        <p:spPr>
          <a:xfrm>
            <a:off x="457200" y="4078224"/>
            <a:ext cx="5760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00"/>
              <a:buFont typeface="Calibri"/>
              <a:buNone/>
            </a:pP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Ubicación de filtros y estabilización asumida desde K0+000 · lado de filtros no reportado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0" name="Google Shape;3180;p35"/>
          <p:cNvSpPr txBox="1"/>
          <p:nvPr/>
        </p:nvSpPr>
        <p:spPr>
          <a:xfrm>
            <a:off x="457200" y="4301688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1000"/>
              <a:buFont typeface="Calibri"/>
              <a:buNone/>
            </a:pPr>
            <a:r>
              <a:rPr b="1" i="0" lang="es-CO" sz="10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AVANCE POR ACTIVIDAD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1" name="Google Shape;3181;p35"/>
          <p:cNvSpPr txBox="1"/>
          <p:nvPr/>
        </p:nvSpPr>
        <p:spPr>
          <a:xfrm>
            <a:off x="457200" y="4758888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Construcción alcantarilla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2" name="Google Shape;3182;p35"/>
          <p:cNvSpPr txBox="1"/>
          <p:nvPr/>
        </p:nvSpPr>
        <p:spPr>
          <a:xfrm>
            <a:off x="457200" y="4960056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Construcción cuneta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3" name="Google Shape;3183;p35"/>
          <p:cNvSpPr txBox="1"/>
          <p:nvPr/>
        </p:nvSpPr>
        <p:spPr>
          <a:xfrm>
            <a:off x="457200" y="5161224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Construcción filtro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4" name="Google Shape;3184;p35"/>
          <p:cNvSpPr txBox="1"/>
          <p:nvPr/>
        </p:nvSpPr>
        <p:spPr>
          <a:xfrm>
            <a:off x="457200" y="5362392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Construcción bordillos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5" name="Google Shape;3185;p35"/>
          <p:cNvSpPr txBox="1"/>
          <p:nvPr/>
        </p:nvSpPr>
        <p:spPr>
          <a:xfrm>
            <a:off x="457200" y="5563560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Estabilización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6" name="Google Shape;3186;p35"/>
          <p:cNvSpPr txBox="1"/>
          <p:nvPr/>
        </p:nvSpPr>
        <p:spPr>
          <a:xfrm>
            <a:off x="457200" y="5764728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Señalización vial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7" name="Google Shape;3187;p35"/>
          <p:cNvSpPr txBox="1"/>
          <p:nvPr/>
        </p:nvSpPr>
        <p:spPr>
          <a:xfrm>
            <a:off x="2651760" y="4539432"/>
            <a:ext cx="2926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-CO" sz="800" u="none" cap="none" strike="noStrike">
                <a:solidFill>
                  <a:srgbClr val="192D23"/>
                </a:solidFill>
                <a:latin typeface="Arial"/>
                <a:ea typeface="Arial"/>
                <a:cs typeface="Arial"/>
                <a:sym typeface="Arial"/>
              </a:rPr>
              <a:t>Presupuestada  </a:t>
            </a:r>
            <a:r>
              <a:rPr b="0" i="0" lang="es-CO" sz="800" u="none" cap="none" strike="noStrike">
                <a:solidFill>
                  <a:srgbClr val="A9C7B3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r>
              <a:rPr b="0" i="0" lang="es-CO" sz="800" u="none" cap="none" strike="noStrike">
                <a:solidFill>
                  <a:srgbClr val="192D23"/>
                </a:solidFill>
                <a:latin typeface="Arial"/>
                <a:ea typeface="Arial"/>
                <a:cs typeface="Arial"/>
                <a:sym typeface="Arial"/>
              </a:rPr>
              <a:t>    Real  </a:t>
            </a:r>
            <a:r>
              <a:rPr b="0" i="0" lang="es-CO" sz="800" u="none" cap="none" strike="noStrike">
                <a:solidFill>
                  <a:srgbClr val="2E7D4F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8" name="Google Shape;3188;p35"/>
          <p:cNvSpPr/>
          <p:nvPr/>
        </p:nvSpPr>
        <p:spPr>
          <a:xfrm>
            <a:off x="2551176" y="4777175"/>
            <a:ext cx="4096512" cy="68580"/>
          </a:xfrm>
          <a:prstGeom prst="rect">
            <a:avLst/>
          </a:prstGeom>
          <a:solidFill>
            <a:srgbClr val="A9C7B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9" name="Google Shape;3189;p35"/>
          <p:cNvSpPr/>
          <p:nvPr/>
        </p:nvSpPr>
        <p:spPr>
          <a:xfrm>
            <a:off x="2551176" y="4854900"/>
            <a:ext cx="1517226" cy="6858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0" name="Google Shape;3190;p35"/>
          <p:cNvSpPr/>
          <p:nvPr/>
        </p:nvSpPr>
        <p:spPr>
          <a:xfrm>
            <a:off x="2551176" y="4978344"/>
            <a:ext cx="4096512" cy="68580"/>
          </a:xfrm>
          <a:prstGeom prst="rect">
            <a:avLst/>
          </a:prstGeom>
          <a:solidFill>
            <a:srgbClr val="A9C7B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1" name="Google Shape;3191;p35"/>
          <p:cNvSpPr/>
          <p:nvPr/>
        </p:nvSpPr>
        <p:spPr>
          <a:xfrm>
            <a:off x="2551176" y="5056068"/>
            <a:ext cx="458809" cy="6858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2" name="Google Shape;3192;p35"/>
          <p:cNvSpPr/>
          <p:nvPr/>
        </p:nvSpPr>
        <p:spPr>
          <a:xfrm>
            <a:off x="2551176" y="5179512"/>
            <a:ext cx="4096512" cy="68580"/>
          </a:xfrm>
          <a:prstGeom prst="rect">
            <a:avLst/>
          </a:prstGeom>
          <a:solidFill>
            <a:srgbClr val="A9C7B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3" name="Google Shape;3193;p35"/>
          <p:cNvSpPr/>
          <p:nvPr/>
        </p:nvSpPr>
        <p:spPr>
          <a:xfrm>
            <a:off x="2551176" y="5257236"/>
            <a:ext cx="4096512" cy="6858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4" name="Google Shape;3194;p35"/>
          <p:cNvSpPr/>
          <p:nvPr/>
        </p:nvSpPr>
        <p:spPr>
          <a:xfrm>
            <a:off x="2551176" y="5380679"/>
            <a:ext cx="2731008" cy="68580"/>
          </a:xfrm>
          <a:prstGeom prst="rect">
            <a:avLst/>
          </a:prstGeom>
          <a:solidFill>
            <a:srgbClr val="A9C7B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5" name="Google Shape;3195;p35"/>
          <p:cNvSpPr/>
          <p:nvPr/>
        </p:nvSpPr>
        <p:spPr>
          <a:xfrm>
            <a:off x="2551176" y="5458404"/>
            <a:ext cx="4096512" cy="6858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6" name="Google Shape;3196;p35"/>
          <p:cNvSpPr/>
          <p:nvPr/>
        </p:nvSpPr>
        <p:spPr>
          <a:xfrm>
            <a:off x="2551176" y="5581848"/>
            <a:ext cx="4096512" cy="68580"/>
          </a:xfrm>
          <a:prstGeom prst="rect">
            <a:avLst/>
          </a:prstGeom>
          <a:solidFill>
            <a:srgbClr val="A9C7B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7" name="Google Shape;3197;p35"/>
          <p:cNvSpPr/>
          <p:nvPr/>
        </p:nvSpPr>
        <p:spPr>
          <a:xfrm>
            <a:off x="2551176" y="5659572"/>
            <a:ext cx="4096512" cy="6858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8" name="Google Shape;3198;p35"/>
          <p:cNvSpPr/>
          <p:nvPr/>
        </p:nvSpPr>
        <p:spPr>
          <a:xfrm>
            <a:off x="2551176" y="5783016"/>
            <a:ext cx="4096512" cy="68580"/>
          </a:xfrm>
          <a:prstGeom prst="rect">
            <a:avLst/>
          </a:prstGeom>
          <a:solidFill>
            <a:srgbClr val="A9C7B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9" name="Google Shape;3199;p35"/>
          <p:cNvSpPr/>
          <p:nvPr/>
        </p:nvSpPr>
        <p:spPr>
          <a:xfrm>
            <a:off x="2551176" y="5860740"/>
            <a:ext cx="4096512" cy="6858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0" name="Google Shape;3200;p35"/>
          <p:cNvSpPr txBox="1"/>
          <p:nvPr/>
        </p:nvSpPr>
        <p:spPr>
          <a:xfrm>
            <a:off x="457200" y="6400000"/>
            <a:ext cx="5000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s-CO" sz="9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TIEMPO TRANSCURRIDO DEL PLAZO CONTRACTUAL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1" name="Google Shape;3201;p35"/>
          <p:cNvSpPr txBox="1"/>
          <p:nvPr/>
        </p:nvSpPr>
        <p:spPr>
          <a:xfrm>
            <a:off x="5000000" y="6400000"/>
            <a:ext cx="6734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Inicio: </a:t>
            </a:r>
            <a:r>
              <a:rPr b="1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11/02/2026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   ·   Terminación: </a:t>
            </a:r>
            <a:r>
              <a:rPr b="1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11/01/2027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   ·   Al: </a:t>
            </a:r>
            <a:r>
              <a:rPr b="1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02/10/2026</a:t>
            </a: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   ·   233 de 334 días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2" name="Google Shape;3202;p35"/>
          <p:cNvSpPr/>
          <p:nvPr/>
        </p:nvSpPr>
        <p:spPr>
          <a:xfrm>
            <a:off x="457200" y="6598920"/>
            <a:ext cx="11277600" cy="164592"/>
          </a:xfrm>
          <a:prstGeom prst="roundRect">
            <a:avLst>
              <a:gd fmla="val 50000" name="adj"/>
            </a:avLst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3" name="Google Shape;3203;p35"/>
          <p:cNvSpPr/>
          <p:nvPr/>
        </p:nvSpPr>
        <p:spPr>
          <a:xfrm>
            <a:off x="457200" y="6598920"/>
            <a:ext cx="7867307" cy="164592"/>
          </a:xfrm>
          <a:prstGeom prst="roundRect">
            <a:avLst>
              <a:gd fmla="val 50000" name="adj"/>
            </a:avLst>
          </a:prstGeom>
          <a:solidFill>
            <a:srgbClr val="2E7D4F"/>
          </a:solidFill>
          <a:ln cap="flat" cmpd="sng" w="9525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s-CO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69,8 %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04" name="Google Shape;3204;p35"/>
          <p:cNvCxnSpPr/>
          <p:nvPr/>
        </p:nvCxnSpPr>
        <p:spPr>
          <a:xfrm>
            <a:off x="1064974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05" name="Google Shape;3205;p35"/>
          <p:cNvCxnSpPr/>
          <p:nvPr/>
        </p:nvCxnSpPr>
        <p:spPr>
          <a:xfrm>
            <a:off x="2111698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06" name="Google Shape;3206;p35"/>
          <p:cNvCxnSpPr/>
          <p:nvPr/>
        </p:nvCxnSpPr>
        <p:spPr>
          <a:xfrm>
            <a:off x="3124656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07" name="Google Shape;3207;p35"/>
          <p:cNvCxnSpPr/>
          <p:nvPr/>
        </p:nvCxnSpPr>
        <p:spPr>
          <a:xfrm>
            <a:off x="4171379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08" name="Google Shape;3208;p35"/>
          <p:cNvCxnSpPr/>
          <p:nvPr/>
        </p:nvCxnSpPr>
        <p:spPr>
          <a:xfrm>
            <a:off x="5184337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09" name="Google Shape;3209;p35"/>
          <p:cNvCxnSpPr/>
          <p:nvPr/>
        </p:nvCxnSpPr>
        <p:spPr>
          <a:xfrm>
            <a:off x="6231061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10" name="Google Shape;3210;p35"/>
          <p:cNvCxnSpPr/>
          <p:nvPr/>
        </p:nvCxnSpPr>
        <p:spPr>
          <a:xfrm>
            <a:off x="7277784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11" name="Google Shape;3211;p35"/>
          <p:cNvCxnSpPr/>
          <p:nvPr/>
        </p:nvCxnSpPr>
        <p:spPr>
          <a:xfrm>
            <a:off x="8290742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12" name="Google Shape;3212;p35"/>
          <p:cNvCxnSpPr/>
          <p:nvPr/>
        </p:nvCxnSpPr>
        <p:spPr>
          <a:xfrm>
            <a:off x="9337465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13" name="Google Shape;3213;p35"/>
          <p:cNvCxnSpPr/>
          <p:nvPr/>
        </p:nvCxnSpPr>
        <p:spPr>
          <a:xfrm>
            <a:off x="10350423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14" name="Google Shape;3214;p35"/>
          <p:cNvCxnSpPr/>
          <p:nvPr/>
        </p:nvCxnSpPr>
        <p:spPr>
          <a:xfrm>
            <a:off x="11397147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15" name="Google Shape;3215;p35"/>
          <p:cNvCxnSpPr/>
          <p:nvPr/>
        </p:nvCxnSpPr>
        <p:spPr>
          <a:xfrm>
            <a:off x="8324507" y="6562344"/>
            <a:ext cx="0" cy="237744"/>
          </a:xfrm>
          <a:prstGeom prst="straightConnector1">
            <a:avLst/>
          </a:prstGeom>
          <a:noFill/>
          <a:ln cap="flat" cmpd="sng" w="19050">
            <a:solidFill>
              <a:srgbClr val="B3261E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3216" name="Google Shape;3216;p35"/>
          <p:cNvGraphicFramePr/>
          <p:nvPr/>
        </p:nvGraphicFramePr>
        <p:xfrm>
          <a:off x="6751635" y="45333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{9EE2CB2E-1363-49F8-B8BA-952F5347F8D7}</a:tableStyleId>
              </a:tblPr>
              <a:tblGrid>
                <a:gridCol w="1144025"/>
                <a:gridCol w="643775"/>
                <a:gridCol w="738075"/>
                <a:gridCol w="767325"/>
                <a:gridCol w="882625"/>
                <a:gridCol w="1011250"/>
              </a:tblGrid>
              <a:tr h="182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s-CO" sz="8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Actividad</a:t>
                      </a:r>
                      <a:endParaRPr sz="14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1" lang="es-CO" sz="7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Unidad</a:t>
                      </a:r>
                      <a:endParaRPr sz="7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1" lang="es-CO" sz="7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Presupuestada</a:t>
                      </a:r>
                      <a:endParaRPr sz="7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1" lang="es-CO" sz="7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Ejec. anterior</a:t>
                      </a:r>
                      <a:endParaRPr sz="7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1" lang="es-CO" sz="7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Ejec. actual</a:t>
                      </a:r>
                      <a:endParaRPr sz="7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1" lang="es-CO" sz="7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Δ semana</a:t>
                      </a:r>
                      <a:endParaRPr sz="7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-CO" sz="8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Topografía</a:t>
                      </a:r>
                      <a:endParaRPr sz="14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-CO" sz="8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km</a:t>
                      </a:r>
                      <a:endParaRPr sz="14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CO" sz="8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22,39</a:t>
                      </a:r>
                      <a:endParaRPr b="0" i="0" sz="800" u="none" cap="none" strike="noStrike">
                        <a:solidFill>
                          <a:srgbClr val="1D2B2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O" sz="800" u="none" cap="none" strike="noStrike"/>
                        <a:t>22,39</a:t>
                      </a:r>
                      <a:endParaRPr sz="8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CO" sz="8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22,39</a:t>
                      </a:r>
                      <a:endParaRPr b="0" i="0" sz="800" u="none" cap="none" strike="noStrike">
                        <a:solidFill>
                          <a:srgbClr val="1D2B2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0" i="0" lang="es-CO" sz="750" u="none" cap="none" strike="noStrike">
                          <a:solidFill>
                            <a:srgbClr val="8A94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b="1" i="0" sz="7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-CO" sz="8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Apiques</a:t>
                      </a:r>
                      <a:endParaRPr sz="14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-CO" sz="8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und</a:t>
                      </a:r>
                      <a:endParaRPr sz="850" u="none" cap="none" strike="noStrike">
                        <a:solidFill>
                          <a:srgbClr val="1D2B2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CO" sz="8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b="0" i="0" sz="800" u="none" cap="none" strike="noStrike">
                        <a:solidFill>
                          <a:srgbClr val="1D2B2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O" sz="800" u="none" cap="none" strike="noStrike"/>
                        <a:t>100 %</a:t>
                      </a:r>
                      <a:endParaRPr sz="8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CO" sz="8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100 %</a:t>
                      </a:r>
                      <a:endParaRPr b="0" i="0" sz="800" u="none" cap="none" strike="noStrike">
                        <a:solidFill>
                          <a:srgbClr val="1D2B2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0" lang="es-CO" sz="750" u="none" cap="none" strike="noStrike">
                          <a:solidFill>
                            <a:srgbClr val="8A94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7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-CO" sz="8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Construcción alcantarillas</a:t>
                      </a:r>
                      <a:endParaRPr sz="14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-CO" sz="8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und</a:t>
                      </a:r>
                      <a:endParaRPr sz="14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CO" sz="8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108</a:t>
                      </a:r>
                      <a:endParaRPr b="0" i="0" sz="800" u="none" cap="none" strike="noStrike">
                        <a:solidFill>
                          <a:srgbClr val="1D2B2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O" sz="800" u="none" cap="none" strike="noStrike"/>
                        <a:t>17</a:t>
                      </a:r>
                      <a:endParaRPr sz="8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CO" sz="8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</a:t>
                      </a:r>
                      <a:endParaRPr b="0" i="0" sz="800" u="none" cap="none" strike="noStrike">
                        <a:solidFill>
                          <a:srgbClr val="1D2B2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1" i="0" lang="es-CO" sz="750" u="none" cap="none" strike="noStrike">
                          <a:solidFill>
                            <a:srgbClr val="2E7D4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+1</a:t>
                      </a:r>
                      <a:endParaRPr b="1" i="0" sz="7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-CO" sz="8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Construcción cunetas</a:t>
                      </a:r>
                      <a:endParaRPr sz="14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-CO" sz="8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</a:t>
                      </a:r>
                      <a:endParaRPr sz="14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CO" sz="8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22.390</a:t>
                      </a:r>
                      <a:endParaRPr b="0" i="0" sz="800" u="none" cap="none" strike="noStrike">
                        <a:solidFill>
                          <a:srgbClr val="1D2B2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O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CO" sz="8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b="0" i="0" sz="800" u="none" cap="none" strike="noStrike">
                        <a:solidFill>
                          <a:srgbClr val="1D2B2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0" i="0" lang="es-CO" sz="750" u="none" cap="none" strike="noStrike">
                          <a:solidFill>
                            <a:srgbClr val="8A94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b="0" i="0" sz="75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-CO" sz="8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Construcción filtros</a:t>
                      </a:r>
                      <a:endParaRPr sz="14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-CO" sz="8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</a:t>
                      </a:r>
                      <a:endParaRPr sz="14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CO" sz="8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22.390</a:t>
                      </a:r>
                      <a:endParaRPr b="0" i="0" sz="800" u="none" cap="none" strike="noStrike">
                        <a:solidFill>
                          <a:srgbClr val="1D2B2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O" sz="800" u="none" cap="none" strike="noStrike"/>
                        <a:t>995</a:t>
                      </a:r>
                      <a:endParaRPr sz="8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CO" sz="8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1.700</a:t>
                      </a:r>
                      <a:endParaRPr b="0" i="0" sz="800" u="none" cap="none" strike="noStrike">
                        <a:solidFill>
                          <a:srgbClr val="1D2B2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1" lang="es-CO" sz="750" u="none" cap="none" strike="noStrike">
                          <a:solidFill>
                            <a:srgbClr val="2E7D4F"/>
                          </a:solidFill>
                        </a:rPr>
                        <a:t>+705</a:t>
                      </a:r>
                      <a:endParaRPr sz="7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-CO" sz="8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Construcción bordillos</a:t>
                      </a:r>
                      <a:endParaRPr sz="14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-CO" sz="8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</a:t>
                      </a:r>
                      <a:endParaRPr sz="14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CO" sz="8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4.478</a:t>
                      </a:r>
                      <a:endParaRPr b="0" i="0" sz="800" u="none" cap="none" strike="noStrike">
                        <a:solidFill>
                          <a:srgbClr val="1D2B2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O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CO" sz="8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b="0" i="0" sz="800" u="none" cap="none" strike="noStrike">
                        <a:solidFill>
                          <a:srgbClr val="1D2B2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0" i="0" lang="es-CO" sz="750" u="none" cap="none" strike="noStrike">
                          <a:solidFill>
                            <a:srgbClr val="8A94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b="0" i="0" sz="75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-CO" sz="8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Estabilización</a:t>
                      </a:r>
                      <a:endParaRPr sz="14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-CO" sz="8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m²</a:t>
                      </a:r>
                      <a:endParaRPr sz="14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CO" sz="8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111.950</a:t>
                      </a:r>
                      <a:endParaRPr b="0" i="0" sz="800" u="none" cap="none" strike="noStrike">
                        <a:solidFill>
                          <a:srgbClr val="1D2B2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O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CO" sz="8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b="0" i="0" sz="800" u="none" cap="none" strike="noStrike">
                        <a:solidFill>
                          <a:srgbClr val="1D2B2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0" i="0" lang="es-CO" sz="750" u="none" cap="none" strike="noStrike">
                          <a:solidFill>
                            <a:srgbClr val="8A94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b="0" i="0" sz="75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-CO" sz="8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Señalización vial</a:t>
                      </a:r>
                      <a:endParaRPr sz="14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-CO" sz="8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</a:t>
                      </a:r>
                      <a:endParaRPr sz="14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CO" sz="8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67.170</a:t>
                      </a:r>
                      <a:endParaRPr b="0" i="0" sz="800" u="none" cap="none" strike="noStrike">
                        <a:solidFill>
                          <a:srgbClr val="1D2B2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O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CO" sz="8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b="0" i="0" sz="800" u="none" cap="none" strike="noStrike">
                        <a:solidFill>
                          <a:srgbClr val="1D2B2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0" i="0" lang="es-CO" sz="750" u="none" cap="none" strike="noStrike">
                          <a:solidFill>
                            <a:srgbClr val="8A94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b="0" i="0" sz="75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20" name="Shape 3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1" name="Google Shape;3221;p36"/>
          <p:cNvSpPr txBox="1"/>
          <p:nvPr/>
        </p:nvSpPr>
        <p:spPr>
          <a:xfrm>
            <a:off x="457200" y="320040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1200"/>
              <a:buFont typeface="Calibri"/>
              <a:buNone/>
            </a:pPr>
            <a:r>
              <a:rPr b="1" i="0" lang="es-CO" sz="1200" u="none" cap="none" strike="noStrike">
                <a:solidFill>
                  <a:srgbClr val="2E7D4F"/>
                </a:solidFill>
                <a:latin typeface="Poppins"/>
                <a:ea typeface="Poppins"/>
                <a:cs typeface="Poppins"/>
                <a:sym typeface="Poppins"/>
              </a:rPr>
              <a:t>CONSOLIDADO DE VARIACIÓN DE ALCANCES  ·  LOTE 5 – SUBREGIÓN SUROESTE</a:t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22" name="Google Shape;3222;p36"/>
          <p:cNvSpPr txBox="1"/>
          <p:nvPr/>
        </p:nvSpPr>
        <p:spPr>
          <a:xfrm>
            <a:off x="457200" y="594360"/>
            <a:ext cx="9692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2800"/>
              <a:buFont typeface="Calibri"/>
              <a:buNone/>
            </a:pPr>
            <a:r>
              <a:rPr b="1" i="0" lang="es-CO" sz="28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Consolidado Lote 5 – Suroeste</a:t>
            </a:r>
            <a:endParaRPr b="0" i="0" sz="2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descr="logo.png" id="3223" name="Google Shape;3223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78440" y="320040"/>
            <a:ext cx="1371600" cy="676656"/>
          </a:xfrm>
          <a:prstGeom prst="rect">
            <a:avLst/>
          </a:prstGeom>
          <a:noFill/>
          <a:ln>
            <a:noFill/>
          </a:ln>
        </p:spPr>
      </p:pic>
      <p:sp>
        <p:nvSpPr>
          <p:cNvPr id="3224" name="Google Shape;3224;p36"/>
          <p:cNvSpPr/>
          <p:nvPr/>
        </p:nvSpPr>
        <p:spPr>
          <a:xfrm>
            <a:off x="457200" y="128016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5" name="Google Shape;3225;p36"/>
          <p:cNvSpPr txBox="1"/>
          <p:nvPr/>
        </p:nvSpPr>
        <p:spPr>
          <a:xfrm>
            <a:off x="594360" y="1353312"/>
            <a:ext cx="1834835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050"/>
              <a:buFont typeface="Calibri"/>
              <a:buNone/>
            </a:pPr>
            <a:r>
              <a:rPr b="0" i="0" lang="es-CO" sz="10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Km contratados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6" name="Google Shape;3226;p36"/>
          <p:cNvSpPr txBox="1"/>
          <p:nvPr/>
        </p:nvSpPr>
        <p:spPr>
          <a:xfrm>
            <a:off x="594360" y="1581912"/>
            <a:ext cx="183483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68,26 km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7" name="Google Shape;3227;p36"/>
          <p:cNvSpPr txBox="1"/>
          <p:nvPr/>
        </p:nvSpPr>
        <p:spPr>
          <a:xfrm>
            <a:off x="594360" y="1901952"/>
            <a:ext cx="1834835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1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5 corredores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8" name="Google Shape;3228;p36"/>
          <p:cNvSpPr/>
          <p:nvPr/>
        </p:nvSpPr>
        <p:spPr>
          <a:xfrm>
            <a:off x="2749235" y="128016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9" name="Google Shape;3229;p36"/>
          <p:cNvSpPr txBox="1"/>
          <p:nvPr/>
        </p:nvSpPr>
        <p:spPr>
          <a:xfrm>
            <a:off x="2886395" y="1353312"/>
            <a:ext cx="1834835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050"/>
              <a:buFont typeface="Calibri"/>
              <a:buNone/>
            </a:pPr>
            <a:r>
              <a:rPr b="0" i="0" lang="es-CO" sz="10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Km que se alcanzan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0" name="Google Shape;3230;p36"/>
          <p:cNvSpPr txBox="1"/>
          <p:nvPr/>
        </p:nvSpPr>
        <p:spPr>
          <a:xfrm>
            <a:off x="2886395" y="1581912"/>
            <a:ext cx="183483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D2E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0B5D2E"/>
                </a:solidFill>
                <a:latin typeface="Calibri"/>
                <a:ea typeface="Calibri"/>
                <a:cs typeface="Calibri"/>
                <a:sym typeface="Calibri"/>
              </a:rPr>
              <a:t>44,93 km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1" name="Google Shape;3231;p36"/>
          <p:cNvSpPr txBox="1"/>
          <p:nvPr/>
        </p:nvSpPr>
        <p:spPr>
          <a:xfrm>
            <a:off x="2886395" y="1901952"/>
            <a:ext cx="1834835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1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Cobertura 65,5 % del valor proyectado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2" name="Google Shape;3232;p36"/>
          <p:cNvSpPr/>
          <p:nvPr/>
        </p:nvSpPr>
        <p:spPr>
          <a:xfrm>
            <a:off x="5041270" y="128016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3" name="Google Shape;3233;p36"/>
          <p:cNvSpPr txBox="1"/>
          <p:nvPr/>
        </p:nvSpPr>
        <p:spPr>
          <a:xfrm>
            <a:off x="5178430" y="1353312"/>
            <a:ext cx="1834835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050"/>
              <a:buFont typeface="Calibri"/>
              <a:buNone/>
            </a:pPr>
            <a:r>
              <a:rPr b="0" i="0" lang="es-CO" sz="10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Valor contractual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4" name="Google Shape;3234;p36"/>
          <p:cNvSpPr txBox="1"/>
          <p:nvPr/>
        </p:nvSpPr>
        <p:spPr>
          <a:xfrm>
            <a:off x="5178430" y="1581912"/>
            <a:ext cx="183483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$ 67.298.289.512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5" name="Google Shape;3235;p36"/>
          <p:cNvSpPr txBox="1"/>
          <p:nvPr/>
        </p:nvSpPr>
        <p:spPr>
          <a:xfrm>
            <a:off x="5178430" y="1901952"/>
            <a:ext cx="1834835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1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$ 985.911.068 por km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6" name="Google Shape;3236;p36"/>
          <p:cNvSpPr/>
          <p:nvPr/>
        </p:nvSpPr>
        <p:spPr>
          <a:xfrm>
            <a:off x="7333305" y="128016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7" name="Google Shape;3237;p36"/>
          <p:cNvSpPr txBox="1"/>
          <p:nvPr/>
        </p:nvSpPr>
        <p:spPr>
          <a:xfrm>
            <a:off x="7470465" y="1353312"/>
            <a:ext cx="1834835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050"/>
              <a:buFont typeface="Calibri"/>
              <a:buNone/>
            </a:pPr>
            <a:r>
              <a:rPr b="0" i="0" lang="es-CO" sz="10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Valor proyectado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8" name="Google Shape;3238;p36"/>
          <p:cNvSpPr txBox="1"/>
          <p:nvPr/>
        </p:nvSpPr>
        <p:spPr>
          <a:xfrm>
            <a:off x="7470465" y="1581912"/>
            <a:ext cx="183483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$ 102.735.112.590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9" name="Google Shape;3239;p36"/>
          <p:cNvSpPr txBox="1"/>
          <p:nvPr/>
        </p:nvSpPr>
        <p:spPr>
          <a:xfrm>
            <a:off x="7470465" y="1901952"/>
            <a:ext cx="1834835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1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$ 1.505.055.854 por km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0" name="Google Shape;3240;p36"/>
          <p:cNvSpPr/>
          <p:nvPr/>
        </p:nvSpPr>
        <p:spPr>
          <a:xfrm>
            <a:off x="9625340" y="128016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FBEAEA"/>
          </a:solidFill>
          <a:ln cap="flat" cmpd="sng" w="12700">
            <a:solidFill>
              <a:srgbClr val="FBEA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1" name="Google Shape;3241;p36"/>
          <p:cNvSpPr txBox="1"/>
          <p:nvPr/>
        </p:nvSpPr>
        <p:spPr>
          <a:xfrm>
            <a:off x="9762500" y="1353312"/>
            <a:ext cx="1834835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050"/>
              <a:buFont typeface="Calibri"/>
              <a:buNone/>
            </a:pPr>
            <a:r>
              <a:rPr b="0" i="0" lang="es-CO" sz="10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Adición estimada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2" name="Google Shape;3242;p36"/>
          <p:cNvSpPr txBox="1"/>
          <p:nvPr/>
        </p:nvSpPr>
        <p:spPr>
          <a:xfrm>
            <a:off x="9762500" y="1581912"/>
            <a:ext cx="183483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261E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B3261E"/>
                </a:solidFill>
                <a:latin typeface="Calibri"/>
                <a:ea typeface="Calibri"/>
                <a:cs typeface="Calibri"/>
                <a:sym typeface="Calibri"/>
              </a:rPr>
              <a:t>▲ $ 35.436.823.078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3" name="Google Shape;3243;p36"/>
          <p:cNvSpPr txBox="1"/>
          <p:nvPr/>
        </p:nvSpPr>
        <p:spPr>
          <a:xfrm>
            <a:off x="9762500" y="1901952"/>
            <a:ext cx="1834835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1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+52,7 % sobre lo contractual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244" name="Google Shape;3244;p36"/>
          <p:cNvGraphicFramePr/>
          <p:nvPr/>
        </p:nvGraphicFramePr>
        <p:xfrm>
          <a:off x="457200" y="23774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{2219430B-40B1-4F13-8D99-EA5D7966678A}</a:tableStyleId>
              </a:tblPr>
              <a:tblGrid>
                <a:gridCol w="2743200"/>
                <a:gridCol w="621800"/>
                <a:gridCol w="1280150"/>
                <a:gridCol w="1005850"/>
                <a:gridCol w="1280150"/>
                <a:gridCol w="1005850"/>
                <a:gridCol w="795525"/>
                <a:gridCol w="1280150"/>
                <a:gridCol w="640075"/>
                <a:gridCol w="62180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Corredor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Longitud (km)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Valor contractual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$/km contractual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Valor proyectado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$/km proyectado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Longitud probable (km)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Variación (valor adicional)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 variación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Cobertura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</a:tr>
              <a:tr h="334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Salgar – La Cámara – La Quiebra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15,93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$ 15.355.866.287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$ 963.958.963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$ 21.422.206.991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$ 1.344.771.311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11,42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▲ $ 6.066.340.704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39,5 %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71,7 %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34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Valparaíso – Támesis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22,51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$ 22.410.613.443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$ 995.584.782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$ 33.846.463.073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$ 1.503.618.973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14,90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▲ $ 11.435.849.630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51,0 %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66,2 %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334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Pueblorrico – San José – Ye a la Bodega – La Bodega (Andes)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22,39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$ 21.523.152.051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$ 961.284.147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$ 36.283.877.531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$ 1.620.539.416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13,28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▲ $ 14.760.725.480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68,6 %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59,3 %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34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SUBTOTAL CORREDORES CON PROYECCIÓN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60,83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$ 59.289.631.781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$ 974.677.491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$ 91.552.547.595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$ 1.505.055.854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39,60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▲ $ 32.262.915.814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54,4 %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64,8 %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</a:tr>
              <a:tr h="334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B65"/>
                        </a:buClr>
                        <a:buSzPts val="950"/>
                        <a:buFont typeface="Calibri"/>
                        <a:buNone/>
                      </a:pPr>
                      <a:r>
                        <a:rPr i="1" lang="es-CO" sz="9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Abejorral – El Cairo – La Elvira (Cruce Ruta 25) *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B65"/>
                        </a:buClr>
                        <a:buSzPts val="950"/>
                        <a:buFont typeface="Calibri"/>
                        <a:buNone/>
                      </a:pPr>
                      <a:r>
                        <a:rPr i="1" lang="es-CO" sz="9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2,43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B65"/>
                        </a:buClr>
                        <a:buSzPts val="950"/>
                        <a:buFont typeface="Calibri"/>
                        <a:buNone/>
                      </a:pPr>
                      <a:r>
                        <a:rPr i="1" lang="es-CO" sz="9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$ 2.404.113.312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B65"/>
                        </a:buClr>
                        <a:buSzPts val="950"/>
                        <a:buFont typeface="Calibri"/>
                        <a:buNone/>
                      </a:pPr>
                      <a:r>
                        <a:rPr i="1" lang="es-CO" sz="9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$ 989.347.042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B65"/>
                        </a:buClr>
                        <a:buSzPts val="950"/>
                        <a:buFont typeface="Calibri"/>
                        <a:buNone/>
                      </a:pPr>
                      <a:r>
                        <a:rPr i="1" lang="es-CO" sz="9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$ 3.657.285.725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B65"/>
                        </a:buClr>
                        <a:buSzPts val="950"/>
                        <a:buFont typeface="Calibri"/>
                        <a:buNone/>
                      </a:pPr>
                      <a:r>
                        <a:rPr i="1" lang="es-CO" sz="9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$ 1.505.055.854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B65"/>
                        </a:buClr>
                        <a:buSzPts val="950"/>
                        <a:buFont typeface="Calibri"/>
                        <a:buNone/>
                      </a:pPr>
                      <a:r>
                        <a:rPr b="1" i="1" lang="es-CO" sz="9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1,60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i="1"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▲ $ 1.253.172.413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i="1"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52,1 %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B65"/>
                        </a:buClr>
                        <a:buSzPts val="950"/>
                        <a:buFont typeface="Calibri"/>
                        <a:buNone/>
                      </a:pPr>
                      <a:r>
                        <a:rPr i="1" lang="es-CO" sz="9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65,7 %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34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B65"/>
                        </a:buClr>
                        <a:buSzPts val="950"/>
                        <a:buFont typeface="Calibri"/>
                        <a:buNone/>
                      </a:pPr>
                      <a:r>
                        <a:rPr i="1" lang="es-CO" sz="9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Titiribí – Armenia *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B65"/>
                        </a:buClr>
                        <a:buSzPts val="950"/>
                        <a:buFont typeface="Calibri"/>
                        <a:buNone/>
                      </a:pPr>
                      <a:r>
                        <a:rPr i="1" lang="es-CO" sz="9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5,00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B65"/>
                        </a:buClr>
                        <a:buSzPts val="950"/>
                        <a:buFont typeface="Calibri"/>
                        <a:buNone/>
                      </a:pPr>
                      <a:r>
                        <a:rPr i="1" lang="es-CO" sz="9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$ 5.604.544.419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B65"/>
                        </a:buClr>
                        <a:buSzPts val="950"/>
                        <a:buFont typeface="Calibri"/>
                        <a:buNone/>
                      </a:pPr>
                      <a:r>
                        <a:rPr i="1" lang="es-CO" sz="9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$ 1.120.908.884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B65"/>
                        </a:buClr>
                        <a:buSzPts val="950"/>
                        <a:buFont typeface="Calibri"/>
                        <a:buNone/>
                      </a:pPr>
                      <a:r>
                        <a:rPr i="1" lang="es-CO" sz="9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$ 7.525.279.270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B65"/>
                        </a:buClr>
                        <a:buSzPts val="950"/>
                        <a:buFont typeface="Calibri"/>
                        <a:buNone/>
                      </a:pPr>
                      <a:r>
                        <a:rPr i="1" lang="es-CO" sz="9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$ 1.505.055.854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B65"/>
                        </a:buClr>
                        <a:buSzPts val="950"/>
                        <a:buFont typeface="Calibri"/>
                        <a:buNone/>
                      </a:pPr>
                      <a:r>
                        <a:rPr b="1" i="1" lang="es-CO" sz="9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3,72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i="1"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▲ $ 1.920.734.851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i="1"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34,3 %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B65"/>
                        </a:buClr>
                        <a:buSzPts val="950"/>
                        <a:buFont typeface="Calibri"/>
                        <a:buNone/>
                      </a:pPr>
                      <a:r>
                        <a:rPr i="1" lang="es-CO" sz="9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74,5 %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334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LOTE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68,26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$ 67.298.289.512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$ 985.911.068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$ 102.735.112.590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$ 1.505.055.854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44,93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▲ $ 35.436.823.078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52,7 %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65,5 %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</a:tr>
            </a:tbl>
          </a:graphicData>
        </a:graphic>
      </p:graphicFrame>
      <p:sp>
        <p:nvSpPr>
          <p:cNvPr id="3245" name="Google Shape;3245;p36"/>
          <p:cNvSpPr txBox="1"/>
          <p:nvPr/>
        </p:nvSpPr>
        <p:spPr>
          <a:xfrm>
            <a:off x="457200" y="5202936"/>
            <a:ext cx="1127455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00"/>
              <a:buFont typeface="Calibri"/>
              <a:buNone/>
            </a:pP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* Valor contractual según presupuesto del oferente; valor proyectado estimado con el promedio del valor por km proyectado de los corredores con proyección del lote ($ 1.505.055.854).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6" name="Google Shape;3246;p36"/>
          <p:cNvSpPr txBox="1"/>
          <p:nvPr/>
        </p:nvSpPr>
        <p:spPr>
          <a:xfrm>
            <a:off x="457200" y="5376672"/>
            <a:ext cx="1127455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00"/>
              <a:buFont typeface="Calibri"/>
              <a:buNone/>
            </a:pP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Valor total del contrato $ 72.870 M · Valor contractual de obra $ 67.298.289.512. Proyecciones de Salgar, Valparaíso y Pueblorrico con corte a 28/09/2026.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7" name="Google Shape;3247;p36"/>
          <p:cNvSpPr txBox="1"/>
          <p:nvPr/>
        </p:nvSpPr>
        <p:spPr>
          <a:xfrm>
            <a:off x="457200" y="5550408"/>
            <a:ext cx="1127455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00"/>
              <a:buFont typeface="Calibri"/>
              <a:buNone/>
            </a:pP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Longitud probable = longitud × valor contractual ÷ valor proyectado · Cobertura = valor contractual ÷ valor proyectado.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8" name="Google Shape;3248;p36"/>
          <p:cNvSpPr txBox="1"/>
          <p:nvPr/>
        </p:nvSpPr>
        <p:spPr>
          <a:xfrm>
            <a:off x="457200" y="5833872"/>
            <a:ext cx="112745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950"/>
              <a:buFont typeface="Calibri"/>
              <a:buNone/>
            </a:pPr>
            <a:r>
              <a:rPr b="1" i="0" lang="es-CO" sz="95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KILÓMETROS DEL LOTE QUE SE CUBREN CON EL VALOR CONTRACTUAL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9" name="Google Shape;3249;p36"/>
          <p:cNvSpPr/>
          <p:nvPr/>
        </p:nvSpPr>
        <p:spPr>
          <a:xfrm>
            <a:off x="457200" y="6071616"/>
            <a:ext cx="7422270" cy="384048"/>
          </a:xfrm>
          <a:prstGeom prst="rect">
            <a:avLst/>
          </a:prstGeom>
          <a:solidFill>
            <a:srgbClr val="2E7D4F"/>
          </a:solidFill>
          <a:ln cap="flat" cmpd="sng" w="12700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0" name="Google Shape;3250;p36"/>
          <p:cNvSpPr/>
          <p:nvPr/>
        </p:nvSpPr>
        <p:spPr>
          <a:xfrm>
            <a:off x="7879470" y="6071616"/>
            <a:ext cx="3855025" cy="384048"/>
          </a:xfrm>
          <a:prstGeom prst="rect">
            <a:avLst/>
          </a:prstGeom>
          <a:solidFill>
            <a:srgbClr val="B3261E"/>
          </a:solidFill>
          <a:ln cap="flat" cmpd="sng" w="12700">
            <a:solidFill>
              <a:srgbClr val="B326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1" name="Google Shape;3251;p36"/>
          <p:cNvSpPr txBox="1"/>
          <p:nvPr/>
        </p:nvSpPr>
        <p:spPr>
          <a:xfrm>
            <a:off x="566928" y="6071616"/>
            <a:ext cx="720281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s-CO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44,93 km</a:t>
            </a:r>
            <a:r>
              <a:rPr b="0" i="0" lang="es-CO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·  65,8 % se alcanza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2" name="Google Shape;3252;p36"/>
          <p:cNvSpPr txBox="1"/>
          <p:nvPr/>
        </p:nvSpPr>
        <p:spPr>
          <a:xfrm>
            <a:off x="7989198" y="6071616"/>
            <a:ext cx="3635569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s-CO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23,33 km</a:t>
            </a:r>
            <a:r>
              <a:rPr b="0" i="0" lang="es-CO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·  34,2 % pendiente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57" name="Shape 3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8" name="Google Shape;3258;p37"/>
          <p:cNvSpPr txBox="1"/>
          <p:nvPr/>
        </p:nvSpPr>
        <p:spPr>
          <a:xfrm>
            <a:off x="457200" y="320040"/>
            <a:ext cx="960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1200"/>
              <a:buFont typeface="Calibri"/>
              <a:buNone/>
            </a:pPr>
            <a:r>
              <a:rPr b="1" i="0" lang="es-CO" sz="1200" u="none" cap="none" strike="noStrike">
                <a:solidFill>
                  <a:srgbClr val="2E7D4F"/>
                </a:solidFill>
                <a:latin typeface="Poppins"/>
                <a:ea typeface="Poppins"/>
                <a:cs typeface="Poppins"/>
                <a:sym typeface="Poppins"/>
              </a:rPr>
              <a:t>INFORME DE VARIACIÓN DE ALCANCES  ·  LOTE 6 – SUBREGIÓN NORDESTE</a:t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59" name="Google Shape;3259;p37"/>
          <p:cNvSpPr txBox="1"/>
          <p:nvPr/>
        </p:nvSpPr>
        <p:spPr>
          <a:xfrm>
            <a:off x="457200" y="594360"/>
            <a:ext cx="9692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2800"/>
              <a:buFont typeface="Calibri"/>
              <a:buNone/>
            </a:pPr>
            <a:r>
              <a:rPr b="1" i="0" lang="es-CO" sz="28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Caramanta – Cristales – San Roque</a:t>
            </a:r>
            <a:endParaRPr b="0" i="0" sz="2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descr="logo.png" id="3260" name="Google Shape;326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78440" y="320040"/>
            <a:ext cx="1371600" cy="676656"/>
          </a:xfrm>
          <a:prstGeom prst="rect">
            <a:avLst/>
          </a:prstGeom>
          <a:noFill/>
          <a:ln>
            <a:noFill/>
          </a:ln>
        </p:spPr>
      </p:pic>
      <p:sp>
        <p:nvSpPr>
          <p:cNvPr id="3261" name="Google Shape;3261;p37"/>
          <p:cNvSpPr/>
          <p:nvPr/>
        </p:nvSpPr>
        <p:spPr>
          <a:xfrm>
            <a:off x="457200" y="1325880"/>
            <a:ext cx="2109300" cy="868800"/>
          </a:xfrm>
          <a:prstGeom prst="roundRect">
            <a:avLst>
              <a:gd fmla="val 842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2" name="Google Shape;3262;p37"/>
          <p:cNvSpPr txBox="1"/>
          <p:nvPr/>
        </p:nvSpPr>
        <p:spPr>
          <a:xfrm>
            <a:off x="594360" y="1417320"/>
            <a:ext cx="1834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100"/>
              <a:buFont typeface="Calibri"/>
              <a:buNone/>
            </a:pPr>
            <a:r>
              <a:rPr b="0" i="0" lang="es-CO" sz="11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Longitud contractual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3" name="Google Shape;3263;p37"/>
          <p:cNvSpPr txBox="1"/>
          <p:nvPr/>
        </p:nvSpPr>
        <p:spPr>
          <a:xfrm>
            <a:off x="594360" y="1691640"/>
            <a:ext cx="1834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700"/>
              <a:buFont typeface="Calibri"/>
              <a:buNone/>
            </a:pPr>
            <a:r>
              <a:rPr b="1" i="0" lang="es-CO" sz="17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20,64 km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4" name="Google Shape;3264;p37"/>
          <p:cNvSpPr/>
          <p:nvPr/>
        </p:nvSpPr>
        <p:spPr>
          <a:xfrm>
            <a:off x="2749235" y="1325880"/>
            <a:ext cx="2109300" cy="868800"/>
          </a:xfrm>
          <a:prstGeom prst="roundRect">
            <a:avLst>
              <a:gd fmla="val 842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5" name="Google Shape;3265;p37"/>
          <p:cNvSpPr txBox="1"/>
          <p:nvPr/>
        </p:nvSpPr>
        <p:spPr>
          <a:xfrm>
            <a:off x="2886395" y="1417320"/>
            <a:ext cx="1834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100"/>
              <a:buFont typeface="Calibri"/>
              <a:buNone/>
            </a:pPr>
            <a:r>
              <a:rPr b="0" i="0" lang="es-CO" sz="11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Longitud probable a cubrir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6" name="Google Shape;3266;p37"/>
          <p:cNvSpPr txBox="1"/>
          <p:nvPr/>
        </p:nvSpPr>
        <p:spPr>
          <a:xfrm>
            <a:off x="2886395" y="1691640"/>
            <a:ext cx="1834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700"/>
              <a:buFont typeface="Calibri"/>
              <a:buNone/>
            </a:pPr>
            <a:r>
              <a:rPr b="1" i="0" lang="es-CO" sz="17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11,81 km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7" name="Google Shape;3267;p37"/>
          <p:cNvSpPr/>
          <p:nvPr/>
        </p:nvSpPr>
        <p:spPr>
          <a:xfrm>
            <a:off x="5041270" y="1325880"/>
            <a:ext cx="2109300" cy="868800"/>
          </a:xfrm>
          <a:prstGeom prst="roundRect">
            <a:avLst>
              <a:gd fmla="val 842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8" name="Google Shape;3268;p37"/>
          <p:cNvSpPr txBox="1"/>
          <p:nvPr/>
        </p:nvSpPr>
        <p:spPr>
          <a:xfrm>
            <a:off x="5178430" y="1417320"/>
            <a:ext cx="1834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100"/>
              <a:buFont typeface="Calibri"/>
              <a:buNone/>
            </a:pPr>
            <a:r>
              <a:rPr b="0" i="0" lang="es-CO" sz="11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Valor por km contractual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9" name="Google Shape;3269;p37"/>
          <p:cNvSpPr txBox="1"/>
          <p:nvPr/>
        </p:nvSpPr>
        <p:spPr>
          <a:xfrm>
            <a:off x="5178430" y="1691640"/>
            <a:ext cx="1834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700"/>
              <a:buFont typeface="Calibri"/>
              <a:buNone/>
            </a:pPr>
            <a:r>
              <a:rPr b="1" i="0" lang="es-CO" sz="17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$ 973.319.294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0" name="Google Shape;3270;p37"/>
          <p:cNvSpPr/>
          <p:nvPr/>
        </p:nvSpPr>
        <p:spPr>
          <a:xfrm>
            <a:off x="7333305" y="1325880"/>
            <a:ext cx="2109300" cy="868800"/>
          </a:xfrm>
          <a:prstGeom prst="roundRect">
            <a:avLst>
              <a:gd fmla="val 842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1" name="Google Shape;3271;p37"/>
          <p:cNvSpPr txBox="1"/>
          <p:nvPr/>
        </p:nvSpPr>
        <p:spPr>
          <a:xfrm>
            <a:off x="7470465" y="1417320"/>
            <a:ext cx="1834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100"/>
              <a:buFont typeface="Calibri"/>
              <a:buNone/>
            </a:pPr>
            <a:r>
              <a:rPr b="0" i="0" lang="es-CO" sz="11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Valor por km proyectado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2" name="Google Shape;3272;p37"/>
          <p:cNvSpPr txBox="1"/>
          <p:nvPr/>
        </p:nvSpPr>
        <p:spPr>
          <a:xfrm>
            <a:off x="7470465" y="1691640"/>
            <a:ext cx="1834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700"/>
              <a:buFont typeface="Calibri"/>
              <a:buNone/>
            </a:pPr>
            <a:r>
              <a:rPr b="1" i="0" lang="es-CO" sz="17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$ 1.700.673.072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3" name="Google Shape;3273;p37"/>
          <p:cNvSpPr/>
          <p:nvPr/>
        </p:nvSpPr>
        <p:spPr>
          <a:xfrm>
            <a:off x="9625340" y="1325880"/>
            <a:ext cx="2109300" cy="868800"/>
          </a:xfrm>
          <a:prstGeom prst="roundRect">
            <a:avLst>
              <a:gd fmla="val 8421" name="adj"/>
            </a:avLst>
          </a:prstGeom>
          <a:solidFill>
            <a:srgbClr val="FBEAEA"/>
          </a:solidFill>
          <a:ln cap="flat" cmpd="sng" w="12700">
            <a:solidFill>
              <a:srgbClr val="FBEA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4" name="Google Shape;3274;p37"/>
          <p:cNvSpPr txBox="1"/>
          <p:nvPr/>
        </p:nvSpPr>
        <p:spPr>
          <a:xfrm>
            <a:off x="9762500" y="1417320"/>
            <a:ext cx="1834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100"/>
              <a:buFont typeface="Calibri"/>
              <a:buNone/>
            </a:pPr>
            <a:r>
              <a:rPr b="0" i="0" lang="es-CO" sz="11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Variación total (valor adicional)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5" name="Google Shape;3275;p37"/>
          <p:cNvSpPr txBox="1"/>
          <p:nvPr/>
        </p:nvSpPr>
        <p:spPr>
          <a:xfrm>
            <a:off x="9762500" y="1691640"/>
            <a:ext cx="1834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261E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B3261E"/>
                </a:solidFill>
                <a:latin typeface="Arial"/>
                <a:ea typeface="Arial"/>
                <a:cs typeface="Arial"/>
                <a:sym typeface="Arial"/>
              </a:rPr>
              <a:t>▲ </a:t>
            </a:r>
            <a:r>
              <a:rPr b="1" i="0" lang="es-CO" sz="1500" u="none" cap="none" strike="noStrike">
                <a:solidFill>
                  <a:srgbClr val="B3261E"/>
                </a:solidFill>
                <a:latin typeface="Calibri"/>
                <a:ea typeface="Calibri"/>
                <a:cs typeface="Calibri"/>
                <a:sym typeface="Calibri"/>
              </a:rPr>
              <a:t>$ 15.012.581.974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6" name="Google Shape;3276;p37"/>
          <p:cNvSpPr/>
          <p:nvPr/>
        </p:nvSpPr>
        <p:spPr>
          <a:xfrm>
            <a:off x="457200" y="2423160"/>
            <a:ext cx="3154800" cy="4114800"/>
          </a:xfrm>
          <a:prstGeom prst="roundRect">
            <a:avLst>
              <a:gd fmla="val 1739" name="adj"/>
            </a:avLst>
          </a:prstGeom>
          <a:solidFill>
            <a:srgbClr val="FFFFFF"/>
          </a:solidFill>
          <a:ln cap="flat" cmpd="sng" w="12700">
            <a:solidFill>
              <a:srgbClr val="D5DD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7" name="Google Shape;3277;p37"/>
          <p:cNvSpPr txBox="1"/>
          <p:nvPr/>
        </p:nvSpPr>
        <p:spPr>
          <a:xfrm>
            <a:off x="640080" y="2560320"/>
            <a:ext cx="2788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1100"/>
              <a:buFont typeface="Calibri"/>
              <a:buNone/>
            </a:pPr>
            <a:r>
              <a:rPr b="1" i="0" lang="es-CO" sz="11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ESTRUCTURA DE PAVIMENTO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8" name="Google Shape;3278;p37"/>
          <p:cNvSpPr txBox="1"/>
          <p:nvPr/>
        </p:nvSpPr>
        <p:spPr>
          <a:xfrm>
            <a:off x="640080" y="2816352"/>
            <a:ext cx="2788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1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Caramanta – Cristales – San Roque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9" name="Google Shape;3279;p37"/>
          <p:cNvSpPr txBox="1"/>
          <p:nvPr/>
        </p:nvSpPr>
        <p:spPr>
          <a:xfrm>
            <a:off x="640080" y="3172968"/>
            <a:ext cx="278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LOTE 6 · Longitud: 20.640 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Tránsito – Estructuración: </a:t>
            </a: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307.000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Tránsito – Diseño: </a:t>
            </a: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307.000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0" name="Google Shape;3280;p37"/>
          <p:cNvSpPr txBox="1"/>
          <p:nvPr/>
        </p:nvSpPr>
        <p:spPr>
          <a:xfrm>
            <a:off x="457200" y="3794760"/>
            <a:ext cx="1577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1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Teórica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1" name="Google Shape;3281;p37"/>
          <p:cNvSpPr/>
          <p:nvPr/>
        </p:nvSpPr>
        <p:spPr>
          <a:xfrm>
            <a:off x="560070" y="4087368"/>
            <a:ext cx="960000" cy="183000"/>
          </a:xfrm>
          <a:prstGeom prst="rect">
            <a:avLst/>
          </a:prstGeom>
          <a:solidFill>
            <a:srgbClr val="1F2A36"/>
          </a:solidFill>
          <a:ln cap="flat" cmpd="sng" w="12700">
            <a:solidFill>
              <a:srgbClr val="1F2A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2" name="Google Shape;3282;p37"/>
          <p:cNvSpPr txBox="1"/>
          <p:nvPr/>
        </p:nvSpPr>
        <p:spPr>
          <a:xfrm>
            <a:off x="560070" y="4087368"/>
            <a:ext cx="960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s-CO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TSD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3" name="Google Shape;3283;p37"/>
          <p:cNvSpPr/>
          <p:nvPr/>
        </p:nvSpPr>
        <p:spPr>
          <a:xfrm>
            <a:off x="560070" y="4270248"/>
            <a:ext cx="960000" cy="774000"/>
          </a:xfrm>
          <a:prstGeom prst="rect">
            <a:avLst/>
          </a:prstGeom>
          <a:solidFill>
            <a:srgbClr val="D9A44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4" name="Google Shape;3284;p37"/>
          <p:cNvSpPr txBox="1"/>
          <p:nvPr/>
        </p:nvSpPr>
        <p:spPr>
          <a:xfrm>
            <a:off x="560070" y="4270248"/>
            <a:ext cx="960000" cy="35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800"/>
              <a:buFont typeface="Calibri"/>
              <a:buNone/>
            </a:pPr>
            <a:r>
              <a:rPr b="1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MGTC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5" name="Google Shape;3285;p37"/>
          <p:cNvSpPr/>
          <p:nvPr/>
        </p:nvSpPr>
        <p:spPr>
          <a:xfrm>
            <a:off x="624078" y="4620652"/>
            <a:ext cx="832200" cy="387000"/>
          </a:xfrm>
          <a:prstGeom prst="rect">
            <a:avLst/>
          </a:prstGeom>
          <a:solidFill>
            <a:srgbClr val="F2D58E"/>
          </a:solidFill>
          <a:ln cap="flat" cmpd="sng" w="9525">
            <a:solidFill>
              <a:srgbClr val="A87B1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6" name="Google Shape;3286;p37"/>
          <p:cNvSpPr txBox="1"/>
          <p:nvPr/>
        </p:nvSpPr>
        <p:spPr>
          <a:xfrm>
            <a:off x="624078" y="4620652"/>
            <a:ext cx="8322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800"/>
              <a:buFont typeface="Calibri"/>
              <a:buNone/>
            </a:pPr>
            <a:r>
              <a:rPr b="0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Subbase 14 cm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7" name="Google Shape;3287;p37"/>
          <p:cNvSpPr txBox="1"/>
          <p:nvPr/>
        </p:nvSpPr>
        <p:spPr>
          <a:xfrm>
            <a:off x="1575054" y="4270248"/>
            <a:ext cx="457200" cy="77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28 cm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8" name="Google Shape;3288;p37"/>
          <p:cNvSpPr/>
          <p:nvPr/>
        </p:nvSpPr>
        <p:spPr>
          <a:xfrm>
            <a:off x="560070" y="5044207"/>
            <a:ext cx="960000" cy="552900"/>
          </a:xfrm>
          <a:prstGeom prst="rect">
            <a:avLst/>
          </a:prstGeom>
          <a:solidFill>
            <a:srgbClr val="8C6A4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9" name="Google Shape;3289;p37"/>
          <p:cNvSpPr txBox="1"/>
          <p:nvPr/>
        </p:nvSpPr>
        <p:spPr>
          <a:xfrm>
            <a:off x="560070" y="5044207"/>
            <a:ext cx="960000" cy="55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s-CO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Subrasante estabilizada con cal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0" name="Google Shape;3290;p37"/>
          <p:cNvSpPr txBox="1"/>
          <p:nvPr/>
        </p:nvSpPr>
        <p:spPr>
          <a:xfrm>
            <a:off x="1575054" y="5044207"/>
            <a:ext cx="457200" cy="55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20 cm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91" name="Google Shape;3291;p37"/>
          <p:cNvCxnSpPr/>
          <p:nvPr/>
        </p:nvCxnSpPr>
        <p:spPr>
          <a:xfrm>
            <a:off x="468630" y="5597035"/>
            <a:ext cx="1143000" cy="0"/>
          </a:xfrm>
          <a:prstGeom prst="straightConnector1">
            <a:avLst/>
          </a:prstGeom>
          <a:noFill/>
          <a:ln cap="flat" cmpd="sng" w="12700">
            <a:solidFill>
              <a:srgbClr val="1D2B2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92" name="Google Shape;3292;p37"/>
          <p:cNvSpPr txBox="1"/>
          <p:nvPr/>
        </p:nvSpPr>
        <p:spPr>
          <a:xfrm>
            <a:off x="457200" y="5670187"/>
            <a:ext cx="1577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Espesor total: </a:t>
            </a:r>
            <a:r>
              <a:rPr b="1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48 cm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3" name="Google Shape;3293;p37"/>
          <p:cNvSpPr txBox="1"/>
          <p:nvPr/>
        </p:nvSpPr>
        <p:spPr>
          <a:xfrm>
            <a:off x="2034540" y="3794760"/>
            <a:ext cx="1577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1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Aprobada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4" name="Google Shape;3294;p37"/>
          <p:cNvSpPr/>
          <p:nvPr/>
        </p:nvSpPr>
        <p:spPr>
          <a:xfrm>
            <a:off x="2137410" y="4087368"/>
            <a:ext cx="960000" cy="183000"/>
          </a:xfrm>
          <a:prstGeom prst="rect">
            <a:avLst/>
          </a:prstGeom>
          <a:solidFill>
            <a:srgbClr val="1F2A36"/>
          </a:solidFill>
          <a:ln cap="flat" cmpd="sng" w="12700">
            <a:solidFill>
              <a:srgbClr val="1F2A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5" name="Google Shape;3295;p37"/>
          <p:cNvSpPr txBox="1"/>
          <p:nvPr/>
        </p:nvSpPr>
        <p:spPr>
          <a:xfrm>
            <a:off x="2137410" y="4087368"/>
            <a:ext cx="960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s-CO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TSD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6" name="Google Shape;3296;p37"/>
          <p:cNvSpPr/>
          <p:nvPr/>
        </p:nvSpPr>
        <p:spPr>
          <a:xfrm>
            <a:off x="2137410" y="4270248"/>
            <a:ext cx="960000" cy="967500"/>
          </a:xfrm>
          <a:prstGeom prst="rect">
            <a:avLst/>
          </a:prstGeom>
          <a:solidFill>
            <a:srgbClr val="D9A44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7" name="Google Shape;3297;p37"/>
          <p:cNvSpPr txBox="1"/>
          <p:nvPr/>
        </p:nvSpPr>
        <p:spPr>
          <a:xfrm>
            <a:off x="2137410" y="4270248"/>
            <a:ext cx="960000" cy="9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800"/>
              <a:buFont typeface="Calibri"/>
              <a:buNone/>
            </a:pPr>
            <a:r>
              <a:rPr b="1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MGTC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8" name="Google Shape;3298;p37"/>
          <p:cNvSpPr txBox="1"/>
          <p:nvPr/>
        </p:nvSpPr>
        <p:spPr>
          <a:xfrm>
            <a:off x="3152394" y="4270248"/>
            <a:ext cx="457200" cy="9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35 cm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9" name="Google Shape;3299;p37"/>
          <p:cNvSpPr/>
          <p:nvPr/>
        </p:nvSpPr>
        <p:spPr>
          <a:xfrm>
            <a:off x="2137410" y="5237697"/>
            <a:ext cx="960000" cy="690900"/>
          </a:xfrm>
          <a:prstGeom prst="rect">
            <a:avLst/>
          </a:prstGeom>
          <a:solidFill>
            <a:srgbClr val="F2B98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0" name="Google Shape;3300;p37"/>
          <p:cNvSpPr txBox="1"/>
          <p:nvPr/>
        </p:nvSpPr>
        <p:spPr>
          <a:xfrm>
            <a:off x="2137410" y="5237697"/>
            <a:ext cx="960000" cy="69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800"/>
              <a:buFont typeface="Calibri"/>
              <a:buNone/>
            </a:pPr>
            <a:r>
              <a:rPr b="1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Material de préstamo estabilizado con cal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1" name="Google Shape;3301;p37"/>
          <p:cNvSpPr txBox="1"/>
          <p:nvPr/>
        </p:nvSpPr>
        <p:spPr>
          <a:xfrm>
            <a:off x="3152394" y="5237697"/>
            <a:ext cx="457200" cy="69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25 cm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02" name="Google Shape;3302;p37"/>
          <p:cNvCxnSpPr/>
          <p:nvPr/>
        </p:nvCxnSpPr>
        <p:spPr>
          <a:xfrm>
            <a:off x="2045970" y="5928732"/>
            <a:ext cx="1143000" cy="0"/>
          </a:xfrm>
          <a:prstGeom prst="straightConnector1">
            <a:avLst/>
          </a:prstGeom>
          <a:noFill/>
          <a:ln cap="flat" cmpd="sng" w="12700">
            <a:solidFill>
              <a:srgbClr val="1D2B2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03" name="Google Shape;3303;p37"/>
          <p:cNvSpPr txBox="1"/>
          <p:nvPr/>
        </p:nvSpPr>
        <p:spPr>
          <a:xfrm>
            <a:off x="2137410" y="5956164"/>
            <a:ext cx="960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00"/>
              <a:buFont typeface="Calibri"/>
              <a:buNone/>
            </a:pP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Subrasante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4" name="Google Shape;3304;p37"/>
          <p:cNvSpPr txBox="1"/>
          <p:nvPr/>
        </p:nvSpPr>
        <p:spPr>
          <a:xfrm>
            <a:off x="2034540" y="6203052"/>
            <a:ext cx="1577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Espesor total: </a:t>
            </a:r>
            <a:r>
              <a:rPr b="1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60 cm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305" name="Google Shape;3305;p37"/>
          <p:cNvGraphicFramePr/>
          <p:nvPr/>
        </p:nvGraphicFramePr>
        <p:xfrm>
          <a:off x="3840480" y="24231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{2219430B-40B1-4F13-8D99-EA5D7966678A}</a:tableStyleId>
              </a:tblPr>
              <a:tblGrid>
                <a:gridCol w="2395725"/>
                <a:gridCol w="1097275"/>
                <a:gridCol w="603500"/>
                <a:gridCol w="1097275"/>
                <a:gridCol w="603500"/>
                <a:gridCol w="237750"/>
                <a:gridCol w="1097275"/>
                <a:gridCol w="758950"/>
              </a:tblGrid>
              <a:tr h="438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Grupo – actividad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Valor contractual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 sobre corredor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Valor proyectado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 sobre corredor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Variación (valor adicional)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 de variación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</a:tr>
              <a:tr h="27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Construcción de alcantarillas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$ 2.822.725.301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14,05%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$ 1.618.590.308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4,61%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>
                          <a:solidFill>
                            <a:srgbClr val="0B5D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▼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0B5D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–$ 1.204.134.993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0B5D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–42,7 %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Construcción de cunetas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$ 3.108.608.497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15,47%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$ 4.352.051.896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12,40%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>
                          <a:solidFill>
                            <a:srgbClr val="B32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▲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$ 1.243.443.399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40,0 %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27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Construcción de filtros para cunetas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$ 3.542.760.561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17,64%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$ 5.062.940.625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14,42%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>
                          <a:solidFill>
                            <a:srgbClr val="B32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▲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$ 1.520.180.064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42,9 %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Construcción de bordillos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$ 461.834.987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2,30%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$ 461.834.987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1,32%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0,0 %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27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Construcción de disipadores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$ 389.847.898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1,94%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$ 389.847.898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1,11%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0,0 %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Estabilización con material granular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$ 9.483.261.960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47,21%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$ 13.977.986.206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39,82%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B32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▲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$ 4.494.724.246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47,4 %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27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Señalización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$ 280.271.025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1,40%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$ 280.271.025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0,80%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0,0 %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Actividades no previstas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50"/>
                        <a:buFont typeface="Calibri"/>
                        <a:buNone/>
                      </a:pPr>
                      <a:r>
                        <a:t/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50"/>
                        <a:buFont typeface="Calibri"/>
                        <a:buNone/>
                      </a:pPr>
                      <a:r>
                        <a:t/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$ 8.958.369.258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25,52%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>
                          <a:solidFill>
                            <a:srgbClr val="B32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▲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$ 8.958.369.258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B65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N/A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27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CORREDOR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$ 20.089.310.229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100%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$ 35.101.892.203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100%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B32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▲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+$ 15.012.581.974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74,7 %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</a:tr>
            </a:tbl>
          </a:graphicData>
        </a:graphic>
      </p:graphicFrame>
      <p:sp>
        <p:nvSpPr>
          <p:cNvPr id="3306" name="Google Shape;3306;p37"/>
          <p:cNvSpPr txBox="1"/>
          <p:nvPr/>
        </p:nvSpPr>
        <p:spPr>
          <a:xfrm>
            <a:off x="3840480" y="5413248"/>
            <a:ext cx="7891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261E"/>
              </a:buClr>
              <a:buSzPts val="900"/>
              <a:buFont typeface="Arial"/>
              <a:buNone/>
            </a:pPr>
            <a:r>
              <a:rPr b="0" i="0" lang="es-CO" sz="900" u="none" cap="none" strike="noStrike">
                <a:solidFill>
                  <a:srgbClr val="B3261E"/>
                </a:solidFill>
                <a:latin typeface="Arial"/>
                <a:ea typeface="Arial"/>
                <a:cs typeface="Arial"/>
                <a:sym typeface="Arial"/>
              </a:rPr>
              <a:t>▲</a:t>
            </a: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 Se requiere mayor valor     </a:t>
            </a:r>
            <a:r>
              <a:rPr b="0" i="0" lang="es-CO" sz="900" u="none" cap="none" strike="noStrike">
                <a:solidFill>
                  <a:srgbClr val="0B5D2E"/>
                </a:solidFill>
                <a:latin typeface="Arial"/>
                <a:ea typeface="Arial"/>
                <a:cs typeface="Arial"/>
                <a:sym typeface="Arial"/>
              </a:rPr>
              <a:t>▼</a:t>
            </a: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 Sobra valor     % de variación = (valor proyectado – valor contractual) / valor contractual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7" name="Google Shape;3307;p37"/>
          <p:cNvSpPr/>
          <p:nvPr/>
        </p:nvSpPr>
        <p:spPr>
          <a:xfrm>
            <a:off x="3840480" y="5687568"/>
            <a:ext cx="7891200" cy="850500"/>
          </a:xfrm>
          <a:prstGeom prst="roundRect">
            <a:avLst>
              <a:gd fmla="val 6452" name="adj"/>
            </a:avLst>
          </a:prstGeom>
          <a:solidFill>
            <a:srgbClr val="FFFFFF"/>
          </a:solidFill>
          <a:ln cap="flat" cmpd="sng" w="12700">
            <a:solidFill>
              <a:srgbClr val="9AA7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00" lIns="1000" spcFirstLastPara="1" rIns="1500" wrap="square" tIns="15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100"/>
              <a:buFont typeface="Calibri"/>
              <a:buNone/>
            </a:pPr>
            <a:r>
              <a:rPr b="1" i="0" lang="es-CO" sz="11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Notas: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12" name="Shape 3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3" name="Google Shape;3313;p38"/>
          <p:cNvSpPr txBox="1"/>
          <p:nvPr/>
        </p:nvSpPr>
        <p:spPr>
          <a:xfrm>
            <a:off x="457200" y="336082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1200"/>
              <a:buFont typeface="Calibri"/>
              <a:buNone/>
            </a:pPr>
            <a:r>
              <a:rPr b="1" i="0" lang="es-CO" sz="1200" u="none" cap="none" strike="noStrike">
                <a:solidFill>
                  <a:srgbClr val="2E7D4F"/>
                </a:solidFill>
                <a:latin typeface="Poppins"/>
                <a:ea typeface="Poppins"/>
                <a:cs typeface="Poppins"/>
                <a:sym typeface="Poppins"/>
              </a:rPr>
              <a:t>INFORME DE EJECUCIÓN  ·  LOTE 6 – SUBREGIÓN NORDESTE</a:t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14" name="Google Shape;3314;p38"/>
          <p:cNvSpPr txBox="1"/>
          <p:nvPr/>
        </p:nvSpPr>
        <p:spPr>
          <a:xfrm>
            <a:off x="457200" y="594360"/>
            <a:ext cx="9692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2800"/>
              <a:buFont typeface="Calibri"/>
              <a:buNone/>
            </a:pPr>
            <a:r>
              <a:rPr b="1" i="0" lang="es-CO" sz="28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Caramanta – Cristales – San Roque</a:t>
            </a:r>
            <a:endParaRPr b="0" i="0" sz="2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descr="logo.png" id="3315" name="Google Shape;3315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78440" y="320040"/>
            <a:ext cx="1371600" cy="676656"/>
          </a:xfrm>
          <a:prstGeom prst="rect">
            <a:avLst/>
          </a:prstGeom>
          <a:noFill/>
          <a:ln>
            <a:noFill/>
          </a:ln>
        </p:spPr>
      </p:pic>
      <p:sp>
        <p:nvSpPr>
          <p:cNvPr id="3316" name="Google Shape;3316;p38"/>
          <p:cNvSpPr/>
          <p:nvPr/>
        </p:nvSpPr>
        <p:spPr>
          <a:xfrm>
            <a:off x="457200" y="1234440"/>
            <a:ext cx="1765249" cy="658368"/>
          </a:xfrm>
          <a:prstGeom prst="roundRect">
            <a:avLst>
              <a:gd fmla="val 1111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7" name="Google Shape;3317;p38"/>
          <p:cNvSpPr txBox="1"/>
          <p:nvPr/>
        </p:nvSpPr>
        <p:spPr>
          <a:xfrm>
            <a:off x="566928" y="1289304"/>
            <a:ext cx="154579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50"/>
              <a:buFont typeface="Calibri"/>
              <a:buNone/>
            </a:pPr>
            <a:r>
              <a:rPr b="0" i="0" lang="es-CO" sz="9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Longitud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8" name="Google Shape;3318;p38"/>
          <p:cNvSpPr txBox="1"/>
          <p:nvPr/>
        </p:nvSpPr>
        <p:spPr>
          <a:xfrm>
            <a:off x="566928" y="1453896"/>
            <a:ext cx="154579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20,64 km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9" name="Google Shape;3319;p38"/>
          <p:cNvSpPr txBox="1"/>
          <p:nvPr/>
        </p:nvSpPr>
        <p:spPr>
          <a:xfrm>
            <a:off x="566928" y="1700784"/>
            <a:ext cx="1545793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00"/>
              <a:buFont typeface="Calibri"/>
              <a:buNone/>
            </a:pP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Alcance real 11,81 km · dif. 8,83 km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0" name="Google Shape;3320;p38"/>
          <p:cNvSpPr/>
          <p:nvPr/>
        </p:nvSpPr>
        <p:spPr>
          <a:xfrm>
            <a:off x="2359609" y="1234440"/>
            <a:ext cx="1765249" cy="658368"/>
          </a:xfrm>
          <a:prstGeom prst="roundRect">
            <a:avLst>
              <a:gd fmla="val 1111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1" name="Google Shape;3321;p38"/>
          <p:cNvSpPr txBox="1"/>
          <p:nvPr/>
        </p:nvSpPr>
        <p:spPr>
          <a:xfrm>
            <a:off x="2469337" y="1289304"/>
            <a:ext cx="154579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50"/>
              <a:buFont typeface="Calibri"/>
              <a:buNone/>
            </a:pPr>
            <a:r>
              <a:rPr b="0" i="0" lang="es-CO" sz="9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Valor total del corredor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2" name="Google Shape;3322;p38"/>
          <p:cNvSpPr txBox="1"/>
          <p:nvPr/>
        </p:nvSpPr>
        <p:spPr>
          <a:xfrm>
            <a:off x="2469337" y="1453896"/>
            <a:ext cx="154579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$ 20.089.310.229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3" name="Google Shape;3323;p38"/>
          <p:cNvSpPr txBox="1"/>
          <p:nvPr/>
        </p:nvSpPr>
        <p:spPr>
          <a:xfrm>
            <a:off x="2469337" y="1700784"/>
            <a:ext cx="1545793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00"/>
              <a:buFont typeface="Calibri"/>
              <a:buNone/>
            </a:pP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$ 973.319.294 por km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4" name="Google Shape;3324;p38"/>
          <p:cNvSpPr/>
          <p:nvPr/>
        </p:nvSpPr>
        <p:spPr>
          <a:xfrm>
            <a:off x="4262018" y="1234440"/>
            <a:ext cx="1765249" cy="658368"/>
          </a:xfrm>
          <a:prstGeom prst="roundRect">
            <a:avLst>
              <a:gd fmla="val 11111" name="adj"/>
            </a:avLst>
          </a:prstGeom>
          <a:solidFill>
            <a:srgbClr val="FBEAEA"/>
          </a:solidFill>
          <a:ln cap="flat" cmpd="sng" w="12700">
            <a:solidFill>
              <a:srgbClr val="FBEA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5" name="Google Shape;3325;p38"/>
          <p:cNvSpPr txBox="1"/>
          <p:nvPr/>
        </p:nvSpPr>
        <p:spPr>
          <a:xfrm>
            <a:off x="4371746" y="1289304"/>
            <a:ext cx="154579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50"/>
              <a:buFont typeface="Calibri"/>
              <a:buNone/>
            </a:pPr>
            <a:r>
              <a:rPr b="0" i="0" lang="es-CO" sz="9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Avance físico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6" name="Google Shape;3326;p38"/>
          <p:cNvSpPr txBox="1"/>
          <p:nvPr/>
        </p:nvSpPr>
        <p:spPr>
          <a:xfrm>
            <a:off x="4371746" y="1453896"/>
            <a:ext cx="154579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261E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B3261E"/>
                </a:solidFill>
                <a:latin typeface="Calibri"/>
                <a:ea typeface="Calibri"/>
                <a:cs typeface="Calibri"/>
                <a:sym typeface="Calibri"/>
              </a:rPr>
              <a:t>1,79 %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7" name="Google Shape;3327;p38"/>
          <p:cNvSpPr txBox="1"/>
          <p:nvPr/>
        </p:nvSpPr>
        <p:spPr>
          <a:xfrm>
            <a:off x="4371746" y="1700784"/>
            <a:ext cx="1545793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00"/>
              <a:buFont typeface="Calibri"/>
              <a:buNone/>
            </a:pP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Frente a 59,5 % del plazo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8" name="Google Shape;3328;p38"/>
          <p:cNvSpPr/>
          <p:nvPr/>
        </p:nvSpPr>
        <p:spPr>
          <a:xfrm>
            <a:off x="6164428" y="1234440"/>
            <a:ext cx="1765249" cy="658368"/>
          </a:xfrm>
          <a:prstGeom prst="roundRect">
            <a:avLst>
              <a:gd fmla="val 1111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9" name="Google Shape;3329;p38"/>
          <p:cNvSpPr txBox="1"/>
          <p:nvPr/>
        </p:nvSpPr>
        <p:spPr>
          <a:xfrm>
            <a:off x="6274156" y="1289304"/>
            <a:ext cx="154579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50"/>
              <a:buFont typeface="Calibri"/>
              <a:buNone/>
            </a:pPr>
            <a:r>
              <a:rPr b="0" i="0" lang="es-CO" sz="9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Avance financiero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0" name="Google Shape;3330;p38"/>
          <p:cNvSpPr txBox="1"/>
          <p:nvPr/>
        </p:nvSpPr>
        <p:spPr>
          <a:xfrm>
            <a:off x="6274156" y="1453896"/>
            <a:ext cx="154579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0,00 %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1" name="Google Shape;3331;p38"/>
          <p:cNvSpPr/>
          <p:nvPr/>
        </p:nvSpPr>
        <p:spPr>
          <a:xfrm>
            <a:off x="8066837" y="1234440"/>
            <a:ext cx="1765249" cy="658368"/>
          </a:xfrm>
          <a:prstGeom prst="roundRect">
            <a:avLst>
              <a:gd fmla="val 1111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2" name="Google Shape;3332;p38"/>
          <p:cNvSpPr txBox="1"/>
          <p:nvPr/>
        </p:nvSpPr>
        <p:spPr>
          <a:xfrm>
            <a:off x="8176565" y="1289304"/>
            <a:ext cx="154579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50"/>
              <a:buFont typeface="Calibri"/>
              <a:buNone/>
            </a:pPr>
            <a:r>
              <a:rPr b="0" i="0" lang="es-CO" sz="9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Plazo transcurrido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3" name="Google Shape;3333;p38"/>
          <p:cNvSpPr txBox="1"/>
          <p:nvPr/>
        </p:nvSpPr>
        <p:spPr>
          <a:xfrm>
            <a:off x="8176565" y="1453896"/>
            <a:ext cx="154579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59,5 %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4" name="Google Shape;3334;p38"/>
          <p:cNvSpPr txBox="1"/>
          <p:nvPr/>
        </p:nvSpPr>
        <p:spPr>
          <a:xfrm>
            <a:off x="8176565" y="1700784"/>
            <a:ext cx="1545793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00"/>
              <a:buFont typeface="Calibri"/>
              <a:buNone/>
            </a:pP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7,7 de 13 meses (al 02/10/2026)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5" name="Google Shape;3335;p38"/>
          <p:cNvSpPr/>
          <p:nvPr/>
        </p:nvSpPr>
        <p:spPr>
          <a:xfrm>
            <a:off x="9969246" y="1234440"/>
            <a:ext cx="1765249" cy="658368"/>
          </a:xfrm>
          <a:prstGeom prst="roundRect">
            <a:avLst>
              <a:gd fmla="val 1111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6" name="Google Shape;3336;p38"/>
          <p:cNvSpPr txBox="1"/>
          <p:nvPr/>
        </p:nvSpPr>
        <p:spPr>
          <a:xfrm>
            <a:off x="10078974" y="1289304"/>
            <a:ext cx="1545793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Inicio: </a:t>
            </a: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10/02/2026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Terminación: </a:t>
            </a: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10/03/2027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Corte: </a:t>
            </a: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25/09/2026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7" name="Google Shape;3337;p38"/>
          <p:cNvSpPr txBox="1"/>
          <p:nvPr/>
        </p:nvSpPr>
        <p:spPr>
          <a:xfrm>
            <a:off x="457200" y="1956816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1000"/>
              <a:buFont typeface="Calibri"/>
              <a:buNone/>
            </a:pPr>
            <a:r>
              <a:rPr b="1" i="0" lang="es-CO" sz="10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AVANCE POR ABSCISA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38" name="Google Shape;3338;p38"/>
          <p:cNvCxnSpPr/>
          <p:nvPr/>
        </p:nvCxnSpPr>
        <p:spPr>
          <a:xfrm>
            <a:off x="2103120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39" name="Google Shape;3339;p38"/>
          <p:cNvCxnSpPr/>
          <p:nvPr/>
        </p:nvCxnSpPr>
        <p:spPr>
          <a:xfrm>
            <a:off x="2541713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40" name="Google Shape;3340;p38"/>
          <p:cNvCxnSpPr/>
          <p:nvPr/>
        </p:nvCxnSpPr>
        <p:spPr>
          <a:xfrm>
            <a:off x="2980306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41" name="Google Shape;3341;p38"/>
          <p:cNvCxnSpPr/>
          <p:nvPr/>
        </p:nvCxnSpPr>
        <p:spPr>
          <a:xfrm>
            <a:off x="3418899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42" name="Google Shape;3342;p38"/>
          <p:cNvCxnSpPr/>
          <p:nvPr/>
        </p:nvCxnSpPr>
        <p:spPr>
          <a:xfrm>
            <a:off x="3857492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43" name="Google Shape;3343;p38"/>
          <p:cNvCxnSpPr/>
          <p:nvPr/>
        </p:nvCxnSpPr>
        <p:spPr>
          <a:xfrm>
            <a:off x="4296085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44" name="Google Shape;3344;p38"/>
          <p:cNvCxnSpPr/>
          <p:nvPr/>
        </p:nvCxnSpPr>
        <p:spPr>
          <a:xfrm>
            <a:off x="4734678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45" name="Google Shape;3345;p38"/>
          <p:cNvCxnSpPr/>
          <p:nvPr/>
        </p:nvCxnSpPr>
        <p:spPr>
          <a:xfrm>
            <a:off x="5173271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46" name="Google Shape;3346;p38"/>
          <p:cNvSpPr txBox="1"/>
          <p:nvPr/>
        </p:nvSpPr>
        <p:spPr>
          <a:xfrm>
            <a:off x="1874520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7" name="Google Shape;3347;p38"/>
          <p:cNvSpPr txBox="1"/>
          <p:nvPr/>
        </p:nvSpPr>
        <p:spPr>
          <a:xfrm>
            <a:off x="2751706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8" name="Google Shape;3348;p38"/>
          <p:cNvSpPr txBox="1"/>
          <p:nvPr/>
        </p:nvSpPr>
        <p:spPr>
          <a:xfrm>
            <a:off x="3628892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K4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9" name="Google Shape;3349;p38"/>
          <p:cNvSpPr txBox="1"/>
          <p:nvPr/>
        </p:nvSpPr>
        <p:spPr>
          <a:xfrm>
            <a:off x="2103120" y="1975104"/>
            <a:ext cx="3070151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850"/>
              <a:buFont typeface="Calibri"/>
              <a:buNone/>
            </a:pPr>
            <a:r>
              <a:rPr b="1" i="0" lang="es-CO" sz="85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E-3a Caramanta – Cristales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50" name="Google Shape;3350;p38"/>
          <p:cNvCxnSpPr/>
          <p:nvPr/>
        </p:nvCxnSpPr>
        <p:spPr>
          <a:xfrm>
            <a:off x="5173271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51" name="Google Shape;3351;p38"/>
          <p:cNvCxnSpPr/>
          <p:nvPr/>
        </p:nvCxnSpPr>
        <p:spPr>
          <a:xfrm>
            <a:off x="5611864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52" name="Google Shape;3352;p38"/>
          <p:cNvCxnSpPr/>
          <p:nvPr/>
        </p:nvCxnSpPr>
        <p:spPr>
          <a:xfrm>
            <a:off x="6050457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53" name="Google Shape;3353;p38"/>
          <p:cNvCxnSpPr/>
          <p:nvPr/>
        </p:nvCxnSpPr>
        <p:spPr>
          <a:xfrm>
            <a:off x="6489050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54" name="Google Shape;3354;p38"/>
          <p:cNvCxnSpPr/>
          <p:nvPr/>
        </p:nvCxnSpPr>
        <p:spPr>
          <a:xfrm>
            <a:off x="6927643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55" name="Google Shape;3355;p38"/>
          <p:cNvCxnSpPr/>
          <p:nvPr/>
        </p:nvCxnSpPr>
        <p:spPr>
          <a:xfrm>
            <a:off x="7366236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56" name="Google Shape;3356;p38"/>
          <p:cNvCxnSpPr/>
          <p:nvPr/>
        </p:nvCxnSpPr>
        <p:spPr>
          <a:xfrm>
            <a:off x="7804829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57" name="Google Shape;3357;p38"/>
          <p:cNvCxnSpPr/>
          <p:nvPr/>
        </p:nvCxnSpPr>
        <p:spPr>
          <a:xfrm>
            <a:off x="8243422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58" name="Google Shape;3358;p38"/>
          <p:cNvCxnSpPr/>
          <p:nvPr/>
        </p:nvCxnSpPr>
        <p:spPr>
          <a:xfrm>
            <a:off x="8682015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59" name="Google Shape;3359;p38"/>
          <p:cNvCxnSpPr/>
          <p:nvPr/>
        </p:nvCxnSpPr>
        <p:spPr>
          <a:xfrm>
            <a:off x="9120608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60" name="Google Shape;3360;p38"/>
          <p:cNvCxnSpPr/>
          <p:nvPr/>
        </p:nvCxnSpPr>
        <p:spPr>
          <a:xfrm>
            <a:off x="9559201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61" name="Google Shape;3361;p38"/>
          <p:cNvCxnSpPr/>
          <p:nvPr/>
        </p:nvCxnSpPr>
        <p:spPr>
          <a:xfrm>
            <a:off x="9997794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62" name="Google Shape;3362;p38"/>
          <p:cNvCxnSpPr/>
          <p:nvPr/>
        </p:nvCxnSpPr>
        <p:spPr>
          <a:xfrm>
            <a:off x="10436387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63" name="Google Shape;3363;p38"/>
          <p:cNvCxnSpPr/>
          <p:nvPr/>
        </p:nvCxnSpPr>
        <p:spPr>
          <a:xfrm>
            <a:off x="10874980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64" name="Google Shape;3364;p38"/>
          <p:cNvSpPr txBox="1"/>
          <p:nvPr/>
        </p:nvSpPr>
        <p:spPr>
          <a:xfrm>
            <a:off x="4944671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5" name="Google Shape;3365;p38"/>
          <p:cNvSpPr txBox="1"/>
          <p:nvPr/>
        </p:nvSpPr>
        <p:spPr>
          <a:xfrm>
            <a:off x="5821857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6" name="Google Shape;3366;p38"/>
          <p:cNvSpPr txBox="1"/>
          <p:nvPr/>
        </p:nvSpPr>
        <p:spPr>
          <a:xfrm>
            <a:off x="6699043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K4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7" name="Google Shape;3367;p38"/>
          <p:cNvSpPr txBox="1"/>
          <p:nvPr/>
        </p:nvSpPr>
        <p:spPr>
          <a:xfrm>
            <a:off x="7576229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8" name="Google Shape;3368;p38"/>
          <p:cNvSpPr txBox="1"/>
          <p:nvPr/>
        </p:nvSpPr>
        <p:spPr>
          <a:xfrm>
            <a:off x="8453415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K8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9" name="Google Shape;3369;p38"/>
          <p:cNvSpPr txBox="1"/>
          <p:nvPr/>
        </p:nvSpPr>
        <p:spPr>
          <a:xfrm>
            <a:off x="9330601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K10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0" name="Google Shape;3370;p38"/>
          <p:cNvSpPr txBox="1"/>
          <p:nvPr/>
        </p:nvSpPr>
        <p:spPr>
          <a:xfrm>
            <a:off x="10207787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K12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1" name="Google Shape;3371;p38"/>
          <p:cNvSpPr txBox="1"/>
          <p:nvPr/>
        </p:nvSpPr>
        <p:spPr>
          <a:xfrm>
            <a:off x="10835640" y="2139696"/>
            <a:ext cx="54864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K13+640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2" name="Google Shape;3372;p38"/>
          <p:cNvSpPr txBox="1"/>
          <p:nvPr/>
        </p:nvSpPr>
        <p:spPr>
          <a:xfrm>
            <a:off x="5173271" y="1975104"/>
            <a:ext cx="5982409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850"/>
              <a:buFont typeface="Calibri"/>
              <a:buNone/>
            </a:pPr>
            <a:r>
              <a:rPr b="1" i="0" lang="es-CO" sz="85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E-3b Cristales – San Roque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3" name="Google Shape;3373;p38"/>
          <p:cNvSpPr/>
          <p:nvPr/>
        </p:nvSpPr>
        <p:spPr>
          <a:xfrm>
            <a:off x="2103120" y="2359152"/>
            <a:ext cx="9052560" cy="73152"/>
          </a:xfrm>
          <a:prstGeom prst="rect">
            <a:avLst/>
          </a:prstGeom>
          <a:solidFill>
            <a:srgbClr val="1F2A36"/>
          </a:solidFill>
          <a:ln cap="flat" cmpd="sng" w="12700">
            <a:solidFill>
              <a:srgbClr val="1F2A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74" name="Google Shape;3374;p38"/>
          <p:cNvCxnSpPr/>
          <p:nvPr/>
        </p:nvCxnSpPr>
        <p:spPr>
          <a:xfrm>
            <a:off x="2139696" y="2395728"/>
            <a:ext cx="8979408" cy="0"/>
          </a:xfrm>
          <a:prstGeom prst="straightConnector1">
            <a:avLst/>
          </a:prstGeom>
          <a:noFill/>
          <a:ln cap="flat" cmpd="sng" w="9525">
            <a:solidFill>
              <a:srgbClr val="F2C94C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375" name="Google Shape;3375;p38"/>
          <p:cNvCxnSpPr/>
          <p:nvPr/>
        </p:nvCxnSpPr>
        <p:spPr>
          <a:xfrm>
            <a:off x="731520" y="2487168"/>
            <a:ext cx="0" cy="338328"/>
          </a:xfrm>
          <a:prstGeom prst="straightConnector1">
            <a:avLst/>
          </a:prstGeom>
          <a:noFill/>
          <a:ln cap="flat" cmpd="sng" w="19050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76" name="Google Shape;3376;p38"/>
          <p:cNvSpPr txBox="1"/>
          <p:nvPr/>
        </p:nvSpPr>
        <p:spPr>
          <a:xfrm rot="-5400000">
            <a:off x="260604" y="2574036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700"/>
              <a:buFont typeface="Calibri"/>
              <a:buNone/>
            </a:pPr>
            <a:r>
              <a:rPr b="1" i="0" lang="es-CO" sz="7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CAMPO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7" name="Google Shape;3377;p38"/>
          <p:cNvSpPr txBox="1"/>
          <p:nvPr/>
        </p:nvSpPr>
        <p:spPr>
          <a:xfrm>
            <a:off x="777240" y="2487168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Topografía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8" name="Google Shape;3378;p38"/>
          <p:cNvSpPr/>
          <p:nvPr/>
        </p:nvSpPr>
        <p:spPr>
          <a:xfrm>
            <a:off x="2103120" y="2487168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9" name="Google Shape;3379;p38"/>
          <p:cNvSpPr/>
          <p:nvPr/>
        </p:nvSpPr>
        <p:spPr>
          <a:xfrm>
            <a:off x="5173271" y="2487168"/>
            <a:ext cx="5982409" cy="155448"/>
          </a:xfrm>
          <a:prstGeom prst="rect">
            <a:avLst/>
          </a:prstGeom>
          <a:solidFill>
            <a:srgbClr val="2E7D4F"/>
          </a:solidFill>
          <a:ln cap="flat" cmpd="sng" w="9525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0" name="Google Shape;3380;p38"/>
          <p:cNvSpPr txBox="1"/>
          <p:nvPr/>
        </p:nvSpPr>
        <p:spPr>
          <a:xfrm>
            <a:off x="11201400" y="2487168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66 %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1" name="Google Shape;3381;p38"/>
          <p:cNvSpPr txBox="1"/>
          <p:nvPr/>
        </p:nvSpPr>
        <p:spPr>
          <a:xfrm>
            <a:off x="777240" y="2670048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Apiques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2" name="Google Shape;3382;p38"/>
          <p:cNvSpPr/>
          <p:nvPr/>
        </p:nvSpPr>
        <p:spPr>
          <a:xfrm>
            <a:off x="2103120" y="2670048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3" name="Google Shape;3383;p38"/>
          <p:cNvSpPr/>
          <p:nvPr/>
        </p:nvSpPr>
        <p:spPr>
          <a:xfrm>
            <a:off x="2103120" y="2670048"/>
            <a:ext cx="9052560" cy="155448"/>
          </a:xfrm>
          <a:prstGeom prst="rect">
            <a:avLst/>
          </a:prstGeom>
          <a:solidFill>
            <a:srgbClr val="2E7D4F"/>
          </a:solidFill>
          <a:ln cap="flat" cmpd="sng" w="9525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4" name="Google Shape;3384;p38"/>
          <p:cNvSpPr txBox="1"/>
          <p:nvPr/>
        </p:nvSpPr>
        <p:spPr>
          <a:xfrm>
            <a:off x="11201400" y="2670048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100 %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85" name="Google Shape;3385;p38"/>
          <p:cNvCxnSpPr/>
          <p:nvPr/>
        </p:nvCxnSpPr>
        <p:spPr>
          <a:xfrm>
            <a:off x="731520" y="2953512"/>
            <a:ext cx="0" cy="466344"/>
          </a:xfrm>
          <a:prstGeom prst="straightConnector1">
            <a:avLst/>
          </a:prstGeom>
          <a:noFill/>
          <a:ln cap="flat" cmpd="sng" w="19050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86" name="Google Shape;3386;p38"/>
          <p:cNvSpPr txBox="1"/>
          <p:nvPr/>
        </p:nvSpPr>
        <p:spPr>
          <a:xfrm rot="-5400000">
            <a:off x="260604" y="3104388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700"/>
              <a:buFont typeface="Calibri"/>
              <a:buNone/>
            </a:pPr>
            <a:r>
              <a:rPr b="1" i="0" lang="es-CO" sz="7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ESTRUCTURA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7" name="Google Shape;3387;p38"/>
          <p:cNvSpPr txBox="1"/>
          <p:nvPr/>
        </p:nvSpPr>
        <p:spPr>
          <a:xfrm>
            <a:off x="777240" y="2953512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Rodadura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8" name="Google Shape;3388;p38"/>
          <p:cNvSpPr/>
          <p:nvPr/>
        </p:nvSpPr>
        <p:spPr>
          <a:xfrm>
            <a:off x="2103120" y="2953512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9" name="Google Shape;3389;p38"/>
          <p:cNvSpPr txBox="1"/>
          <p:nvPr/>
        </p:nvSpPr>
        <p:spPr>
          <a:xfrm>
            <a:off x="11201400" y="2953512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0" name="Google Shape;3390;p38"/>
          <p:cNvSpPr txBox="1"/>
          <p:nvPr/>
        </p:nvSpPr>
        <p:spPr>
          <a:xfrm>
            <a:off x="777240" y="3108960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Capa granular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1" name="Google Shape;3391;p38"/>
          <p:cNvSpPr/>
          <p:nvPr/>
        </p:nvSpPr>
        <p:spPr>
          <a:xfrm>
            <a:off x="2103120" y="3108960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2" name="Google Shape;3392;p38"/>
          <p:cNvSpPr txBox="1"/>
          <p:nvPr/>
        </p:nvSpPr>
        <p:spPr>
          <a:xfrm>
            <a:off x="11201400" y="3108960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3" name="Google Shape;3393;p38"/>
          <p:cNvSpPr txBox="1"/>
          <p:nvPr/>
        </p:nvSpPr>
        <p:spPr>
          <a:xfrm>
            <a:off x="777240" y="3264408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Subrasante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4" name="Google Shape;3394;p38"/>
          <p:cNvSpPr/>
          <p:nvPr/>
        </p:nvSpPr>
        <p:spPr>
          <a:xfrm>
            <a:off x="2103120" y="3264408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5" name="Google Shape;3395;p38"/>
          <p:cNvSpPr/>
          <p:nvPr/>
        </p:nvSpPr>
        <p:spPr>
          <a:xfrm>
            <a:off x="9537272" y="3264408"/>
            <a:ext cx="1118412" cy="155448"/>
          </a:xfrm>
          <a:prstGeom prst="rect">
            <a:avLst/>
          </a:prstGeom>
          <a:solidFill>
            <a:srgbClr val="DCCFC3"/>
          </a:solidFill>
          <a:ln cap="flat" cmpd="sng" w="9525">
            <a:solidFill>
              <a:srgbClr val="DCCF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6" name="Google Shape;3396;p38"/>
          <p:cNvSpPr/>
          <p:nvPr/>
        </p:nvSpPr>
        <p:spPr>
          <a:xfrm>
            <a:off x="9537272" y="3264408"/>
            <a:ext cx="27432" cy="155448"/>
          </a:xfrm>
          <a:prstGeom prst="rect">
            <a:avLst/>
          </a:prstGeom>
          <a:solidFill>
            <a:srgbClr val="8C6A4F"/>
          </a:solidFill>
          <a:ln cap="flat" cmpd="sng" w="9525">
            <a:solidFill>
              <a:srgbClr val="8C6A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7" name="Google Shape;3397;p38"/>
          <p:cNvSpPr/>
          <p:nvPr/>
        </p:nvSpPr>
        <p:spPr>
          <a:xfrm>
            <a:off x="9743410" y="3264408"/>
            <a:ext cx="48245" cy="155448"/>
          </a:xfrm>
          <a:prstGeom prst="rect">
            <a:avLst/>
          </a:prstGeom>
          <a:solidFill>
            <a:srgbClr val="8C6A4F"/>
          </a:solidFill>
          <a:ln cap="flat" cmpd="sng" w="9525">
            <a:solidFill>
              <a:srgbClr val="8C6A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8" name="Google Shape;3398;p38"/>
          <p:cNvSpPr/>
          <p:nvPr/>
        </p:nvSpPr>
        <p:spPr>
          <a:xfrm>
            <a:off x="9835515" y="3264408"/>
            <a:ext cx="100876" cy="155448"/>
          </a:xfrm>
          <a:prstGeom prst="rect">
            <a:avLst/>
          </a:prstGeom>
          <a:solidFill>
            <a:srgbClr val="8C6A4F"/>
          </a:solidFill>
          <a:ln cap="flat" cmpd="sng" w="9525">
            <a:solidFill>
              <a:srgbClr val="8C6A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9" name="Google Shape;3399;p38"/>
          <p:cNvSpPr/>
          <p:nvPr/>
        </p:nvSpPr>
        <p:spPr>
          <a:xfrm>
            <a:off x="10010952" y="3264408"/>
            <a:ext cx="61403" cy="155448"/>
          </a:xfrm>
          <a:prstGeom prst="rect">
            <a:avLst/>
          </a:prstGeom>
          <a:solidFill>
            <a:srgbClr val="8C6A4F"/>
          </a:solidFill>
          <a:ln cap="flat" cmpd="sng" w="9525">
            <a:solidFill>
              <a:srgbClr val="8C6A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0" name="Google Shape;3400;p38"/>
          <p:cNvSpPr/>
          <p:nvPr/>
        </p:nvSpPr>
        <p:spPr>
          <a:xfrm>
            <a:off x="10120600" y="3264408"/>
            <a:ext cx="438593" cy="155448"/>
          </a:xfrm>
          <a:prstGeom prst="rect">
            <a:avLst/>
          </a:prstGeom>
          <a:solidFill>
            <a:srgbClr val="8C6A4F"/>
          </a:solidFill>
          <a:ln cap="flat" cmpd="sng" w="9525">
            <a:solidFill>
              <a:srgbClr val="8C6A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1" name="Google Shape;3401;p38"/>
          <p:cNvSpPr txBox="1"/>
          <p:nvPr/>
        </p:nvSpPr>
        <p:spPr>
          <a:xfrm>
            <a:off x="11201400" y="3264408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11 %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02" name="Google Shape;3402;p38"/>
          <p:cNvCxnSpPr/>
          <p:nvPr/>
        </p:nvCxnSpPr>
        <p:spPr>
          <a:xfrm>
            <a:off x="731520" y="3511296"/>
            <a:ext cx="0" cy="521208"/>
          </a:xfrm>
          <a:prstGeom prst="straightConnector1">
            <a:avLst/>
          </a:prstGeom>
          <a:noFill/>
          <a:ln cap="flat" cmpd="sng" w="19050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03" name="Google Shape;3403;p38"/>
          <p:cNvSpPr txBox="1"/>
          <p:nvPr/>
        </p:nvSpPr>
        <p:spPr>
          <a:xfrm rot="-5400000">
            <a:off x="260604" y="3689604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700"/>
              <a:buFont typeface="Calibri"/>
              <a:buNone/>
            </a:pPr>
            <a:r>
              <a:rPr b="1" i="0" lang="es-CO" sz="7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DRENAJE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4" name="Google Shape;3404;p38"/>
          <p:cNvSpPr txBox="1"/>
          <p:nvPr/>
        </p:nvSpPr>
        <p:spPr>
          <a:xfrm>
            <a:off x="777240" y="3511296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Cunetas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5" name="Google Shape;3405;p38"/>
          <p:cNvSpPr/>
          <p:nvPr/>
        </p:nvSpPr>
        <p:spPr>
          <a:xfrm>
            <a:off x="2103120" y="3511296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6" name="Google Shape;3406;p38"/>
          <p:cNvSpPr txBox="1"/>
          <p:nvPr/>
        </p:nvSpPr>
        <p:spPr>
          <a:xfrm>
            <a:off x="11201400" y="3511296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7" name="Google Shape;3407;p38"/>
          <p:cNvSpPr txBox="1"/>
          <p:nvPr/>
        </p:nvSpPr>
        <p:spPr>
          <a:xfrm>
            <a:off x="777240" y="3694176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Filtros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8" name="Google Shape;3408;p38"/>
          <p:cNvSpPr txBox="1"/>
          <p:nvPr/>
        </p:nvSpPr>
        <p:spPr>
          <a:xfrm>
            <a:off x="1920240" y="3694176"/>
            <a:ext cx="137160" cy="777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700"/>
              <a:buFont typeface="Calibri"/>
              <a:buNone/>
            </a:pPr>
            <a:r>
              <a:rPr b="0" i="0" lang="es-CO" sz="7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9" name="Google Shape;3409;p38"/>
          <p:cNvSpPr txBox="1"/>
          <p:nvPr/>
        </p:nvSpPr>
        <p:spPr>
          <a:xfrm>
            <a:off x="1920240" y="3771900"/>
            <a:ext cx="137160" cy="777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700"/>
              <a:buFont typeface="Calibri"/>
              <a:buNone/>
            </a:pPr>
            <a:r>
              <a:rPr b="0" i="0" lang="es-CO" sz="7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0" name="Google Shape;3410;p38"/>
          <p:cNvSpPr/>
          <p:nvPr/>
        </p:nvSpPr>
        <p:spPr>
          <a:xfrm>
            <a:off x="2103120" y="3694176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11" name="Google Shape;3411;p38"/>
          <p:cNvCxnSpPr/>
          <p:nvPr/>
        </p:nvCxnSpPr>
        <p:spPr>
          <a:xfrm>
            <a:off x="2103120" y="3771900"/>
            <a:ext cx="9052560" cy="0"/>
          </a:xfrm>
          <a:prstGeom prst="straightConnector1">
            <a:avLst/>
          </a:prstGeom>
          <a:noFill/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12" name="Google Shape;3412;p38"/>
          <p:cNvSpPr txBox="1"/>
          <p:nvPr/>
        </p:nvSpPr>
        <p:spPr>
          <a:xfrm>
            <a:off x="11201400" y="3694176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3" name="Google Shape;3413;p38"/>
          <p:cNvSpPr txBox="1"/>
          <p:nvPr/>
        </p:nvSpPr>
        <p:spPr>
          <a:xfrm>
            <a:off x="777240" y="3877056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Alcantarillas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4" name="Google Shape;3414;p38"/>
          <p:cNvSpPr/>
          <p:nvPr/>
        </p:nvSpPr>
        <p:spPr>
          <a:xfrm>
            <a:off x="2103120" y="3877056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5" name="Google Shape;3415;p38"/>
          <p:cNvSpPr txBox="1"/>
          <p:nvPr/>
        </p:nvSpPr>
        <p:spPr>
          <a:xfrm>
            <a:off x="11201400" y="3877056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70 %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16" name="Google Shape;3416;p38"/>
          <p:cNvCxnSpPr/>
          <p:nvPr/>
        </p:nvCxnSpPr>
        <p:spPr>
          <a:xfrm>
            <a:off x="5173271" y="2139696"/>
            <a:ext cx="0" cy="1892808"/>
          </a:xfrm>
          <a:prstGeom prst="straightConnector1">
            <a:avLst/>
          </a:prstGeom>
          <a:noFill/>
          <a:ln cap="flat" cmpd="sng" w="15875">
            <a:solidFill>
              <a:srgbClr val="1D2B24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417" name="Google Shape;3417;p38"/>
          <p:cNvSpPr txBox="1"/>
          <p:nvPr/>
        </p:nvSpPr>
        <p:spPr>
          <a:xfrm>
            <a:off x="457200" y="4078224"/>
            <a:ext cx="11277295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D9A6"/>
              </a:buClr>
              <a:buSzPts val="800"/>
              <a:buFont typeface="Calibri"/>
              <a:buNone/>
            </a:pPr>
            <a:r>
              <a:rPr b="0" i="0" lang="es-CO" sz="800" u="none" cap="none" strike="noStrike">
                <a:solidFill>
                  <a:srgbClr val="EBD9A6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Natural    </a:t>
            </a:r>
            <a:r>
              <a:rPr b="0" i="0" lang="es-CO" sz="800" u="none" cap="none" strike="noStrike">
                <a:solidFill>
                  <a:srgbClr val="8C6A4F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Cal    </a:t>
            </a:r>
            <a:r>
              <a:rPr b="0" i="0" lang="es-CO" sz="800" u="none" cap="none" strike="noStrike">
                <a:solidFill>
                  <a:srgbClr val="D9A441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Cemento    </a:t>
            </a:r>
            <a:r>
              <a:rPr b="0" i="0" lang="es-CO" sz="800" u="none" cap="none" strike="noStrike">
                <a:solidFill>
                  <a:srgbClr val="1F2A36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TSD    </a:t>
            </a:r>
            <a:r>
              <a:rPr b="0" i="0" lang="es-CO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MDC-19    </a:t>
            </a:r>
            <a:r>
              <a:rPr b="0" i="0" lang="es-CO" sz="8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Ejecutado    </a:t>
            </a:r>
            <a:r>
              <a:rPr b="0" i="0" lang="es-CO" sz="800" u="none" cap="none" strike="noStrike">
                <a:solidFill>
                  <a:srgbClr val="A9C7B3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Limpieza alcantarillas    </a:t>
            </a:r>
            <a:r>
              <a:rPr b="0" i="0" lang="es-CO" sz="800" u="none" cap="none" strike="noStrike">
                <a:solidFill>
                  <a:srgbClr val="2F6FB0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Alcantarilla nueva    </a:t>
            </a:r>
            <a:r>
              <a:rPr b="0" i="0" lang="es-CO" sz="800" u="none" cap="none" strike="noStrike">
                <a:solidFill>
                  <a:srgbClr val="E07B24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Reemplazada    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8" name="Google Shape;3418;p38"/>
          <p:cNvSpPr txBox="1"/>
          <p:nvPr/>
        </p:nvSpPr>
        <p:spPr>
          <a:xfrm>
            <a:off x="457200" y="4078224"/>
            <a:ext cx="5760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00"/>
              <a:buFont typeface="Calibri"/>
              <a:buNone/>
            </a:pP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Diseño aprobado E-3b K0+000 – K13+250 · pista de prueba en tono fuerte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9" name="Google Shape;3419;p38"/>
          <p:cNvSpPr txBox="1"/>
          <p:nvPr/>
        </p:nvSpPr>
        <p:spPr>
          <a:xfrm>
            <a:off x="457200" y="4301688"/>
            <a:ext cx="5486400" cy="1658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1000"/>
              <a:buFont typeface="Calibri"/>
              <a:buNone/>
            </a:pPr>
            <a:r>
              <a:rPr b="1" i="0" lang="es-CO" sz="9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AVANCE POR ACTIVIDAD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0" name="Google Shape;3420;p38"/>
          <p:cNvSpPr txBox="1"/>
          <p:nvPr/>
        </p:nvSpPr>
        <p:spPr>
          <a:xfrm>
            <a:off x="457200" y="4716328"/>
            <a:ext cx="2011680" cy="1202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Topografía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1" name="Google Shape;3421;p38"/>
          <p:cNvSpPr/>
          <p:nvPr/>
        </p:nvSpPr>
        <p:spPr>
          <a:xfrm>
            <a:off x="2514600" y="4734364"/>
            <a:ext cx="4206240" cy="84172"/>
          </a:xfrm>
          <a:prstGeom prst="rect">
            <a:avLst/>
          </a:prstGeom>
          <a:solidFill>
            <a:srgbClr val="E3E8E5"/>
          </a:solidFill>
          <a:ln cap="flat" cmpd="sng" w="12700">
            <a:solidFill>
              <a:srgbClr val="E3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2" name="Google Shape;3422;p38"/>
          <p:cNvSpPr/>
          <p:nvPr/>
        </p:nvSpPr>
        <p:spPr>
          <a:xfrm>
            <a:off x="2514600" y="4734364"/>
            <a:ext cx="2771553" cy="84172"/>
          </a:xfrm>
          <a:prstGeom prst="rect">
            <a:avLst/>
          </a:prstGeom>
          <a:solidFill>
            <a:srgbClr val="2E7D4F"/>
          </a:solidFill>
          <a:ln cap="flat" cmpd="sng" w="12700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3" name="Google Shape;3423;p38"/>
          <p:cNvSpPr txBox="1"/>
          <p:nvPr/>
        </p:nvSpPr>
        <p:spPr>
          <a:xfrm>
            <a:off x="2514600" y="4716328"/>
            <a:ext cx="2716689" cy="1202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s-CO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66 %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4" name="Google Shape;3424;p38"/>
          <p:cNvSpPr txBox="1"/>
          <p:nvPr/>
        </p:nvSpPr>
        <p:spPr>
          <a:xfrm>
            <a:off x="457200" y="4853159"/>
            <a:ext cx="2011680" cy="1202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Apiques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5" name="Google Shape;3425;p38"/>
          <p:cNvSpPr/>
          <p:nvPr/>
        </p:nvSpPr>
        <p:spPr>
          <a:xfrm>
            <a:off x="2514600" y="4871196"/>
            <a:ext cx="4206240" cy="84172"/>
          </a:xfrm>
          <a:prstGeom prst="rect">
            <a:avLst/>
          </a:prstGeom>
          <a:solidFill>
            <a:srgbClr val="E3E8E5"/>
          </a:solidFill>
          <a:ln cap="flat" cmpd="sng" w="12700">
            <a:solidFill>
              <a:srgbClr val="E3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6" name="Google Shape;3426;p38"/>
          <p:cNvSpPr/>
          <p:nvPr/>
        </p:nvSpPr>
        <p:spPr>
          <a:xfrm>
            <a:off x="2514600" y="4871196"/>
            <a:ext cx="4206240" cy="84172"/>
          </a:xfrm>
          <a:prstGeom prst="rect">
            <a:avLst/>
          </a:prstGeom>
          <a:solidFill>
            <a:srgbClr val="2E7D4F"/>
          </a:solidFill>
          <a:ln cap="flat" cmpd="sng" w="12700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7" name="Google Shape;3427;p38"/>
          <p:cNvSpPr txBox="1"/>
          <p:nvPr/>
        </p:nvSpPr>
        <p:spPr>
          <a:xfrm>
            <a:off x="2514600" y="4853159"/>
            <a:ext cx="4151376" cy="1202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s-CO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100 %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8" name="Google Shape;3428;p38"/>
          <p:cNvSpPr txBox="1"/>
          <p:nvPr/>
        </p:nvSpPr>
        <p:spPr>
          <a:xfrm>
            <a:off x="457200" y="4989990"/>
            <a:ext cx="2011680" cy="1202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Limpieza obras transversales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9" name="Google Shape;3429;p38"/>
          <p:cNvSpPr/>
          <p:nvPr/>
        </p:nvSpPr>
        <p:spPr>
          <a:xfrm>
            <a:off x="2514600" y="5008027"/>
            <a:ext cx="4206240" cy="84172"/>
          </a:xfrm>
          <a:prstGeom prst="rect">
            <a:avLst/>
          </a:prstGeom>
          <a:solidFill>
            <a:srgbClr val="E3E8E5"/>
          </a:solidFill>
          <a:ln cap="flat" cmpd="sng" w="12700">
            <a:solidFill>
              <a:srgbClr val="E3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0" name="Google Shape;3430;p38"/>
          <p:cNvSpPr/>
          <p:nvPr/>
        </p:nvSpPr>
        <p:spPr>
          <a:xfrm>
            <a:off x="2514600" y="5008027"/>
            <a:ext cx="2924651" cy="84172"/>
          </a:xfrm>
          <a:prstGeom prst="rect">
            <a:avLst/>
          </a:prstGeom>
          <a:solidFill>
            <a:srgbClr val="2E7D4F"/>
          </a:solidFill>
          <a:ln cap="flat" cmpd="sng" w="12700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1" name="Google Shape;3431;p38"/>
          <p:cNvSpPr txBox="1"/>
          <p:nvPr/>
        </p:nvSpPr>
        <p:spPr>
          <a:xfrm>
            <a:off x="2514600" y="4989990"/>
            <a:ext cx="2869787" cy="1202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s-CO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70 %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2" name="Google Shape;3432;p38"/>
          <p:cNvSpPr txBox="1"/>
          <p:nvPr/>
        </p:nvSpPr>
        <p:spPr>
          <a:xfrm>
            <a:off x="457200" y="5126822"/>
            <a:ext cx="2011680" cy="1202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Reposición de alcantarillas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3" name="Google Shape;3433;p38"/>
          <p:cNvSpPr/>
          <p:nvPr/>
        </p:nvSpPr>
        <p:spPr>
          <a:xfrm>
            <a:off x="2514600" y="5144858"/>
            <a:ext cx="4206240" cy="84172"/>
          </a:xfrm>
          <a:prstGeom prst="rect">
            <a:avLst/>
          </a:prstGeom>
          <a:solidFill>
            <a:srgbClr val="E3E8E5"/>
          </a:solidFill>
          <a:ln cap="flat" cmpd="sng" w="12700">
            <a:solidFill>
              <a:srgbClr val="E3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4" name="Google Shape;3434;p38"/>
          <p:cNvSpPr txBox="1"/>
          <p:nvPr/>
        </p:nvSpPr>
        <p:spPr>
          <a:xfrm>
            <a:off x="2569464" y="5126822"/>
            <a:ext cx="640080" cy="1202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N/A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5" name="Google Shape;3435;p38"/>
          <p:cNvSpPr txBox="1"/>
          <p:nvPr/>
        </p:nvSpPr>
        <p:spPr>
          <a:xfrm>
            <a:off x="457200" y="5263653"/>
            <a:ext cx="2011680" cy="1202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Nuevas alcantarillas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6" name="Google Shape;3436;p38"/>
          <p:cNvSpPr/>
          <p:nvPr/>
        </p:nvSpPr>
        <p:spPr>
          <a:xfrm>
            <a:off x="2514600" y="5281690"/>
            <a:ext cx="4206240" cy="84172"/>
          </a:xfrm>
          <a:prstGeom prst="rect">
            <a:avLst/>
          </a:prstGeom>
          <a:solidFill>
            <a:srgbClr val="E3E8E5"/>
          </a:solidFill>
          <a:ln cap="flat" cmpd="sng" w="12700">
            <a:solidFill>
              <a:srgbClr val="E3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7" name="Google Shape;3437;p38"/>
          <p:cNvSpPr txBox="1"/>
          <p:nvPr/>
        </p:nvSpPr>
        <p:spPr>
          <a:xfrm>
            <a:off x="2569464" y="5263653"/>
            <a:ext cx="640080" cy="1202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N/A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8" name="Google Shape;3438;p38"/>
          <p:cNvSpPr txBox="1"/>
          <p:nvPr/>
        </p:nvSpPr>
        <p:spPr>
          <a:xfrm>
            <a:off x="457200" y="5400484"/>
            <a:ext cx="2011680" cy="1202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Filtros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9" name="Google Shape;3439;p38"/>
          <p:cNvSpPr/>
          <p:nvPr/>
        </p:nvSpPr>
        <p:spPr>
          <a:xfrm>
            <a:off x="2514600" y="5418521"/>
            <a:ext cx="4206240" cy="84172"/>
          </a:xfrm>
          <a:prstGeom prst="rect">
            <a:avLst/>
          </a:prstGeom>
          <a:solidFill>
            <a:srgbClr val="E3E8E5"/>
          </a:solidFill>
          <a:ln cap="flat" cmpd="sng" w="12700">
            <a:solidFill>
              <a:srgbClr val="E3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0" name="Google Shape;3440;p38"/>
          <p:cNvSpPr txBox="1"/>
          <p:nvPr/>
        </p:nvSpPr>
        <p:spPr>
          <a:xfrm>
            <a:off x="2569464" y="5400484"/>
            <a:ext cx="640080" cy="1202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0 %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1" name="Google Shape;3441;p38"/>
          <p:cNvSpPr txBox="1"/>
          <p:nvPr/>
        </p:nvSpPr>
        <p:spPr>
          <a:xfrm>
            <a:off x="457200" y="5537315"/>
            <a:ext cx="2011680" cy="1202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Cunetas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2" name="Google Shape;3442;p38"/>
          <p:cNvSpPr/>
          <p:nvPr/>
        </p:nvSpPr>
        <p:spPr>
          <a:xfrm>
            <a:off x="2514600" y="5555352"/>
            <a:ext cx="4206240" cy="84172"/>
          </a:xfrm>
          <a:prstGeom prst="rect">
            <a:avLst/>
          </a:prstGeom>
          <a:solidFill>
            <a:srgbClr val="E3E8E5"/>
          </a:solidFill>
          <a:ln cap="flat" cmpd="sng" w="12700">
            <a:solidFill>
              <a:srgbClr val="E3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3" name="Google Shape;3443;p38"/>
          <p:cNvSpPr txBox="1"/>
          <p:nvPr/>
        </p:nvSpPr>
        <p:spPr>
          <a:xfrm>
            <a:off x="2569464" y="5537315"/>
            <a:ext cx="640080" cy="1202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0 %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4" name="Google Shape;3444;p38"/>
          <p:cNvSpPr txBox="1"/>
          <p:nvPr/>
        </p:nvSpPr>
        <p:spPr>
          <a:xfrm>
            <a:off x="457200" y="5674147"/>
            <a:ext cx="2011680" cy="1202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Bordillos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5" name="Google Shape;3445;p38"/>
          <p:cNvSpPr/>
          <p:nvPr/>
        </p:nvSpPr>
        <p:spPr>
          <a:xfrm>
            <a:off x="2514600" y="5692183"/>
            <a:ext cx="4206240" cy="84172"/>
          </a:xfrm>
          <a:prstGeom prst="rect">
            <a:avLst/>
          </a:prstGeom>
          <a:solidFill>
            <a:srgbClr val="E3E8E5"/>
          </a:solidFill>
          <a:ln cap="flat" cmpd="sng" w="12700">
            <a:solidFill>
              <a:srgbClr val="E3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6" name="Google Shape;3446;p38"/>
          <p:cNvSpPr txBox="1"/>
          <p:nvPr/>
        </p:nvSpPr>
        <p:spPr>
          <a:xfrm>
            <a:off x="2569464" y="5674147"/>
            <a:ext cx="640080" cy="1202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0 %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7" name="Google Shape;3447;p38"/>
          <p:cNvSpPr txBox="1"/>
          <p:nvPr/>
        </p:nvSpPr>
        <p:spPr>
          <a:xfrm>
            <a:off x="457200" y="5810978"/>
            <a:ext cx="2011680" cy="1202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Conformación y adecuación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8" name="Google Shape;3448;p38"/>
          <p:cNvSpPr/>
          <p:nvPr/>
        </p:nvSpPr>
        <p:spPr>
          <a:xfrm>
            <a:off x="2514600" y="5829015"/>
            <a:ext cx="4206240" cy="84172"/>
          </a:xfrm>
          <a:prstGeom prst="rect">
            <a:avLst/>
          </a:prstGeom>
          <a:solidFill>
            <a:srgbClr val="E3E8E5"/>
          </a:solidFill>
          <a:ln cap="flat" cmpd="sng" w="12700">
            <a:solidFill>
              <a:srgbClr val="E3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9" name="Google Shape;3449;p38"/>
          <p:cNvSpPr txBox="1"/>
          <p:nvPr/>
        </p:nvSpPr>
        <p:spPr>
          <a:xfrm>
            <a:off x="2569464" y="5810978"/>
            <a:ext cx="640080" cy="1202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0 %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0" name="Google Shape;3450;p38"/>
          <p:cNvSpPr txBox="1"/>
          <p:nvPr/>
        </p:nvSpPr>
        <p:spPr>
          <a:xfrm>
            <a:off x="457200" y="5947809"/>
            <a:ext cx="2011680" cy="1202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Estabilización material existente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1" name="Google Shape;3451;p38"/>
          <p:cNvSpPr/>
          <p:nvPr/>
        </p:nvSpPr>
        <p:spPr>
          <a:xfrm>
            <a:off x="2514600" y="5965846"/>
            <a:ext cx="4206240" cy="84172"/>
          </a:xfrm>
          <a:prstGeom prst="rect">
            <a:avLst/>
          </a:prstGeom>
          <a:solidFill>
            <a:srgbClr val="E3E8E5"/>
          </a:solidFill>
          <a:ln cap="flat" cmpd="sng" w="12700">
            <a:solidFill>
              <a:srgbClr val="E3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2" name="Google Shape;3452;p38"/>
          <p:cNvSpPr txBox="1"/>
          <p:nvPr/>
        </p:nvSpPr>
        <p:spPr>
          <a:xfrm>
            <a:off x="2569464" y="5947809"/>
            <a:ext cx="640080" cy="1202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N/A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3" name="Google Shape;3453;p38"/>
          <p:cNvSpPr txBox="1"/>
          <p:nvPr/>
        </p:nvSpPr>
        <p:spPr>
          <a:xfrm>
            <a:off x="457200" y="6084641"/>
            <a:ext cx="2011680" cy="1202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Estabilización material de préstamo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4" name="Google Shape;3454;p38"/>
          <p:cNvSpPr/>
          <p:nvPr/>
        </p:nvSpPr>
        <p:spPr>
          <a:xfrm>
            <a:off x="2514600" y="6102677"/>
            <a:ext cx="4206240" cy="84172"/>
          </a:xfrm>
          <a:prstGeom prst="rect">
            <a:avLst/>
          </a:prstGeom>
          <a:solidFill>
            <a:srgbClr val="E3E8E5"/>
          </a:solidFill>
          <a:ln cap="flat" cmpd="sng" w="12700">
            <a:solidFill>
              <a:srgbClr val="E3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5" name="Google Shape;3455;p38"/>
          <p:cNvSpPr/>
          <p:nvPr/>
        </p:nvSpPr>
        <p:spPr>
          <a:xfrm>
            <a:off x="2514600" y="6102677"/>
            <a:ext cx="468731" cy="84172"/>
          </a:xfrm>
          <a:prstGeom prst="rect">
            <a:avLst/>
          </a:prstGeom>
          <a:solidFill>
            <a:srgbClr val="2E7D4F"/>
          </a:solidFill>
          <a:ln cap="flat" cmpd="sng" w="12700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6" name="Google Shape;3456;p38"/>
          <p:cNvSpPr txBox="1"/>
          <p:nvPr/>
        </p:nvSpPr>
        <p:spPr>
          <a:xfrm>
            <a:off x="2514600" y="6084641"/>
            <a:ext cx="413867" cy="1202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s-CO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11 %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7" name="Google Shape;3457;p38"/>
          <p:cNvSpPr txBox="1"/>
          <p:nvPr/>
        </p:nvSpPr>
        <p:spPr>
          <a:xfrm>
            <a:off x="457200" y="6221472"/>
            <a:ext cx="2011680" cy="1202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Señalización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8" name="Google Shape;3458;p38"/>
          <p:cNvSpPr/>
          <p:nvPr/>
        </p:nvSpPr>
        <p:spPr>
          <a:xfrm>
            <a:off x="2514600" y="6239509"/>
            <a:ext cx="4206240" cy="84172"/>
          </a:xfrm>
          <a:prstGeom prst="rect">
            <a:avLst/>
          </a:prstGeom>
          <a:solidFill>
            <a:srgbClr val="E3E8E5"/>
          </a:solidFill>
          <a:ln cap="flat" cmpd="sng" w="12700">
            <a:solidFill>
              <a:srgbClr val="E3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9" name="Google Shape;3459;p38"/>
          <p:cNvSpPr txBox="1"/>
          <p:nvPr/>
        </p:nvSpPr>
        <p:spPr>
          <a:xfrm>
            <a:off x="2569464" y="6221472"/>
            <a:ext cx="640080" cy="1202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0 %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460" name="Google Shape;3460;p38"/>
          <p:cNvGraphicFramePr/>
          <p:nvPr/>
        </p:nvGraphicFramePr>
        <p:xfrm>
          <a:off x="6858000" y="450071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{9EE2CB2E-1363-49F8-B8BA-952F5347F8D7}</a:tableStyleId>
              </a:tblPr>
              <a:tblGrid>
                <a:gridCol w="566925"/>
                <a:gridCol w="960125"/>
                <a:gridCol w="1143000"/>
                <a:gridCol w="1143000"/>
                <a:gridCol w="1060700"/>
              </a:tblGrid>
              <a:tr h="1996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1" lang="es-CO" sz="7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Unidad</a:t>
                      </a:r>
                      <a:endParaRPr sz="7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1" lang="es-CO" sz="7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Presupuestada</a:t>
                      </a:r>
                      <a:endParaRPr sz="7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1" lang="es-CO" sz="7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Ejec. anterior</a:t>
                      </a:r>
                      <a:endParaRPr sz="7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1" lang="es-CO" sz="7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Ejec. actual</a:t>
                      </a:r>
                      <a:endParaRPr sz="7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1" lang="es-CO" sz="7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Δ semana</a:t>
                      </a:r>
                      <a:endParaRPr sz="7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</a:tr>
              <a:tr h="136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km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20,64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5F6B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13,6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1" lang="es-CO" sz="6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s.r.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8A94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6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und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83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5F6B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83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1" lang="es-CO" sz="6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83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8A94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136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und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128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5F6B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685 m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1" lang="es-CO" sz="6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s.r.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8A94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6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und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N/A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5F6B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1" lang="es-CO" sz="6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s.r.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8A94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136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und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N/A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5F6B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1" lang="es-CO" sz="6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s.r.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8A94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6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20.640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5F6B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1" lang="es-CO" sz="6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s.r.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8A94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136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20.640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5F6B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1" lang="es-CO" sz="6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s.r.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8A94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6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4.128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5F6B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1" lang="es-CO" sz="6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s.r.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8A94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136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km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20,64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5F6B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1" lang="es-CO" sz="6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s.r.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8A94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6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km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N/A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5F6B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1" lang="es-CO" sz="6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s.r.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8A94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136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km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13,64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5F6B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0,04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1" lang="es-CO" sz="6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s.r.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8A94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6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ml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61.920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5F6B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1" lang="es-CO" sz="6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s.r.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8A94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</a:tbl>
          </a:graphicData>
        </a:graphic>
      </p:graphicFrame>
      <p:sp>
        <p:nvSpPr>
          <p:cNvPr id="3461" name="Google Shape;3461;p38"/>
          <p:cNvSpPr txBox="1"/>
          <p:nvPr/>
        </p:nvSpPr>
        <p:spPr>
          <a:xfrm>
            <a:off x="457200" y="6400000"/>
            <a:ext cx="5000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s-CO" sz="9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TIEMPO TRANSCURRIDO DEL PLAZO CONTRACTUAL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2" name="Google Shape;3462;p38"/>
          <p:cNvSpPr txBox="1"/>
          <p:nvPr/>
        </p:nvSpPr>
        <p:spPr>
          <a:xfrm>
            <a:off x="5000000" y="6400000"/>
            <a:ext cx="6734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Inicio: </a:t>
            </a:r>
            <a:r>
              <a:rPr b="1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10/02/2026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   ·   Terminación: </a:t>
            </a:r>
            <a:r>
              <a:rPr b="1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10/03/2027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   ·   Al: </a:t>
            </a:r>
            <a:r>
              <a:rPr b="1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02/10/2026</a:t>
            </a: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   ·   234 de 393 días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3" name="Google Shape;3463;p38"/>
          <p:cNvSpPr/>
          <p:nvPr/>
        </p:nvSpPr>
        <p:spPr>
          <a:xfrm>
            <a:off x="457200" y="6598920"/>
            <a:ext cx="11277600" cy="164592"/>
          </a:xfrm>
          <a:prstGeom prst="roundRect">
            <a:avLst>
              <a:gd fmla="val 50000" name="adj"/>
            </a:avLst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4" name="Google Shape;3464;p38"/>
          <p:cNvSpPr/>
          <p:nvPr/>
        </p:nvSpPr>
        <p:spPr>
          <a:xfrm>
            <a:off x="457200" y="6598920"/>
            <a:ext cx="6714906" cy="164592"/>
          </a:xfrm>
          <a:prstGeom prst="roundRect">
            <a:avLst>
              <a:gd fmla="val 50000" name="adj"/>
            </a:avLst>
          </a:prstGeom>
          <a:solidFill>
            <a:srgbClr val="2E7D4F"/>
          </a:solidFill>
          <a:ln cap="flat" cmpd="sng" w="9525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s-CO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59,5 %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65" name="Google Shape;3465;p38"/>
          <p:cNvCxnSpPr/>
          <p:nvPr/>
        </p:nvCxnSpPr>
        <p:spPr>
          <a:xfrm>
            <a:off x="1002427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66" name="Google Shape;3466;p38"/>
          <p:cNvCxnSpPr/>
          <p:nvPr/>
        </p:nvCxnSpPr>
        <p:spPr>
          <a:xfrm>
            <a:off x="1892009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67" name="Google Shape;3467;p38"/>
          <p:cNvCxnSpPr/>
          <p:nvPr/>
        </p:nvCxnSpPr>
        <p:spPr>
          <a:xfrm>
            <a:off x="2752894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68" name="Google Shape;3468;p38"/>
          <p:cNvCxnSpPr/>
          <p:nvPr/>
        </p:nvCxnSpPr>
        <p:spPr>
          <a:xfrm>
            <a:off x="3642476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69" name="Google Shape;3469;p38"/>
          <p:cNvCxnSpPr/>
          <p:nvPr/>
        </p:nvCxnSpPr>
        <p:spPr>
          <a:xfrm>
            <a:off x="4503361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70" name="Google Shape;3470;p38"/>
          <p:cNvCxnSpPr/>
          <p:nvPr/>
        </p:nvCxnSpPr>
        <p:spPr>
          <a:xfrm>
            <a:off x="5392943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71" name="Google Shape;3471;p38"/>
          <p:cNvCxnSpPr/>
          <p:nvPr/>
        </p:nvCxnSpPr>
        <p:spPr>
          <a:xfrm>
            <a:off x="6282525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72" name="Google Shape;3472;p38"/>
          <p:cNvCxnSpPr/>
          <p:nvPr/>
        </p:nvCxnSpPr>
        <p:spPr>
          <a:xfrm>
            <a:off x="7143410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73" name="Google Shape;3473;p38"/>
          <p:cNvCxnSpPr/>
          <p:nvPr/>
        </p:nvCxnSpPr>
        <p:spPr>
          <a:xfrm>
            <a:off x="8032992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74" name="Google Shape;3474;p38"/>
          <p:cNvCxnSpPr/>
          <p:nvPr/>
        </p:nvCxnSpPr>
        <p:spPr>
          <a:xfrm>
            <a:off x="8893877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75" name="Google Shape;3475;p38"/>
          <p:cNvCxnSpPr/>
          <p:nvPr/>
        </p:nvCxnSpPr>
        <p:spPr>
          <a:xfrm>
            <a:off x="9783459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76" name="Google Shape;3476;p38"/>
          <p:cNvCxnSpPr/>
          <p:nvPr/>
        </p:nvCxnSpPr>
        <p:spPr>
          <a:xfrm>
            <a:off x="10673041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77" name="Google Shape;3477;p38"/>
          <p:cNvCxnSpPr/>
          <p:nvPr/>
        </p:nvCxnSpPr>
        <p:spPr>
          <a:xfrm>
            <a:off x="11476534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78" name="Google Shape;3478;p38"/>
          <p:cNvCxnSpPr/>
          <p:nvPr/>
        </p:nvCxnSpPr>
        <p:spPr>
          <a:xfrm>
            <a:off x="7172106" y="6562344"/>
            <a:ext cx="0" cy="237744"/>
          </a:xfrm>
          <a:prstGeom prst="straightConnector1">
            <a:avLst/>
          </a:prstGeom>
          <a:noFill/>
          <a:ln cap="flat" cmpd="sng" w="19050">
            <a:solidFill>
              <a:srgbClr val="B3261E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83" name="Shape 3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4" name="Google Shape;3484;p39"/>
          <p:cNvSpPr txBox="1"/>
          <p:nvPr/>
        </p:nvSpPr>
        <p:spPr>
          <a:xfrm>
            <a:off x="457200" y="320040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1200"/>
              <a:buFont typeface="Calibri"/>
              <a:buNone/>
            </a:pPr>
            <a:r>
              <a:rPr b="1" i="0" lang="es-CO" sz="1200" u="none" cap="none" strike="noStrike">
                <a:solidFill>
                  <a:srgbClr val="2E7D4F"/>
                </a:solidFill>
                <a:latin typeface="Poppins"/>
                <a:ea typeface="Poppins"/>
                <a:cs typeface="Poppins"/>
                <a:sym typeface="Poppins"/>
              </a:rPr>
              <a:t>INFORME DE VARIACIÓN DE ALCANCES  ·  LOTE 6 – SUBREGIÓN NORDESTE</a:t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85" name="Google Shape;3485;p39"/>
          <p:cNvSpPr txBox="1"/>
          <p:nvPr/>
        </p:nvSpPr>
        <p:spPr>
          <a:xfrm>
            <a:off x="457200" y="594360"/>
            <a:ext cx="9692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2800"/>
              <a:buFont typeface="Calibri"/>
              <a:buNone/>
            </a:pPr>
            <a:r>
              <a:rPr b="1" i="0" lang="es-CO" sz="24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San Rafael – San Roque – Santo Domingo – Alejandría</a:t>
            </a:r>
            <a:endParaRPr b="0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descr="logo.png" id="3486" name="Google Shape;348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78440" y="320040"/>
            <a:ext cx="1371600" cy="676656"/>
          </a:xfrm>
          <a:prstGeom prst="rect">
            <a:avLst/>
          </a:prstGeom>
          <a:noFill/>
          <a:ln>
            <a:noFill/>
          </a:ln>
        </p:spPr>
      </p:pic>
      <p:sp>
        <p:nvSpPr>
          <p:cNvPr id="3487" name="Google Shape;3487;p39"/>
          <p:cNvSpPr/>
          <p:nvPr/>
        </p:nvSpPr>
        <p:spPr>
          <a:xfrm>
            <a:off x="457200" y="132588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8" name="Google Shape;3488;p39"/>
          <p:cNvSpPr txBox="1"/>
          <p:nvPr/>
        </p:nvSpPr>
        <p:spPr>
          <a:xfrm>
            <a:off x="594360" y="1417320"/>
            <a:ext cx="183483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100"/>
              <a:buFont typeface="Calibri"/>
              <a:buNone/>
            </a:pPr>
            <a:r>
              <a:rPr b="0" i="0" lang="es-CO" sz="11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Longitud contractual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9" name="Google Shape;3489;p39"/>
          <p:cNvSpPr txBox="1"/>
          <p:nvPr/>
        </p:nvSpPr>
        <p:spPr>
          <a:xfrm>
            <a:off x="594360" y="1691640"/>
            <a:ext cx="183483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700"/>
              <a:buFont typeface="Calibri"/>
              <a:buNone/>
            </a:pPr>
            <a:r>
              <a:rPr b="1" i="0" lang="es-CO" sz="17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23,46 km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0" name="Google Shape;3490;p39"/>
          <p:cNvSpPr/>
          <p:nvPr/>
        </p:nvSpPr>
        <p:spPr>
          <a:xfrm>
            <a:off x="2749235" y="132588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1" name="Google Shape;3491;p39"/>
          <p:cNvSpPr txBox="1"/>
          <p:nvPr/>
        </p:nvSpPr>
        <p:spPr>
          <a:xfrm>
            <a:off x="2886395" y="1417320"/>
            <a:ext cx="183483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100"/>
              <a:buFont typeface="Calibri"/>
              <a:buNone/>
            </a:pPr>
            <a:r>
              <a:rPr b="0" i="0" lang="es-CO" sz="11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Longitud probable a cubrir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2" name="Google Shape;3492;p39"/>
          <p:cNvSpPr txBox="1"/>
          <p:nvPr/>
        </p:nvSpPr>
        <p:spPr>
          <a:xfrm>
            <a:off x="2886395" y="1691640"/>
            <a:ext cx="183483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700"/>
              <a:buFont typeface="Calibri"/>
              <a:buNone/>
            </a:pPr>
            <a:r>
              <a:rPr b="1" i="0" lang="es-CO" sz="17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13,13 km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3" name="Google Shape;3493;p39"/>
          <p:cNvSpPr/>
          <p:nvPr/>
        </p:nvSpPr>
        <p:spPr>
          <a:xfrm>
            <a:off x="5041270" y="132588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4" name="Google Shape;3494;p39"/>
          <p:cNvSpPr txBox="1"/>
          <p:nvPr/>
        </p:nvSpPr>
        <p:spPr>
          <a:xfrm>
            <a:off x="5178430" y="1417320"/>
            <a:ext cx="183483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100"/>
              <a:buFont typeface="Calibri"/>
              <a:buNone/>
            </a:pPr>
            <a:r>
              <a:rPr b="0" i="0" lang="es-CO" sz="11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Valor por km contractual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5" name="Google Shape;3495;p39"/>
          <p:cNvSpPr txBox="1"/>
          <p:nvPr/>
        </p:nvSpPr>
        <p:spPr>
          <a:xfrm>
            <a:off x="5178430" y="1691640"/>
            <a:ext cx="183483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700"/>
              <a:buFont typeface="Calibri"/>
              <a:buNone/>
            </a:pPr>
            <a:r>
              <a:rPr b="1" i="0" lang="es-CO" sz="17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$ 971.877.255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6" name="Google Shape;3496;p39"/>
          <p:cNvSpPr/>
          <p:nvPr/>
        </p:nvSpPr>
        <p:spPr>
          <a:xfrm>
            <a:off x="7333305" y="132588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7" name="Google Shape;3497;p39"/>
          <p:cNvSpPr txBox="1"/>
          <p:nvPr/>
        </p:nvSpPr>
        <p:spPr>
          <a:xfrm>
            <a:off x="7470465" y="1417320"/>
            <a:ext cx="183483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100"/>
              <a:buFont typeface="Calibri"/>
              <a:buNone/>
            </a:pPr>
            <a:r>
              <a:rPr b="0" i="0" lang="es-CO" sz="11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Valor por km proyectado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8" name="Google Shape;3498;p39"/>
          <p:cNvSpPr txBox="1"/>
          <p:nvPr/>
        </p:nvSpPr>
        <p:spPr>
          <a:xfrm>
            <a:off x="7470465" y="1691640"/>
            <a:ext cx="183483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700"/>
              <a:buFont typeface="Calibri"/>
              <a:buNone/>
            </a:pPr>
            <a:r>
              <a:rPr b="1" i="0" lang="es-CO" sz="17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$ 1.736.669.427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9" name="Google Shape;3499;p39"/>
          <p:cNvSpPr/>
          <p:nvPr/>
        </p:nvSpPr>
        <p:spPr>
          <a:xfrm>
            <a:off x="9625340" y="132588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FBEAEA"/>
          </a:solidFill>
          <a:ln cap="flat" cmpd="sng" w="12700">
            <a:solidFill>
              <a:srgbClr val="FBEA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0" name="Google Shape;3500;p39"/>
          <p:cNvSpPr txBox="1"/>
          <p:nvPr/>
        </p:nvSpPr>
        <p:spPr>
          <a:xfrm>
            <a:off x="9762500" y="1417320"/>
            <a:ext cx="183483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100"/>
              <a:buFont typeface="Calibri"/>
              <a:buNone/>
            </a:pPr>
            <a:r>
              <a:rPr b="0" i="0" lang="es-CO" sz="11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Variación total (valor adicional)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1" name="Google Shape;3501;p39"/>
          <p:cNvSpPr txBox="1"/>
          <p:nvPr/>
        </p:nvSpPr>
        <p:spPr>
          <a:xfrm>
            <a:off x="9762500" y="1691640"/>
            <a:ext cx="183483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261E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B3261E"/>
                </a:solidFill>
                <a:latin typeface="Arial"/>
                <a:ea typeface="Arial"/>
                <a:cs typeface="Arial"/>
                <a:sym typeface="Arial"/>
              </a:rPr>
              <a:t>▲ </a:t>
            </a:r>
            <a:r>
              <a:rPr b="1" i="0" lang="es-CO" sz="1500" u="none" cap="none" strike="noStrike">
                <a:solidFill>
                  <a:srgbClr val="B3261E"/>
                </a:solidFill>
                <a:latin typeface="Calibri"/>
                <a:ea typeface="Calibri"/>
                <a:cs typeface="Calibri"/>
                <a:sym typeface="Calibri"/>
              </a:rPr>
              <a:t>$ 17.942.024.364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2" name="Google Shape;3502;p39"/>
          <p:cNvSpPr/>
          <p:nvPr/>
        </p:nvSpPr>
        <p:spPr>
          <a:xfrm>
            <a:off x="457200" y="2423160"/>
            <a:ext cx="3154680" cy="4114800"/>
          </a:xfrm>
          <a:prstGeom prst="roundRect">
            <a:avLst>
              <a:gd fmla="val 1739" name="adj"/>
            </a:avLst>
          </a:prstGeom>
          <a:solidFill>
            <a:srgbClr val="FFFFFF"/>
          </a:solidFill>
          <a:ln cap="flat" cmpd="sng" w="12700">
            <a:solidFill>
              <a:srgbClr val="D5DD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3" name="Google Shape;3503;p39"/>
          <p:cNvSpPr txBox="1"/>
          <p:nvPr/>
        </p:nvSpPr>
        <p:spPr>
          <a:xfrm>
            <a:off x="640080" y="2560320"/>
            <a:ext cx="2788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1100"/>
              <a:buFont typeface="Calibri"/>
              <a:buNone/>
            </a:pPr>
            <a:r>
              <a:rPr b="1" i="0" lang="es-CO" sz="11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ESTRUCTURA DE PAVIMENTO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4" name="Google Shape;3504;p39"/>
          <p:cNvSpPr txBox="1"/>
          <p:nvPr/>
        </p:nvSpPr>
        <p:spPr>
          <a:xfrm>
            <a:off x="640080" y="2816352"/>
            <a:ext cx="2788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1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San Rafael – San Roque – Santo Domingo – Alejandría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5" name="Google Shape;3505;p39"/>
          <p:cNvSpPr txBox="1"/>
          <p:nvPr/>
        </p:nvSpPr>
        <p:spPr>
          <a:xfrm>
            <a:off x="640080" y="3172968"/>
            <a:ext cx="2788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LOTE 6 · Longitud: 23.460 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Tránsito – Estructuración: </a:t>
            </a: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307.000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Tránsito – Diseño: </a:t>
            </a: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307.000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6" name="Google Shape;3506;p39"/>
          <p:cNvSpPr txBox="1"/>
          <p:nvPr/>
        </p:nvSpPr>
        <p:spPr>
          <a:xfrm>
            <a:off x="457200" y="3794760"/>
            <a:ext cx="3154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1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Estructura de diseño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7" name="Google Shape;3507;p39"/>
          <p:cNvSpPr/>
          <p:nvPr/>
        </p:nvSpPr>
        <p:spPr>
          <a:xfrm>
            <a:off x="1348740" y="4087368"/>
            <a:ext cx="960120" cy="182880"/>
          </a:xfrm>
          <a:prstGeom prst="rect">
            <a:avLst/>
          </a:prstGeom>
          <a:solidFill>
            <a:srgbClr val="1F2A36"/>
          </a:solidFill>
          <a:ln cap="flat" cmpd="sng" w="12700">
            <a:solidFill>
              <a:srgbClr val="1F2A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8" name="Google Shape;3508;p39"/>
          <p:cNvSpPr txBox="1"/>
          <p:nvPr/>
        </p:nvSpPr>
        <p:spPr>
          <a:xfrm>
            <a:off x="1348740" y="4087368"/>
            <a:ext cx="9601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s-CO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TSD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9" name="Google Shape;3509;p39"/>
          <p:cNvSpPr/>
          <p:nvPr/>
        </p:nvSpPr>
        <p:spPr>
          <a:xfrm>
            <a:off x="1348740" y="4270248"/>
            <a:ext cx="960120" cy="1056132"/>
          </a:xfrm>
          <a:prstGeom prst="rect">
            <a:avLst/>
          </a:prstGeom>
          <a:solidFill>
            <a:srgbClr val="D9A44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0" name="Google Shape;3510;p39"/>
          <p:cNvSpPr txBox="1"/>
          <p:nvPr/>
        </p:nvSpPr>
        <p:spPr>
          <a:xfrm>
            <a:off x="1348740" y="4270248"/>
            <a:ext cx="960120" cy="49149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800"/>
              <a:buFont typeface="Calibri"/>
              <a:buNone/>
            </a:pPr>
            <a:r>
              <a:rPr b="1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MGTC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1" name="Google Shape;3511;p39"/>
          <p:cNvSpPr/>
          <p:nvPr/>
        </p:nvSpPr>
        <p:spPr>
          <a:xfrm>
            <a:off x="1412748" y="4761738"/>
            <a:ext cx="832104" cy="528066"/>
          </a:xfrm>
          <a:prstGeom prst="rect">
            <a:avLst/>
          </a:prstGeom>
          <a:solidFill>
            <a:srgbClr val="F2D58E"/>
          </a:solidFill>
          <a:ln cap="flat" cmpd="sng" w="9525">
            <a:solidFill>
              <a:srgbClr val="A87B1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2" name="Google Shape;3512;p39"/>
          <p:cNvSpPr txBox="1"/>
          <p:nvPr/>
        </p:nvSpPr>
        <p:spPr>
          <a:xfrm>
            <a:off x="1412748" y="4761738"/>
            <a:ext cx="832104" cy="528066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800"/>
              <a:buFont typeface="Calibri"/>
              <a:buNone/>
            </a:pPr>
            <a:r>
              <a:rPr b="0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Subbase 14 cm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3" name="Google Shape;3513;p39"/>
          <p:cNvSpPr txBox="1"/>
          <p:nvPr/>
        </p:nvSpPr>
        <p:spPr>
          <a:xfrm>
            <a:off x="2363724" y="4270248"/>
            <a:ext cx="457200" cy="10561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28 cm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4" name="Google Shape;3514;p39"/>
          <p:cNvSpPr/>
          <p:nvPr/>
        </p:nvSpPr>
        <p:spPr>
          <a:xfrm>
            <a:off x="1348740" y="5326380"/>
            <a:ext cx="960120" cy="754380"/>
          </a:xfrm>
          <a:prstGeom prst="rect">
            <a:avLst/>
          </a:prstGeom>
          <a:solidFill>
            <a:srgbClr val="8C6A4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5" name="Google Shape;3515;p39"/>
          <p:cNvSpPr txBox="1"/>
          <p:nvPr/>
        </p:nvSpPr>
        <p:spPr>
          <a:xfrm>
            <a:off x="1348740" y="5326380"/>
            <a:ext cx="960120" cy="754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s-CO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Subrasante estabilizada con cal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6" name="Google Shape;3516;p39"/>
          <p:cNvSpPr txBox="1"/>
          <p:nvPr/>
        </p:nvSpPr>
        <p:spPr>
          <a:xfrm>
            <a:off x="2363724" y="5326380"/>
            <a:ext cx="457200" cy="754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20 cm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17" name="Google Shape;3517;p39"/>
          <p:cNvCxnSpPr/>
          <p:nvPr/>
        </p:nvCxnSpPr>
        <p:spPr>
          <a:xfrm>
            <a:off x="1257300" y="6080760"/>
            <a:ext cx="1143000" cy="0"/>
          </a:xfrm>
          <a:prstGeom prst="straightConnector1">
            <a:avLst/>
          </a:prstGeom>
          <a:noFill/>
          <a:ln cap="flat" cmpd="sng" w="12700">
            <a:solidFill>
              <a:srgbClr val="1D2B2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18" name="Google Shape;3518;p39"/>
          <p:cNvSpPr txBox="1"/>
          <p:nvPr/>
        </p:nvSpPr>
        <p:spPr>
          <a:xfrm>
            <a:off x="457200" y="6153912"/>
            <a:ext cx="31546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Espesor total: </a:t>
            </a:r>
            <a:r>
              <a:rPr b="1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48 cm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519" name="Google Shape;3519;p39"/>
          <p:cNvGraphicFramePr/>
          <p:nvPr/>
        </p:nvGraphicFramePr>
        <p:xfrm>
          <a:off x="3840480" y="24231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{2219430B-40B1-4F13-8D99-EA5D7966678A}</a:tableStyleId>
              </a:tblPr>
              <a:tblGrid>
                <a:gridCol w="2395725"/>
                <a:gridCol w="1097275"/>
                <a:gridCol w="603500"/>
                <a:gridCol w="1097275"/>
                <a:gridCol w="603500"/>
                <a:gridCol w="237750"/>
                <a:gridCol w="1097275"/>
                <a:gridCol w="758950"/>
              </a:tblGrid>
              <a:tr h="438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Grupo – actividad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Valor contractual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 sobre corredor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Valor proyectado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 sobre corredor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Variación (valor adicional)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 de variación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</a:tr>
              <a:tr h="27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Construcción de alcantarillas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$ 3.704.450.385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16,25%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$ 2.021.955.085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4,96%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>
                          <a:solidFill>
                            <a:srgbClr val="0B5D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▼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0B5D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–$ 1.682.495.300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0B5D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–45,4 %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Construcción de cunetas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$ 3.494.178.091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15,33%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$ 4.891.849.327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12,01%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>
                          <a:solidFill>
                            <a:srgbClr val="B32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▲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$ 1.397.671.236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40,0 %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27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Construcción de filtros para cunetas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$ 3.890.778.778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17,06%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$ 5.649.503.169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13,87%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>
                          <a:solidFill>
                            <a:srgbClr val="B32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▲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$ 1.758.724.391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45,2 %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Construcción de bordillos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$ 524.895.349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2,30%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$ 524.895.349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1,29%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0,0 %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27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Construcción de disipadores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$ 543.504.208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2,38%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$ 543.504.208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1,33%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0,0 %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Estabilización con material granular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$ 10.327.350.953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45,29%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$ 18.970.436.212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46,56%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B32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▲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$ 8.643.085.259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83,7 %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27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Señalización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$ 315.082.635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1,38%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$ 315.082.635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0,77%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0,0 %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Actividades no previstas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50"/>
                        <a:buFont typeface="Calibri"/>
                        <a:buNone/>
                      </a:pPr>
                      <a:r>
                        <a:t/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50"/>
                        <a:buFont typeface="Calibri"/>
                        <a:buNone/>
                      </a:pPr>
                      <a:r>
                        <a:t/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$ 7.825.038.778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19,21%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>
                          <a:solidFill>
                            <a:srgbClr val="B32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▲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$ 7.825.038.778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B65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N/A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27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CORREDOR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$ 22.800.240.399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100%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$ 40.742.264.763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100%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B32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▲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+$ 17.942.024.364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78,7 %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</a:tr>
            </a:tbl>
          </a:graphicData>
        </a:graphic>
      </p:graphicFrame>
      <p:sp>
        <p:nvSpPr>
          <p:cNvPr id="3520" name="Google Shape;3520;p39"/>
          <p:cNvSpPr txBox="1"/>
          <p:nvPr/>
        </p:nvSpPr>
        <p:spPr>
          <a:xfrm>
            <a:off x="3840480" y="5413248"/>
            <a:ext cx="78912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261E"/>
              </a:buClr>
              <a:buSzPts val="900"/>
              <a:buFont typeface="Arial"/>
              <a:buNone/>
            </a:pPr>
            <a:r>
              <a:rPr b="0" i="0" lang="es-CO" sz="900" u="none" cap="none" strike="noStrike">
                <a:solidFill>
                  <a:srgbClr val="B3261E"/>
                </a:solidFill>
                <a:latin typeface="Arial"/>
                <a:ea typeface="Arial"/>
                <a:cs typeface="Arial"/>
                <a:sym typeface="Arial"/>
              </a:rPr>
              <a:t>▲</a:t>
            </a: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 Se requiere mayor valor     </a:t>
            </a:r>
            <a:r>
              <a:rPr b="0" i="0" lang="es-CO" sz="900" u="none" cap="none" strike="noStrike">
                <a:solidFill>
                  <a:srgbClr val="0B5D2E"/>
                </a:solidFill>
                <a:latin typeface="Arial"/>
                <a:ea typeface="Arial"/>
                <a:cs typeface="Arial"/>
                <a:sym typeface="Arial"/>
              </a:rPr>
              <a:t>▼</a:t>
            </a: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 Sobra valor     % de variación = (valor proyectado – valor contractual) / valor contractual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1" name="Google Shape;3521;p39"/>
          <p:cNvSpPr/>
          <p:nvPr/>
        </p:nvSpPr>
        <p:spPr>
          <a:xfrm>
            <a:off x="3840480" y="5687568"/>
            <a:ext cx="7891272" cy="850392"/>
          </a:xfrm>
          <a:prstGeom prst="roundRect">
            <a:avLst>
              <a:gd fmla="val 6452" name="adj"/>
            </a:avLst>
          </a:prstGeom>
          <a:solidFill>
            <a:srgbClr val="FFFFFF"/>
          </a:solidFill>
          <a:ln cap="flat" cmpd="sng" w="12700">
            <a:solidFill>
              <a:srgbClr val="9AA7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00" lIns="1000" spcFirstLastPara="1" rIns="1500" wrap="square" tIns="15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100"/>
              <a:buFont typeface="Calibri"/>
              <a:buNone/>
            </a:pPr>
            <a:r>
              <a:rPr b="1" i="0" lang="es-CO" sz="11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Notas: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26" name="Shape 3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7" name="Google Shape;3527;p40"/>
          <p:cNvSpPr txBox="1"/>
          <p:nvPr/>
        </p:nvSpPr>
        <p:spPr>
          <a:xfrm>
            <a:off x="457200" y="320040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1200"/>
              <a:buFont typeface="Calibri"/>
              <a:buNone/>
            </a:pPr>
            <a:r>
              <a:rPr b="1" i="0" lang="es-CO" sz="1200" u="none" cap="none" strike="noStrike">
                <a:solidFill>
                  <a:srgbClr val="2E7D4F"/>
                </a:solidFill>
                <a:latin typeface="Poppins"/>
                <a:ea typeface="Poppins"/>
                <a:cs typeface="Poppins"/>
                <a:sym typeface="Poppins"/>
              </a:rPr>
              <a:t>INFORME DE EJECUCIÓN  ·  LOTE 6 – SUBREGIÓN NORDESTE</a:t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28" name="Google Shape;3528;p40"/>
          <p:cNvSpPr txBox="1"/>
          <p:nvPr/>
        </p:nvSpPr>
        <p:spPr>
          <a:xfrm>
            <a:off x="457200" y="594360"/>
            <a:ext cx="9692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2800"/>
              <a:buFont typeface="Calibri"/>
              <a:buNone/>
            </a:pPr>
            <a:r>
              <a:rPr b="1" i="0" lang="es-CO" sz="24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San Rafael – San Roque – Santo Domingo – Alejandría</a:t>
            </a:r>
            <a:endParaRPr b="0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descr="logo.png" id="3529" name="Google Shape;352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78440" y="320040"/>
            <a:ext cx="1371600" cy="676656"/>
          </a:xfrm>
          <a:prstGeom prst="rect">
            <a:avLst/>
          </a:prstGeom>
          <a:noFill/>
          <a:ln>
            <a:noFill/>
          </a:ln>
        </p:spPr>
      </p:pic>
      <p:sp>
        <p:nvSpPr>
          <p:cNvPr id="3530" name="Google Shape;3530;p40"/>
          <p:cNvSpPr/>
          <p:nvPr/>
        </p:nvSpPr>
        <p:spPr>
          <a:xfrm>
            <a:off x="457200" y="1234440"/>
            <a:ext cx="1765249" cy="658368"/>
          </a:xfrm>
          <a:prstGeom prst="roundRect">
            <a:avLst>
              <a:gd fmla="val 1111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1" name="Google Shape;3531;p40"/>
          <p:cNvSpPr txBox="1"/>
          <p:nvPr/>
        </p:nvSpPr>
        <p:spPr>
          <a:xfrm>
            <a:off x="566928" y="1289304"/>
            <a:ext cx="154579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50"/>
              <a:buFont typeface="Calibri"/>
              <a:buNone/>
            </a:pPr>
            <a:r>
              <a:rPr b="0" i="0" lang="es-CO" sz="9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Longitud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2" name="Google Shape;3532;p40"/>
          <p:cNvSpPr txBox="1"/>
          <p:nvPr/>
        </p:nvSpPr>
        <p:spPr>
          <a:xfrm>
            <a:off x="566928" y="1453896"/>
            <a:ext cx="154579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23,46 km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3" name="Google Shape;3533;p40"/>
          <p:cNvSpPr txBox="1"/>
          <p:nvPr/>
        </p:nvSpPr>
        <p:spPr>
          <a:xfrm>
            <a:off x="566928" y="1700784"/>
            <a:ext cx="1545793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00"/>
              <a:buFont typeface="Calibri"/>
              <a:buNone/>
            </a:pP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Alcance real 13,13 km · dif. 10,33 km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4" name="Google Shape;3534;p40"/>
          <p:cNvSpPr/>
          <p:nvPr/>
        </p:nvSpPr>
        <p:spPr>
          <a:xfrm>
            <a:off x="2359609" y="1234440"/>
            <a:ext cx="1765249" cy="658368"/>
          </a:xfrm>
          <a:prstGeom prst="roundRect">
            <a:avLst>
              <a:gd fmla="val 1111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5" name="Google Shape;3535;p40"/>
          <p:cNvSpPr txBox="1"/>
          <p:nvPr/>
        </p:nvSpPr>
        <p:spPr>
          <a:xfrm>
            <a:off x="2469337" y="1289304"/>
            <a:ext cx="154579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50"/>
              <a:buFont typeface="Calibri"/>
              <a:buNone/>
            </a:pPr>
            <a:r>
              <a:rPr b="0" i="0" lang="es-CO" sz="9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Valor total del corredor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6" name="Google Shape;3536;p40"/>
          <p:cNvSpPr txBox="1"/>
          <p:nvPr/>
        </p:nvSpPr>
        <p:spPr>
          <a:xfrm>
            <a:off x="2469337" y="1453896"/>
            <a:ext cx="154579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$ 22.800.240.339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7" name="Google Shape;3537;p40"/>
          <p:cNvSpPr txBox="1"/>
          <p:nvPr/>
        </p:nvSpPr>
        <p:spPr>
          <a:xfrm>
            <a:off x="2469337" y="1700784"/>
            <a:ext cx="1545793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00"/>
              <a:buFont typeface="Calibri"/>
              <a:buNone/>
            </a:pP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$ 971.877.252 por km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8" name="Google Shape;3538;p40"/>
          <p:cNvSpPr/>
          <p:nvPr/>
        </p:nvSpPr>
        <p:spPr>
          <a:xfrm>
            <a:off x="4262018" y="1234440"/>
            <a:ext cx="1765249" cy="658368"/>
          </a:xfrm>
          <a:prstGeom prst="roundRect">
            <a:avLst>
              <a:gd fmla="val 11111" name="adj"/>
            </a:avLst>
          </a:prstGeom>
          <a:solidFill>
            <a:srgbClr val="FBEAEA"/>
          </a:solidFill>
          <a:ln cap="flat" cmpd="sng" w="12700">
            <a:solidFill>
              <a:srgbClr val="FBEA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9" name="Google Shape;3539;p40"/>
          <p:cNvSpPr txBox="1"/>
          <p:nvPr/>
        </p:nvSpPr>
        <p:spPr>
          <a:xfrm>
            <a:off x="4371746" y="1289304"/>
            <a:ext cx="154579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50"/>
              <a:buFont typeface="Calibri"/>
              <a:buNone/>
            </a:pPr>
            <a:r>
              <a:rPr b="0" i="0" lang="es-CO" sz="9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Avance físico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0" name="Google Shape;3540;p40"/>
          <p:cNvSpPr txBox="1"/>
          <p:nvPr/>
        </p:nvSpPr>
        <p:spPr>
          <a:xfrm>
            <a:off x="4371746" y="1453896"/>
            <a:ext cx="154579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261E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B3261E"/>
                </a:solidFill>
                <a:latin typeface="Calibri"/>
                <a:ea typeface="Calibri"/>
                <a:cs typeface="Calibri"/>
                <a:sym typeface="Calibri"/>
              </a:rPr>
              <a:t>0,32 %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1" name="Google Shape;3541;p40"/>
          <p:cNvSpPr txBox="1"/>
          <p:nvPr/>
        </p:nvSpPr>
        <p:spPr>
          <a:xfrm>
            <a:off x="4371746" y="1700784"/>
            <a:ext cx="1545793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00"/>
              <a:buFont typeface="Calibri"/>
              <a:buNone/>
            </a:pP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Frente a 59,5 % del plazo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2" name="Google Shape;3542;p40"/>
          <p:cNvSpPr/>
          <p:nvPr/>
        </p:nvSpPr>
        <p:spPr>
          <a:xfrm>
            <a:off x="6164428" y="1234440"/>
            <a:ext cx="1765249" cy="658368"/>
          </a:xfrm>
          <a:prstGeom prst="roundRect">
            <a:avLst>
              <a:gd fmla="val 1111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3" name="Google Shape;3543;p40"/>
          <p:cNvSpPr txBox="1"/>
          <p:nvPr/>
        </p:nvSpPr>
        <p:spPr>
          <a:xfrm>
            <a:off x="6274156" y="1289304"/>
            <a:ext cx="154579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50"/>
              <a:buFont typeface="Calibri"/>
              <a:buNone/>
            </a:pPr>
            <a:r>
              <a:rPr b="0" i="0" lang="es-CO" sz="9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Avance financiero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4" name="Google Shape;3544;p40"/>
          <p:cNvSpPr txBox="1"/>
          <p:nvPr/>
        </p:nvSpPr>
        <p:spPr>
          <a:xfrm>
            <a:off x="6274156" y="1453896"/>
            <a:ext cx="154579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0,00 %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5" name="Google Shape;3545;p40"/>
          <p:cNvSpPr/>
          <p:nvPr/>
        </p:nvSpPr>
        <p:spPr>
          <a:xfrm>
            <a:off x="8066837" y="1234440"/>
            <a:ext cx="1765249" cy="658368"/>
          </a:xfrm>
          <a:prstGeom prst="roundRect">
            <a:avLst>
              <a:gd fmla="val 1111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6" name="Google Shape;3546;p40"/>
          <p:cNvSpPr txBox="1"/>
          <p:nvPr/>
        </p:nvSpPr>
        <p:spPr>
          <a:xfrm>
            <a:off x="8176565" y="1289304"/>
            <a:ext cx="154579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50"/>
              <a:buFont typeface="Calibri"/>
              <a:buNone/>
            </a:pPr>
            <a:r>
              <a:rPr b="0" i="0" lang="es-CO" sz="9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Plazo transcurrido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7" name="Google Shape;3547;p40"/>
          <p:cNvSpPr txBox="1"/>
          <p:nvPr/>
        </p:nvSpPr>
        <p:spPr>
          <a:xfrm>
            <a:off x="8176565" y="1453896"/>
            <a:ext cx="154579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59,5 %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8" name="Google Shape;3548;p40"/>
          <p:cNvSpPr txBox="1"/>
          <p:nvPr/>
        </p:nvSpPr>
        <p:spPr>
          <a:xfrm>
            <a:off x="8176565" y="1700784"/>
            <a:ext cx="1545793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00"/>
              <a:buFont typeface="Calibri"/>
              <a:buNone/>
            </a:pP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7,7 de 13 meses (al 02/10/2026)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9" name="Google Shape;3549;p40"/>
          <p:cNvSpPr/>
          <p:nvPr/>
        </p:nvSpPr>
        <p:spPr>
          <a:xfrm>
            <a:off x="9969246" y="1234440"/>
            <a:ext cx="1765249" cy="658368"/>
          </a:xfrm>
          <a:prstGeom prst="roundRect">
            <a:avLst>
              <a:gd fmla="val 1111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0" name="Google Shape;3550;p40"/>
          <p:cNvSpPr txBox="1"/>
          <p:nvPr/>
        </p:nvSpPr>
        <p:spPr>
          <a:xfrm>
            <a:off x="10078974" y="1289304"/>
            <a:ext cx="1545793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Inicio: </a:t>
            </a: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10/02/2026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Terminación: </a:t>
            </a: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10/03/2027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Corte: </a:t>
            </a: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25/09/2026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1" name="Google Shape;3551;p40"/>
          <p:cNvSpPr txBox="1"/>
          <p:nvPr/>
        </p:nvSpPr>
        <p:spPr>
          <a:xfrm>
            <a:off x="457200" y="1956816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1000"/>
              <a:buFont typeface="Calibri"/>
              <a:buNone/>
            </a:pPr>
            <a:r>
              <a:rPr b="1" i="0" lang="es-CO" sz="10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AVANCE POR ABSCISA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52" name="Google Shape;3552;p40"/>
          <p:cNvCxnSpPr/>
          <p:nvPr/>
        </p:nvCxnSpPr>
        <p:spPr>
          <a:xfrm>
            <a:off x="2103120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53" name="Google Shape;3553;p40"/>
          <p:cNvCxnSpPr/>
          <p:nvPr/>
        </p:nvCxnSpPr>
        <p:spPr>
          <a:xfrm>
            <a:off x="2488992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54" name="Google Shape;3554;p40"/>
          <p:cNvCxnSpPr/>
          <p:nvPr/>
        </p:nvCxnSpPr>
        <p:spPr>
          <a:xfrm>
            <a:off x="2874864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55" name="Google Shape;3555;p40"/>
          <p:cNvCxnSpPr/>
          <p:nvPr/>
        </p:nvCxnSpPr>
        <p:spPr>
          <a:xfrm>
            <a:off x="3260736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56" name="Google Shape;3556;p40"/>
          <p:cNvCxnSpPr/>
          <p:nvPr/>
        </p:nvCxnSpPr>
        <p:spPr>
          <a:xfrm>
            <a:off x="3646608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57" name="Google Shape;3557;p40"/>
          <p:cNvCxnSpPr/>
          <p:nvPr/>
        </p:nvCxnSpPr>
        <p:spPr>
          <a:xfrm>
            <a:off x="4032481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58" name="Google Shape;3558;p40"/>
          <p:cNvCxnSpPr/>
          <p:nvPr/>
        </p:nvCxnSpPr>
        <p:spPr>
          <a:xfrm>
            <a:off x="4418353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59" name="Google Shape;3559;p40"/>
          <p:cNvCxnSpPr/>
          <p:nvPr/>
        </p:nvCxnSpPr>
        <p:spPr>
          <a:xfrm>
            <a:off x="4804225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60" name="Google Shape;3560;p40"/>
          <p:cNvCxnSpPr/>
          <p:nvPr/>
        </p:nvCxnSpPr>
        <p:spPr>
          <a:xfrm>
            <a:off x="5190097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61" name="Google Shape;3561;p40"/>
          <p:cNvCxnSpPr/>
          <p:nvPr/>
        </p:nvCxnSpPr>
        <p:spPr>
          <a:xfrm>
            <a:off x="5575969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62" name="Google Shape;3562;p40"/>
          <p:cNvCxnSpPr/>
          <p:nvPr/>
        </p:nvCxnSpPr>
        <p:spPr>
          <a:xfrm>
            <a:off x="5961841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63" name="Google Shape;3563;p40"/>
          <p:cNvSpPr txBox="1"/>
          <p:nvPr/>
        </p:nvSpPr>
        <p:spPr>
          <a:xfrm>
            <a:off x="1874520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4" name="Google Shape;3564;p40"/>
          <p:cNvSpPr txBox="1"/>
          <p:nvPr/>
        </p:nvSpPr>
        <p:spPr>
          <a:xfrm>
            <a:off x="2646264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5" name="Google Shape;3565;p40"/>
          <p:cNvSpPr txBox="1"/>
          <p:nvPr/>
        </p:nvSpPr>
        <p:spPr>
          <a:xfrm>
            <a:off x="3418008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K4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6" name="Google Shape;3566;p40"/>
          <p:cNvSpPr txBox="1"/>
          <p:nvPr/>
        </p:nvSpPr>
        <p:spPr>
          <a:xfrm>
            <a:off x="4189753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7" name="Google Shape;3567;p40"/>
          <p:cNvSpPr txBox="1"/>
          <p:nvPr/>
        </p:nvSpPr>
        <p:spPr>
          <a:xfrm>
            <a:off x="4961497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K8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8" name="Google Shape;3568;p40"/>
          <p:cNvSpPr txBox="1"/>
          <p:nvPr/>
        </p:nvSpPr>
        <p:spPr>
          <a:xfrm>
            <a:off x="2103120" y="1975104"/>
            <a:ext cx="4090245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850"/>
              <a:buFont typeface="Calibri"/>
              <a:buNone/>
            </a:pPr>
            <a:r>
              <a:rPr b="1" i="0" lang="es-CO" sz="85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San Rafael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69" name="Google Shape;3569;p40"/>
          <p:cNvCxnSpPr/>
          <p:nvPr/>
        </p:nvCxnSpPr>
        <p:spPr>
          <a:xfrm>
            <a:off x="6193365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70" name="Google Shape;3570;p40"/>
          <p:cNvCxnSpPr/>
          <p:nvPr/>
        </p:nvCxnSpPr>
        <p:spPr>
          <a:xfrm>
            <a:off x="6579237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71" name="Google Shape;3571;p40"/>
          <p:cNvCxnSpPr/>
          <p:nvPr/>
        </p:nvCxnSpPr>
        <p:spPr>
          <a:xfrm>
            <a:off x="6965109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72" name="Google Shape;3572;p40"/>
          <p:cNvCxnSpPr/>
          <p:nvPr/>
        </p:nvCxnSpPr>
        <p:spPr>
          <a:xfrm>
            <a:off x="7350981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73" name="Google Shape;3573;p40"/>
          <p:cNvCxnSpPr/>
          <p:nvPr/>
        </p:nvCxnSpPr>
        <p:spPr>
          <a:xfrm>
            <a:off x="7736853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74" name="Google Shape;3574;p40"/>
          <p:cNvCxnSpPr/>
          <p:nvPr/>
        </p:nvCxnSpPr>
        <p:spPr>
          <a:xfrm>
            <a:off x="8122725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75" name="Google Shape;3575;p40"/>
          <p:cNvCxnSpPr/>
          <p:nvPr/>
        </p:nvCxnSpPr>
        <p:spPr>
          <a:xfrm>
            <a:off x="8508597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76" name="Google Shape;3576;p40"/>
          <p:cNvCxnSpPr/>
          <p:nvPr/>
        </p:nvCxnSpPr>
        <p:spPr>
          <a:xfrm>
            <a:off x="8894469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77" name="Google Shape;3577;p40"/>
          <p:cNvCxnSpPr/>
          <p:nvPr/>
        </p:nvCxnSpPr>
        <p:spPr>
          <a:xfrm>
            <a:off x="9280341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78" name="Google Shape;3578;p40"/>
          <p:cNvCxnSpPr/>
          <p:nvPr/>
        </p:nvCxnSpPr>
        <p:spPr>
          <a:xfrm>
            <a:off x="9666214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79" name="Google Shape;3579;p40"/>
          <p:cNvCxnSpPr/>
          <p:nvPr/>
        </p:nvCxnSpPr>
        <p:spPr>
          <a:xfrm>
            <a:off x="10052086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80" name="Google Shape;3580;p40"/>
          <p:cNvCxnSpPr/>
          <p:nvPr/>
        </p:nvCxnSpPr>
        <p:spPr>
          <a:xfrm>
            <a:off x="10437958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81" name="Google Shape;3581;p40"/>
          <p:cNvCxnSpPr/>
          <p:nvPr/>
        </p:nvCxnSpPr>
        <p:spPr>
          <a:xfrm>
            <a:off x="10823830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82" name="Google Shape;3582;p40"/>
          <p:cNvSpPr txBox="1"/>
          <p:nvPr/>
        </p:nvSpPr>
        <p:spPr>
          <a:xfrm>
            <a:off x="5964765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3" name="Google Shape;3583;p40"/>
          <p:cNvSpPr txBox="1"/>
          <p:nvPr/>
        </p:nvSpPr>
        <p:spPr>
          <a:xfrm>
            <a:off x="6736509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4" name="Google Shape;3584;p40"/>
          <p:cNvSpPr txBox="1"/>
          <p:nvPr/>
        </p:nvSpPr>
        <p:spPr>
          <a:xfrm>
            <a:off x="7508253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K4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5" name="Google Shape;3585;p40"/>
          <p:cNvSpPr txBox="1"/>
          <p:nvPr/>
        </p:nvSpPr>
        <p:spPr>
          <a:xfrm>
            <a:off x="8279997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6" name="Google Shape;3586;p40"/>
          <p:cNvSpPr txBox="1"/>
          <p:nvPr/>
        </p:nvSpPr>
        <p:spPr>
          <a:xfrm>
            <a:off x="9051741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K8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7" name="Google Shape;3587;p40"/>
          <p:cNvSpPr txBox="1"/>
          <p:nvPr/>
        </p:nvSpPr>
        <p:spPr>
          <a:xfrm>
            <a:off x="9823486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K10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8" name="Google Shape;3588;p40"/>
          <p:cNvSpPr txBox="1"/>
          <p:nvPr/>
        </p:nvSpPr>
        <p:spPr>
          <a:xfrm>
            <a:off x="10835640" y="2139696"/>
            <a:ext cx="54864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K12+860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9" name="Google Shape;3589;p40"/>
          <p:cNvSpPr txBox="1"/>
          <p:nvPr/>
        </p:nvSpPr>
        <p:spPr>
          <a:xfrm>
            <a:off x="6193365" y="1975104"/>
            <a:ext cx="4962315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850"/>
              <a:buFont typeface="Calibri"/>
              <a:buNone/>
            </a:pPr>
            <a:r>
              <a:rPr b="1" i="0" lang="es-CO" sz="85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Santo Domingo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0" name="Google Shape;3590;p40"/>
          <p:cNvSpPr/>
          <p:nvPr/>
        </p:nvSpPr>
        <p:spPr>
          <a:xfrm>
            <a:off x="2103120" y="2359152"/>
            <a:ext cx="9052560" cy="73152"/>
          </a:xfrm>
          <a:prstGeom prst="rect">
            <a:avLst/>
          </a:prstGeom>
          <a:solidFill>
            <a:srgbClr val="1F2A36"/>
          </a:solidFill>
          <a:ln cap="flat" cmpd="sng" w="12700">
            <a:solidFill>
              <a:srgbClr val="1F2A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91" name="Google Shape;3591;p40"/>
          <p:cNvCxnSpPr/>
          <p:nvPr/>
        </p:nvCxnSpPr>
        <p:spPr>
          <a:xfrm>
            <a:off x="2139696" y="2395728"/>
            <a:ext cx="8979408" cy="0"/>
          </a:xfrm>
          <a:prstGeom prst="straightConnector1">
            <a:avLst/>
          </a:prstGeom>
          <a:noFill/>
          <a:ln cap="flat" cmpd="sng" w="9525">
            <a:solidFill>
              <a:srgbClr val="F2C94C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592" name="Google Shape;3592;p40"/>
          <p:cNvCxnSpPr/>
          <p:nvPr/>
        </p:nvCxnSpPr>
        <p:spPr>
          <a:xfrm>
            <a:off x="731520" y="2487168"/>
            <a:ext cx="0" cy="338328"/>
          </a:xfrm>
          <a:prstGeom prst="straightConnector1">
            <a:avLst/>
          </a:prstGeom>
          <a:noFill/>
          <a:ln cap="flat" cmpd="sng" w="19050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93" name="Google Shape;3593;p40"/>
          <p:cNvSpPr txBox="1"/>
          <p:nvPr/>
        </p:nvSpPr>
        <p:spPr>
          <a:xfrm rot="-5400000">
            <a:off x="260604" y="2574036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700"/>
              <a:buFont typeface="Calibri"/>
              <a:buNone/>
            </a:pPr>
            <a:r>
              <a:rPr b="1" i="0" lang="es-CO" sz="7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CAMPO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4" name="Google Shape;3594;p40"/>
          <p:cNvSpPr txBox="1"/>
          <p:nvPr/>
        </p:nvSpPr>
        <p:spPr>
          <a:xfrm>
            <a:off x="777240" y="2487168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Topografía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5" name="Google Shape;3595;p40"/>
          <p:cNvSpPr/>
          <p:nvPr/>
        </p:nvSpPr>
        <p:spPr>
          <a:xfrm>
            <a:off x="2103120" y="2487168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6" name="Google Shape;3596;p40"/>
          <p:cNvSpPr/>
          <p:nvPr/>
        </p:nvSpPr>
        <p:spPr>
          <a:xfrm>
            <a:off x="2103120" y="2487168"/>
            <a:ext cx="3086977" cy="155448"/>
          </a:xfrm>
          <a:prstGeom prst="rect">
            <a:avLst/>
          </a:prstGeom>
          <a:solidFill>
            <a:srgbClr val="2E7D4F"/>
          </a:solidFill>
          <a:ln cap="flat" cmpd="sng" w="9525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7" name="Google Shape;3597;p40"/>
          <p:cNvSpPr/>
          <p:nvPr/>
        </p:nvSpPr>
        <p:spPr>
          <a:xfrm>
            <a:off x="6193365" y="2487168"/>
            <a:ext cx="4962315" cy="155448"/>
          </a:xfrm>
          <a:prstGeom prst="rect">
            <a:avLst/>
          </a:prstGeom>
          <a:solidFill>
            <a:srgbClr val="2E7D4F"/>
          </a:solidFill>
          <a:ln cap="flat" cmpd="sng" w="9525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8" name="Google Shape;3598;p40"/>
          <p:cNvSpPr txBox="1"/>
          <p:nvPr/>
        </p:nvSpPr>
        <p:spPr>
          <a:xfrm>
            <a:off x="11201400" y="2487168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89 %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9" name="Google Shape;3599;p40"/>
          <p:cNvSpPr txBox="1"/>
          <p:nvPr/>
        </p:nvSpPr>
        <p:spPr>
          <a:xfrm>
            <a:off x="777240" y="2670048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Apiques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0" name="Google Shape;3600;p40"/>
          <p:cNvSpPr/>
          <p:nvPr/>
        </p:nvSpPr>
        <p:spPr>
          <a:xfrm>
            <a:off x="2103120" y="2670048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1" name="Google Shape;3601;p40"/>
          <p:cNvSpPr/>
          <p:nvPr/>
        </p:nvSpPr>
        <p:spPr>
          <a:xfrm>
            <a:off x="2103120" y="2670048"/>
            <a:ext cx="9052560" cy="155448"/>
          </a:xfrm>
          <a:prstGeom prst="rect">
            <a:avLst/>
          </a:prstGeom>
          <a:solidFill>
            <a:srgbClr val="2E7D4F"/>
          </a:solidFill>
          <a:ln cap="flat" cmpd="sng" w="9525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2" name="Google Shape;3602;p40"/>
          <p:cNvSpPr txBox="1"/>
          <p:nvPr/>
        </p:nvSpPr>
        <p:spPr>
          <a:xfrm>
            <a:off x="11201400" y="2670048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100 %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03" name="Google Shape;3603;p40"/>
          <p:cNvCxnSpPr/>
          <p:nvPr/>
        </p:nvCxnSpPr>
        <p:spPr>
          <a:xfrm>
            <a:off x="731520" y="2953512"/>
            <a:ext cx="0" cy="466344"/>
          </a:xfrm>
          <a:prstGeom prst="straightConnector1">
            <a:avLst/>
          </a:prstGeom>
          <a:noFill/>
          <a:ln cap="flat" cmpd="sng" w="19050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04" name="Google Shape;3604;p40"/>
          <p:cNvSpPr txBox="1"/>
          <p:nvPr/>
        </p:nvSpPr>
        <p:spPr>
          <a:xfrm rot="-5400000">
            <a:off x="260604" y="3104388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700"/>
              <a:buFont typeface="Calibri"/>
              <a:buNone/>
            </a:pPr>
            <a:r>
              <a:rPr b="1" i="0" lang="es-CO" sz="7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ESTRUCTURA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5" name="Google Shape;3605;p40"/>
          <p:cNvSpPr txBox="1"/>
          <p:nvPr/>
        </p:nvSpPr>
        <p:spPr>
          <a:xfrm>
            <a:off x="777240" y="2953512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Rodadura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6" name="Google Shape;3606;p40"/>
          <p:cNvSpPr/>
          <p:nvPr/>
        </p:nvSpPr>
        <p:spPr>
          <a:xfrm>
            <a:off x="2103120" y="2953512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7" name="Google Shape;3607;p40"/>
          <p:cNvSpPr txBox="1"/>
          <p:nvPr/>
        </p:nvSpPr>
        <p:spPr>
          <a:xfrm>
            <a:off x="11201400" y="2953512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8" name="Google Shape;3608;p40"/>
          <p:cNvSpPr txBox="1"/>
          <p:nvPr/>
        </p:nvSpPr>
        <p:spPr>
          <a:xfrm>
            <a:off x="777240" y="3108960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Capa granular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9" name="Google Shape;3609;p40"/>
          <p:cNvSpPr/>
          <p:nvPr/>
        </p:nvSpPr>
        <p:spPr>
          <a:xfrm>
            <a:off x="2103120" y="3108960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0" name="Google Shape;3610;p40"/>
          <p:cNvSpPr txBox="1"/>
          <p:nvPr/>
        </p:nvSpPr>
        <p:spPr>
          <a:xfrm>
            <a:off x="2194560" y="3108960"/>
            <a:ext cx="886968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00"/>
              <a:buFont typeface="Calibri"/>
              <a:buNone/>
            </a:pP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Sin diseño de pavimento · pendiente entrega de alternativas por el contratista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1" name="Google Shape;3611;p40"/>
          <p:cNvSpPr txBox="1"/>
          <p:nvPr/>
        </p:nvSpPr>
        <p:spPr>
          <a:xfrm>
            <a:off x="11201400" y="3108960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2" name="Google Shape;3612;p40"/>
          <p:cNvSpPr txBox="1"/>
          <p:nvPr/>
        </p:nvSpPr>
        <p:spPr>
          <a:xfrm>
            <a:off x="777240" y="3264408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Subrasante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3" name="Google Shape;3613;p40"/>
          <p:cNvSpPr/>
          <p:nvPr/>
        </p:nvSpPr>
        <p:spPr>
          <a:xfrm>
            <a:off x="2103120" y="3264408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4" name="Google Shape;3614;p40"/>
          <p:cNvSpPr txBox="1"/>
          <p:nvPr/>
        </p:nvSpPr>
        <p:spPr>
          <a:xfrm>
            <a:off x="11201400" y="3264408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15" name="Google Shape;3615;p40"/>
          <p:cNvCxnSpPr/>
          <p:nvPr/>
        </p:nvCxnSpPr>
        <p:spPr>
          <a:xfrm>
            <a:off x="731520" y="3511296"/>
            <a:ext cx="0" cy="521208"/>
          </a:xfrm>
          <a:prstGeom prst="straightConnector1">
            <a:avLst/>
          </a:prstGeom>
          <a:noFill/>
          <a:ln cap="flat" cmpd="sng" w="19050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16" name="Google Shape;3616;p40"/>
          <p:cNvSpPr txBox="1"/>
          <p:nvPr/>
        </p:nvSpPr>
        <p:spPr>
          <a:xfrm rot="-5400000">
            <a:off x="260604" y="3689604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700"/>
              <a:buFont typeface="Calibri"/>
              <a:buNone/>
            </a:pPr>
            <a:r>
              <a:rPr b="1" i="0" lang="es-CO" sz="7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DRENAJE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7" name="Google Shape;3617;p40"/>
          <p:cNvSpPr txBox="1"/>
          <p:nvPr/>
        </p:nvSpPr>
        <p:spPr>
          <a:xfrm>
            <a:off x="777240" y="3511296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Cunetas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8" name="Google Shape;3618;p40"/>
          <p:cNvSpPr/>
          <p:nvPr/>
        </p:nvSpPr>
        <p:spPr>
          <a:xfrm>
            <a:off x="2103120" y="3511296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9" name="Google Shape;3619;p40"/>
          <p:cNvSpPr txBox="1"/>
          <p:nvPr/>
        </p:nvSpPr>
        <p:spPr>
          <a:xfrm>
            <a:off x="11201400" y="3511296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0" name="Google Shape;3620;p40"/>
          <p:cNvSpPr txBox="1"/>
          <p:nvPr/>
        </p:nvSpPr>
        <p:spPr>
          <a:xfrm>
            <a:off x="777240" y="3694176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Filtros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1" name="Google Shape;3621;p40"/>
          <p:cNvSpPr txBox="1"/>
          <p:nvPr/>
        </p:nvSpPr>
        <p:spPr>
          <a:xfrm>
            <a:off x="1920240" y="3694176"/>
            <a:ext cx="137160" cy="777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700"/>
              <a:buFont typeface="Calibri"/>
              <a:buNone/>
            </a:pPr>
            <a:r>
              <a:rPr b="0" i="0" lang="es-CO" sz="7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2" name="Google Shape;3622;p40"/>
          <p:cNvSpPr txBox="1"/>
          <p:nvPr/>
        </p:nvSpPr>
        <p:spPr>
          <a:xfrm>
            <a:off x="1920240" y="3771900"/>
            <a:ext cx="137160" cy="777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700"/>
              <a:buFont typeface="Calibri"/>
              <a:buNone/>
            </a:pPr>
            <a:r>
              <a:rPr b="0" i="0" lang="es-CO" sz="7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3" name="Google Shape;3623;p40"/>
          <p:cNvSpPr/>
          <p:nvPr/>
        </p:nvSpPr>
        <p:spPr>
          <a:xfrm>
            <a:off x="2103120" y="3694176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24" name="Google Shape;3624;p40"/>
          <p:cNvCxnSpPr/>
          <p:nvPr/>
        </p:nvCxnSpPr>
        <p:spPr>
          <a:xfrm>
            <a:off x="2103120" y="3771900"/>
            <a:ext cx="9052560" cy="0"/>
          </a:xfrm>
          <a:prstGeom prst="straightConnector1">
            <a:avLst/>
          </a:prstGeom>
          <a:noFill/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25" name="Google Shape;3625;p40"/>
          <p:cNvSpPr txBox="1"/>
          <p:nvPr/>
        </p:nvSpPr>
        <p:spPr>
          <a:xfrm>
            <a:off x="11201400" y="3694176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6" name="Google Shape;3626;p40"/>
          <p:cNvSpPr txBox="1"/>
          <p:nvPr/>
        </p:nvSpPr>
        <p:spPr>
          <a:xfrm>
            <a:off x="777240" y="3877056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Alcantarillas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7" name="Google Shape;3627;p40"/>
          <p:cNvSpPr/>
          <p:nvPr/>
        </p:nvSpPr>
        <p:spPr>
          <a:xfrm>
            <a:off x="2103120" y="3877056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8" name="Google Shape;3628;p40"/>
          <p:cNvSpPr txBox="1"/>
          <p:nvPr/>
        </p:nvSpPr>
        <p:spPr>
          <a:xfrm>
            <a:off x="2194560" y="3877056"/>
            <a:ext cx="886968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00"/>
              <a:buFont typeface="Calibri"/>
              <a:buNone/>
            </a:pP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51 obras transversales limpiadas · abscisas en hoja ODTS Santo Domingo (pendiente)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9" name="Google Shape;3629;p40"/>
          <p:cNvSpPr txBox="1"/>
          <p:nvPr/>
        </p:nvSpPr>
        <p:spPr>
          <a:xfrm>
            <a:off x="11201400" y="3877056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25 %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30" name="Google Shape;3630;p40"/>
          <p:cNvCxnSpPr/>
          <p:nvPr/>
        </p:nvCxnSpPr>
        <p:spPr>
          <a:xfrm>
            <a:off x="6193365" y="2139696"/>
            <a:ext cx="0" cy="1892808"/>
          </a:xfrm>
          <a:prstGeom prst="straightConnector1">
            <a:avLst/>
          </a:prstGeom>
          <a:noFill/>
          <a:ln cap="flat" cmpd="sng" w="15875">
            <a:solidFill>
              <a:srgbClr val="1D2B24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631" name="Google Shape;3631;p40"/>
          <p:cNvSpPr txBox="1"/>
          <p:nvPr/>
        </p:nvSpPr>
        <p:spPr>
          <a:xfrm>
            <a:off x="457200" y="4078224"/>
            <a:ext cx="11277295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D9A6"/>
              </a:buClr>
              <a:buSzPts val="800"/>
              <a:buFont typeface="Calibri"/>
              <a:buNone/>
            </a:pPr>
            <a:r>
              <a:rPr b="0" i="0" lang="es-CO" sz="800" u="none" cap="none" strike="noStrike">
                <a:solidFill>
                  <a:srgbClr val="EBD9A6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Natural    </a:t>
            </a:r>
            <a:r>
              <a:rPr b="0" i="0" lang="es-CO" sz="800" u="none" cap="none" strike="noStrike">
                <a:solidFill>
                  <a:srgbClr val="8C6A4F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Cal    </a:t>
            </a:r>
            <a:r>
              <a:rPr b="0" i="0" lang="es-CO" sz="800" u="none" cap="none" strike="noStrike">
                <a:solidFill>
                  <a:srgbClr val="D9A441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Cemento    </a:t>
            </a:r>
            <a:r>
              <a:rPr b="0" i="0" lang="es-CO" sz="800" u="none" cap="none" strike="noStrike">
                <a:solidFill>
                  <a:srgbClr val="1F2A36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TSD    </a:t>
            </a:r>
            <a:r>
              <a:rPr b="0" i="0" lang="es-CO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MDC-19    </a:t>
            </a:r>
            <a:r>
              <a:rPr b="0" i="0" lang="es-CO" sz="8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Ejecutado    </a:t>
            </a:r>
            <a:r>
              <a:rPr b="0" i="0" lang="es-CO" sz="800" u="none" cap="none" strike="noStrike">
                <a:solidFill>
                  <a:srgbClr val="A9C7B3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Limpieza alcantarillas    </a:t>
            </a:r>
            <a:r>
              <a:rPr b="0" i="0" lang="es-CO" sz="800" u="none" cap="none" strike="noStrike">
                <a:solidFill>
                  <a:srgbClr val="2F6FB0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Alcantarilla nueva    </a:t>
            </a:r>
            <a:r>
              <a:rPr b="0" i="0" lang="es-CO" sz="800" u="none" cap="none" strike="noStrike">
                <a:solidFill>
                  <a:srgbClr val="E07B24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Reemplazada    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2" name="Google Shape;3632;p40"/>
          <p:cNvSpPr txBox="1"/>
          <p:nvPr/>
        </p:nvSpPr>
        <p:spPr>
          <a:xfrm>
            <a:off x="457200" y="4301688"/>
            <a:ext cx="5486400" cy="1658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1000"/>
              <a:buFont typeface="Calibri"/>
              <a:buNone/>
            </a:pPr>
            <a:r>
              <a:rPr b="1" i="0" lang="es-CO" sz="9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AVANCE POR ACTIVIDAD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3" name="Google Shape;3633;p40"/>
          <p:cNvSpPr txBox="1"/>
          <p:nvPr/>
        </p:nvSpPr>
        <p:spPr>
          <a:xfrm>
            <a:off x="457200" y="4716328"/>
            <a:ext cx="2011680" cy="1202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Topografía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4" name="Google Shape;3634;p40"/>
          <p:cNvSpPr/>
          <p:nvPr/>
        </p:nvSpPr>
        <p:spPr>
          <a:xfrm>
            <a:off x="2514600" y="4734364"/>
            <a:ext cx="4206240" cy="84172"/>
          </a:xfrm>
          <a:prstGeom prst="rect">
            <a:avLst/>
          </a:prstGeom>
          <a:solidFill>
            <a:srgbClr val="E3E8E5"/>
          </a:solidFill>
          <a:ln cap="flat" cmpd="sng" w="12700">
            <a:solidFill>
              <a:srgbClr val="E3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5" name="Google Shape;3635;p40"/>
          <p:cNvSpPr/>
          <p:nvPr/>
        </p:nvSpPr>
        <p:spPr>
          <a:xfrm>
            <a:off x="2514600" y="4734364"/>
            <a:ext cx="3740075" cy="84172"/>
          </a:xfrm>
          <a:prstGeom prst="rect">
            <a:avLst/>
          </a:prstGeom>
          <a:solidFill>
            <a:srgbClr val="2E7D4F"/>
          </a:solidFill>
          <a:ln cap="flat" cmpd="sng" w="12700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6" name="Google Shape;3636;p40"/>
          <p:cNvSpPr txBox="1"/>
          <p:nvPr/>
        </p:nvSpPr>
        <p:spPr>
          <a:xfrm>
            <a:off x="2514600" y="4716328"/>
            <a:ext cx="3685211" cy="1202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s-CO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89 %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7" name="Google Shape;3637;p40"/>
          <p:cNvSpPr txBox="1"/>
          <p:nvPr/>
        </p:nvSpPr>
        <p:spPr>
          <a:xfrm>
            <a:off x="457200" y="4853159"/>
            <a:ext cx="2011680" cy="1202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Apiques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8" name="Google Shape;3638;p40"/>
          <p:cNvSpPr/>
          <p:nvPr/>
        </p:nvSpPr>
        <p:spPr>
          <a:xfrm>
            <a:off x="2514600" y="4871196"/>
            <a:ext cx="4206240" cy="84172"/>
          </a:xfrm>
          <a:prstGeom prst="rect">
            <a:avLst/>
          </a:prstGeom>
          <a:solidFill>
            <a:srgbClr val="E3E8E5"/>
          </a:solidFill>
          <a:ln cap="flat" cmpd="sng" w="12700">
            <a:solidFill>
              <a:srgbClr val="E3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9" name="Google Shape;3639;p40"/>
          <p:cNvSpPr/>
          <p:nvPr/>
        </p:nvSpPr>
        <p:spPr>
          <a:xfrm>
            <a:off x="2514600" y="4871196"/>
            <a:ext cx="4206240" cy="84172"/>
          </a:xfrm>
          <a:prstGeom prst="rect">
            <a:avLst/>
          </a:prstGeom>
          <a:solidFill>
            <a:srgbClr val="2E7D4F"/>
          </a:solidFill>
          <a:ln cap="flat" cmpd="sng" w="12700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0" name="Google Shape;3640;p40"/>
          <p:cNvSpPr txBox="1"/>
          <p:nvPr/>
        </p:nvSpPr>
        <p:spPr>
          <a:xfrm>
            <a:off x="2514600" y="4853159"/>
            <a:ext cx="4151376" cy="1202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s-CO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100 %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1" name="Google Shape;3641;p40"/>
          <p:cNvSpPr txBox="1"/>
          <p:nvPr/>
        </p:nvSpPr>
        <p:spPr>
          <a:xfrm>
            <a:off x="457200" y="4989990"/>
            <a:ext cx="2011680" cy="1202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Limpieza obras transversales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2" name="Google Shape;3642;p40"/>
          <p:cNvSpPr/>
          <p:nvPr/>
        </p:nvSpPr>
        <p:spPr>
          <a:xfrm>
            <a:off x="2514600" y="5008027"/>
            <a:ext cx="4206240" cy="84172"/>
          </a:xfrm>
          <a:prstGeom prst="rect">
            <a:avLst/>
          </a:prstGeom>
          <a:solidFill>
            <a:srgbClr val="E3E8E5"/>
          </a:solidFill>
          <a:ln cap="flat" cmpd="sng" w="12700">
            <a:solidFill>
              <a:srgbClr val="E3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3" name="Google Shape;3643;p40"/>
          <p:cNvSpPr/>
          <p:nvPr/>
        </p:nvSpPr>
        <p:spPr>
          <a:xfrm>
            <a:off x="2514600" y="5008027"/>
            <a:ext cx="1046430" cy="84172"/>
          </a:xfrm>
          <a:prstGeom prst="rect">
            <a:avLst/>
          </a:prstGeom>
          <a:solidFill>
            <a:srgbClr val="2E7D4F"/>
          </a:solidFill>
          <a:ln cap="flat" cmpd="sng" w="12700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4" name="Google Shape;3644;p40"/>
          <p:cNvSpPr txBox="1"/>
          <p:nvPr/>
        </p:nvSpPr>
        <p:spPr>
          <a:xfrm>
            <a:off x="2514600" y="4989990"/>
            <a:ext cx="991566" cy="1202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s-CO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25 %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5" name="Google Shape;3645;p40"/>
          <p:cNvSpPr txBox="1"/>
          <p:nvPr/>
        </p:nvSpPr>
        <p:spPr>
          <a:xfrm>
            <a:off x="457200" y="5126822"/>
            <a:ext cx="2011680" cy="1202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Reposición de alcantarillas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6" name="Google Shape;3646;p40"/>
          <p:cNvSpPr/>
          <p:nvPr/>
        </p:nvSpPr>
        <p:spPr>
          <a:xfrm>
            <a:off x="2514600" y="5144858"/>
            <a:ext cx="4206240" cy="84172"/>
          </a:xfrm>
          <a:prstGeom prst="rect">
            <a:avLst/>
          </a:prstGeom>
          <a:solidFill>
            <a:srgbClr val="E3E8E5"/>
          </a:solidFill>
          <a:ln cap="flat" cmpd="sng" w="12700">
            <a:solidFill>
              <a:srgbClr val="E3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7" name="Google Shape;3647;p40"/>
          <p:cNvSpPr txBox="1"/>
          <p:nvPr/>
        </p:nvSpPr>
        <p:spPr>
          <a:xfrm>
            <a:off x="2569464" y="5126822"/>
            <a:ext cx="640080" cy="1202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0 %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8" name="Google Shape;3648;p40"/>
          <p:cNvSpPr txBox="1"/>
          <p:nvPr/>
        </p:nvSpPr>
        <p:spPr>
          <a:xfrm>
            <a:off x="457200" y="5263653"/>
            <a:ext cx="2011680" cy="1202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Nuevas alcantarillas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9" name="Google Shape;3649;p40"/>
          <p:cNvSpPr/>
          <p:nvPr/>
        </p:nvSpPr>
        <p:spPr>
          <a:xfrm>
            <a:off x="2514600" y="5281690"/>
            <a:ext cx="4206240" cy="84172"/>
          </a:xfrm>
          <a:prstGeom prst="rect">
            <a:avLst/>
          </a:prstGeom>
          <a:solidFill>
            <a:srgbClr val="E3E8E5"/>
          </a:solidFill>
          <a:ln cap="flat" cmpd="sng" w="12700">
            <a:solidFill>
              <a:srgbClr val="E3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0" name="Google Shape;3650;p40"/>
          <p:cNvSpPr txBox="1"/>
          <p:nvPr/>
        </p:nvSpPr>
        <p:spPr>
          <a:xfrm>
            <a:off x="2569464" y="5263653"/>
            <a:ext cx="640080" cy="1202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0 %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1" name="Google Shape;3651;p40"/>
          <p:cNvSpPr txBox="1"/>
          <p:nvPr/>
        </p:nvSpPr>
        <p:spPr>
          <a:xfrm>
            <a:off x="457200" y="5400484"/>
            <a:ext cx="2011680" cy="1202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Filtros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2" name="Google Shape;3652;p40"/>
          <p:cNvSpPr/>
          <p:nvPr/>
        </p:nvSpPr>
        <p:spPr>
          <a:xfrm>
            <a:off x="2514600" y="5418521"/>
            <a:ext cx="4206240" cy="84172"/>
          </a:xfrm>
          <a:prstGeom prst="rect">
            <a:avLst/>
          </a:prstGeom>
          <a:solidFill>
            <a:srgbClr val="E3E8E5"/>
          </a:solidFill>
          <a:ln cap="flat" cmpd="sng" w="12700">
            <a:solidFill>
              <a:srgbClr val="E3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3" name="Google Shape;3653;p40"/>
          <p:cNvSpPr txBox="1"/>
          <p:nvPr/>
        </p:nvSpPr>
        <p:spPr>
          <a:xfrm>
            <a:off x="2569464" y="5400484"/>
            <a:ext cx="640080" cy="1202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0 %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4" name="Google Shape;3654;p40"/>
          <p:cNvSpPr txBox="1"/>
          <p:nvPr/>
        </p:nvSpPr>
        <p:spPr>
          <a:xfrm>
            <a:off x="457200" y="5537315"/>
            <a:ext cx="2011680" cy="1202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Cunetas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5" name="Google Shape;3655;p40"/>
          <p:cNvSpPr/>
          <p:nvPr/>
        </p:nvSpPr>
        <p:spPr>
          <a:xfrm>
            <a:off x="2514600" y="5555352"/>
            <a:ext cx="4206240" cy="84172"/>
          </a:xfrm>
          <a:prstGeom prst="rect">
            <a:avLst/>
          </a:prstGeom>
          <a:solidFill>
            <a:srgbClr val="E3E8E5"/>
          </a:solidFill>
          <a:ln cap="flat" cmpd="sng" w="12700">
            <a:solidFill>
              <a:srgbClr val="E3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6" name="Google Shape;3656;p40"/>
          <p:cNvSpPr txBox="1"/>
          <p:nvPr/>
        </p:nvSpPr>
        <p:spPr>
          <a:xfrm>
            <a:off x="2569464" y="5537315"/>
            <a:ext cx="640080" cy="1202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0 %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7" name="Google Shape;3657;p40"/>
          <p:cNvSpPr txBox="1"/>
          <p:nvPr/>
        </p:nvSpPr>
        <p:spPr>
          <a:xfrm>
            <a:off x="457200" y="5674147"/>
            <a:ext cx="2011680" cy="1202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Bordillos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8" name="Google Shape;3658;p40"/>
          <p:cNvSpPr/>
          <p:nvPr/>
        </p:nvSpPr>
        <p:spPr>
          <a:xfrm>
            <a:off x="2514600" y="5692183"/>
            <a:ext cx="4206240" cy="84172"/>
          </a:xfrm>
          <a:prstGeom prst="rect">
            <a:avLst/>
          </a:prstGeom>
          <a:solidFill>
            <a:srgbClr val="E3E8E5"/>
          </a:solidFill>
          <a:ln cap="flat" cmpd="sng" w="12700">
            <a:solidFill>
              <a:srgbClr val="E3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9" name="Google Shape;3659;p40"/>
          <p:cNvSpPr txBox="1"/>
          <p:nvPr/>
        </p:nvSpPr>
        <p:spPr>
          <a:xfrm>
            <a:off x="2569464" y="5674147"/>
            <a:ext cx="640080" cy="1202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0 %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0" name="Google Shape;3660;p40"/>
          <p:cNvSpPr txBox="1"/>
          <p:nvPr/>
        </p:nvSpPr>
        <p:spPr>
          <a:xfrm>
            <a:off x="457200" y="5810978"/>
            <a:ext cx="2011680" cy="1202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Conformación y adecuación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1" name="Google Shape;3661;p40"/>
          <p:cNvSpPr/>
          <p:nvPr/>
        </p:nvSpPr>
        <p:spPr>
          <a:xfrm>
            <a:off x="2514600" y="5829015"/>
            <a:ext cx="4206240" cy="84172"/>
          </a:xfrm>
          <a:prstGeom prst="rect">
            <a:avLst/>
          </a:prstGeom>
          <a:solidFill>
            <a:srgbClr val="E3E8E5"/>
          </a:solidFill>
          <a:ln cap="flat" cmpd="sng" w="12700">
            <a:solidFill>
              <a:srgbClr val="E3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2" name="Google Shape;3662;p40"/>
          <p:cNvSpPr txBox="1"/>
          <p:nvPr/>
        </p:nvSpPr>
        <p:spPr>
          <a:xfrm>
            <a:off x="2569464" y="5810978"/>
            <a:ext cx="640080" cy="1202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0 %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3" name="Google Shape;3663;p40"/>
          <p:cNvSpPr txBox="1"/>
          <p:nvPr/>
        </p:nvSpPr>
        <p:spPr>
          <a:xfrm>
            <a:off x="457200" y="5947809"/>
            <a:ext cx="2011680" cy="1202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Estabilización material existente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4" name="Google Shape;3664;p40"/>
          <p:cNvSpPr/>
          <p:nvPr/>
        </p:nvSpPr>
        <p:spPr>
          <a:xfrm>
            <a:off x="2514600" y="5965846"/>
            <a:ext cx="4206240" cy="84172"/>
          </a:xfrm>
          <a:prstGeom prst="rect">
            <a:avLst/>
          </a:prstGeom>
          <a:solidFill>
            <a:srgbClr val="E3E8E5"/>
          </a:solidFill>
          <a:ln cap="flat" cmpd="sng" w="12700">
            <a:solidFill>
              <a:srgbClr val="E3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5" name="Google Shape;3665;p40"/>
          <p:cNvSpPr txBox="1"/>
          <p:nvPr/>
        </p:nvSpPr>
        <p:spPr>
          <a:xfrm>
            <a:off x="2569464" y="5947809"/>
            <a:ext cx="640080" cy="1202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N/A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6" name="Google Shape;3666;p40"/>
          <p:cNvSpPr txBox="1"/>
          <p:nvPr/>
        </p:nvSpPr>
        <p:spPr>
          <a:xfrm>
            <a:off x="457200" y="6084641"/>
            <a:ext cx="2011680" cy="1202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Estabilización material de préstamo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7" name="Google Shape;3667;p40"/>
          <p:cNvSpPr/>
          <p:nvPr/>
        </p:nvSpPr>
        <p:spPr>
          <a:xfrm>
            <a:off x="2514600" y="6102677"/>
            <a:ext cx="4206240" cy="84172"/>
          </a:xfrm>
          <a:prstGeom prst="rect">
            <a:avLst/>
          </a:prstGeom>
          <a:solidFill>
            <a:srgbClr val="E3E8E5"/>
          </a:solidFill>
          <a:ln cap="flat" cmpd="sng" w="12700">
            <a:solidFill>
              <a:srgbClr val="E3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8" name="Google Shape;3668;p40"/>
          <p:cNvSpPr txBox="1"/>
          <p:nvPr/>
        </p:nvSpPr>
        <p:spPr>
          <a:xfrm>
            <a:off x="2569464" y="6084641"/>
            <a:ext cx="640080" cy="1202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0 %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9" name="Google Shape;3669;p40"/>
          <p:cNvSpPr txBox="1"/>
          <p:nvPr/>
        </p:nvSpPr>
        <p:spPr>
          <a:xfrm>
            <a:off x="457200" y="6221472"/>
            <a:ext cx="2011680" cy="1202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Señalización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0" name="Google Shape;3670;p40"/>
          <p:cNvSpPr/>
          <p:nvPr/>
        </p:nvSpPr>
        <p:spPr>
          <a:xfrm>
            <a:off x="2514600" y="6239509"/>
            <a:ext cx="4206240" cy="84172"/>
          </a:xfrm>
          <a:prstGeom prst="rect">
            <a:avLst/>
          </a:prstGeom>
          <a:solidFill>
            <a:srgbClr val="E3E8E5"/>
          </a:solidFill>
          <a:ln cap="flat" cmpd="sng" w="12700">
            <a:solidFill>
              <a:srgbClr val="E3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1" name="Google Shape;3671;p40"/>
          <p:cNvSpPr txBox="1"/>
          <p:nvPr/>
        </p:nvSpPr>
        <p:spPr>
          <a:xfrm>
            <a:off x="2569464" y="6221472"/>
            <a:ext cx="640080" cy="1202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0 %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672" name="Google Shape;3672;p40"/>
          <p:cNvGraphicFramePr/>
          <p:nvPr/>
        </p:nvGraphicFramePr>
        <p:xfrm>
          <a:off x="6858000" y="450071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{9EE2CB2E-1363-49F8-B8BA-952F5347F8D7}</a:tableStyleId>
              </a:tblPr>
              <a:tblGrid>
                <a:gridCol w="566925"/>
                <a:gridCol w="960125"/>
                <a:gridCol w="1143000"/>
                <a:gridCol w="1143000"/>
                <a:gridCol w="1060700"/>
              </a:tblGrid>
              <a:tr h="202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1" lang="es-CO" sz="7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Unidad</a:t>
                      </a:r>
                      <a:endParaRPr sz="7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1" lang="es-CO" sz="7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Presupuestada</a:t>
                      </a:r>
                      <a:endParaRPr sz="7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1" lang="es-CO" sz="7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Ejec. anterior</a:t>
                      </a:r>
                      <a:endParaRPr sz="7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1" lang="es-CO" sz="7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Ejec. actual</a:t>
                      </a:r>
                      <a:endParaRPr sz="7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1" lang="es-CO" sz="7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Δ semana</a:t>
                      </a:r>
                      <a:endParaRPr sz="7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</a:tr>
              <a:tr h="138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km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23,46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5F6B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20,86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1" lang="es-CO" sz="6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s.r.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8A94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8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und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98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5F6B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s.r.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1" lang="es-CO" sz="6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98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8A94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138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und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205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5F6B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49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1" lang="es-CO" sz="6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s.r.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8A94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8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und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111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5F6B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1" lang="es-CO" sz="6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s.r.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8A94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138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und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111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5F6B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1" lang="es-CO" sz="6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s.r.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8A94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8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23.460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5F6B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1" lang="es-CO" sz="6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s.r.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8A94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138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23.460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5F6B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1" lang="es-CO" sz="6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s.r.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8A94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8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4.692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5F6B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1" lang="es-CO" sz="6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s.r.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8A94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138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km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23,46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5F6B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1" lang="es-CO" sz="6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s.r.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8A94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8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km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N/A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5F6B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1" lang="es-CO" sz="6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s.r.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8A94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138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km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23,46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5F6B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1" lang="es-CO" sz="6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s.r.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8A94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8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ml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70.380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5F6B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1" lang="es-CO" sz="6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s.r.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8A94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</a:tbl>
          </a:graphicData>
        </a:graphic>
      </p:graphicFrame>
      <p:sp>
        <p:nvSpPr>
          <p:cNvPr id="3673" name="Google Shape;3673;p40"/>
          <p:cNvSpPr txBox="1"/>
          <p:nvPr/>
        </p:nvSpPr>
        <p:spPr>
          <a:xfrm>
            <a:off x="457200" y="6400000"/>
            <a:ext cx="5000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s-CO" sz="9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TIEMPO TRANSCURRIDO DEL PLAZO CONTRACTUAL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4" name="Google Shape;3674;p40"/>
          <p:cNvSpPr txBox="1"/>
          <p:nvPr/>
        </p:nvSpPr>
        <p:spPr>
          <a:xfrm>
            <a:off x="5000000" y="6400000"/>
            <a:ext cx="6734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Inicio: </a:t>
            </a:r>
            <a:r>
              <a:rPr b="1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10/02/2026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   ·   Terminación: </a:t>
            </a:r>
            <a:r>
              <a:rPr b="1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10/03/2027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   ·   Al: </a:t>
            </a:r>
            <a:r>
              <a:rPr b="1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02/10/2026</a:t>
            </a: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   ·   234 de 393 días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5" name="Google Shape;3675;p40"/>
          <p:cNvSpPr/>
          <p:nvPr/>
        </p:nvSpPr>
        <p:spPr>
          <a:xfrm>
            <a:off x="457200" y="6598920"/>
            <a:ext cx="11277600" cy="164592"/>
          </a:xfrm>
          <a:prstGeom prst="roundRect">
            <a:avLst>
              <a:gd fmla="val 50000" name="adj"/>
            </a:avLst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6" name="Google Shape;3676;p40"/>
          <p:cNvSpPr/>
          <p:nvPr/>
        </p:nvSpPr>
        <p:spPr>
          <a:xfrm>
            <a:off x="457200" y="6598920"/>
            <a:ext cx="6714906" cy="164592"/>
          </a:xfrm>
          <a:prstGeom prst="roundRect">
            <a:avLst>
              <a:gd fmla="val 50000" name="adj"/>
            </a:avLst>
          </a:prstGeom>
          <a:solidFill>
            <a:srgbClr val="2E7D4F"/>
          </a:solidFill>
          <a:ln cap="flat" cmpd="sng" w="9525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s-CO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59,5 %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77" name="Google Shape;3677;p40"/>
          <p:cNvCxnSpPr/>
          <p:nvPr/>
        </p:nvCxnSpPr>
        <p:spPr>
          <a:xfrm>
            <a:off x="1002427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78" name="Google Shape;3678;p40"/>
          <p:cNvCxnSpPr/>
          <p:nvPr/>
        </p:nvCxnSpPr>
        <p:spPr>
          <a:xfrm>
            <a:off x="1892009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79" name="Google Shape;3679;p40"/>
          <p:cNvCxnSpPr/>
          <p:nvPr/>
        </p:nvCxnSpPr>
        <p:spPr>
          <a:xfrm>
            <a:off x="2752894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80" name="Google Shape;3680;p40"/>
          <p:cNvCxnSpPr/>
          <p:nvPr/>
        </p:nvCxnSpPr>
        <p:spPr>
          <a:xfrm>
            <a:off x="3642476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81" name="Google Shape;3681;p40"/>
          <p:cNvCxnSpPr/>
          <p:nvPr/>
        </p:nvCxnSpPr>
        <p:spPr>
          <a:xfrm>
            <a:off x="4503361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82" name="Google Shape;3682;p40"/>
          <p:cNvCxnSpPr/>
          <p:nvPr/>
        </p:nvCxnSpPr>
        <p:spPr>
          <a:xfrm>
            <a:off x="5392943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83" name="Google Shape;3683;p40"/>
          <p:cNvCxnSpPr/>
          <p:nvPr/>
        </p:nvCxnSpPr>
        <p:spPr>
          <a:xfrm>
            <a:off x="6282525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84" name="Google Shape;3684;p40"/>
          <p:cNvCxnSpPr/>
          <p:nvPr/>
        </p:nvCxnSpPr>
        <p:spPr>
          <a:xfrm>
            <a:off x="7143410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85" name="Google Shape;3685;p40"/>
          <p:cNvCxnSpPr/>
          <p:nvPr/>
        </p:nvCxnSpPr>
        <p:spPr>
          <a:xfrm>
            <a:off x="8032992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86" name="Google Shape;3686;p40"/>
          <p:cNvCxnSpPr/>
          <p:nvPr/>
        </p:nvCxnSpPr>
        <p:spPr>
          <a:xfrm>
            <a:off x="8893877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87" name="Google Shape;3687;p40"/>
          <p:cNvCxnSpPr/>
          <p:nvPr/>
        </p:nvCxnSpPr>
        <p:spPr>
          <a:xfrm>
            <a:off x="9783459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88" name="Google Shape;3688;p40"/>
          <p:cNvCxnSpPr/>
          <p:nvPr/>
        </p:nvCxnSpPr>
        <p:spPr>
          <a:xfrm>
            <a:off x="10673041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89" name="Google Shape;3689;p40"/>
          <p:cNvCxnSpPr/>
          <p:nvPr/>
        </p:nvCxnSpPr>
        <p:spPr>
          <a:xfrm>
            <a:off x="11476534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90" name="Google Shape;3690;p40"/>
          <p:cNvCxnSpPr/>
          <p:nvPr/>
        </p:nvCxnSpPr>
        <p:spPr>
          <a:xfrm>
            <a:off x="7172106" y="6562344"/>
            <a:ext cx="0" cy="237744"/>
          </a:xfrm>
          <a:prstGeom prst="straightConnector1">
            <a:avLst/>
          </a:prstGeom>
          <a:noFill/>
          <a:ln cap="flat" cmpd="sng" w="19050">
            <a:solidFill>
              <a:srgbClr val="B3261E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95" name="Shape 3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6" name="Google Shape;3696;p41"/>
          <p:cNvSpPr txBox="1"/>
          <p:nvPr/>
        </p:nvSpPr>
        <p:spPr>
          <a:xfrm>
            <a:off x="457200" y="320040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1200"/>
              <a:buFont typeface="Calibri"/>
              <a:buNone/>
            </a:pPr>
            <a:r>
              <a:rPr b="1" i="0" lang="es-CO" sz="1200" u="none" cap="none" strike="noStrike">
                <a:solidFill>
                  <a:srgbClr val="2E7D4F"/>
                </a:solidFill>
                <a:latin typeface="Poppins"/>
                <a:ea typeface="Poppins"/>
                <a:cs typeface="Poppins"/>
                <a:sym typeface="Poppins"/>
              </a:rPr>
              <a:t>INFORME DE VARIACIÓN DE ALCANCES  ·  LOTE 6 – SUBREGIÓN NORDESTE</a:t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97" name="Google Shape;3697;p41"/>
          <p:cNvSpPr txBox="1"/>
          <p:nvPr/>
        </p:nvSpPr>
        <p:spPr>
          <a:xfrm>
            <a:off x="457200" y="594360"/>
            <a:ext cx="9692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2800"/>
              <a:buFont typeface="Calibri"/>
              <a:buNone/>
            </a:pPr>
            <a:r>
              <a:rPr b="1" i="0" lang="es-CO" sz="28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Amalfi – Portachuelos – Santa Isabel</a:t>
            </a:r>
            <a:endParaRPr b="0" i="0" sz="2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descr="logo.png" id="3698" name="Google Shape;369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78440" y="320040"/>
            <a:ext cx="1371600" cy="676656"/>
          </a:xfrm>
          <a:prstGeom prst="rect">
            <a:avLst/>
          </a:prstGeom>
          <a:noFill/>
          <a:ln>
            <a:noFill/>
          </a:ln>
        </p:spPr>
      </p:pic>
      <p:sp>
        <p:nvSpPr>
          <p:cNvPr id="3699" name="Google Shape;3699;p41"/>
          <p:cNvSpPr/>
          <p:nvPr/>
        </p:nvSpPr>
        <p:spPr>
          <a:xfrm>
            <a:off x="457200" y="132588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0" name="Google Shape;3700;p41"/>
          <p:cNvSpPr txBox="1"/>
          <p:nvPr/>
        </p:nvSpPr>
        <p:spPr>
          <a:xfrm>
            <a:off x="594360" y="1417320"/>
            <a:ext cx="183483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100"/>
              <a:buFont typeface="Calibri"/>
              <a:buNone/>
            </a:pPr>
            <a:r>
              <a:rPr b="0" i="0" lang="es-CO" sz="11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Longitud contractual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1" name="Google Shape;3701;p41"/>
          <p:cNvSpPr txBox="1"/>
          <p:nvPr/>
        </p:nvSpPr>
        <p:spPr>
          <a:xfrm>
            <a:off x="594360" y="1691640"/>
            <a:ext cx="183483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700"/>
              <a:buFont typeface="Calibri"/>
              <a:buNone/>
            </a:pPr>
            <a:r>
              <a:rPr b="1" i="0" lang="es-CO" sz="17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10,00 km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2" name="Google Shape;3702;p41"/>
          <p:cNvSpPr/>
          <p:nvPr/>
        </p:nvSpPr>
        <p:spPr>
          <a:xfrm>
            <a:off x="2749235" y="132588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3" name="Google Shape;3703;p41"/>
          <p:cNvSpPr txBox="1"/>
          <p:nvPr/>
        </p:nvSpPr>
        <p:spPr>
          <a:xfrm>
            <a:off x="2886395" y="1417320"/>
            <a:ext cx="183483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100"/>
              <a:buFont typeface="Calibri"/>
              <a:buNone/>
            </a:pPr>
            <a:r>
              <a:rPr b="0" i="0" lang="es-CO" sz="11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Longitud probable a cubrir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4" name="Google Shape;3704;p41"/>
          <p:cNvSpPr txBox="1"/>
          <p:nvPr/>
        </p:nvSpPr>
        <p:spPr>
          <a:xfrm>
            <a:off x="2886395" y="1691640"/>
            <a:ext cx="183483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700"/>
              <a:buFont typeface="Calibri"/>
              <a:buNone/>
            </a:pPr>
            <a:r>
              <a:rPr b="1" i="0" lang="es-CO" sz="17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5,80 km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5" name="Google Shape;3705;p41"/>
          <p:cNvSpPr/>
          <p:nvPr/>
        </p:nvSpPr>
        <p:spPr>
          <a:xfrm>
            <a:off x="5041270" y="132588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6" name="Google Shape;3706;p41"/>
          <p:cNvSpPr txBox="1"/>
          <p:nvPr/>
        </p:nvSpPr>
        <p:spPr>
          <a:xfrm>
            <a:off x="5178430" y="1417320"/>
            <a:ext cx="183483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100"/>
              <a:buFont typeface="Calibri"/>
              <a:buNone/>
            </a:pPr>
            <a:r>
              <a:rPr b="0" i="0" lang="es-CO" sz="11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Valor por km contractual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7" name="Google Shape;3707;p41"/>
          <p:cNvSpPr txBox="1"/>
          <p:nvPr/>
        </p:nvSpPr>
        <p:spPr>
          <a:xfrm>
            <a:off x="5178430" y="1691640"/>
            <a:ext cx="183483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700"/>
              <a:buFont typeface="Calibri"/>
              <a:buNone/>
            </a:pPr>
            <a:r>
              <a:rPr b="1" i="0" lang="es-CO" sz="17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$ 957.989.619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8" name="Google Shape;3708;p41"/>
          <p:cNvSpPr/>
          <p:nvPr/>
        </p:nvSpPr>
        <p:spPr>
          <a:xfrm>
            <a:off x="7333305" y="132588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9" name="Google Shape;3709;p41"/>
          <p:cNvSpPr txBox="1"/>
          <p:nvPr/>
        </p:nvSpPr>
        <p:spPr>
          <a:xfrm>
            <a:off x="7470465" y="1417320"/>
            <a:ext cx="183483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100"/>
              <a:buFont typeface="Calibri"/>
              <a:buNone/>
            </a:pPr>
            <a:r>
              <a:rPr b="0" i="0" lang="es-CO" sz="11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Valor por km proyectado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0" name="Google Shape;3710;p41"/>
          <p:cNvSpPr txBox="1"/>
          <p:nvPr/>
        </p:nvSpPr>
        <p:spPr>
          <a:xfrm>
            <a:off x="7470465" y="1691640"/>
            <a:ext cx="183483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700"/>
              <a:buFont typeface="Calibri"/>
              <a:buNone/>
            </a:pPr>
            <a:r>
              <a:rPr b="1" i="0" lang="es-CO" sz="17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$ 1.651.644.363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1" name="Google Shape;3711;p41"/>
          <p:cNvSpPr/>
          <p:nvPr/>
        </p:nvSpPr>
        <p:spPr>
          <a:xfrm>
            <a:off x="9625340" y="132588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FBEAEA"/>
          </a:solidFill>
          <a:ln cap="flat" cmpd="sng" w="12700">
            <a:solidFill>
              <a:srgbClr val="FBEA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2" name="Google Shape;3712;p41"/>
          <p:cNvSpPr txBox="1"/>
          <p:nvPr/>
        </p:nvSpPr>
        <p:spPr>
          <a:xfrm>
            <a:off x="9762500" y="1417320"/>
            <a:ext cx="183483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100"/>
              <a:buFont typeface="Calibri"/>
              <a:buNone/>
            </a:pPr>
            <a:r>
              <a:rPr b="0" i="0" lang="es-CO" sz="11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Variación total (valor adicional)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3" name="Google Shape;3713;p41"/>
          <p:cNvSpPr txBox="1"/>
          <p:nvPr/>
        </p:nvSpPr>
        <p:spPr>
          <a:xfrm>
            <a:off x="9762500" y="1691640"/>
            <a:ext cx="183483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261E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B3261E"/>
                </a:solidFill>
                <a:latin typeface="Arial"/>
                <a:ea typeface="Arial"/>
                <a:cs typeface="Arial"/>
                <a:sym typeface="Arial"/>
              </a:rPr>
              <a:t>▲ </a:t>
            </a:r>
            <a:r>
              <a:rPr b="1" i="0" lang="es-CO" sz="1500" u="none" cap="none" strike="noStrike">
                <a:solidFill>
                  <a:srgbClr val="B3261E"/>
                </a:solidFill>
                <a:latin typeface="Calibri"/>
                <a:ea typeface="Calibri"/>
                <a:cs typeface="Calibri"/>
                <a:sym typeface="Calibri"/>
              </a:rPr>
              <a:t>$ 6.936.547.436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4" name="Google Shape;3714;p41"/>
          <p:cNvSpPr/>
          <p:nvPr/>
        </p:nvSpPr>
        <p:spPr>
          <a:xfrm>
            <a:off x="457200" y="2423160"/>
            <a:ext cx="3154680" cy="4114800"/>
          </a:xfrm>
          <a:prstGeom prst="roundRect">
            <a:avLst>
              <a:gd fmla="val 1739" name="adj"/>
            </a:avLst>
          </a:prstGeom>
          <a:solidFill>
            <a:srgbClr val="FFFFFF"/>
          </a:solidFill>
          <a:ln cap="flat" cmpd="sng" w="12700">
            <a:solidFill>
              <a:srgbClr val="D5DD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5" name="Google Shape;3715;p41"/>
          <p:cNvSpPr txBox="1"/>
          <p:nvPr/>
        </p:nvSpPr>
        <p:spPr>
          <a:xfrm>
            <a:off x="640080" y="2560320"/>
            <a:ext cx="2788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1100"/>
              <a:buFont typeface="Calibri"/>
              <a:buNone/>
            </a:pPr>
            <a:r>
              <a:rPr b="1" i="0" lang="es-CO" sz="11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ESTRUCTURA DE PAVIMENTO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6" name="Google Shape;3716;p41"/>
          <p:cNvSpPr txBox="1"/>
          <p:nvPr/>
        </p:nvSpPr>
        <p:spPr>
          <a:xfrm>
            <a:off x="640080" y="2816352"/>
            <a:ext cx="2788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1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Amalfi – Portachuelos – Santa Isabel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7" name="Google Shape;3717;p41"/>
          <p:cNvSpPr txBox="1"/>
          <p:nvPr/>
        </p:nvSpPr>
        <p:spPr>
          <a:xfrm>
            <a:off x="640080" y="3172968"/>
            <a:ext cx="2788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LOTE 6 · Longitud: 10.000 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Tránsito – Estructuración: </a:t>
            </a: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307.000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Tránsito – Diseño: </a:t>
            </a: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307.000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8" name="Google Shape;3718;p41"/>
          <p:cNvSpPr txBox="1"/>
          <p:nvPr/>
        </p:nvSpPr>
        <p:spPr>
          <a:xfrm>
            <a:off x="457200" y="3794760"/>
            <a:ext cx="3154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1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Estructura de diseño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9" name="Google Shape;3719;p41"/>
          <p:cNvSpPr/>
          <p:nvPr/>
        </p:nvSpPr>
        <p:spPr>
          <a:xfrm>
            <a:off x="1348740" y="4087368"/>
            <a:ext cx="960120" cy="182880"/>
          </a:xfrm>
          <a:prstGeom prst="rect">
            <a:avLst/>
          </a:prstGeom>
          <a:solidFill>
            <a:srgbClr val="1F2A36"/>
          </a:solidFill>
          <a:ln cap="flat" cmpd="sng" w="12700">
            <a:solidFill>
              <a:srgbClr val="1F2A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0" name="Google Shape;3720;p41"/>
          <p:cNvSpPr txBox="1"/>
          <p:nvPr/>
        </p:nvSpPr>
        <p:spPr>
          <a:xfrm>
            <a:off x="1348740" y="4087368"/>
            <a:ext cx="9601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s-CO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TSD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1" name="Google Shape;3721;p41"/>
          <p:cNvSpPr/>
          <p:nvPr/>
        </p:nvSpPr>
        <p:spPr>
          <a:xfrm>
            <a:off x="1348740" y="4270248"/>
            <a:ext cx="960120" cy="1056132"/>
          </a:xfrm>
          <a:prstGeom prst="rect">
            <a:avLst/>
          </a:prstGeom>
          <a:solidFill>
            <a:srgbClr val="D9A44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2" name="Google Shape;3722;p41"/>
          <p:cNvSpPr txBox="1"/>
          <p:nvPr/>
        </p:nvSpPr>
        <p:spPr>
          <a:xfrm>
            <a:off x="1348740" y="4270248"/>
            <a:ext cx="960120" cy="49149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800"/>
              <a:buFont typeface="Calibri"/>
              <a:buNone/>
            </a:pPr>
            <a:r>
              <a:rPr b="1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MGTC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3" name="Google Shape;3723;p41"/>
          <p:cNvSpPr/>
          <p:nvPr/>
        </p:nvSpPr>
        <p:spPr>
          <a:xfrm>
            <a:off x="1412748" y="4761738"/>
            <a:ext cx="832104" cy="528066"/>
          </a:xfrm>
          <a:prstGeom prst="rect">
            <a:avLst/>
          </a:prstGeom>
          <a:solidFill>
            <a:srgbClr val="F2D58E"/>
          </a:solidFill>
          <a:ln cap="flat" cmpd="sng" w="9525">
            <a:solidFill>
              <a:srgbClr val="A87B1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4" name="Google Shape;3724;p41"/>
          <p:cNvSpPr txBox="1"/>
          <p:nvPr/>
        </p:nvSpPr>
        <p:spPr>
          <a:xfrm>
            <a:off x="1412748" y="4761738"/>
            <a:ext cx="832104" cy="528066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800"/>
              <a:buFont typeface="Calibri"/>
              <a:buNone/>
            </a:pPr>
            <a:r>
              <a:rPr b="0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Subbase 14 cm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5" name="Google Shape;3725;p41"/>
          <p:cNvSpPr txBox="1"/>
          <p:nvPr/>
        </p:nvSpPr>
        <p:spPr>
          <a:xfrm>
            <a:off x="2363724" y="4270248"/>
            <a:ext cx="457200" cy="10561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28 cm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6" name="Google Shape;3726;p41"/>
          <p:cNvSpPr/>
          <p:nvPr/>
        </p:nvSpPr>
        <p:spPr>
          <a:xfrm>
            <a:off x="1348740" y="5326380"/>
            <a:ext cx="960120" cy="754380"/>
          </a:xfrm>
          <a:prstGeom prst="rect">
            <a:avLst/>
          </a:prstGeom>
          <a:solidFill>
            <a:srgbClr val="8C6A4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7" name="Google Shape;3727;p41"/>
          <p:cNvSpPr txBox="1"/>
          <p:nvPr/>
        </p:nvSpPr>
        <p:spPr>
          <a:xfrm>
            <a:off x="1348740" y="5326380"/>
            <a:ext cx="960120" cy="754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s-CO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Subrasante estabilizada con cal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8" name="Google Shape;3728;p41"/>
          <p:cNvSpPr txBox="1"/>
          <p:nvPr/>
        </p:nvSpPr>
        <p:spPr>
          <a:xfrm>
            <a:off x="2363724" y="5326380"/>
            <a:ext cx="457200" cy="754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20 cm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29" name="Google Shape;3729;p41"/>
          <p:cNvCxnSpPr/>
          <p:nvPr/>
        </p:nvCxnSpPr>
        <p:spPr>
          <a:xfrm>
            <a:off x="1257300" y="6080760"/>
            <a:ext cx="1143000" cy="0"/>
          </a:xfrm>
          <a:prstGeom prst="straightConnector1">
            <a:avLst/>
          </a:prstGeom>
          <a:noFill/>
          <a:ln cap="flat" cmpd="sng" w="12700">
            <a:solidFill>
              <a:srgbClr val="1D2B2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30" name="Google Shape;3730;p41"/>
          <p:cNvSpPr txBox="1"/>
          <p:nvPr/>
        </p:nvSpPr>
        <p:spPr>
          <a:xfrm>
            <a:off x="457200" y="6153912"/>
            <a:ext cx="31546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Espesor total: </a:t>
            </a:r>
            <a:r>
              <a:rPr b="1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48 cm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731" name="Google Shape;3731;p41"/>
          <p:cNvGraphicFramePr/>
          <p:nvPr/>
        </p:nvGraphicFramePr>
        <p:xfrm>
          <a:off x="3840480" y="24231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{2219430B-40B1-4F13-8D99-EA5D7966678A}</a:tableStyleId>
              </a:tblPr>
              <a:tblGrid>
                <a:gridCol w="2395725"/>
                <a:gridCol w="1097275"/>
                <a:gridCol w="603500"/>
                <a:gridCol w="1097275"/>
                <a:gridCol w="603500"/>
                <a:gridCol w="237750"/>
                <a:gridCol w="1097275"/>
                <a:gridCol w="758950"/>
              </a:tblGrid>
              <a:tr h="438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Grupo – actividad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Valor contractual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 sobre corredor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Valor proyectado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 sobre corredor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Variación (valor adicional)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 de variación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</a:tr>
              <a:tr h="27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Construcción de alcantarillas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$ 1.687.286.096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17,61%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$ 906.099.614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5,49%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>
                          <a:solidFill>
                            <a:srgbClr val="0B5D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▼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0B5D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–$ 781.186.482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0B5D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–46,3 %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Construcción de cunetas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$ 1.588.129.838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16,58%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$ 2.223.381.773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13,46%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>
                          <a:solidFill>
                            <a:srgbClr val="B32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▲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$ 635.251.935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40,0 %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27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Construcción de filtros para cunetas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$ 2.000.142.400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20,88%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$ 2.843.339.360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17,22%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>
                          <a:solidFill>
                            <a:srgbClr val="B32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▲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$ 843.196.960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42,2 %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Construcción de bordillos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$ 223.740.920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2,34%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$ 223.740.920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1,35%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0,0 %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27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Construcción de disipadores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$ 267.998.344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2,80%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$ 267.998.344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1,62%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0,0 %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Estabilización con material granular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$ 3.677.506.945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38,39%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$ 6.581.310.818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39,85%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B32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▲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$ 2.903.803.873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79,0 %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27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Señalización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$ 135.091.650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1,41%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$ 135.091.650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0,82%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0,0 %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Actividades no previstas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50"/>
                        <a:buFont typeface="Calibri"/>
                        <a:buNone/>
                      </a:pPr>
                      <a:r>
                        <a:t/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50"/>
                        <a:buFont typeface="Calibri"/>
                        <a:buNone/>
                      </a:pPr>
                      <a:r>
                        <a:t/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$ 3.335.481.150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20,19%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>
                          <a:solidFill>
                            <a:srgbClr val="B32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▲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$ 3.335.481.150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B65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N/A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27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CORREDOR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$ 9.579.896.193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100%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$ 16.516.443.629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100%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B32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▲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+$ 6.936.547.436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72,4 %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</a:tr>
            </a:tbl>
          </a:graphicData>
        </a:graphic>
      </p:graphicFrame>
      <p:sp>
        <p:nvSpPr>
          <p:cNvPr id="3732" name="Google Shape;3732;p41"/>
          <p:cNvSpPr txBox="1"/>
          <p:nvPr/>
        </p:nvSpPr>
        <p:spPr>
          <a:xfrm>
            <a:off x="3840480" y="5413248"/>
            <a:ext cx="78912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261E"/>
              </a:buClr>
              <a:buSzPts val="900"/>
              <a:buFont typeface="Arial"/>
              <a:buNone/>
            </a:pPr>
            <a:r>
              <a:rPr b="0" i="0" lang="es-CO" sz="900" u="none" cap="none" strike="noStrike">
                <a:solidFill>
                  <a:srgbClr val="B3261E"/>
                </a:solidFill>
                <a:latin typeface="Arial"/>
                <a:ea typeface="Arial"/>
                <a:cs typeface="Arial"/>
                <a:sym typeface="Arial"/>
              </a:rPr>
              <a:t>▲</a:t>
            </a: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 Se requiere mayor valor     </a:t>
            </a:r>
            <a:r>
              <a:rPr b="0" i="0" lang="es-CO" sz="900" u="none" cap="none" strike="noStrike">
                <a:solidFill>
                  <a:srgbClr val="0B5D2E"/>
                </a:solidFill>
                <a:latin typeface="Arial"/>
                <a:ea typeface="Arial"/>
                <a:cs typeface="Arial"/>
                <a:sym typeface="Arial"/>
              </a:rPr>
              <a:t>▼</a:t>
            </a: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 Sobra valor     % de variación = (valor proyectado – valor contractual) / valor contractual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3" name="Google Shape;3733;p41"/>
          <p:cNvSpPr/>
          <p:nvPr/>
        </p:nvSpPr>
        <p:spPr>
          <a:xfrm>
            <a:off x="3840480" y="5687568"/>
            <a:ext cx="7891272" cy="850392"/>
          </a:xfrm>
          <a:prstGeom prst="roundRect">
            <a:avLst>
              <a:gd fmla="val 6452" name="adj"/>
            </a:avLst>
          </a:prstGeom>
          <a:solidFill>
            <a:srgbClr val="FFFFFF"/>
          </a:solidFill>
          <a:ln cap="flat" cmpd="sng" w="12700">
            <a:solidFill>
              <a:srgbClr val="9AA7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00" lIns="1000" spcFirstLastPara="1" rIns="1500" wrap="square" tIns="15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100"/>
              <a:buFont typeface="Calibri"/>
              <a:buNone/>
            </a:pPr>
            <a:r>
              <a:rPr b="1" i="0" lang="es-CO" sz="11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Notas: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38" name="Shape 3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9" name="Google Shape;3739;p42"/>
          <p:cNvSpPr txBox="1"/>
          <p:nvPr/>
        </p:nvSpPr>
        <p:spPr>
          <a:xfrm>
            <a:off x="457200" y="320040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1200"/>
              <a:buFont typeface="Calibri"/>
              <a:buNone/>
            </a:pPr>
            <a:r>
              <a:rPr b="1" i="0" lang="es-CO" sz="1200" u="none" cap="none" strike="noStrike">
                <a:solidFill>
                  <a:srgbClr val="2E7D4F"/>
                </a:solidFill>
                <a:latin typeface="Poppins"/>
                <a:ea typeface="Poppins"/>
                <a:cs typeface="Poppins"/>
                <a:sym typeface="Poppins"/>
              </a:rPr>
              <a:t>INFORME DE EJECUCIÓN  ·  LOTE 6 – SUBREGIÓN NORDESTE</a:t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40" name="Google Shape;3740;p42"/>
          <p:cNvSpPr txBox="1"/>
          <p:nvPr/>
        </p:nvSpPr>
        <p:spPr>
          <a:xfrm>
            <a:off x="457200" y="594360"/>
            <a:ext cx="9692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2800"/>
              <a:buFont typeface="Calibri"/>
              <a:buNone/>
            </a:pPr>
            <a:r>
              <a:rPr b="1" i="0" lang="es-CO" sz="28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Amalfi – Portachuelos – Santa Isabel</a:t>
            </a:r>
            <a:endParaRPr b="0" i="0" sz="2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descr="logo.png" id="3741" name="Google Shape;3741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78440" y="320040"/>
            <a:ext cx="1371600" cy="676656"/>
          </a:xfrm>
          <a:prstGeom prst="rect">
            <a:avLst/>
          </a:prstGeom>
          <a:noFill/>
          <a:ln>
            <a:noFill/>
          </a:ln>
        </p:spPr>
      </p:pic>
      <p:sp>
        <p:nvSpPr>
          <p:cNvPr id="3742" name="Google Shape;3742;p42"/>
          <p:cNvSpPr/>
          <p:nvPr/>
        </p:nvSpPr>
        <p:spPr>
          <a:xfrm>
            <a:off x="457200" y="1234440"/>
            <a:ext cx="1765249" cy="658368"/>
          </a:xfrm>
          <a:prstGeom prst="roundRect">
            <a:avLst>
              <a:gd fmla="val 1111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3" name="Google Shape;3743;p42"/>
          <p:cNvSpPr txBox="1"/>
          <p:nvPr/>
        </p:nvSpPr>
        <p:spPr>
          <a:xfrm>
            <a:off x="566928" y="1289304"/>
            <a:ext cx="154579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50"/>
              <a:buFont typeface="Calibri"/>
              <a:buNone/>
            </a:pPr>
            <a:r>
              <a:rPr b="0" i="0" lang="es-CO" sz="9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Longitud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4" name="Google Shape;3744;p42"/>
          <p:cNvSpPr txBox="1"/>
          <p:nvPr/>
        </p:nvSpPr>
        <p:spPr>
          <a:xfrm>
            <a:off x="566928" y="1453896"/>
            <a:ext cx="154579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10,00 km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5" name="Google Shape;3745;p42"/>
          <p:cNvSpPr txBox="1"/>
          <p:nvPr/>
        </p:nvSpPr>
        <p:spPr>
          <a:xfrm>
            <a:off x="566928" y="1700784"/>
            <a:ext cx="1545793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00"/>
              <a:buFont typeface="Calibri"/>
              <a:buNone/>
            </a:pP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Alcance real 5,80 km · dif. 4,20 km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6" name="Google Shape;3746;p42"/>
          <p:cNvSpPr/>
          <p:nvPr/>
        </p:nvSpPr>
        <p:spPr>
          <a:xfrm>
            <a:off x="2359609" y="1234440"/>
            <a:ext cx="1765249" cy="658368"/>
          </a:xfrm>
          <a:prstGeom prst="roundRect">
            <a:avLst>
              <a:gd fmla="val 1111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7" name="Google Shape;3747;p42"/>
          <p:cNvSpPr txBox="1"/>
          <p:nvPr/>
        </p:nvSpPr>
        <p:spPr>
          <a:xfrm>
            <a:off x="2469337" y="1289304"/>
            <a:ext cx="154579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50"/>
              <a:buFont typeface="Calibri"/>
              <a:buNone/>
            </a:pPr>
            <a:r>
              <a:rPr b="0" i="0" lang="es-CO" sz="9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Valor total del corredor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8" name="Google Shape;3748;p42"/>
          <p:cNvSpPr txBox="1"/>
          <p:nvPr/>
        </p:nvSpPr>
        <p:spPr>
          <a:xfrm>
            <a:off x="2469337" y="1453896"/>
            <a:ext cx="154579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$ 9.579.896.193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9" name="Google Shape;3749;p42"/>
          <p:cNvSpPr txBox="1"/>
          <p:nvPr/>
        </p:nvSpPr>
        <p:spPr>
          <a:xfrm>
            <a:off x="2469337" y="1700784"/>
            <a:ext cx="1545793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00"/>
              <a:buFont typeface="Calibri"/>
              <a:buNone/>
            </a:pP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$ 957.989.619 por km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0" name="Google Shape;3750;p42"/>
          <p:cNvSpPr/>
          <p:nvPr/>
        </p:nvSpPr>
        <p:spPr>
          <a:xfrm>
            <a:off x="4262018" y="1234440"/>
            <a:ext cx="1765249" cy="658368"/>
          </a:xfrm>
          <a:prstGeom prst="roundRect">
            <a:avLst>
              <a:gd fmla="val 11111" name="adj"/>
            </a:avLst>
          </a:prstGeom>
          <a:solidFill>
            <a:srgbClr val="FBEAEA"/>
          </a:solidFill>
          <a:ln cap="flat" cmpd="sng" w="12700">
            <a:solidFill>
              <a:srgbClr val="FBEA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1" name="Google Shape;3751;p42"/>
          <p:cNvSpPr txBox="1"/>
          <p:nvPr/>
        </p:nvSpPr>
        <p:spPr>
          <a:xfrm>
            <a:off x="4371746" y="1289304"/>
            <a:ext cx="154579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50"/>
              <a:buFont typeface="Calibri"/>
              <a:buNone/>
            </a:pPr>
            <a:r>
              <a:rPr b="0" i="0" lang="es-CO" sz="9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Avance físico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2" name="Google Shape;3752;p42"/>
          <p:cNvSpPr txBox="1"/>
          <p:nvPr/>
        </p:nvSpPr>
        <p:spPr>
          <a:xfrm>
            <a:off x="4371746" y="1453896"/>
            <a:ext cx="154579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261E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B3261E"/>
                </a:solidFill>
                <a:latin typeface="Calibri"/>
                <a:ea typeface="Calibri"/>
                <a:cs typeface="Calibri"/>
                <a:sym typeface="Calibri"/>
              </a:rPr>
              <a:t>0,28 %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3" name="Google Shape;3753;p42"/>
          <p:cNvSpPr txBox="1"/>
          <p:nvPr/>
        </p:nvSpPr>
        <p:spPr>
          <a:xfrm>
            <a:off x="4371746" y="1700784"/>
            <a:ext cx="1545793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00"/>
              <a:buFont typeface="Calibri"/>
              <a:buNone/>
            </a:pP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Frente a 59,5 % del plazo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4" name="Google Shape;3754;p42"/>
          <p:cNvSpPr/>
          <p:nvPr/>
        </p:nvSpPr>
        <p:spPr>
          <a:xfrm>
            <a:off x="6164428" y="1234440"/>
            <a:ext cx="1765249" cy="658368"/>
          </a:xfrm>
          <a:prstGeom prst="roundRect">
            <a:avLst>
              <a:gd fmla="val 1111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5" name="Google Shape;3755;p42"/>
          <p:cNvSpPr txBox="1"/>
          <p:nvPr/>
        </p:nvSpPr>
        <p:spPr>
          <a:xfrm>
            <a:off x="6274156" y="1289304"/>
            <a:ext cx="154579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50"/>
              <a:buFont typeface="Calibri"/>
              <a:buNone/>
            </a:pPr>
            <a:r>
              <a:rPr b="0" i="0" lang="es-CO" sz="9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Avance financiero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6" name="Google Shape;3756;p42"/>
          <p:cNvSpPr txBox="1"/>
          <p:nvPr/>
        </p:nvSpPr>
        <p:spPr>
          <a:xfrm>
            <a:off x="6274156" y="1453896"/>
            <a:ext cx="154579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0,00 %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7" name="Google Shape;3757;p42"/>
          <p:cNvSpPr/>
          <p:nvPr/>
        </p:nvSpPr>
        <p:spPr>
          <a:xfrm>
            <a:off x="8066837" y="1234440"/>
            <a:ext cx="1765249" cy="658368"/>
          </a:xfrm>
          <a:prstGeom prst="roundRect">
            <a:avLst>
              <a:gd fmla="val 1111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8" name="Google Shape;3758;p42"/>
          <p:cNvSpPr txBox="1"/>
          <p:nvPr/>
        </p:nvSpPr>
        <p:spPr>
          <a:xfrm>
            <a:off x="8176565" y="1289304"/>
            <a:ext cx="154579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50"/>
              <a:buFont typeface="Calibri"/>
              <a:buNone/>
            </a:pPr>
            <a:r>
              <a:rPr b="0" i="0" lang="es-CO" sz="9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Plazo transcurrido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9" name="Google Shape;3759;p42"/>
          <p:cNvSpPr txBox="1"/>
          <p:nvPr/>
        </p:nvSpPr>
        <p:spPr>
          <a:xfrm>
            <a:off x="8176565" y="1453896"/>
            <a:ext cx="154579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59,5 %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0" name="Google Shape;3760;p42"/>
          <p:cNvSpPr txBox="1"/>
          <p:nvPr/>
        </p:nvSpPr>
        <p:spPr>
          <a:xfrm>
            <a:off x="8176565" y="1700784"/>
            <a:ext cx="1545793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00"/>
              <a:buFont typeface="Calibri"/>
              <a:buNone/>
            </a:pP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7,7 de 13 meses (al 02/10/2026)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1" name="Google Shape;3761;p42"/>
          <p:cNvSpPr/>
          <p:nvPr/>
        </p:nvSpPr>
        <p:spPr>
          <a:xfrm>
            <a:off x="9969246" y="1234440"/>
            <a:ext cx="1765249" cy="658368"/>
          </a:xfrm>
          <a:prstGeom prst="roundRect">
            <a:avLst>
              <a:gd fmla="val 1111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2" name="Google Shape;3762;p42"/>
          <p:cNvSpPr txBox="1"/>
          <p:nvPr/>
        </p:nvSpPr>
        <p:spPr>
          <a:xfrm>
            <a:off x="10078974" y="1289304"/>
            <a:ext cx="1545793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Inicio: </a:t>
            </a: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10/02/2026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Terminación: </a:t>
            </a: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10/03/2027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Corte: </a:t>
            </a: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25/09/2026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3" name="Google Shape;3763;p42"/>
          <p:cNvSpPr txBox="1"/>
          <p:nvPr/>
        </p:nvSpPr>
        <p:spPr>
          <a:xfrm>
            <a:off x="457200" y="1956816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1000"/>
              <a:buFont typeface="Calibri"/>
              <a:buNone/>
            </a:pPr>
            <a:r>
              <a:rPr b="1" i="0" lang="es-CO" sz="10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AVANCE POR ABSCISA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64" name="Google Shape;3764;p42"/>
          <p:cNvCxnSpPr/>
          <p:nvPr/>
        </p:nvCxnSpPr>
        <p:spPr>
          <a:xfrm>
            <a:off x="2103120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65" name="Google Shape;3765;p42"/>
          <p:cNvCxnSpPr/>
          <p:nvPr/>
        </p:nvCxnSpPr>
        <p:spPr>
          <a:xfrm>
            <a:off x="3008376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66" name="Google Shape;3766;p42"/>
          <p:cNvCxnSpPr/>
          <p:nvPr/>
        </p:nvCxnSpPr>
        <p:spPr>
          <a:xfrm>
            <a:off x="3913632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67" name="Google Shape;3767;p42"/>
          <p:cNvCxnSpPr/>
          <p:nvPr/>
        </p:nvCxnSpPr>
        <p:spPr>
          <a:xfrm>
            <a:off x="4818888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68" name="Google Shape;3768;p42"/>
          <p:cNvCxnSpPr/>
          <p:nvPr/>
        </p:nvCxnSpPr>
        <p:spPr>
          <a:xfrm>
            <a:off x="5724144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69" name="Google Shape;3769;p42"/>
          <p:cNvCxnSpPr/>
          <p:nvPr/>
        </p:nvCxnSpPr>
        <p:spPr>
          <a:xfrm>
            <a:off x="6629400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70" name="Google Shape;3770;p42"/>
          <p:cNvCxnSpPr/>
          <p:nvPr/>
        </p:nvCxnSpPr>
        <p:spPr>
          <a:xfrm>
            <a:off x="7534656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71" name="Google Shape;3771;p42"/>
          <p:cNvCxnSpPr/>
          <p:nvPr/>
        </p:nvCxnSpPr>
        <p:spPr>
          <a:xfrm>
            <a:off x="8439912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72" name="Google Shape;3772;p42"/>
          <p:cNvCxnSpPr/>
          <p:nvPr/>
        </p:nvCxnSpPr>
        <p:spPr>
          <a:xfrm>
            <a:off x="9345168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73" name="Google Shape;3773;p42"/>
          <p:cNvCxnSpPr/>
          <p:nvPr/>
        </p:nvCxnSpPr>
        <p:spPr>
          <a:xfrm>
            <a:off x="10250424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74" name="Google Shape;3774;p42"/>
          <p:cNvCxnSpPr/>
          <p:nvPr/>
        </p:nvCxnSpPr>
        <p:spPr>
          <a:xfrm>
            <a:off x="11155680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75" name="Google Shape;3775;p42"/>
          <p:cNvSpPr txBox="1"/>
          <p:nvPr/>
        </p:nvSpPr>
        <p:spPr>
          <a:xfrm>
            <a:off x="1874520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6" name="Google Shape;3776;p42"/>
          <p:cNvSpPr txBox="1"/>
          <p:nvPr/>
        </p:nvSpPr>
        <p:spPr>
          <a:xfrm>
            <a:off x="2779776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K1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7" name="Google Shape;3777;p42"/>
          <p:cNvSpPr txBox="1"/>
          <p:nvPr/>
        </p:nvSpPr>
        <p:spPr>
          <a:xfrm>
            <a:off x="3685032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8" name="Google Shape;3778;p42"/>
          <p:cNvSpPr txBox="1"/>
          <p:nvPr/>
        </p:nvSpPr>
        <p:spPr>
          <a:xfrm>
            <a:off x="4590288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K3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9" name="Google Shape;3779;p42"/>
          <p:cNvSpPr txBox="1"/>
          <p:nvPr/>
        </p:nvSpPr>
        <p:spPr>
          <a:xfrm>
            <a:off x="5495544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K4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0" name="Google Shape;3780;p42"/>
          <p:cNvSpPr txBox="1"/>
          <p:nvPr/>
        </p:nvSpPr>
        <p:spPr>
          <a:xfrm>
            <a:off x="6400800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1" name="Google Shape;3781;p42"/>
          <p:cNvSpPr txBox="1"/>
          <p:nvPr/>
        </p:nvSpPr>
        <p:spPr>
          <a:xfrm>
            <a:off x="7306056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2" name="Google Shape;3782;p42"/>
          <p:cNvSpPr txBox="1"/>
          <p:nvPr/>
        </p:nvSpPr>
        <p:spPr>
          <a:xfrm>
            <a:off x="8211312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K7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3" name="Google Shape;3783;p42"/>
          <p:cNvSpPr txBox="1"/>
          <p:nvPr/>
        </p:nvSpPr>
        <p:spPr>
          <a:xfrm>
            <a:off x="9116568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K8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4" name="Google Shape;3784;p42"/>
          <p:cNvSpPr txBox="1"/>
          <p:nvPr/>
        </p:nvSpPr>
        <p:spPr>
          <a:xfrm>
            <a:off x="10021824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K9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5" name="Google Shape;3785;p42"/>
          <p:cNvSpPr txBox="1"/>
          <p:nvPr/>
        </p:nvSpPr>
        <p:spPr>
          <a:xfrm>
            <a:off x="10835640" y="2139696"/>
            <a:ext cx="54864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K10+000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6" name="Google Shape;3786;p42"/>
          <p:cNvSpPr/>
          <p:nvPr/>
        </p:nvSpPr>
        <p:spPr>
          <a:xfrm>
            <a:off x="2103120" y="2359152"/>
            <a:ext cx="9052560" cy="73152"/>
          </a:xfrm>
          <a:prstGeom prst="rect">
            <a:avLst/>
          </a:prstGeom>
          <a:solidFill>
            <a:srgbClr val="1F2A36"/>
          </a:solidFill>
          <a:ln cap="flat" cmpd="sng" w="12700">
            <a:solidFill>
              <a:srgbClr val="1F2A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87" name="Google Shape;3787;p42"/>
          <p:cNvCxnSpPr/>
          <p:nvPr/>
        </p:nvCxnSpPr>
        <p:spPr>
          <a:xfrm>
            <a:off x="2139696" y="2395728"/>
            <a:ext cx="8979408" cy="0"/>
          </a:xfrm>
          <a:prstGeom prst="straightConnector1">
            <a:avLst/>
          </a:prstGeom>
          <a:noFill/>
          <a:ln cap="flat" cmpd="sng" w="9525">
            <a:solidFill>
              <a:srgbClr val="F2C94C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788" name="Google Shape;3788;p42"/>
          <p:cNvCxnSpPr/>
          <p:nvPr/>
        </p:nvCxnSpPr>
        <p:spPr>
          <a:xfrm>
            <a:off x="731520" y="2487168"/>
            <a:ext cx="0" cy="338328"/>
          </a:xfrm>
          <a:prstGeom prst="straightConnector1">
            <a:avLst/>
          </a:prstGeom>
          <a:noFill/>
          <a:ln cap="flat" cmpd="sng" w="19050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89" name="Google Shape;3789;p42"/>
          <p:cNvSpPr txBox="1"/>
          <p:nvPr/>
        </p:nvSpPr>
        <p:spPr>
          <a:xfrm rot="-5400000">
            <a:off x="260604" y="2574036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700"/>
              <a:buFont typeface="Calibri"/>
              <a:buNone/>
            </a:pPr>
            <a:r>
              <a:rPr b="1" i="0" lang="es-CO" sz="7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CAMPO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0" name="Google Shape;3790;p42"/>
          <p:cNvSpPr txBox="1"/>
          <p:nvPr/>
        </p:nvSpPr>
        <p:spPr>
          <a:xfrm>
            <a:off x="777240" y="2487168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Topografía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1" name="Google Shape;3791;p42"/>
          <p:cNvSpPr/>
          <p:nvPr/>
        </p:nvSpPr>
        <p:spPr>
          <a:xfrm>
            <a:off x="2103120" y="2487168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2" name="Google Shape;3792;p42"/>
          <p:cNvSpPr/>
          <p:nvPr/>
        </p:nvSpPr>
        <p:spPr>
          <a:xfrm>
            <a:off x="2103120" y="2487168"/>
            <a:ext cx="5431536" cy="155448"/>
          </a:xfrm>
          <a:prstGeom prst="rect">
            <a:avLst/>
          </a:prstGeom>
          <a:solidFill>
            <a:srgbClr val="2E7D4F"/>
          </a:solidFill>
          <a:ln cap="flat" cmpd="sng" w="9525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3" name="Google Shape;3793;p42"/>
          <p:cNvSpPr txBox="1"/>
          <p:nvPr/>
        </p:nvSpPr>
        <p:spPr>
          <a:xfrm>
            <a:off x="11201400" y="2487168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60 %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4" name="Google Shape;3794;p42"/>
          <p:cNvSpPr txBox="1"/>
          <p:nvPr/>
        </p:nvSpPr>
        <p:spPr>
          <a:xfrm>
            <a:off x="777240" y="2670048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Apiques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5" name="Google Shape;3795;p42"/>
          <p:cNvSpPr/>
          <p:nvPr/>
        </p:nvSpPr>
        <p:spPr>
          <a:xfrm>
            <a:off x="2103120" y="2670048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6" name="Google Shape;3796;p42"/>
          <p:cNvSpPr/>
          <p:nvPr/>
        </p:nvSpPr>
        <p:spPr>
          <a:xfrm>
            <a:off x="2103120" y="2670048"/>
            <a:ext cx="9052560" cy="155448"/>
          </a:xfrm>
          <a:prstGeom prst="rect">
            <a:avLst/>
          </a:prstGeom>
          <a:solidFill>
            <a:srgbClr val="2E7D4F"/>
          </a:solidFill>
          <a:ln cap="flat" cmpd="sng" w="9525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7" name="Google Shape;3797;p42"/>
          <p:cNvSpPr txBox="1"/>
          <p:nvPr/>
        </p:nvSpPr>
        <p:spPr>
          <a:xfrm>
            <a:off x="11201400" y="2670048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100 %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98" name="Google Shape;3798;p42"/>
          <p:cNvCxnSpPr/>
          <p:nvPr/>
        </p:nvCxnSpPr>
        <p:spPr>
          <a:xfrm>
            <a:off x="731520" y="2953512"/>
            <a:ext cx="0" cy="466344"/>
          </a:xfrm>
          <a:prstGeom prst="straightConnector1">
            <a:avLst/>
          </a:prstGeom>
          <a:noFill/>
          <a:ln cap="flat" cmpd="sng" w="19050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99" name="Google Shape;3799;p42"/>
          <p:cNvSpPr txBox="1"/>
          <p:nvPr/>
        </p:nvSpPr>
        <p:spPr>
          <a:xfrm rot="-5400000">
            <a:off x="260604" y="3104388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700"/>
              <a:buFont typeface="Calibri"/>
              <a:buNone/>
            </a:pPr>
            <a:r>
              <a:rPr b="1" i="0" lang="es-CO" sz="7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ESTRUCTURA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0" name="Google Shape;3800;p42"/>
          <p:cNvSpPr txBox="1"/>
          <p:nvPr/>
        </p:nvSpPr>
        <p:spPr>
          <a:xfrm>
            <a:off x="777240" y="2953512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Rodadura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1" name="Google Shape;3801;p42"/>
          <p:cNvSpPr/>
          <p:nvPr/>
        </p:nvSpPr>
        <p:spPr>
          <a:xfrm>
            <a:off x="2103120" y="2953512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2" name="Google Shape;3802;p42"/>
          <p:cNvSpPr txBox="1"/>
          <p:nvPr/>
        </p:nvSpPr>
        <p:spPr>
          <a:xfrm>
            <a:off x="11201400" y="2953512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3" name="Google Shape;3803;p42"/>
          <p:cNvSpPr txBox="1"/>
          <p:nvPr/>
        </p:nvSpPr>
        <p:spPr>
          <a:xfrm>
            <a:off x="777240" y="3108960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Capa granular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4" name="Google Shape;3804;p42"/>
          <p:cNvSpPr/>
          <p:nvPr/>
        </p:nvSpPr>
        <p:spPr>
          <a:xfrm>
            <a:off x="2103120" y="3108960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5" name="Google Shape;3805;p42"/>
          <p:cNvSpPr txBox="1"/>
          <p:nvPr/>
        </p:nvSpPr>
        <p:spPr>
          <a:xfrm>
            <a:off x="2194560" y="3108960"/>
            <a:ext cx="886968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00"/>
              <a:buFont typeface="Calibri"/>
              <a:buNone/>
            </a:pP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Sin diseño de pavimento · pendientes resultados de laboratorio y alternativas de diseño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6" name="Google Shape;3806;p42"/>
          <p:cNvSpPr txBox="1"/>
          <p:nvPr/>
        </p:nvSpPr>
        <p:spPr>
          <a:xfrm>
            <a:off x="11201400" y="3108960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7" name="Google Shape;3807;p42"/>
          <p:cNvSpPr txBox="1"/>
          <p:nvPr/>
        </p:nvSpPr>
        <p:spPr>
          <a:xfrm>
            <a:off x="777240" y="3264408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Subrasante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8" name="Google Shape;3808;p42"/>
          <p:cNvSpPr/>
          <p:nvPr/>
        </p:nvSpPr>
        <p:spPr>
          <a:xfrm>
            <a:off x="2103120" y="3264408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9" name="Google Shape;3809;p42"/>
          <p:cNvSpPr txBox="1"/>
          <p:nvPr/>
        </p:nvSpPr>
        <p:spPr>
          <a:xfrm>
            <a:off x="11201400" y="3264408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10" name="Google Shape;3810;p42"/>
          <p:cNvCxnSpPr/>
          <p:nvPr/>
        </p:nvCxnSpPr>
        <p:spPr>
          <a:xfrm>
            <a:off x="731520" y="3511296"/>
            <a:ext cx="0" cy="521208"/>
          </a:xfrm>
          <a:prstGeom prst="straightConnector1">
            <a:avLst/>
          </a:prstGeom>
          <a:noFill/>
          <a:ln cap="flat" cmpd="sng" w="19050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11" name="Google Shape;3811;p42"/>
          <p:cNvSpPr txBox="1"/>
          <p:nvPr/>
        </p:nvSpPr>
        <p:spPr>
          <a:xfrm rot="-5400000">
            <a:off x="260604" y="3689604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700"/>
              <a:buFont typeface="Calibri"/>
              <a:buNone/>
            </a:pPr>
            <a:r>
              <a:rPr b="1" i="0" lang="es-CO" sz="7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DRENAJE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2" name="Google Shape;3812;p42"/>
          <p:cNvSpPr txBox="1"/>
          <p:nvPr/>
        </p:nvSpPr>
        <p:spPr>
          <a:xfrm>
            <a:off x="777240" y="3511296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Cunetas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3" name="Google Shape;3813;p42"/>
          <p:cNvSpPr/>
          <p:nvPr/>
        </p:nvSpPr>
        <p:spPr>
          <a:xfrm>
            <a:off x="2103120" y="3511296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4" name="Google Shape;3814;p42"/>
          <p:cNvSpPr txBox="1"/>
          <p:nvPr/>
        </p:nvSpPr>
        <p:spPr>
          <a:xfrm>
            <a:off x="11201400" y="3511296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5" name="Google Shape;3815;p42"/>
          <p:cNvSpPr txBox="1"/>
          <p:nvPr/>
        </p:nvSpPr>
        <p:spPr>
          <a:xfrm>
            <a:off x="777240" y="3694176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Filtros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6" name="Google Shape;3816;p42"/>
          <p:cNvSpPr txBox="1"/>
          <p:nvPr/>
        </p:nvSpPr>
        <p:spPr>
          <a:xfrm>
            <a:off x="1920240" y="3694176"/>
            <a:ext cx="137160" cy="777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700"/>
              <a:buFont typeface="Calibri"/>
              <a:buNone/>
            </a:pPr>
            <a:r>
              <a:rPr b="0" i="0" lang="es-CO" sz="7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7" name="Google Shape;3817;p42"/>
          <p:cNvSpPr txBox="1"/>
          <p:nvPr/>
        </p:nvSpPr>
        <p:spPr>
          <a:xfrm>
            <a:off x="1920240" y="3771900"/>
            <a:ext cx="137160" cy="777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700"/>
              <a:buFont typeface="Calibri"/>
              <a:buNone/>
            </a:pPr>
            <a:r>
              <a:rPr b="0" i="0" lang="es-CO" sz="7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8" name="Google Shape;3818;p42"/>
          <p:cNvSpPr/>
          <p:nvPr/>
        </p:nvSpPr>
        <p:spPr>
          <a:xfrm>
            <a:off x="2103120" y="3694176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19" name="Google Shape;3819;p42"/>
          <p:cNvCxnSpPr/>
          <p:nvPr/>
        </p:nvCxnSpPr>
        <p:spPr>
          <a:xfrm>
            <a:off x="2103120" y="3771900"/>
            <a:ext cx="9052560" cy="0"/>
          </a:xfrm>
          <a:prstGeom prst="straightConnector1">
            <a:avLst/>
          </a:prstGeom>
          <a:noFill/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20" name="Google Shape;3820;p42"/>
          <p:cNvSpPr txBox="1"/>
          <p:nvPr/>
        </p:nvSpPr>
        <p:spPr>
          <a:xfrm>
            <a:off x="11201400" y="3694176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1" name="Google Shape;3821;p42"/>
          <p:cNvSpPr txBox="1"/>
          <p:nvPr/>
        </p:nvSpPr>
        <p:spPr>
          <a:xfrm>
            <a:off x="777240" y="3877056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Alcantarillas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2" name="Google Shape;3822;p42"/>
          <p:cNvSpPr/>
          <p:nvPr/>
        </p:nvSpPr>
        <p:spPr>
          <a:xfrm>
            <a:off x="2103120" y="3877056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3" name="Google Shape;3823;p42"/>
          <p:cNvSpPr txBox="1"/>
          <p:nvPr/>
        </p:nvSpPr>
        <p:spPr>
          <a:xfrm>
            <a:off x="2194560" y="3877056"/>
            <a:ext cx="886968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00"/>
              <a:buFont typeface="Calibri"/>
              <a:buNone/>
            </a:pP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23 obras transversales limpiadas · abscisas en inventario ODTS (pendiente)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4" name="Google Shape;3824;p42"/>
          <p:cNvSpPr txBox="1"/>
          <p:nvPr/>
        </p:nvSpPr>
        <p:spPr>
          <a:xfrm>
            <a:off x="11201400" y="3877056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23 %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5" name="Google Shape;3825;p42"/>
          <p:cNvSpPr txBox="1"/>
          <p:nvPr/>
        </p:nvSpPr>
        <p:spPr>
          <a:xfrm>
            <a:off x="457200" y="4078224"/>
            <a:ext cx="11277295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D9A6"/>
              </a:buClr>
              <a:buSzPts val="800"/>
              <a:buFont typeface="Calibri"/>
              <a:buNone/>
            </a:pPr>
            <a:r>
              <a:rPr b="0" i="0" lang="es-CO" sz="800" u="none" cap="none" strike="noStrike">
                <a:solidFill>
                  <a:srgbClr val="EBD9A6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Natural    </a:t>
            </a:r>
            <a:r>
              <a:rPr b="0" i="0" lang="es-CO" sz="800" u="none" cap="none" strike="noStrike">
                <a:solidFill>
                  <a:srgbClr val="8C6A4F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Cal    </a:t>
            </a:r>
            <a:r>
              <a:rPr b="0" i="0" lang="es-CO" sz="800" u="none" cap="none" strike="noStrike">
                <a:solidFill>
                  <a:srgbClr val="D9A441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Cemento    </a:t>
            </a:r>
            <a:r>
              <a:rPr b="0" i="0" lang="es-CO" sz="800" u="none" cap="none" strike="noStrike">
                <a:solidFill>
                  <a:srgbClr val="1F2A36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TSD    </a:t>
            </a:r>
            <a:r>
              <a:rPr b="0" i="0" lang="es-CO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MDC-19    </a:t>
            </a:r>
            <a:r>
              <a:rPr b="0" i="0" lang="es-CO" sz="8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Ejecutado    </a:t>
            </a:r>
            <a:r>
              <a:rPr b="0" i="0" lang="es-CO" sz="800" u="none" cap="none" strike="noStrike">
                <a:solidFill>
                  <a:srgbClr val="A9C7B3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Limpieza alcantarillas    </a:t>
            </a:r>
            <a:r>
              <a:rPr b="0" i="0" lang="es-CO" sz="800" u="none" cap="none" strike="noStrike">
                <a:solidFill>
                  <a:srgbClr val="2F6FB0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Alcantarilla nueva    </a:t>
            </a:r>
            <a:r>
              <a:rPr b="0" i="0" lang="es-CO" sz="800" u="none" cap="none" strike="noStrike">
                <a:solidFill>
                  <a:srgbClr val="E07B24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Reemplazada    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6" name="Google Shape;3826;p42"/>
          <p:cNvSpPr txBox="1"/>
          <p:nvPr/>
        </p:nvSpPr>
        <p:spPr>
          <a:xfrm>
            <a:off x="457200" y="4301688"/>
            <a:ext cx="5486400" cy="1658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1000"/>
              <a:buFont typeface="Calibri"/>
              <a:buNone/>
            </a:pPr>
            <a:r>
              <a:rPr b="1" i="0" lang="es-CO" sz="9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AVANCE POR ACTIVIDAD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7" name="Google Shape;3827;p42"/>
          <p:cNvSpPr txBox="1"/>
          <p:nvPr/>
        </p:nvSpPr>
        <p:spPr>
          <a:xfrm>
            <a:off x="457200" y="4716328"/>
            <a:ext cx="2011680" cy="1202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Topografía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8" name="Google Shape;3828;p42"/>
          <p:cNvSpPr/>
          <p:nvPr/>
        </p:nvSpPr>
        <p:spPr>
          <a:xfrm>
            <a:off x="2514600" y="4734364"/>
            <a:ext cx="4206240" cy="84172"/>
          </a:xfrm>
          <a:prstGeom prst="rect">
            <a:avLst/>
          </a:prstGeom>
          <a:solidFill>
            <a:srgbClr val="E3E8E5"/>
          </a:solidFill>
          <a:ln cap="flat" cmpd="sng" w="12700">
            <a:solidFill>
              <a:srgbClr val="E3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9" name="Google Shape;3829;p42"/>
          <p:cNvSpPr/>
          <p:nvPr/>
        </p:nvSpPr>
        <p:spPr>
          <a:xfrm>
            <a:off x="2514600" y="4734364"/>
            <a:ext cx="2523744" cy="84172"/>
          </a:xfrm>
          <a:prstGeom prst="rect">
            <a:avLst/>
          </a:prstGeom>
          <a:solidFill>
            <a:srgbClr val="2E7D4F"/>
          </a:solidFill>
          <a:ln cap="flat" cmpd="sng" w="12700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0" name="Google Shape;3830;p42"/>
          <p:cNvSpPr txBox="1"/>
          <p:nvPr/>
        </p:nvSpPr>
        <p:spPr>
          <a:xfrm>
            <a:off x="2514600" y="4716328"/>
            <a:ext cx="2468880" cy="1202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s-CO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60 %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1" name="Google Shape;3831;p42"/>
          <p:cNvSpPr txBox="1"/>
          <p:nvPr/>
        </p:nvSpPr>
        <p:spPr>
          <a:xfrm>
            <a:off x="457200" y="4853159"/>
            <a:ext cx="2011680" cy="1202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Apiques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2" name="Google Shape;3832;p42"/>
          <p:cNvSpPr/>
          <p:nvPr/>
        </p:nvSpPr>
        <p:spPr>
          <a:xfrm>
            <a:off x="2514600" y="4871196"/>
            <a:ext cx="4206240" cy="84172"/>
          </a:xfrm>
          <a:prstGeom prst="rect">
            <a:avLst/>
          </a:prstGeom>
          <a:solidFill>
            <a:srgbClr val="E3E8E5"/>
          </a:solidFill>
          <a:ln cap="flat" cmpd="sng" w="12700">
            <a:solidFill>
              <a:srgbClr val="E3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3" name="Google Shape;3833;p42"/>
          <p:cNvSpPr/>
          <p:nvPr/>
        </p:nvSpPr>
        <p:spPr>
          <a:xfrm>
            <a:off x="2514600" y="4871196"/>
            <a:ext cx="4206240" cy="84172"/>
          </a:xfrm>
          <a:prstGeom prst="rect">
            <a:avLst/>
          </a:prstGeom>
          <a:solidFill>
            <a:srgbClr val="2E7D4F"/>
          </a:solidFill>
          <a:ln cap="flat" cmpd="sng" w="12700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4" name="Google Shape;3834;p42"/>
          <p:cNvSpPr txBox="1"/>
          <p:nvPr/>
        </p:nvSpPr>
        <p:spPr>
          <a:xfrm>
            <a:off x="2514600" y="4853159"/>
            <a:ext cx="4151376" cy="1202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s-CO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100 %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5" name="Google Shape;3835;p42"/>
          <p:cNvSpPr txBox="1"/>
          <p:nvPr/>
        </p:nvSpPr>
        <p:spPr>
          <a:xfrm>
            <a:off x="457200" y="4989990"/>
            <a:ext cx="2011680" cy="1202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Limpieza obras transversales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6" name="Google Shape;3836;p42"/>
          <p:cNvSpPr/>
          <p:nvPr/>
        </p:nvSpPr>
        <p:spPr>
          <a:xfrm>
            <a:off x="2514600" y="5008027"/>
            <a:ext cx="4206240" cy="84172"/>
          </a:xfrm>
          <a:prstGeom prst="rect">
            <a:avLst/>
          </a:prstGeom>
          <a:solidFill>
            <a:srgbClr val="E3E8E5"/>
          </a:solidFill>
          <a:ln cap="flat" cmpd="sng" w="12700">
            <a:solidFill>
              <a:srgbClr val="E3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7" name="Google Shape;3837;p42"/>
          <p:cNvSpPr/>
          <p:nvPr/>
        </p:nvSpPr>
        <p:spPr>
          <a:xfrm>
            <a:off x="2514600" y="5008027"/>
            <a:ext cx="957857" cy="84172"/>
          </a:xfrm>
          <a:prstGeom prst="rect">
            <a:avLst/>
          </a:prstGeom>
          <a:solidFill>
            <a:srgbClr val="2E7D4F"/>
          </a:solidFill>
          <a:ln cap="flat" cmpd="sng" w="12700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8" name="Google Shape;3838;p42"/>
          <p:cNvSpPr txBox="1"/>
          <p:nvPr/>
        </p:nvSpPr>
        <p:spPr>
          <a:xfrm>
            <a:off x="2514600" y="4989990"/>
            <a:ext cx="902993" cy="1202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s-CO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23 %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9" name="Google Shape;3839;p42"/>
          <p:cNvSpPr txBox="1"/>
          <p:nvPr/>
        </p:nvSpPr>
        <p:spPr>
          <a:xfrm>
            <a:off x="457200" y="5126822"/>
            <a:ext cx="2011680" cy="1202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Reposición de alcantarillas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0" name="Google Shape;3840;p42"/>
          <p:cNvSpPr/>
          <p:nvPr/>
        </p:nvSpPr>
        <p:spPr>
          <a:xfrm>
            <a:off x="2514600" y="5144858"/>
            <a:ext cx="4206240" cy="84172"/>
          </a:xfrm>
          <a:prstGeom prst="rect">
            <a:avLst/>
          </a:prstGeom>
          <a:solidFill>
            <a:srgbClr val="E3E8E5"/>
          </a:solidFill>
          <a:ln cap="flat" cmpd="sng" w="12700">
            <a:solidFill>
              <a:srgbClr val="E3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1" name="Google Shape;3841;p42"/>
          <p:cNvSpPr txBox="1"/>
          <p:nvPr/>
        </p:nvSpPr>
        <p:spPr>
          <a:xfrm>
            <a:off x="2569464" y="5126822"/>
            <a:ext cx="640080" cy="1202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0 %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2" name="Google Shape;3842;p42"/>
          <p:cNvSpPr txBox="1"/>
          <p:nvPr/>
        </p:nvSpPr>
        <p:spPr>
          <a:xfrm>
            <a:off x="457200" y="5263653"/>
            <a:ext cx="2011680" cy="1202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Nuevas alcantarillas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3" name="Google Shape;3843;p42"/>
          <p:cNvSpPr/>
          <p:nvPr/>
        </p:nvSpPr>
        <p:spPr>
          <a:xfrm>
            <a:off x="2514600" y="5281690"/>
            <a:ext cx="4206240" cy="84172"/>
          </a:xfrm>
          <a:prstGeom prst="rect">
            <a:avLst/>
          </a:prstGeom>
          <a:solidFill>
            <a:srgbClr val="E3E8E5"/>
          </a:solidFill>
          <a:ln cap="flat" cmpd="sng" w="12700">
            <a:solidFill>
              <a:srgbClr val="E3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4" name="Google Shape;3844;p42"/>
          <p:cNvSpPr txBox="1"/>
          <p:nvPr/>
        </p:nvSpPr>
        <p:spPr>
          <a:xfrm>
            <a:off x="2569464" y="5263653"/>
            <a:ext cx="640080" cy="1202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0 %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5" name="Google Shape;3845;p42"/>
          <p:cNvSpPr txBox="1"/>
          <p:nvPr/>
        </p:nvSpPr>
        <p:spPr>
          <a:xfrm>
            <a:off x="457200" y="5400484"/>
            <a:ext cx="2011680" cy="1202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Filtros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6" name="Google Shape;3846;p42"/>
          <p:cNvSpPr/>
          <p:nvPr/>
        </p:nvSpPr>
        <p:spPr>
          <a:xfrm>
            <a:off x="2514600" y="5418521"/>
            <a:ext cx="4206240" cy="84172"/>
          </a:xfrm>
          <a:prstGeom prst="rect">
            <a:avLst/>
          </a:prstGeom>
          <a:solidFill>
            <a:srgbClr val="E3E8E5"/>
          </a:solidFill>
          <a:ln cap="flat" cmpd="sng" w="12700">
            <a:solidFill>
              <a:srgbClr val="E3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7" name="Google Shape;3847;p42"/>
          <p:cNvSpPr txBox="1"/>
          <p:nvPr/>
        </p:nvSpPr>
        <p:spPr>
          <a:xfrm>
            <a:off x="2569464" y="5400484"/>
            <a:ext cx="640080" cy="1202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0 %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8" name="Google Shape;3848;p42"/>
          <p:cNvSpPr txBox="1"/>
          <p:nvPr/>
        </p:nvSpPr>
        <p:spPr>
          <a:xfrm>
            <a:off x="457200" y="5537315"/>
            <a:ext cx="2011680" cy="1202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Cunetas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9" name="Google Shape;3849;p42"/>
          <p:cNvSpPr/>
          <p:nvPr/>
        </p:nvSpPr>
        <p:spPr>
          <a:xfrm>
            <a:off x="2514600" y="5555352"/>
            <a:ext cx="4206240" cy="84172"/>
          </a:xfrm>
          <a:prstGeom prst="rect">
            <a:avLst/>
          </a:prstGeom>
          <a:solidFill>
            <a:srgbClr val="E3E8E5"/>
          </a:solidFill>
          <a:ln cap="flat" cmpd="sng" w="12700">
            <a:solidFill>
              <a:srgbClr val="E3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0" name="Google Shape;3850;p42"/>
          <p:cNvSpPr txBox="1"/>
          <p:nvPr/>
        </p:nvSpPr>
        <p:spPr>
          <a:xfrm>
            <a:off x="2569464" y="5537315"/>
            <a:ext cx="640080" cy="1202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0 %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1" name="Google Shape;3851;p42"/>
          <p:cNvSpPr txBox="1"/>
          <p:nvPr/>
        </p:nvSpPr>
        <p:spPr>
          <a:xfrm>
            <a:off x="457200" y="5674147"/>
            <a:ext cx="2011680" cy="1202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Bordillos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2" name="Google Shape;3852;p42"/>
          <p:cNvSpPr/>
          <p:nvPr/>
        </p:nvSpPr>
        <p:spPr>
          <a:xfrm>
            <a:off x="2514600" y="5692183"/>
            <a:ext cx="4206240" cy="84172"/>
          </a:xfrm>
          <a:prstGeom prst="rect">
            <a:avLst/>
          </a:prstGeom>
          <a:solidFill>
            <a:srgbClr val="E3E8E5"/>
          </a:solidFill>
          <a:ln cap="flat" cmpd="sng" w="12700">
            <a:solidFill>
              <a:srgbClr val="E3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3" name="Google Shape;3853;p42"/>
          <p:cNvSpPr txBox="1"/>
          <p:nvPr/>
        </p:nvSpPr>
        <p:spPr>
          <a:xfrm>
            <a:off x="2569464" y="5674147"/>
            <a:ext cx="640080" cy="1202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0 %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4" name="Google Shape;3854;p42"/>
          <p:cNvSpPr txBox="1"/>
          <p:nvPr/>
        </p:nvSpPr>
        <p:spPr>
          <a:xfrm>
            <a:off x="457200" y="5810978"/>
            <a:ext cx="2011680" cy="1202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Conformación y adecuación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5" name="Google Shape;3855;p42"/>
          <p:cNvSpPr/>
          <p:nvPr/>
        </p:nvSpPr>
        <p:spPr>
          <a:xfrm>
            <a:off x="2514600" y="5829015"/>
            <a:ext cx="4206240" cy="84172"/>
          </a:xfrm>
          <a:prstGeom prst="rect">
            <a:avLst/>
          </a:prstGeom>
          <a:solidFill>
            <a:srgbClr val="E3E8E5"/>
          </a:solidFill>
          <a:ln cap="flat" cmpd="sng" w="12700">
            <a:solidFill>
              <a:srgbClr val="E3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6" name="Google Shape;3856;p42"/>
          <p:cNvSpPr txBox="1"/>
          <p:nvPr/>
        </p:nvSpPr>
        <p:spPr>
          <a:xfrm>
            <a:off x="2569464" y="5810978"/>
            <a:ext cx="640080" cy="1202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0 %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7" name="Google Shape;3857;p42"/>
          <p:cNvSpPr txBox="1"/>
          <p:nvPr/>
        </p:nvSpPr>
        <p:spPr>
          <a:xfrm>
            <a:off x="457200" y="5947809"/>
            <a:ext cx="2011680" cy="1202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Estabilización material existente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8" name="Google Shape;3858;p42"/>
          <p:cNvSpPr/>
          <p:nvPr/>
        </p:nvSpPr>
        <p:spPr>
          <a:xfrm>
            <a:off x="2514600" y="5965846"/>
            <a:ext cx="4206240" cy="84172"/>
          </a:xfrm>
          <a:prstGeom prst="rect">
            <a:avLst/>
          </a:prstGeom>
          <a:solidFill>
            <a:srgbClr val="E3E8E5"/>
          </a:solidFill>
          <a:ln cap="flat" cmpd="sng" w="12700">
            <a:solidFill>
              <a:srgbClr val="E3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9" name="Google Shape;3859;p42"/>
          <p:cNvSpPr txBox="1"/>
          <p:nvPr/>
        </p:nvSpPr>
        <p:spPr>
          <a:xfrm>
            <a:off x="2569464" y="5947809"/>
            <a:ext cx="640080" cy="1202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N/A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0" name="Google Shape;3860;p42"/>
          <p:cNvSpPr txBox="1"/>
          <p:nvPr/>
        </p:nvSpPr>
        <p:spPr>
          <a:xfrm>
            <a:off x="457200" y="6084641"/>
            <a:ext cx="2011680" cy="1202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Estabilización material de préstamo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1" name="Google Shape;3861;p42"/>
          <p:cNvSpPr/>
          <p:nvPr/>
        </p:nvSpPr>
        <p:spPr>
          <a:xfrm>
            <a:off x="2514600" y="6102677"/>
            <a:ext cx="4206240" cy="84172"/>
          </a:xfrm>
          <a:prstGeom prst="rect">
            <a:avLst/>
          </a:prstGeom>
          <a:solidFill>
            <a:srgbClr val="E3E8E5"/>
          </a:solidFill>
          <a:ln cap="flat" cmpd="sng" w="12700">
            <a:solidFill>
              <a:srgbClr val="E3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2" name="Google Shape;3862;p42"/>
          <p:cNvSpPr txBox="1"/>
          <p:nvPr/>
        </p:nvSpPr>
        <p:spPr>
          <a:xfrm>
            <a:off x="2569464" y="6084641"/>
            <a:ext cx="640080" cy="1202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0 %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3" name="Google Shape;3863;p42"/>
          <p:cNvSpPr txBox="1"/>
          <p:nvPr/>
        </p:nvSpPr>
        <p:spPr>
          <a:xfrm>
            <a:off x="457200" y="6221472"/>
            <a:ext cx="2011680" cy="1202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Señalización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4" name="Google Shape;3864;p42"/>
          <p:cNvSpPr/>
          <p:nvPr/>
        </p:nvSpPr>
        <p:spPr>
          <a:xfrm>
            <a:off x="2514600" y="6239509"/>
            <a:ext cx="4206240" cy="84172"/>
          </a:xfrm>
          <a:prstGeom prst="rect">
            <a:avLst/>
          </a:prstGeom>
          <a:solidFill>
            <a:srgbClr val="E3E8E5"/>
          </a:solidFill>
          <a:ln cap="flat" cmpd="sng" w="12700">
            <a:solidFill>
              <a:srgbClr val="E3E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5" name="Google Shape;3865;p42"/>
          <p:cNvSpPr txBox="1"/>
          <p:nvPr/>
        </p:nvSpPr>
        <p:spPr>
          <a:xfrm>
            <a:off x="2569464" y="6221472"/>
            <a:ext cx="640080" cy="1202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0 %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866" name="Google Shape;3866;p42"/>
          <p:cNvGraphicFramePr/>
          <p:nvPr/>
        </p:nvGraphicFramePr>
        <p:xfrm>
          <a:off x="6858000" y="450071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{9EE2CB2E-1363-49F8-B8BA-952F5347F8D7}</a:tableStyleId>
              </a:tblPr>
              <a:tblGrid>
                <a:gridCol w="566925"/>
                <a:gridCol w="960125"/>
                <a:gridCol w="1143000"/>
                <a:gridCol w="1143000"/>
                <a:gridCol w="1060700"/>
              </a:tblGrid>
              <a:tr h="197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1" lang="es-CO" sz="7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Unidad</a:t>
                      </a:r>
                      <a:endParaRPr sz="7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1" lang="es-CO" sz="7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Presupuestada</a:t>
                      </a:r>
                      <a:endParaRPr sz="7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1" lang="es-CO" sz="7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Ejec. anterior</a:t>
                      </a:r>
                      <a:endParaRPr sz="7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1" lang="es-CO" sz="7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Ejec. actual</a:t>
                      </a:r>
                      <a:endParaRPr sz="7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b="1" lang="es-CO" sz="7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Δ semana</a:t>
                      </a:r>
                      <a:endParaRPr sz="7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</a:tr>
              <a:tr h="135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km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5F6B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1" lang="es-CO" sz="6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s.r.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8A94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5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und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41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5F6B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s.r.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1" lang="es-CO" sz="6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41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8A94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135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und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101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5F6B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23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1" lang="es-CO" sz="6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s.r.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8A94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5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und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5F6B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1" lang="es-CO" sz="6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s.r.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8A94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135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und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5F6B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1" lang="es-CO" sz="6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s.r.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8A94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5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10.000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5F6B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1" lang="es-CO" sz="6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s.r.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8A94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135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10.000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5F6B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1" lang="es-CO" sz="6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s.r.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8A94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5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2.000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5F6B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1" lang="es-CO" sz="6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s.r.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8A94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135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km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5F6B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1" lang="es-CO" sz="6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s.r.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8A94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5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km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N/A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5F6B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1" lang="es-CO" sz="6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s.r.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8A94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135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km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5F6B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1" lang="es-CO" sz="6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s.r.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8A94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5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ml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30.000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5F6B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1" lang="es-CO" sz="6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s.r.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50"/>
                        <a:buFont typeface="Arial"/>
                        <a:buNone/>
                      </a:pPr>
                      <a:r>
                        <a:rPr b="0" lang="es-CO" sz="650" u="none" cap="none" strike="noStrike">
                          <a:solidFill>
                            <a:srgbClr val="8A94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6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</a:tbl>
          </a:graphicData>
        </a:graphic>
      </p:graphicFrame>
      <p:sp>
        <p:nvSpPr>
          <p:cNvPr id="3867" name="Google Shape;3867;p42"/>
          <p:cNvSpPr txBox="1"/>
          <p:nvPr/>
        </p:nvSpPr>
        <p:spPr>
          <a:xfrm>
            <a:off x="457200" y="6400000"/>
            <a:ext cx="5000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s-CO" sz="9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TIEMPO TRANSCURRIDO DEL PLAZO CONTRACTUAL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8" name="Google Shape;3868;p42"/>
          <p:cNvSpPr txBox="1"/>
          <p:nvPr/>
        </p:nvSpPr>
        <p:spPr>
          <a:xfrm>
            <a:off x="5000000" y="6400000"/>
            <a:ext cx="6734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Inicio: </a:t>
            </a:r>
            <a:r>
              <a:rPr b="1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10/02/2026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   ·   Terminación: </a:t>
            </a:r>
            <a:r>
              <a:rPr b="1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10/03/2027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   ·   Al: </a:t>
            </a:r>
            <a:r>
              <a:rPr b="1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02/10/2026</a:t>
            </a: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   ·   234 de 393 días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9" name="Google Shape;3869;p42"/>
          <p:cNvSpPr/>
          <p:nvPr/>
        </p:nvSpPr>
        <p:spPr>
          <a:xfrm>
            <a:off x="457200" y="6598920"/>
            <a:ext cx="11277600" cy="164592"/>
          </a:xfrm>
          <a:prstGeom prst="roundRect">
            <a:avLst>
              <a:gd fmla="val 50000" name="adj"/>
            </a:avLst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0" name="Google Shape;3870;p42"/>
          <p:cNvSpPr/>
          <p:nvPr/>
        </p:nvSpPr>
        <p:spPr>
          <a:xfrm>
            <a:off x="457200" y="6598920"/>
            <a:ext cx="6714906" cy="164592"/>
          </a:xfrm>
          <a:prstGeom prst="roundRect">
            <a:avLst>
              <a:gd fmla="val 50000" name="adj"/>
            </a:avLst>
          </a:prstGeom>
          <a:solidFill>
            <a:srgbClr val="2E7D4F"/>
          </a:solidFill>
          <a:ln cap="flat" cmpd="sng" w="9525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s-CO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59,5 %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71" name="Google Shape;3871;p42"/>
          <p:cNvCxnSpPr/>
          <p:nvPr/>
        </p:nvCxnSpPr>
        <p:spPr>
          <a:xfrm>
            <a:off x="1002427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72" name="Google Shape;3872;p42"/>
          <p:cNvCxnSpPr/>
          <p:nvPr/>
        </p:nvCxnSpPr>
        <p:spPr>
          <a:xfrm>
            <a:off x="1892009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73" name="Google Shape;3873;p42"/>
          <p:cNvCxnSpPr/>
          <p:nvPr/>
        </p:nvCxnSpPr>
        <p:spPr>
          <a:xfrm>
            <a:off x="2752894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74" name="Google Shape;3874;p42"/>
          <p:cNvCxnSpPr/>
          <p:nvPr/>
        </p:nvCxnSpPr>
        <p:spPr>
          <a:xfrm>
            <a:off x="3642476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75" name="Google Shape;3875;p42"/>
          <p:cNvCxnSpPr/>
          <p:nvPr/>
        </p:nvCxnSpPr>
        <p:spPr>
          <a:xfrm>
            <a:off x="4503361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76" name="Google Shape;3876;p42"/>
          <p:cNvCxnSpPr/>
          <p:nvPr/>
        </p:nvCxnSpPr>
        <p:spPr>
          <a:xfrm>
            <a:off x="5392943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77" name="Google Shape;3877;p42"/>
          <p:cNvCxnSpPr/>
          <p:nvPr/>
        </p:nvCxnSpPr>
        <p:spPr>
          <a:xfrm>
            <a:off x="6282525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78" name="Google Shape;3878;p42"/>
          <p:cNvCxnSpPr/>
          <p:nvPr/>
        </p:nvCxnSpPr>
        <p:spPr>
          <a:xfrm>
            <a:off x="7143410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79" name="Google Shape;3879;p42"/>
          <p:cNvCxnSpPr/>
          <p:nvPr/>
        </p:nvCxnSpPr>
        <p:spPr>
          <a:xfrm>
            <a:off x="8032992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80" name="Google Shape;3880;p42"/>
          <p:cNvCxnSpPr/>
          <p:nvPr/>
        </p:nvCxnSpPr>
        <p:spPr>
          <a:xfrm>
            <a:off x="8893877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81" name="Google Shape;3881;p42"/>
          <p:cNvCxnSpPr/>
          <p:nvPr/>
        </p:nvCxnSpPr>
        <p:spPr>
          <a:xfrm>
            <a:off x="9783459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82" name="Google Shape;3882;p42"/>
          <p:cNvCxnSpPr/>
          <p:nvPr/>
        </p:nvCxnSpPr>
        <p:spPr>
          <a:xfrm>
            <a:off x="10673041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83" name="Google Shape;3883;p42"/>
          <p:cNvCxnSpPr/>
          <p:nvPr/>
        </p:nvCxnSpPr>
        <p:spPr>
          <a:xfrm>
            <a:off x="11476534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84" name="Google Shape;3884;p42"/>
          <p:cNvCxnSpPr/>
          <p:nvPr/>
        </p:nvCxnSpPr>
        <p:spPr>
          <a:xfrm>
            <a:off x="7172106" y="6562344"/>
            <a:ext cx="0" cy="237744"/>
          </a:xfrm>
          <a:prstGeom prst="straightConnector1">
            <a:avLst/>
          </a:prstGeom>
          <a:noFill/>
          <a:ln cap="flat" cmpd="sng" w="19050">
            <a:solidFill>
              <a:srgbClr val="B3261E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89" name="Shape 3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0" name="Google Shape;3890;p43"/>
          <p:cNvSpPr txBox="1"/>
          <p:nvPr/>
        </p:nvSpPr>
        <p:spPr>
          <a:xfrm>
            <a:off x="457200" y="320040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1200"/>
              <a:buFont typeface="Calibri"/>
              <a:buNone/>
            </a:pPr>
            <a:r>
              <a:rPr b="1" i="0" lang="es-CO" sz="1200" u="none" cap="none" strike="noStrike">
                <a:solidFill>
                  <a:srgbClr val="2E7D4F"/>
                </a:solidFill>
                <a:latin typeface="Poppins"/>
                <a:ea typeface="Poppins"/>
                <a:cs typeface="Poppins"/>
                <a:sym typeface="Poppins"/>
              </a:rPr>
              <a:t>CONSOLIDADO DE VARIACIÓN DE ALCANCES  ·  LOTE 6 – SUBREGIÓN NORDESTE</a:t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91" name="Google Shape;3891;p43"/>
          <p:cNvSpPr txBox="1"/>
          <p:nvPr/>
        </p:nvSpPr>
        <p:spPr>
          <a:xfrm>
            <a:off x="457200" y="594360"/>
            <a:ext cx="9692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2800"/>
              <a:buFont typeface="Calibri"/>
              <a:buNone/>
            </a:pPr>
            <a:r>
              <a:rPr b="1" i="0" lang="es-CO" sz="28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Consolidado Lote 6 – Nordeste</a:t>
            </a:r>
            <a:endParaRPr b="0" i="0" sz="2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descr="logo.png" id="3892" name="Google Shape;3892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78440" y="320040"/>
            <a:ext cx="1371600" cy="676656"/>
          </a:xfrm>
          <a:prstGeom prst="rect">
            <a:avLst/>
          </a:prstGeom>
          <a:noFill/>
          <a:ln>
            <a:noFill/>
          </a:ln>
        </p:spPr>
      </p:pic>
      <p:sp>
        <p:nvSpPr>
          <p:cNvPr id="3893" name="Google Shape;3893;p43"/>
          <p:cNvSpPr/>
          <p:nvPr/>
        </p:nvSpPr>
        <p:spPr>
          <a:xfrm>
            <a:off x="457200" y="128016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4" name="Google Shape;3894;p43"/>
          <p:cNvSpPr txBox="1"/>
          <p:nvPr/>
        </p:nvSpPr>
        <p:spPr>
          <a:xfrm>
            <a:off x="594360" y="1353312"/>
            <a:ext cx="1834835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050"/>
              <a:buFont typeface="Calibri"/>
              <a:buNone/>
            </a:pPr>
            <a:r>
              <a:rPr b="0" i="0" lang="es-CO" sz="10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Km contratados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5" name="Google Shape;3895;p43"/>
          <p:cNvSpPr txBox="1"/>
          <p:nvPr/>
        </p:nvSpPr>
        <p:spPr>
          <a:xfrm>
            <a:off x="594360" y="1581912"/>
            <a:ext cx="183483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54,10 km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6" name="Google Shape;3896;p43"/>
          <p:cNvSpPr txBox="1"/>
          <p:nvPr/>
        </p:nvSpPr>
        <p:spPr>
          <a:xfrm>
            <a:off x="594360" y="1901952"/>
            <a:ext cx="1834835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1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3 corredores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7" name="Google Shape;3897;p43"/>
          <p:cNvSpPr/>
          <p:nvPr/>
        </p:nvSpPr>
        <p:spPr>
          <a:xfrm>
            <a:off x="2749235" y="128016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8" name="Google Shape;3898;p43"/>
          <p:cNvSpPr txBox="1"/>
          <p:nvPr/>
        </p:nvSpPr>
        <p:spPr>
          <a:xfrm>
            <a:off x="2886395" y="1353312"/>
            <a:ext cx="1834835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050"/>
              <a:buFont typeface="Calibri"/>
              <a:buNone/>
            </a:pPr>
            <a:r>
              <a:rPr b="0" i="0" lang="es-CO" sz="10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Km que se alcanzan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9" name="Google Shape;3899;p43"/>
          <p:cNvSpPr txBox="1"/>
          <p:nvPr/>
        </p:nvSpPr>
        <p:spPr>
          <a:xfrm>
            <a:off x="2886395" y="1581912"/>
            <a:ext cx="183483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D2E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0B5D2E"/>
                </a:solidFill>
                <a:latin typeface="Calibri"/>
                <a:ea typeface="Calibri"/>
                <a:cs typeface="Calibri"/>
                <a:sym typeface="Calibri"/>
              </a:rPr>
              <a:t>30,74 km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0" name="Google Shape;3900;p43"/>
          <p:cNvSpPr txBox="1"/>
          <p:nvPr/>
        </p:nvSpPr>
        <p:spPr>
          <a:xfrm>
            <a:off x="2886395" y="1901952"/>
            <a:ext cx="1834835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1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Cobertura 56,8 % del valor proyectado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1" name="Google Shape;3901;p43"/>
          <p:cNvSpPr/>
          <p:nvPr/>
        </p:nvSpPr>
        <p:spPr>
          <a:xfrm>
            <a:off x="5041270" y="128016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2" name="Google Shape;3902;p43"/>
          <p:cNvSpPr txBox="1"/>
          <p:nvPr/>
        </p:nvSpPr>
        <p:spPr>
          <a:xfrm>
            <a:off x="5178430" y="1353312"/>
            <a:ext cx="1834835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050"/>
              <a:buFont typeface="Calibri"/>
              <a:buNone/>
            </a:pPr>
            <a:r>
              <a:rPr b="0" i="0" lang="es-CO" sz="10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Valor contractual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3" name="Google Shape;3903;p43"/>
          <p:cNvSpPr txBox="1"/>
          <p:nvPr/>
        </p:nvSpPr>
        <p:spPr>
          <a:xfrm>
            <a:off x="5178430" y="1581912"/>
            <a:ext cx="183483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$ 52.469.446.821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4" name="Google Shape;3904;p43"/>
          <p:cNvSpPr txBox="1"/>
          <p:nvPr/>
        </p:nvSpPr>
        <p:spPr>
          <a:xfrm>
            <a:off x="5178430" y="1901952"/>
            <a:ext cx="1834835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1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$ 969.860.385 por km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5" name="Google Shape;3905;p43"/>
          <p:cNvSpPr/>
          <p:nvPr/>
        </p:nvSpPr>
        <p:spPr>
          <a:xfrm>
            <a:off x="7333305" y="128016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6" name="Google Shape;3906;p43"/>
          <p:cNvSpPr txBox="1"/>
          <p:nvPr/>
        </p:nvSpPr>
        <p:spPr>
          <a:xfrm>
            <a:off x="7470465" y="1353312"/>
            <a:ext cx="1834835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050"/>
              <a:buFont typeface="Calibri"/>
              <a:buNone/>
            </a:pPr>
            <a:r>
              <a:rPr b="0" i="0" lang="es-CO" sz="10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Valor proyectado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7" name="Google Shape;3907;p43"/>
          <p:cNvSpPr txBox="1"/>
          <p:nvPr/>
        </p:nvSpPr>
        <p:spPr>
          <a:xfrm>
            <a:off x="7470465" y="1581912"/>
            <a:ext cx="183483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$ 92.360.600.594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8" name="Google Shape;3908;p43"/>
          <p:cNvSpPr txBox="1"/>
          <p:nvPr/>
        </p:nvSpPr>
        <p:spPr>
          <a:xfrm>
            <a:off x="7470465" y="1901952"/>
            <a:ext cx="1834835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1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$ 1.707.219.974 por km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9" name="Google Shape;3909;p43"/>
          <p:cNvSpPr/>
          <p:nvPr/>
        </p:nvSpPr>
        <p:spPr>
          <a:xfrm>
            <a:off x="9625340" y="128016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FBEAEA"/>
          </a:solidFill>
          <a:ln cap="flat" cmpd="sng" w="12700">
            <a:solidFill>
              <a:srgbClr val="FBEA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0" name="Google Shape;3910;p43"/>
          <p:cNvSpPr txBox="1"/>
          <p:nvPr/>
        </p:nvSpPr>
        <p:spPr>
          <a:xfrm>
            <a:off x="9762500" y="1353312"/>
            <a:ext cx="1834835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050"/>
              <a:buFont typeface="Calibri"/>
              <a:buNone/>
            </a:pPr>
            <a:r>
              <a:rPr b="0" i="0" lang="es-CO" sz="10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Adición estimada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1" name="Google Shape;3911;p43"/>
          <p:cNvSpPr txBox="1"/>
          <p:nvPr/>
        </p:nvSpPr>
        <p:spPr>
          <a:xfrm>
            <a:off x="9762500" y="1581912"/>
            <a:ext cx="183483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261E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B3261E"/>
                </a:solidFill>
                <a:latin typeface="Calibri"/>
                <a:ea typeface="Calibri"/>
                <a:cs typeface="Calibri"/>
                <a:sym typeface="Calibri"/>
              </a:rPr>
              <a:t>▲ $ 39.891.153.773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2" name="Google Shape;3912;p43"/>
          <p:cNvSpPr txBox="1"/>
          <p:nvPr/>
        </p:nvSpPr>
        <p:spPr>
          <a:xfrm>
            <a:off x="9762500" y="1901952"/>
            <a:ext cx="1834835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1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+76,0 % sobre lo contractual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913" name="Google Shape;3913;p43"/>
          <p:cNvGraphicFramePr/>
          <p:nvPr/>
        </p:nvGraphicFramePr>
        <p:xfrm>
          <a:off x="457200" y="23774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{2219430B-40B1-4F13-8D99-EA5D7966678A}</a:tableStyleId>
              </a:tblPr>
              <a:tblGrid>
                <a:gridCol w="2743200"/>
                <a:gridCol w="621800"/>
                <a:gridCol w="1280150"/>
                <a:gridCol w="1005850"/>
                <a:gridCol w="1280150"/>
                <a:gridCol w="1005850"/>
                <a:gridCol w="795525"/>
                <a:gridCol w="1280150"/>
                <a:gridCol w="640075"/>
                <a:gridCol w="62180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Corredor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Longitud (km)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Valor contractual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$/km contractual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Valor proyectado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$/km proyectado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Longitud probable (km)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Variación (valor adicional)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 variación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Cobertura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Caramanta – Cristales – San Roque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20,64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$ 20.089.310.229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$ 973.319.294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$ 35.101.892.203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$ 1.700.673.072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11,81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▲ $ 15.012.581.974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74,7 %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57,2 %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San Rafael – San Roque – Santo Domingo – Alejandría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23,46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$ 22.800.240.399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$ 971.877.255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$ 40.742.264.763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$ 1.736.669.427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13,13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▲ $ 17.942.024.364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78,7 %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56,0 %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Amalfi – Portachuelos – Santa Isabel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10,00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$ 9.579.896.193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$ 957.989.619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$ 16.516.443.629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$ 1.651.644.363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5,80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▲ $ 6.936.547.436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72,4 %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58,0 %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LOTE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54,10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$ 52.469.446.821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$ 969.860.385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$ 92.360.600.594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$ 1.707.219.974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30,74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▲ $ 39.891.153.773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76,0 %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56,8 %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</a:tr>
            </a:tbl>
          </a:graphicData>
        </a:graphic>
      </p:graphicFrame>
      <p:sp>
        <p:nvSpPr>
          <p:cNvPr id="3914" name="Google Shape;3914;p43"/>
          <p:cNvSpPr txBox="1"/>
          <p:nvPr/>
        </p:nvSpPr>
        <p:spPr>
          <a:xfrm>
            <a:off x="457200" y="4325112"/>
            <a:ext cx="1127455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00"/>
              <a:buFont typeface="Calibri"/>
              <a:buNone/>
            </a:pP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Valor total del contrato $ 57.385.592.096 · Valor contractual de obra $ 52.469.446.821 · Valores reembolsables $ 4.916.145.275.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5" name="Google Shape;3915;p43"/>
          <p:cNvSpPr txBox="1"/>
          <p:nvPr/>
        </p:nvSpPr>
        <p:spPr>
          <a:xfrm>
            <a:off x="457200" y="4498848"/>
            <a:ext cx="1127455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00"/>
              <a:buFont typeface="Calibri"/>
              <a:buNone/>
            </a:pP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Longitud probable = longitud × valor contractual ÷ valor proyectado · Cobertura = valor contractual ÷ valor proyectado.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6" name="Google Shape;3916;p43"/>
          <p:cNvSpPr txBox="1"/>
          <p:nvPr/>
        </p:nvSpPr>
        <p:spPr>
          <a:xfrm>
            <a:off x="457200" y="4782312"/>
            <a:ext cx="112745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950"/>
              <a:buFont typeface="Calibri"/>
              <a:buNone/>
            </a:pPr>
            <a:r>
              <a:rPr b="1" i="0" lang="es-CO" sz="95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KILÓMETROS DEL LOTE QUE SE CUBREN CON EL VALOR CONTRACTUAL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7" name="Google Shape;3917;p43"/>
          <p:cNvSpPr/>
          <p:nvPr/>
        </p:nvSpPr>
        <p:spPr>
          <a:xfrm>
            <a:off x="457200" y="5020056"/>
            <a:ext cx="6408151" cy="384048"/>
          </a:xfrm>
          <a:prstGeom prst="rect">
            <a:avLst/>
          </a:prstGeom>
          <a:solidFill>
            <a:srgbClr val="2E7D4F"/>
          </a:solidFill>
          <a:ln cap="flat" cmpd="sng" w="12700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8" name="Google Shape;3918;p43"/>
          <p:cNvSpPr/>
          <p:nvPr/>
        </p:nvSpPr>
        <p:spPr>
          <a:xfrm>
            <a:off x="6865351" y="5020056"/>
            <a:ext cx="4869145" cy="384048"/>
          </a:xfrm>
          <a:prstGeom prst="rect">
            <a:avLst/>
          </a:prstGeom>
          <a:solidFill>
            <a:srgbClr val="B3261E"/>
          </a:solidFill>
          <a:ln cap="flat" cmpd="sng" w="12700">
            <a:solidFill>
              <a:srgbClr val="B326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9" name="Google Shape;3919;p43"/>
          <p:cNvSpPr txBox="1"/>
          <p:nvPr/>
        </p:nvSpPr>
        <p:spPr>
          <a:xfrm>
            <a:off x="566928" y="5020056"/>
            <a:ext cx="618869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s-CO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30,74 km</a:t>
            </a:r>
            <a:r>
              <a:rPr b="0" i="0" lang="es-CO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·  56,8 % se alcanza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0" name="Google Shape;3920;p43"/>
          <p:cNvSpPr txBox="1"/>
          <p:nvPr/>
        </p:nvSpPr>
        <p:spPr>
          <a:xfrm>
            <a:off x="6975079" y="5020056"/>
            <a:ext cx="4649689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s-CO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23,36 km</a:t>
            </a:r>
            <a:r>
              <a:rPr b="0" i="0" lang="es-CO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·  43,2 % pendiente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25" name="Shape 3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6" name="Google Shape;3926;p44"/>
          <p:cNvSpPr txBox="1"/>
          <p:nvPr/>
        </p:nvSpPr>
        <p:spPr>
          <a:xfrm>
            <a:off x="457200" y="320040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1200"/>
              <a:buFont typeface="Calibri"/>
              <a:buNone/>
            </a:pPr>
            <a:r>
              <a:rPr b="1" i="0" lang="es-CO" sz="1200" u="none" cap="none" strike="noStrike">
                <a:solidFill>
                  <a:srgbClr val="2E7D4F"/>
                </a:solidFill>
                <a:latin typeface="Poppins"/>
                <a:ea typeface="Poppins"/>
                <a:cs typeface="Poppins"/>
                <a:sym typeface="Poppins"/>
              </a:rPr>
              <a:t>INFORME DE VARIACIÓN DE ALCANCES  ·  LOTE 7 – SUBREGIÓN BAJO CAUCA</a:t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27" name="Google Shape;3927;p44"/>
          <p:cNvSpPr txBox="1"/>
          <p:nvPr/>
        </p:nvSpPr>
        <p:spPr>
          <a:xfrm>
            <a:off x="457200" y="594360"/>
            <a:ext cx="9692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2800"/>
              <a:buFont typeface="Calibri"/>
              <a:buNone/>
            </a:pPr>
            <a:r>
              <a:rPr b="1" i="0" lang="es-CO" sz="28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Cáceres – El Tigre – Alto de Tamaná – La Chilona</a:t>
            </a:r>
            <a:endParaRPr b="0" i="0" sz="2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descr="logo.png" id="3928" name="Google Shape;3928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78440" y="320040"/>
            <a:ext cx="1371600" cy="676656"/>
          </a:xfrm>
          <a:prstGeom prst="rect">
            <a:avLst/>
          </a:prstGeom>
          <a:noFill/>
          <a:ln>
            <a:noFill/>
          </a:ln>
        </p:spPr>
      </p:pic>
      <p:sp>
        <p:nvSpPr>
          <p:cNvPr id="3929" name="Google Shape;3929;p44"/>
          <p:cNvSpPr/>
          <p:nvPr/>
        </p:nvSpPr>
        <p:spPr>
          <a:xfrm>
            <a:off x="457200" y="132588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0" name="Google Shape;3930;p44"/>
          <p:cNvSpPr txBox="1"/>
          <p:nvPr/>
        </p:nvSpPr>
        <p:spPr>
          <a:xfrm>
            <a:off x="594360" y="1417320"/>
            <a:ext cx="183483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100"/>
              <a:buFont typeface="Calibri"/>
              <a:buNone/>
            </a:pPr>
            <a:r>
              <a:rPr b="0" i="0" lang="es-CO" sz="11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Longitud contractual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1" name="Google Shape;3931;p44"/>
          <p:cNvSpPr txBox="1"/>
          <p:nvPr/>
        </p:nvSpPr>
        <p:spPr>
          <a:xfrm>
            <a:off x="594360" y="1691640"/>
            <a:ext cx="183483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700"/>
              <a:buFont typeface="Calibri"/>
              <a:buNone/>
            </a:pPr>
            <a:r>
              <a:rPr b="1" i="0" lang="es-CO" sz="17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25,00 km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2" name="Google Shape;3932;p44"/>
          <p:cNvSpPr/>
          <p:nvPr/>
        </p:nvSpPr>
        <p:spPr>
          <a:xfrm>
            <a:off x="2749235" y="132588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3" name="Google Shape;3933;p44"/>
          <p:cNvSpPr txBox="1"/>
          <p:nvPr/>
        </p:nvSpPr>
        <p:spPr>
          <a:xfrm>
            <a:off x="2886395" y="1417320"/>
            <a:ext cx="183483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100"/>
              <a:buFont typeface="Calibri"/>
              <a:buNone/>
            </a:pPr>
            <a:r>
              <a:rPr b="0" i="0" lang="es-CO" sz="11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Longitud probable a cubrir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4" name="Google Shape;3934;p44"/>
          <p:cNvSpPr txBox="1"/>
          <p:nvPr/>
        </p:nvSpPr>
        <p:spPr>
          <a:xfrm>
            <a:off x="2886395" y="1691640"/>
            <a:ext cx="183483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700"/>
              <a:buFont typeface="Calibri"/>
              <a:buNone/>
            </a:pPr>
            <a:r>
              <a:rPr b="1" i="0" lang="es-CO" sz="17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17,87 km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5" name="Google Shape;3935;p44"/>
          <p:cNvSpPr/>
          <p:nvPr/>
        </p:nvSpPr>
        <p:spPr>
          <a:xfrm>
            <a:off x="5041270" y="132588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6" name="Google Shape;3936;p44"/>
          <p:cNvSpPr txBox="1"/>
          <p:nvPr/>
        </p:nvSpPr>
        <p:spPr>
          <a:xfrm>
            <a:off x="5178430" y="1417320"/>
            <a:ext cx="183483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100"/>
              <a:buFont typeface="Calibri"/>
              <a:buNone/>
            </a:pPr>
            <a:r>
              <a:rPr b="0" i="0" lang="es-CO" sz="11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Valor por km contractual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7" name="Google Shape;3937;p44"/>
          <p:cNvSpPr txBox="1"/>
          <p:nvPr/>
        </p:nvSpPr>
        <p:spPr>
          <a:xfrm>
            <a:off x="5178430" y="1691640"/>
            <a:ext cx="183483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700"/>
              <a:buFont typeface="Calibri"/>
              <a:buNone/>
            </a:pPr>
            <a:r>
              <a:rPr b="1" i="0" lang="es-CO" sz="17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$ 975.541.902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8" name="Google Shape;3938;p44"/>
          <p:cNvSpPr/>
          <p:nvPr/>
        </p:nvSpPr>
        <p:spPr>
          <a:xfrm>
            <a:off x="7333305" y="132588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9" name="Google Shape;3939;p44"/>
          <p:cNvSpPr txBox="1"/>
          <p:nvPr/>
        </p:nvSpPr>
        <p:spPr>
          <a:xfrm>
            <a:off x="7470465" y="1417320"/>
            <a:ext cx="183483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100"/>
              <a:buFont typeface="Calibri"/>
              <a:buNone/>
            </a:pPr>
            <a:r>
              <a:rPr b="0" i="0" lang="es-CO" sz="11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Valor por km proyectado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0" name="Google Shape;3940;p44"/>
          <p:cNvSpPr txBox="1"/>
          <p:nvPr/>
        </p:nvSpPr>
        <p:spPr>
          <a:xfrm>
            <a:off x="7470465" y="1691640"/>
            <a:ext cx="183483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700"/>
              <a:buFont typeface="Calibri"/>
              <a:buNone/>
            </a:pPr>
            <a:r>
              <a:rPr b="1" i="0" lang="es-CO" sz="17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$ 1.365.056.266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1" name="Google Shape;3941;p44"/>
          <p:cNvSpPr/>
          <p:nvPr/>
        </p:nvSpPr>
        <p:spPr>
          <a:xfrm>
            <a:off x="9625340" y="132588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FBEAEA"/>
          </a:solidFill>
          <a:ln cap="flat" cmpd="sng" w="12700">
            <a:solidFill>
              <a:srgbClr val="FBEA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2" name="Google Shape;3942;p44"/>
          <p:cNvSpPr txBox="1"/>
          <p:nvPr/>
        </p:nvSpPr>
        <p:spPr>
          <a:xfrm>
            <a:off x="9762500" y="1417320"/>
            <a:ext cx="183483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100"/>
              <a:buFont typeface="Calibri"/>
              <a:buNone/>
            </a:pPr>
            <a:r>
              <a:rPr b="0" i="0" lang="es-CO" sz="11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Variación total (valor adicional)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3" name="Google Shape;3943;p44"/>
          <p:cNvSpPr txBox="1"/>
          <p:nvPr/>
        </p:nvSpPr>
        <p:spPr>
          <a:xfrm>
            <a:off x="9762500" y="1691640"/>
            <a:ext cx="183483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261E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B3261E"/>
                </a:solidFill>
                <a:latin typeface="Arial"/>
                <a:ea typeface="Arial"/>
                <a:cs typeface="Arial"/>
                <a:sym typeface="Arial"/>
              </a:rPr>
              <a:t>▲ </a:t>
            </a:r>
            <a:r>
              <a:rPr b="1" i="0" lang="es-CO" sz="1500" u="none" cap="none" strike="noStrike">
                <a:solidFill>
                  <a:srgbClr val="B3261E"/>
                </a:solidFill>
                <a:latin typeface="Calibri"/>
                <a:ea typeface="Calibri"/>
                <a:cs typeface="Calibri"/>
                <a:sym typeface="Calibri"/>
              </a:rPr>
              <a:t>$ 9.737.859.093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4" name="Google Shape;3944;p44"/>
          <p:cNvSpPr/>
          <p:nvPr/>
        </p:nvSpPr>
        <p:spPr>
          <a:xfrm>
            <a:off x="457200" y="2423160"/>
            <a:ext cx="3154680" cy="4114800"/>
          </a:xfrm>
          <a:prstGeom prst="roundRect">
            <a:avLst>
              <a:gd fmla="val 1739" name="adj"/>
            </a:avLst>
          </a:prstGeom>
          <a:solidFill>
            <a:srgbClr val="FFFFFF"/>
          </a:solidFill>
          <a:ln cap="flat" cmpd="sng" w="12700">
            <a:solidFill>
              <a:srgbClr val="D5DD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5" name="Google Shape;3945;p44"/>
          <p:cNvSpPr txBox="1"/>
          <p:nvPr/>
        </p:nvSpPr>
        <p:spPr>
          <a:xfrm>
            <a:off x="640080" y="2560320"/>
            <a:ext cx="2788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1100"/>
              <a:buFont typeface="Calibri"/>
              <a:buNone/>
            </a:pPr>
            <a:r>
              <a:rPr b="1" i="0" lang="es-CO" sz="11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ESTRUCTURA DE PAVIMENTO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6" name="Google Shape;3946;p44"/>
          <p:cNvSpPr txBox="1"/>
          <p:nvPr/>
        </p:nvSpPr>
        <p:spPr>
          <a:xfrm>
            <a:off x="640080" y="2816352"/>
            <a:ext cx="2788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1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Cáceres – El Tigre – Alto de Tamaná – La Chilona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7" name="Google Shape;3947;p44"/>
          <p:cNvSpPr txBox="1"/>
          <p:nvPr/>
        </p:nvSpPr>
        <p:spPr>
          <a:xfrm>
            <a:off x="640080" y="3172968"/>
            <a:ext cx="2788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LOTE 7 · Longitud: 25.000 m</a:t>
            </a:r>
            <a:b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Tránsito – Estructuración: Sin reporte</a:t>
            </a:r>
            <a:b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Tránsito – Diseño: 208.703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8" name="Google Shape;3948;p44"/>
          <p:cNvSpPr txBox="1"/>
          <p:nvPr/>
        </p:nvSpPr>
        <p:spPr>
          <a:xfrm>
            <a:off x="457200" y="3794760"/>
            <a:ext cx="15773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1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Teórica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9" name="Google Shape;3949;p44"/>
          <p:cNvSpPr/>
          <p:nvPr/>
        </p:nvSpPr>
        <p:spPr>
          <a:xfrm>
            <a:off x="560070" y="4087368"/>
            <a:ext cx="960120" cy="182880"/>
          </a:xfrm>
          <a:prstGeom prst="rect">
            <a:avLst/>
          </a:prstGeom>
          <a:solidFill>
            <a:srgbClr val="1F2A36"/>
          </a:solidFill>
          <a:ln cap="flat" cmpd="sng" w="12700">
            <a:solidFill>
              <a:srgbClr val="1F2A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0" name="Google Shape;3950;p44"/>
          <p:cNvSpPr txBox="1"/>
          <p:nvPr/>
        </p:nvSpPr>
        <p:spPr>
          <a:xfrm>
            <a:off x="560070" y="4087368"/>
            <a:ext cx="9601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s-CO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TSD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1" name="Google Shape;3951;p44"/>
          <p:cNvSpPr/>
          <p:nvPr/>
        </p:nvSpPr>
        <p:spPr>
          <a:xfrm>
            <a:off x="560070" y="4270248"/>
            <a:ext cx="960120" cy="1040081"/>
          </a:xfrm>
          <a:prstGeom prst="rect">
            <a:avLst/>
          </a:prstGeom>
          <a:solidFill>
            <a:srgbClr val="D9A44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2" name="Google Shape;3952;p44"/>
          <p:cNvSpPr txBox="1"/>
          <p:nvPr/>
        </p:nvSpPr>
        <p:spPr>
          <a:xfrm>
            <a:off x="560070" y="4270248"/>
            <a:ext cx="960120" cy="502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800"/>
              <a:buFont typeface="Calibri"/>
              <a:buNone/>
            </a:pPr>
            <a:r>
              <a:rPr b="1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Estabilización con cemento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3" name="Google Shape;3953;p44"/>
          <p:cNvSpPr/>
          <p:nvPr/>
        </p:nvSpPr>
        <p:spPr>
          <a:xfrm>
            <a:off x="624078" y="4772973"/>
            <a:ext cx="832104" cy="500780"/>
          </a:xfrm>
          <a:prstGeom prst="rect">
            <a:avLst/>
          </a:prstGeom>
          <a:solidFill>
            <a:srgbClr val="F2D58E"/>
          </a:solidFill>
          <a:ln cap="flat" cmpd="sng" w="9525">
            <a:solidFill>
              <a:srgbClr val="A87B1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4" name="Google Shape;3954;p44"/>
          <p:cNvSpPr txBox="1"/>
          <p:nvPr/>
        </p:nvSpPr>
        <p:spPr>
          <a:xfrm>
            <a:off x="624078" y="4772973"/>
            <a:ext cx="832104" cy="500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800"/>
              <a:buFont typeface="Calibri"/>
              <a:buNone/>
            </a:pPr>
            <a:r>
              <a:rPr b="0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Subbase 13 cm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5" name="Google Shape;3955;p44"/>
          <p:cNvSpPr txBox="1"/>
          <p:nvPr/>
        </p:nvSpPr>
        <p:spPr>
          <a:xfrm>
            <a:off x="1575054" y="4270248"/>
            <a:ext cx="457200" cy="104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27 cm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6" name="Google Shape;3956;p44"/>
          <p:cNvSpPr/>
          <p:nvPr/>
        </p:nvSpPr>
        <p:spPr>
          <a:xfrm>
            <a:off x="560070" y="5310329"/>
            <a:ext cx="960120" cy="770431"/>
          </a:xfrm>
          <a:prstGeom prst="rect">
            <a:avLst/>
          </a:prstGeom>
          <a:solidFill>
            <a:srgbClr val="8C6A4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7" name="Google Shape;3957;p44"/>
          <p:cNvSpPr txBox="1"/>
          <p:nvPr/>
        </p:nvSpPr>
        <p:spPr>
          <a:xfrm>
            <a:off x="560070" y="5310329"/>
            <a:ext cx="960120" cy="77043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s-CO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Subrasante estabilizada con cal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8" name="Google Shape;3958;p44"/>
          <p:cNvSpPr txBox="1"/>
          <p:nvPr/>
        </p:nvSpPr>
        <p:spPr>
          <a:xfrm>
            <a:off x="1575054" y="5310329"/>
            <a:ext cx="457200" cy="77043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20 cm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59" name="Google Shape;3959;p44"/>
          <p:cNvCxnSpPr/>
          <p:nvPr/>
        </p:nvCxnSpPr>
        <p:spPr>
          <a:xfrm>
            <a:off x="468630" y="6080760"/>
            <a:ext cx="1143000" cy="0"/>
          </a:xfrm>
          <a:prstGeom prst="straightConnector1">
            <a:avLst/>
          </a:prstGeom>
          <a:noFill/>
          <a:ln cap="flat" cmpd="sng" w="12700">
            <a:solidFill>
              <a:srgbClr val="1D2B2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60" name="Google Shape;3960;p44"/>
          <p:cNvSpPr txBox="1"/>
          <p:nvPr/>
        </p:nvSpPr>
        <p:spPr>
          <a:xfrm>
            <a:off x="457200" y="6153912"/>
            <a:ext cx="15773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Espesor total: </a:t>
            </a:r>
            <a:r>
              <a:rPr b="1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47 cm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1" name="Google Shape;3961;p44"/>
          <p:cNvSpPr txBox="1"/>
          <p:nvPr/>
        </p:nvSpPr>
        <p:spPr>
          <a:xfrm>
            <a:off x="2034540" y="3794760"/>
            <a:ext cx="15773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1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Presupuesto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2" name="Google Shape;3962;p44"/>
          <p:cNvSpPr/>
          <p:nvPr/>
        </p:nvSpPr>
        <p:spPr>
          <a:xfrm>
            <a:off x="2137410" y="4087368"/>
            <a:ext cx="960120" cy="182880"/>
          </a:xfrm>
          <a:prstGeom prst="rect">
            <a:avLst/>
          </a:prstGeom>
          <a:solidFill>
            <a:srgbClr val="1F2A36"/>
          </a:solidFill>
          <a:ln cap="flat" cmpd="sng" w="12700">
            <a:solidFill>
              <a:srgbClr val="1F2A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3" name="Google Shape;3963;p44"/>
          <p:cNvSpPr txBox="1"/>
          <p:nvPr/>
        </p:nvSpPr>
        <p:spPr>
          <a:xfrm>
            <a:off x="2137410" y="4087368"/>
            <a:ext cx="9601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s-CO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TSD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4" name="Google Shape;3964;p44"/>
          <p:cNvSpPr/>
          <p:nvPr/>
        </p:nvSpPr>
        <p:spPr>
          <a:xfrm>
            <a:off x="2137410" y="4270248"/>
            <a:ext cx="960120" cy="1078603"/>
          </a:xfrm>
          <a:prstGeom prst="rect">
            <a:avLst/>
          </a:prstGeom>
          <a:solidFill>
            <a:srgbClr val="D9A44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5" name="Google Shape;3965;p44"/>
          <p:cNvSpPr txBox="1"/>
          <p:nvPr/>
        </p:nvSpPr>
        <p:spPr>
          <a:xfrm>
            <a:off x="2137410" y="4270248"/>
            <a:ext cx="960120" cy="107860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800"/>
              <a:buFont typeface="Calibri"/>
              <a:buNone/>
            </a:pPr>
            <a:r>
              <a:rPr b="1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Estabilización con cemento (MGTC)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6" name="Google Shape;3966;p44"/>
          <p:cNvSpPr txBox="1"/>
          <p:nvPr/>
        </p:nvSpPr>
        <p:spPr>
          <a:xfrm>
            <a:off x="3152394" y="4270248"/>
            <a:ext cx="457200" cy="10786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28 cm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7" name="Google Shape;3967;p44"/>
          <p:cNvSpPr/>
          <p:nvPr/>
        </p:nvSpPr>
        <p:spPr>
          <a:xfrm>
            <a:off x="2137410" y="5348851"/>
            <a:ext cx="960120" cy="308172"/>
          </a:xfrm>
          <a:prstGeom prst="rect">
            <a:avLst/>
          </a:prstGeom>
          <a:solidFill>
            <a:srgbClr val="B87A45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8" name="Google Shape;3968;p44"/>
          <p:cNvSpPr txBox="1"/>
          <p:nvPr/>
        </p:nvSpPr>
        <p:spPr>
          <a:xfrm>
            <a:off x="2137410" y="5348851"/>
            <a:ext cx="960120" cy="308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s-CO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Afirmado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9" name="Google Shape;3969;p44"/>
          <p:cNvSpPr txBox="1"/>
          <p:nvPr/>
        </p:nvSpPr>
        <p:spPr>
          <a:xfrm>
            <a:off x="3152394" y="5348851"/>
            <a:ext cx="457200" cy="308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8 cm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70" name="Google Shape;3970;p44"/>
          <p:cNvCxnSpPr/>
          <p:nvPr/>
        </p:nvCxnSpPr>
        <p:spPr>
          <a:xfrm>
            <a:off x="2045970" y="5657023"/>
            <a:ext cx="1143000" cy="0"/>
          </a:xfrm>
          <a:prstGeom prst="straightConnector1">
            <a:avLst/>
          </a:prstGeom>
          <a:noFill/>
          <a:ln cap="flat" cmpd="sng" w="12700">
            <a:solidFill>
              <a:srgbClr val="1D2B2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71" name="Google Shape;3971;p44"/>
          <p:cNvSpPr txBox="1"/>
          <p:nvPr/>
        </p:nvSpPr>
        <p:spPr>
          <a:xfrm>
            <a:off x="2137410" y="5684455"/>
            <a:ext cx="960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00"/>
              <a:buFont typeface="Calibri"/>
              <a:buNone/>
            </a:pP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Subrasante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2" name="Google Shape;3972;p44"/>
          <p:cNvSpPr txBox="1"/>
          <p:nvPr/>
        </p:nvSpPr>
        <p:spPr>
          <a:xfrm>
            <a:off x="2034540" y="5931343"/>
            <a:ext cx="15773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Espesor total: </a:t>
            </a:r>
            <a:r>
              <a:rPr b="1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36 cm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973" name="Google Shape;3973;p44"/>
          <p:cNvGraphicFramePr/>
          <p:nvPr/>
        </p:nvGraphicFramePr>
        <p:xfrm>
          <a:off x="3840480" y="24231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{2219430B-40B1-4F13-8D99-EA5D7966678A}</a:tableStyleId>
              </a:tblPr>
              <a:tblGrid>
                <a:gridCol w="2395725"/>
                <a:gridCol w="1097275"/>
                <a:gridCol w="603500"/>
                <a:gridCol w="1097275"/>
                <a:gridCol w="603500"/>
                <a:gridCol w="237750"/>
                <a:gridCol w="1097275"/>
                <a:gridCol w="758950"/>
              </a:tblGrid>
              <a:tr h="438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Grupo – actividad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Valor contractual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 sobre corredor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Valor proyectado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 sobre corredor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Variación (valor adicional)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 de variación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Construcción de alcantarillas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$ 5.453.527.858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22,36%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$ 4.500.352.779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13,19%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>
                          <a:solidFill>
                            <a:srgbClr val="0B5D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▼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0B5D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–$ 953.175.079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0B5D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–17,5 %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Construcción de cuneta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$ 3.669.853.600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15,05%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$ 4.486.468.168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13,15%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>
                          <a:solidFill>
                            <a:srgbClr val="B32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▲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$ 816.614.568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22,3 %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Construcción de filtro para cunetas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$ 3.902.920.000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16,00%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$ 4.556.150.200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13,35%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>
                          <a:solidFill>
                            <a:srgbClr val="B32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▲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$ 653.230.200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16,7 %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Construcción de bordillos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$ 303.862.400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1,25%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$ 453.181.500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1,33%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>
                          <a:solidFill>
                            <a:srgbClr val="B32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▲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$ 149.319.100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49,1 %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Construcción de disipadores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$ 790.756.800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3,24%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$ 395.395.799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1,16%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>
                          <a:solidFill>
                            <a:srgbClr val="0B5D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▼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0B5D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–$ 395.361.001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0B5D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–50,0 %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Estabilización con material granular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$ 9.900.763.894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40,60%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$ 19.367.995.199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56,75%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B32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▲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$ 9.467.231.305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95,6 %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Señalización vial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$ 366.863.000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1,50%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$ 366.863.000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1,08%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0,0 %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CORREDOR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$ 24.388.547.552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100%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$ 34.126.406.645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100%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B32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▲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+$ 9.737.859.093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39,9 %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</a:tr>
            </a:tbl>
          </a:graphicData>
        </a:graphic>
      </p:graphicFrame>
      <p:sp>
        <p:nvSpPr>
          <p:cNvPr id="3974" name="Google Shape;3974;p44"/>
          <p:cNvSpPr txBox="1"/>
          <p:nvPr/>
        </p:nvSpPr>
        <p:spPr>
          <a:xfrm>
            <a:off x="3840480" y="5413248"/>
            <a:ext cx="78912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261E"/>
              </a:buClr>
              <a:buSzPts val="900"/>
              <a:buFont typeface="Arial"/>
              <a:buNone/>
            </a:pPr>
            <a:r>
              <a:rPr b="0" i="0" lang="es-CO" sz="900" u="none" cap="none" strike="noStrike">
                <a:solidFill>
                  <a:srgbClr val="B3261E"/>
                </a:solidFill>
                <a:latin typeface="Arial"/>
                <a:ea typeface="Arial"/>
                <a:cs typeface="Arial"/>
                <a:sym typeface="Arial"/>
              </a:rPr>
              <a:t>▲</a:t>
            </a: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 Se requiere mayor valor     </a:t>
            </a:r>
            <a:r>
              <a:rPr b="0" i="0" lang="es-CO" sz="900" u="none" cap="none" strike="noStrike">
                <a:solidFill>
                  <a:srgbClr val="0B5D2E"/>
                </a:solidFill>
                <a:latin typeface="Arial"/>
                <a:ea typeface="Arial"/>
                <a:cs typeface="Arial"/>
                <a:sym typeface="Arial"/>
              </a:rPr>
              <a:t>▼</a:t>
            </a: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 Sobra valor     % de variación = (valor proyectado – valor contractual) / valor contractual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5" name="Google Shape;3975;p44"/>
          <p:cNvSpPr txBox="1"/>
          <p:nvPr/>
        </p:nvSpPr>
        <p:spPr>
          <a:xfrm>
            <a:off x="3840480" y="5623560"/>
            <a:ext cx="78912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1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Totales sin provisión para ajustes y obras complementarias ($ 1.973.523.417). Con el valor contractual ($ 26.362.070.969) se alcanzan 17,31 km (alcance actualizado).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6" name="Google Shape;3976;p44"/>
          <p:cNvSpPr/>
          <p:nvPr/>
        </p:nvSpPr>
        <p:spPr>
          <a:xfrm>
            <a:off x="3840480" y="5870448"/>
            <a:ext cx="7891272" cy="667512"/>
          </a:xfrm>
          <a:prstGeom prst="roundRect">
            <a:avLst>
              <a:gd fmla="val 8219" name="adj"/>
            </a:avLst>
          </a:prstGeom>
          <a:solidFill>
            <a:srgbClr val="FFFFFF"/>
          </a:solidFill>
          <a:ln cap="flat" cmpd="sng" w="12700">
            <a:solidFill>
              <a:srgbClr val="9AA7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00" lIns="1000" spcFirstLastPara="1" rIns="1500" wrap="square" tIns="15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100"/>
              <a:buFont typeface="Calibri"/>
              <a:buNone/>
            </a:pPr>
            <a:r>
              <a:rPr b="1" i="0" lang="es-CO" sz="11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Notas: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81" name="Shape 3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2" name="Google Shape;3982;p45"/>
          <p:cNvSpPr txBox="1"/>
          <p:nvPr/>
        </p:nvSpPr>
        <p:spPr>
          <a:xfrm>
            <a:off x="457200" y="320040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1200"/>
              <a:buFont typeface="Calibri"/>
              <a:buNone/>
            </a:pPr>
            <a:r>
              <a:rPr b="1" i="0" lang="es-CO" sz="1200" u="none" cap="none" strike="noStrike">
                <a:solidFill>
                  <a:srgbClr val="2E7D4F"/>
                </a:solidFill>
                <a:latin typeface="Poppins"/>
                <a:ea typeface="Poppins"/>
                <a:cs typeface="Poppins"/>
                <a:sym typeface="Poppins"/>
              </a:rPr>
              <a:t>INFORME DE EJECUCIÓN  ·  LOTE 7 – SUBREGIÓN BAJO CAUCA</a:t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83" name="Google Shape;3983;p45"/>
          <p:cNvSpPr txBox="1"/>
          <p:nvPr/>
        </p:nvSpPr>
        <p:spPr>
          <a:xfrm>
            <a:off x="457200" y="594360"/>
            <a:ext cx="9692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2800"/>
              <a:buFont typeface="Calibri"/>
              <a:buNone/>
            </a:pPr>
            <a:r>
              <a:rPr b="1" i="0" lang="es-CO" sz="28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Cáceres – El Tigre – Alto de Tamaná – La Chilona</a:t>
            </a:r>
            <a:endParaRPr b="0" i="0" sz="2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descr="logo.png" id="3984" name="Google Shape;3984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78440" y="320040"/>
            <a:ext cx="1371600" cy="676656"/>
          </a:xfrm>
          <a:prstGeom prst="rect">
            <a:avLst/>
          </a:prstGeom>
          <a:noFill/>
          <a:ln>
            <a:noFill/>
          </a:ln>
        </p:spPr>
      </p:pic>
      <p:sp>
        <p:nvSpPr>
          <p:cNvPr id="3985" name="Google Shape;3985;p45"/>
          <p:cNvSpPr/>
          <p:nvPr/>
        </p:nvSpPr>
        <p:spPr>
          <a:xfrm>
            <a:off x="457200" y="1234440"/>
            <a:ext cx="1765249" cy="658368"/>
          </a:xfrm>
          <a:prstGeom prst="roundRect">
            <a:avLst>
              <a:gd fmla="val 1111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6" name="Google Shape;3986;p45"/>
          <p:cNvSpPr txBox="1"/>
          <p:nvPr/>
        </p:nvSpPr>
        <p:spPr>
          <a:xfrm>
            <a:off x="566928" y="1289304"/>
            <a:ext cx="154579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50"/>
              <a:buFont typeface="Calibri"/>
              <a:buNone/>
            </a:pPr>
            <a:r>
              <a:rPr b="0" i="0" lang="es-CO" sz="9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Longitud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7" name="Google Shape;3987;p45"/>
          <p:cNvSpPr txBox="1"/>
          <p:nvPr/>
        </p:nvSpPr>
        <p:spPr>
          <a:xfrm>
            <a:off x="566928" y="1453896"/>
            <a:ext cx="154579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25,00 km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8" name="Google Shape;3988;p45"/>
          <p:cNvSpPr txBox="1"/>
          <p:nvPr/>
        </p:nvSpPr>
        <p:spPr>
          <a:xfrm>
            <a:off x="566928" y="1700784"/>
            <a:ext cx="1545793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00"/>
              <a:buFont typeface="Calibri"/>
              <a:buNone/>
            </a:pP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Alcance real 17,87 km · dif. 7,13 km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9" name="Google Shape;3989;p45"/>
          <p:cNvSpPr/>
          <p:nvPr/>
        </p:nvSpPr>
        <p:spPr>
          <a:xfrm>
            <a:off x="2359609" y="1234440"/>
            <a:ext cx="1765249" cy="658368"/>
          </a:xfrm>
          <a:prstGeom prst="roundRect">
            <a:avLst>
              <a:gd fmla="val 1111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0" name="Google Shape;3990;p45"/>
          <p:cNvSpPr txBox="1"/>
          <p:nvPr/>
        </p:nvSpPr>
        <p:spPr>
          <a:xfrm>
            <a:off x="2469337" y="1289304"/>
            <a:ext cx="154579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50"/>
              <a:buFont typeface="Calibri"/>
              <a:buNone/>
            </a:pPr>
            <a:r>
              <a:rPr b="0" i="0" lang="es-CO" sz="9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Valor total del corredor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1" name="Google Shape;3991;p45"/>
          <p:cNvSpPr txBox="1"/>
          <p:nvPr/>
        </p:nvSpPr>
        <p:spPr>
          <a:xfrm>
            <a:off x="2469337" y="1453896"/>
            <a:ext cx="154579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$ 26.362.070.969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2" name="Google Shape;3992;p45"/>
          <p:cNvSpPr txBox="1"/>
          <p:nvPr/>
        </p:nvSpPr>
        <p:spPr>
          <a:xfrm>
            <a:off x="2469337" y="1700784"/>
            <a:ext cx="1545793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00"/>
              <a:buFont typeface="Calibri"/>
              <a:buNone/>
            </a:pP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$ 1.054.482.839 por km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3" name="Google Shape;3993;p45"/>
          <p:cNvSpPr/>
          <p:nvPr/>
        </p:nvSpPr>
        <p:spPr>
          <a:xfrm>
            <a:off x="4262018" y="1234440"/>
            <a:ext cx="1765249" cy="658368"/>
          </a:xfrm>
          <a:prstGeom prst="roundRect">
            <a:avLst>
              <a:gd fmla="val 11111" name="adj"/>
            </a:avLst>
          </a:prstGeom>
          <a:solidFill>
            <a:srgbClr val="FBEAEA"/>
          </a:solidFill>
          <a:ln cap="flat" cmpd="sng" w="12700">
            <a:solidFill>
              <a:srgbClr val="FBEA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4" name="Google Shape;3994;p45"/>
          <p:cNvSpPr txBox="1"/>
          <p:nvPr/>
        </p:nvSpPr>
        <p:spPr>
          <a:xfrm>
            <a:off x="4371746" y="1289304"/>
            <a:ext cx="154579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50"/>
              <a:buFont typeface="Calibri"/>
              <a:buNone/>
            </a:pPr>
            <a:r>
              <a:rPr b="0" i="0" lang="es-CO" sz="9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Avance físico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5" name="Google Shape;3995;p45"/>
          <p:cNvSpPr txBox="1"/>
          <p:nvPr/>
        </p:nvSpPr>
        <p:spPr>
          <a:xfrm>
            <a:off x="4371746" y="1453896"/>
            <a:ext cx="154579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261E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B3261E"/>
                </a:solidFill>
                <a:latin typeface="Calibri"/>
                <a:ea typeface="Calibri"/>
                <a:cs typeface="Calibri"/>
                <a:sym typeface="Calibri"/>
              </a:rPr>
              <a:t>13,56 %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6" name="Google Shape;3996;p45"/>
          <p:cNvSpPr txBox="1"/>
          <p:nvPr/>
        </p:nvSpPr>
        <p:spPr>
          <a:xfrm>
            <a:off x="4371746" y="1700784"/>
            <a:ext cx="1545793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00"/>
              <a:buFont typeface="Calibri"/>
              <a:buNone/>
            </a:pP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Frente a 69,8 % del plazo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7" name="Google Shape;3997;p45"/>
          <p:cNvSpPr/>
          <p:nvPr/>
        </p:nvSpPr>
        <p:spPr>
          <a:xfrm>
            <a:off x="6164428" y="1234440"/>
            <a:ext cx="1765249" cy="658368"/>
          </a:xfrm>
          <a:prstGeom prst="roundRect">
            <a:avLst>
              <a:gd fmla="val 1111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8" name="Google Shape;3998;p45"/>
          <p:cNvSpPr txBox="1"/>
          <p:nvPr/>
        </p:nvSpPr>
        <p:spPr>
          <a:xfrm>
            <a:off x="6274156" y="1289304"/>
            <a:ext cx="154579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50"/>
              <a:buFont typeface="Calibri"/>
              <a:buNone/>
            </a:pPr>
            <a:r>
              <a:rPr b="0" i="0" lang="es-CO" sz="9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Avance financiero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9" name="Google Shape;3999;p45"/>
          <p:cNvSpPr txBox="1"/>
          <p:nvPr/>
        </p:nvSpPr>
        <p:spPr>
          <a:xfrm>
            <a:off x="6274156" y="1453896"/>
            <a:ext cx="154579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17,16 %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0" name="Google Shape;4000;p45"/>
          <p:cNvSpPr/>
          <p:nvPr/>
        </p:nvSpPr>
        <p:spPr>
          <a:xfrm>
            <a:off x="8066837" y="1234440"/>
            <a:ext cx="1765249" cy="658368"/>
          </a:xfrm>
          <a:prstGeom prst="roundRect">
            <a:avLst>
              <a:gd fmla="val 1111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1" name="Google Shape;4001;p45"/>
          <p:cNvSpPr txBox="1"/>
          <p:nvPr/>
        </p:nvSpPr>
        <p:spPr>
          <a:xfrm>
            <a:off x="8176565" y="1289304"/>
            <a:ext cx="154579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50"/>
              <a:buFont typeface="Calibri"/>
              <a:buNone/>
            </a:pPr>
            <a:r>
              <a:rPr b="0" i="0" lang="es-CO" sz="9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Plazo transcurrido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2" name="Google Shape;4002;p45"/>
          <p:cNvSpPr txBox="1"/>
          <p:nvPr/>
        </p:nvSpPr>
        <p:spPr>
          <a:xfrm>
            <a:off x="8176565" y="1453896"/>
            <a:ext cx="154579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69,8 %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3" name="Google Shape;4003;p45"/>
          <p:cNvSpPr txBox="1"/>
          <p:nvPr/>
        </p:nvSpPr>
        <p:spPr>
          <a:xfrm>
            <a:off x="8176565" y="1700784"/>
            <a:ext cx="1545793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00"/>
              <a:buFont typeface="Calibri"/>
              <a:buNone/>
            </a:pP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7,7 de 11 meses (al 02/10/2026)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4" name="Google Shape;4004;p45"/>
          <p:cNvSpPr/>
          <p:nvPr/>
        </p:nvSpPr>
        <p:spPr>
          <a:xfrm>
            <a:off x="9969246" y="1234440"/>
            <a:ext cx="1765249" cy="658368"/>
          </a:xfrm>
          <a:prstGeom prst="roundRect">
            <a:avLst>
              <a:gd fmla="val 1111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5" name="Google Shape;4005;p45"/>
          <p:cNvSpPr txBox="1"/>
          <p:nvPr/>
        </p:nvSpPr>
        <p:spPr>
          <a:xfrm>
            <a:off x="10078974" y="1289304"/>
            <a:ext cx="1545793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Inicio: </a:t>
            </a: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11/02/2026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Terminación: </a:t>
            </a: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11/01/2027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Corte: </a:t>
            </a: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25/09/2026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6" name="Google Shape;4006;p45"/>
          <p:cNvSpPr txBox="1"/>
          <p:nvPr/>
        </p:nvSpPr>
        <p:spPr>
          <a:xfrm>
            <a:off x="457200" y="1956816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1000"/>
              <a:buFont typeface="Calibri"/>
              <a:buNone/>
            </a:pPr>
            <a:r>
              <a:rPr b="1" i="0" lang="es-CO" sz="10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AVANCE POR ABSCISA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07" name="Google Shape;4007;p45"/>
          <p:cNvCxnSpPr/>
          <p:nvPr/>
        </p:nvCxnSpPr>
        <p:spPr>
          <a:xfrm>
            <a:off x="2103120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08" name="Google Shape;4008;p45"/>
          <p:cNvCxnSpPr/>
          <p:nvPr/>
        </p:nvCxnSpPr>
        <p:spPr>
          <a:xfrm>
            <a:off x="2465222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09" name="Google Shape;4009;p45"/>
          <p:cNvCxnSpPr/>
          <p:nvPr/>
        </p:nvCxnSpPr>
        <p:spPr>
          <a:xfrm>
            <a:off x="2827325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10" name="Google Shape;4010;p45"/>
          <p:cNvCxnSpPr/>
          <p:nvPr/>
        </p:nvCxnSpPr>
        <p:spPr>
          <a:xfrm>
            <a:off x="3189427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11" name="Google Shape;4011;p45"/>
          <p:cNvCxnSpPr/>
          <p:nvPr/>
        </p:nvCxnSpPr>
        <p:spPr>
          <a:xfrm>
            <a:off x="3551530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12" name="Google Shape;4012;p45"/>
          <p:cNvCxnSpPr/>
          <p:nvPr/>
        </p:nvCxnSpPr>
        <p:spPr>
          <a:xfrm>
            <a:off x="3913632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13" name="Google Shape;4013;p45"/>
          <p:cNvCxnSpPr/>
          <p:nvPr/>
        </p:nvCxnSpPr>
        <p:spPr>
          <a:xfrm>
            <a:off x="4275734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14" name="Google Shape;4014;p45"/>
          <p:cNvCxnSpPr/>
          <p:nvPr/>
        </p:nvCxnSpPr>
        <p:spPr>
          <a:xfrm>
            <a:off x="4637837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15" name="Google Shape;4015;p45"/>
          <p:cNvCxnSpPr/>
          <p:nvPr/>
        </p:nvCxnSpPr>
        <p:spPr>
          <a:xfrm>
            <a:off x="4999939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16" name="Google Shape;4016;p45"/>
          <p:cNvCxnSpPr/>
          <p:nvPr/>
        </p:nvCxnSpPr>
        <p:spPr>
          <a:xfrm>
            <a:off x="5362042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17" name="Google Shape;4017;p45"/>
          <p:cNvCxnSpPr/>
          <p:nvPr/>
        </p:nvCxnSpPr>
        <p:spPr>
          <a:xfrm>
            <a:off x="5724144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18" name="Google Shape;4018;p45"/>
          <p:cNvCxnSpPr/>
          <p:nvPr/>
        </p:nvCxnSpPr>
        <p:spPr>
          <a:xfrm>
            <a:off x="6086246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19" name="Google Shape;4019;p45"/>
          <p:cNvCxnSpPr/>
          <p:nvPr/>
        </p:nvCxnSpPr>
        <p:spPr>
          <a:xfrm>
            <a:off x="6448349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20" name="Google Shape;4020;p45"/>
          <p:cNvCxnSpPr/>
          <p:nvPr/>
        </p:nvCxnSpPr>
        <p:spPr>
          <a:xfrm>
            <a:off x="6810451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21" name="Google Shape;4021;p45"/>
          <p:cNvCxnSpPr/>
          <p:nvPr/>
        </p:nvCxnSpPr>
        <p:spPr>
          <a:xfrm>
            <a:off x="7172554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22" name="Google Shape;4022;p45"/>
          <p:cNvCxnSpPr/>
          <p:nvPr/>
        </p:nvCxnSpPr>
        <p:spPr>
          <a:xfrm>
            <a:off x="7534656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23" name="Google Shape;4023;p45"/>
          <p:cNvCxnSpPr/>
          <p:nvPr/>
        </p:nvCxnSpPr>
        <p:spPr>
          <a:xfrm>
            <a:off x="7896758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24" name="Google Shape;4024;p45"/>
          <p:cNvCxnSpPr/>
          <p:nvPr/>
        </p:nvCxnSpPr>
        <p:spPr>
          <a:xfrm>
            <a:off x="8258861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25" name="Google Shape;4025;p45"/>
          <p:cNvCxnSpPr/>
          <p:nvPr/>
        </p:nvCxnSpPr>
        <p:spPr>
          <a:xfrm>
            <a:off x="8620963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26" name="Google Shape;4026;p45"/>
          <p:cNvCxnSpPr/>
          <p:nvPr/>
        </p:nvCxnSpPr>
        <p:spPr>
          <a:xfrm>
            <a:off x="8983066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27" name="Google Shape;4027;p45"/>
          <p:cNvCxnSpPr/>
          <p:nvPr/>
        </p:nvCxnSpPr>
        <p:spPr>
          <a:xfrm>
            <a:off x="9345168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28" name="Google Shape;4028;p45"/>
          <p:cNvCxnSpPr/>
          <p:nvPr/>
        </p:nvCxnSpPr>
        <p:spPr>
          <a:xfrm>
            <a:off x="9707270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29" name="Google Shape;4029;p45"/>
          <p:cNvCxnSpPr/>
          <p:nvPr/>
        </p:nvCxnSpPr>
        <p:spPr>
          <a:xfrm>
            <a:off x="10069373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30" name="Google Shape;4030;p45"/>
          <p:cNvCxnSpPr/>
          <p:nvPr/>
        </p:nvCxnSpPr>
        <p:spPr>
          <a:xfrm>
            <a:off x="10431475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31" name="Google Shape;4031;p45"/>
          <p:cNvCxnSpPr/>
          <p:nvPr/>
        </p:nvCxnSpPr>
        <p:spPr>
          <a:xfrm>
            <a:off x="10793578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32" name="Google Shape;4032;p45"/>
          <p:cNvCxnSpPr/>
          <p:nvPr/>
        </p:nvCxnSpPr>
        <p:spPr>
          <a:xfrm>
            <a:off x="11155680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33" name="Google Shape;4033;p45"/>
          <p:cNvSpPr txBox="1"/>
          <p:nvPr/>
        </p:nvSpPr>
        <p:spPr>
          <a:xfrm>
            <a:off x="1874520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4" name="Google Shape;4034;p45"/>
          <p:cNvSpPr txBox="1"/>
          <p:nvPr/>
        </p:nvSpPr>
        <p:spPr>
          <a:xfrm>
            <a:off x="2598725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5" name="Google Shape;4035;p45"/>
          <p:cNvSpPr txBox="1"/>
          <p:nvPr/>
        </p:nvSpPr>
        <p:spPr>
          <a:xfrm>
            <a:off x="3322930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K4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6" name="Google Shape;4036;p45"/>
          <p:cNvSpPr txBox="1"/>
          <p:nvPr/>
        </p:nvSpPr>
        <p:spPr>
          <a:xfrm>
            <a:off x="4047134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7" name="Google Shape;4037;p45"/>
          <p:cNvSpPr txBox="1"/>
          <p:nvPr/>
        </p:nvSpPr>
        <p:spPr>
          <a:xfrm>
            <a:off x="4771339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K8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8" name="Google Shape;4038;p45"/>
          <p:cNvSpPr txBox="1"/>
          <p:nvPr/>
        </p:nvSpPr>
        <p:spPr>
          <a:xfrm>
            <a:off x="5495544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K10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9" name="Google Shape;4039;p45"/>
          <p:cNvSpPr txBox="1"/>
          <p:nvPr/>
        </p:nvSpPr>
        <p:spPr>
          <a:xfrm>
            <a:off x="6219749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K12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0" name="Google Shape;4040;p45"/>
          <p:cNvSpPr txBox="1"/>
          <p:nvPr/>
        </p:nvSpPr>
        <p:spPr>
          <a:xfrm>
            <a:off x="6943954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K14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1" name="Google Shape;4041;p45"/>
          <p:cNvSpPr txBox="1"/>
          <p:nvPr/>
        </p:nvSpPr>
        <p:spPr>
          <a:xfrm>
            <a:off x="7668158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K16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2" name="Google Shape;4042;p45"/>
          <p:cNvSpPr txBox="1"/>
          <p:nvPr/>
        </p:nvSpPr>
        <p:spPr>
          <a:xfrm>
            <a:off x="8392363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K18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3" name="Google Shape;4043;p45"/>
          <p:cNvSpPr txBox="1"/>
          <p:nvPr/>
        </p:nvSpPr>
        <p:spPr>
          <a:xfrm>
            <a:off x="9116568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K20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4" name="Google Shape;4044;p45"/>
          <p:cNvSpPr txBox="1"/>
          <p:nvPr/>
        </p:nvSpPr>
        <p:spPr>
          <a:xfrm>
            <a:off x="9840773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K22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5" name="Google Shape;4045;p45"/>
          <p:cNvSpPr txBox="1"/>
          <p:nvPr/>
        </p:nvSpPr>
        <p:spPr>
          <a:xfrm>
            <a:off x="10835640" y="2139696"/>
            <a:ext cx="54864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K25+000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6" name="Google Shape;4046;p45"/>
          <p:cNvSpPr/>
          <p:nvPr/>
        </p:nvSpPr>
        <p:spPr>
          <a:xfrm>
            <a:off x="2103120" y="2359152"/>
            <a:ext cx="9052560" cy="73152"/>
          </a:xfrm>
          <a:prstGeom prst="rect">
            <a:avLst/>
          </a:prstGeom>
          <a:solidFill>
            <a:srgbClr val="1F2A36"/>
          </a:solidFill>
          <a:ln cap="flat" cmpd="sng" w="12700">
            <a:solidFill>
              <a:srgbClr val="1F2A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47" name="Google Shape;4047;p45"/>
          <p:cNvCxnSpPr/>
          <p:nvPr/>
        </p:nvCxnSpPr>
        <p:spPr>
          <a:xfrm>
            <a:off x="2139696" y="2395728"/>
            <a:ext cx="8979408" cy="0"/>
          </a:xfrm>
          <a:prstGeom prst="straightConnector1">
            <a:avLst/>
          </a:prstGeom>
          <a:noFill/>
          <a:ln cap="flat" cmpd="sng" w="9525">
            <a:solidFill>
              <a:srgbClr val="F2C94C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4048" name="Google Shape;4048;p45"/>
          <p:cNvCxnSpPr/>
          <p:nvPr/>
        </p:nvCxnSpPr>
        <p:spPr>
          <a:xfrm>
            <a:off x="731520" y="2487168"/>
            <a:ext cx="0" cy="338328"/>
          </a:xfrm>
          <a:prstGeom prst="straightConnector1">
            <a:avLst/>
          </a:prstGeom>
          <a:noFill/>
          <a:ln cap="flat" cmpd="sng" w="19050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49" name="Google Shape;4049;p45"/>
          <p:cNvSpPr txBox="1"/>
          <p:nvPr/>
        </p:nvSpPr>
        <p:spPr>
          <a:xfrm rot="-5400000">
            <a:off x="260604" y="2574036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700"/>
              <a:buFont typeface="Calibri"/>
              <a:buNone/>
            </a:pPr>
            <a:r>
              <a:rPr b="1" i="0" lang="es-CO" sz="7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CAMPO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0" name="Google Shape;4050;p45"/>
          <p:cNvSpPr txBox="1"/>
          <p:nvPr/>
        </p:nvSpPr>
        <p:spPr>
          <a:xfrm>
            <a:off x="777240" y="2487168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Topografía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1" name="Google Shape;4051;p45"/>
          <p:cNvSpPr/>
          <p:nvPr/>
        </p:nvSpPr>
        <p:spPr>
          <a:xfrm>
            <a:off x="2103120" y="2487168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2" name="Google Shape;4052;p45"/>
          <p:cNvSpPr/>
          <p:nvPr/>
        </p:nvSpPr>
        <p:spPr>
          <a:xfrm>
            <a:off x="2103120" y="2487168"/>
            <a:ext cx="9052560" cy="155448"/>
          </a:xfrm>
          <a:prstGeom prst="rect">
            <a:avLst/>
          </a:prstGeom>
          <a:solidFill>
            <a:srgbClr val="2E7D4F"/>
          </a:solidFill>
          <a:ln cap="flat" cmpd="sng" w="9525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3" name="Google Shape;4053;p45"/>
          <p:cNvSpPr txBox="1"/>
          <p:nvPr/>
        </p:nvSpPr>
        <p:spPr>
          <a:xfrm>
            <a:off x="11201400" y="2487168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100 %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4" name="Google Shape;4054;p45"/>
          <p:cNvSpPr txBox="1"/>
          <p:nvPr/>
        </p:nvSpPr>
        <p:spPr>
          <a:xfrm>
            <a:off x="777240" y="2670048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Apiques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5" name="Google Shape;4055;p45"/>
          <p:cNvSpPr/>
          <p:nvPr/>
        </p:nvSpPr>
        <p:spPr>
          <a:xfrm>
            <a:off x="2103120" y="2670048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6" name="Google Shape;4056;p45"/>
          <p:cNvSpPr/>
          <p:nvPr/>
        </p:nvSpPr>
        <p:spPr>
          <a:xfrm>
            <a:off x="2103120" y="2670048"/>
            <a:ext cx="9052560" cy="155448"/>
          </a:xfrm>
          <a:prstGeom prst="rect">
            <a:avLst/>
          </a:prstGeom>
          <a:solidFill>
            <a:srgbClr val="2E7D4F"/>
          </a:solidFill>
          <a:ln cap="flat" cmpd="sng" w="9525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7" name="Google Shape;4057;p45"/>
          <p:cNvSpPr txBox="1"/>
          <p:nvPr/>
        </p:nvSpPr>
        <p:spPr>
          <a:xfrm>
            <a:off x="11201400" y="2670048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100 %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58" name="Google Shape;4058;p45"/>
          <p:cNvCxnSpPr/>
          <p:nvPr/>
        </p:nvCxnSpPr>
        <p:spPr>
          <a:xfrm>
            <a:off x="731520" y="2953512"/>
            <a:ext cx="0" cy="466344"/>
          </a:xfrm>
          <a:prstGeom prst="straightConnector1">
            <a:avLst/>
          </a:prstGeom>
          <a:noFill/>
          <a:ln cap="flat" cmpd="sng" w="19050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59" name="Google Shape;4059;p45"/>
          <p:cNvSpPr txBox="1"/>
          <p:nvPr/>
        </p:nvSpPr>
        <p:spPr>
          <a:xfrm rot="-5400000">
            <a:off x="260604" y="3104388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700"/>
              <a:buFont typeface="Calibri"/>
              <a:buNone/>
            </a:pPr>
            <a:r>
              <a:rPr b="1" i="0" lang="es-CO" sz="7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ESTRUCTURA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0" name="Google Shape;4060;p45"/>
          <p:cNvSpPr txBox="1"/>
          <p:nvPr/>
        </p:nvSpPr>
        <p:spPr>
          <a:xfrm>
            <a:off x="777240" y="2953512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Rodadura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1" name="Google Shape;4061;p45"/>
          <p:cNvSpPr/>
          <p:nvPr/>
        </p:nvSpPr>
        <p:spPr>
          <a:xfrm>
            <a:off x="2103120" y="2953512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2" name="Google Shape;4062;p45"/>
          <p:cNvSpPr txBox="1"/>
          <p:nvPr/>
        </p:nvSpPr>
        <p:spPr>
          <a:xfrm>
            <a:off x="11201400" y="2953512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3" name="Google Shape;4063;p45"/>
          <p:cNvSpPr txBox="1"/>
          <p:nvPr/>
        </p:nvSpPr>
        <p:spPr>
          <a:xfrm>
            <a:off x="777240" y="3108960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Capa granular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4" name="Google Shape;4064;p45"/>
          <p:cNvSpPr/>
          <p:nvPr/>
        </p:nvSpPr>
        <p:spPr>
          <a:xfrm>
            <a:off x="2103120" y="3108960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5" name="Google Shape;4065;p45"/>
          <p:cNvSpPr/>
          <p:nvPr/>
        </p:nvSpPr>
        <p:spPr>
          <a:xfrm>
            <a:off x="2103120" y="3108960"/>
            <a:ext cx="94509" cy="155448"/>
          </a:xfrm>
          <a:prstGeom prst="rect">
            <a:avLst/>
          </a:prstGeom>
          <a:solidFill>
            <a:srgbClr val="D9A441"/>
          </a:solidFill>
          <a:ln cap="flat" cmpd="sng" w="9525">
            <a:solidFill>
              <a:srgbClr val="D9A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6" name="Google Shape;4066;p45"/>
          <p:cNvSpPr txBox="1"/>
          <p:nvPr/>
        </p:nvSpPr>
        <p:spPr>
          <a:xfrm>
            <a:off x="11201400" y="3108960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1,0 %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7" name="Google Shape;4067;p45"/>
          <p:cNvSpPr txBox="1"/>
          <p:nvPr/>
        </p:nvSpPr>
        <p:spPr>
          <a:xfrm>
            <a:off x="777240" y="3264408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Subrasante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8" name="Google Shape;4068;p45"/>
          <p:cNvSpPr/>
          <p:nvPr/>
        </p:nvSpPr>
        <p:spPr>
          <a:xfrm>
            <a:off x="2103120" y="3264408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9" name="Google Shape;4069;p45"/>
          <p:cNvSpPr txBox="1"/>
          <p:nvPr/>
        </p:nvSpPr>
        <p:spPr>
          <a:xfrm>
            <a:off x="11201400" y="3264408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70" name="Google Shape;4070;p45"/>
          <p:cNvCxnSpPr/>
          <p:nvPr/>
        </p:nvCxnSpPr>
        <p:spPr>
          <a:xfrm>
            <a:off x="731520" y="3511296"/>
            <a:ext cx="0" cy="521208"/>
          </a:xfrm>
          <a:prstGeom prst="straightConnector1">
            <a:avLst/>
          </a:prstGeom>
          <a:noFill/>
          <a:ln cap="flat" cmpd="sng" w="19050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71" name="Google Shape;4071;p45"/>
          <p:cNvSpPr txBox="1"/>
          <p:nvPr/>
        </p:nvSpPr>
        <p:spPr>
          <a:xfrm rot="-5400000">
            <a:off x="260604" y="3689604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700"/>
              <a:buFont typeface="Calibri"/>
              <a:buNone/>
            </a:pPr>
            <a:r>
              <a:rPr b="1" i="0" lang="es-CO" sz="7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DRENAJE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2" name="Google Shape;4072;p45"/>
          <p:cNvSpPr txBox="1"/>
          <p:nvPr/>
        </p:nvSpPr>
        <p:spPr>
          <a:xfrm>
            <a:off x="777240" y="3511296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Cunetas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3" name="Google Shape;4073;p45"/>
          <p:cNvSpPr/>
          <p:nvPr/>
        </p:nvSpPr>
        <p:spPr>
          <a:xfrm>
            <a:off x="2103120" y="3511296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4" name="Google Shape;4074;p45"/>
          <p:cNvSpPr txBox="1"/>
          <p:nvPr/>
        </p:nvSpPr>
        <p:spPr>
          <a:xfrm>
            <a:off x="11201400" y="3511296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5" name="Google Shape;4075;p45"/>
          <p:cNvSpPr txBox="1"/>
          <p:nvPr/>
        </p:nvSpPr>
        <p:spPr>
          <a:xfrm>
            <a:off x="777240" y="3694176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Filtros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6" name="Google Shape;4076;p45"/>
          <p:cNvSpPr txBox="1"/>
          <p:nvPr/>
        </p:nvSpPr>
        <p:spPr>
          <a:xfrm>
            <a:off x="1920240" y="3694176"/>
            <a:ext cx="137160" cy="777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700"/>
              <a:buFont typeface="Calibri"/>
              <a:buNone/>
            </a:pPr>
            <a:r>
              <a:rPr b="0" i="0" lang="es-CO" sz="7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7" name="Google Shape;4077;p45"/>
          <p:cNvSpPr txBox="1"/>
          <p:nvPr/>
        </p:nvSpPr>
        <p:spPr>
          <a:xfrm>
            <a:off x="1920240" y="3771900"/>
            <a:ext cx="137160" cy="777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700"/>
              <a:buFont typeface="Calibri"/>
              <a:buNone/>
            </a:pPr>
            <a:r>
              <a:rPr b="0" i="0" lang="es-CO" sz="7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8" name="Google Shape;4078;p45"/>
          <p:cNvSpPr/>
          <p:nvPr/>
        </p:nvSpPr>
        <p:spPr>
          <a:xfrm>
            <a:off x="2103120" y="3694176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79" name="Google Shape;4079;p45"/>
          <p:cNvCxnSpPr/>
          <p:nvPr/>
        </p:nvCxnSpPr>
        <p:spPr>
          <a:xfrm>
            <a:off x="2103120" y="3771900"/>
            <a:ext cx="9052560" cy="0"/>
          </a:xfrm>
          <a:prstGeom prst="straightConnector1">
            <a:avLst/>
          </a:prstGeom>
          <a:noFill/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80" name="Google Shape;4080;p45"/>
          <p:cNvSpPr/>
          <p:nvPr/>
        </p:nvSpPr>
        <p:spPr>
          <a:xfrm>
            <a:off x="2103120" y="3694176"/>
            <a:ext cx="1629461" cy="73152"/>
          </a:xfrm>
          <a:prstGeom prst="rect">
            <a:avLst/>
          </a:prstGeom>
          <a:solidFill>
            <a:srgbClr val="2E7D4F"/>
          </a:solidFill>
          <a:ln cap="flat" cmpd="sng" w="9525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1" name="Google Shape;4081;p45"/>
          <p:cNvSpPr/>
          <p:nvPr/>
        </p:nvSpPr>
        <p:spPr>
          <a:xfrm>
            <a:off x="2103120" y="3776472"/>
            <a:ext cx="1629461" cy="73152"/>
          </a:xfrm>
          <a:prstGeom prst="rect">
            <a:avLst/>
          </a:prstGeom>
          <a:solidFill>
            <a:srgbClr val="2E7D4F"/>
          </a:solidFill>
          <a:ln cap="flat" cmpd="sng" w="9525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2" name="Google Shape;4082;p45"/>
          <p:cNvSpPr txBox="1"/>
          <p:nvPr/>
        </p:nvSpPr>
        <p:spPr>
          <a:xfrm>
            <a:off x="11201400" y="3694176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18 %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3" name="Google Shape;4083;p45"/>
          <p:cNvSpPr txBox="1"/>
          <p:nvPr/>
        </p:nvSpPr>
        <p:spPr>
          <a:xfrm>
            <a:off x="777240" y="3877056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Alcantarillas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4" name="Google Shape;4084;p45"/>
          <p:cNvSpPr/>
          <p:nvPr/>
        </p:nvSpPr>
        <p:spPr>
          <a:xfrm>
            <a:off x="2103120" y="3877056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5" name="Google Shape;4085;p45"/>
          <p:cNvSpPr txBox="1"/>
          <p:nvPr/>
        </p:nvSpPr>
        <p:spPr>
          <a:xfrm>
            <a:off x="2194560" y="3877056"/>
            <a:ext cx="886968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00"/>
              <a:buFont typeface="Calibri"/>
              <a:buNone/>
            </a:pP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110 de 280 obras limpiadas · abscisas no reportadas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6" name="Google Shape;4086;p45"/>
          <p:cNvSpPr txBox="1"/>
          <p:nvPr/>
        </p:nvSpPr>
        <p:spPr>
          <a:xfrm>
            <a:off x="11201400" y="3877056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39 %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7" name="Google Shape;4087;p45"/>
          <p:cNvSpPr txBox="1"/>
          <p:nvPr/>
        </p:nvSpPr>
        <p:spPr>
          <a:xfrm>
            <a:off x="457200" y="4078224"/>
            <a:ext cx="11277295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D9A6"/>
              </a:buClr>
              <a:buSzPts val="800"/>
              <a:buFont typeface="Calibri"/>
              <a:buNone/>
            </a:pPr>
            <a:r>
              <a:rPr b="0" i="0" lang="es-CO" sz="800" u="none" cap="none" strike="noStrike">
                <a:solidFill>
                  <a:srgbClr val="EBD9A6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Natural    </a:t>
            </a:r>
            <a:r>
              <a:rPr b="0" i="0" lang="es-CO" sz="800" u="none" cap="none" strike="noStrike">
                <a:solidFill>
                  <a:srgbClr val="8C6A4F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Cal    </a:t>
            </a:r>
            <a:r>
              <a:rPr b="0" i="0" lang="es-CO" sz="800" u="none" cap="none" strike="noStrike">
                <a:solidFill>
                  <a:srgbClr val="D9A441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Cemento    </a:t>
            </a:r>
            <a:r>
              <a:rPr b="0" i="0" lang="es-CO" sz="800" u="none" cap="none" strike="noStrike">
                <a:solidFill>
                  <a:srgbClr val="1F2A36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TSD    </a:t>
            </a:r>
            <a:r>
              <a:rPr b="0" i="0" lang="es-CO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MDC-19    </a:t>
            </a:r>
            <a:r>
              <a:rPr b="0" i="0" lang="es-CO" sz="8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Ejecutado    </a:t>
            </a:r>
            <a:r>
              <a:rPr b="0" i="0" lang="es-CO" sz="800" u="none" cap="none" strike="noStrike">
                <a:solidFill>
                  <a:srgbClr val="A9C7B3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Limpieza alcantarillas    </a:t>
            </a:r>
            <a:r>
              <a:rPr b="0" i="0" lang="es-CO" sz="800" u="none" cap="none" strike="noStrike">
                <a:solidFill>
                  <a:srgbClr val="2F6FB0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Alcantarilla nueva    </a:t>
            </a:r>
            <a:r>
              <a:rPr b="0" i="0" lang="es-CO" sz="800" u="none" cap="none" strike="noStrike">
                <a:solidFill>
                  <a:srgbClr val="E07B24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Reemplazada    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8" name="Google Shape;4088;p45"/>
          <p:cNvSpPr txBox="1"/>
          <p:nvPr/>
        </p:nvSpPr>
        <p:spPr>
          <a:xfrm>
            <a:off x="457200" y="4078224"/>
            <a:ext cx="5760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00"/>
              <a:buFont typeface="Calibri"/>
              <a:buNone/>
            </a:pP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Ubicación de filtros y estabilización asumida desde K0+000 · lado de filtros no reportado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9" name="Google Shape;4089;p45"/>
          <p:cNvSpPr txBox="1"/>
          <p:nvPr/>
        </p:nvSpPr>
        <p:spPr>
          <a:xfrm>
            <a:off x="457200" y="4301688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1000"/>
              <a:buFont typeface="Calibri"/>
              <a:buNone/>
            </a:pPr>
            <a:r>
              <a:rPr b="1" i="0" lang="es-CO" sz="10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AVANCE POR ACTIVIDAD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0" name="Google Shape;4090;p45"/>
          <p:cNvSpPr txBox="1"/>
          <p:nvPr/>
        </p:nvSpPr>
        <p:spPr>
          <a:xfrm>
            <a:off x="457200" y="4758888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Construcción alcantarilla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1" name="Google Shape;4091;p45"/>
          <p:cNvSpPr txBox="1"/>
          <p:nvPr/>
        </p:nvSpPr>
        <p:spPr>
          <a:xfrm>
            <a:off x="457200" y="4960056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Construcción cuneta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2" name="Google Shape;4092;p45"/>
          <p:cNvSpPr txBox="1"/>
          <p:nvPr/>
        </p:nvSpPr>
        <p:spPr>
          <a:xfrm>
            <a:off x="457200" y="5161224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Construcción filtro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3" name="Google Shape;4093;p45"/>
          <p:cNvSpPr txBox="1"/>
          <p:nvPr/>
        </p:nvSpPr>
        <p:spPr>
          <a:xfrm>
            <a:off x="457200" y="5362392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Construcción bordillos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4" name="Google Shape;4094;p45"/>
          <p:cNvSpPr txBox="1"/>
          <p:nvPr/>
        </p:nvSpPr>
        <p:spPr>
          <a:xfrm>
            <a:off x="457200" y="5563560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Estabilización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5" name="Google Shape;4095;p45"/>
          <p:cNvSpPr txBox="1"/>
          <p:nvPr/>
        </p:nvSpPr>
        <p:spPr>
          <a:xfrm>
            <a:off x="457200" y="5764728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Señalización vial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6" name="Google Shape;4096;p45"/>
          <p:cNvSpPr txBox="1"/>
          <p:nvPr/>
        </p:nvSpPr>
        <p:spPr>
          <a:xfrm>
            <a:off x="2651760" y="4539432"/>
            <a:ext cx="2926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-CO" sz="800" u="none" cap="none" strike="noStrike">
                <a:solidFill>
                  <a:srgbClr val="192D23"/>
                </a:solidFill>
                <a:latin typeface="Arial"/>
                <a:ea typeface="Arial"/>
                <a:cs typeface="Arial"/>
                <a:sym typeface="Arial"/>
              </a:rPr>
              <a:t>Presupuestada  </a:t>
            </a:r>
            <a:r>
              <a:rPr b="0" i="0" lang="es-CO" sz="800" u="none" cap="none" strike="noStrike">
                <a:solidFill>
                  <a:srgbClr val="A9C7B3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r>
              <a:rPr b="0" i="0" lang="es-CO" sz="800" u="none" cap="none" strike="noStrike">
                <a:solidFill>
                  <a:srgbClr val="192D23"/>
                </a:solidFill>
                <a:latin typeface="Arial"/>
                <a:ea typeface="Arial"/>
                <a:cs typeface="Arial"/>
                <a:sym typeface="Arial"/>
              </a:rPr>
              <a:t>    Real  </a:t>
            </a:r>
            <a:r>
              <a:rPr b="0" i="0" lang="es-CO" sz="800" u="none" cap="none" strike="noStrike">
                <a:solidFill>
                  <a:srgbClr val="2E7D4F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7" name="Google Shape;4097;p45"/>
          <p:cNvSpPr/>
          <p:nvPr/>
        </p:nvSpPr>
        <p:spPr>
          <a:xfrm>
            <a:off x="2551176" y="4777175"/>
            <a:ext cx="4096512" cy="68580"/>
          </a:xfrm>
          <a:prstGeom prst="rect">
            <a:avLst/>
          </a:prstGeom>
          <a:solidFill>
            <a:srgbClr val="A9C7B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8" name="Google Shape;4098;p45"/>
          <p:cNvSpPr/>
          <p:nvPr/>
        </p:nvSpPr>
        <p:spPr>
          <a:xfrm>
            <a:off x="2551176" y="4854900"/>
            <a:ext cx="1517226" cy="6858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9" name="Google Shape;4099;p45"/>
          <p:cNvSpPr/>
          <p:nvPr/>
        </p:nvSpPr>
        <p:spPr>
          <a:xfrm>
            <a:off x="2551176" y="4978344"/>
            <a:ext cx="4096512" cy="68580"/>
          </a:xfrm>
          <a:prstGeom prst="rect">
            <a:avLst/>
          </a:prstGeom>
          <a:solidFill>
            <a:srgbClr val="A9C7B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0" name="Google Shape;4100;p45"/>
          <p:cNvSpPr/>
          <p:nvPr/>
        </p:nvSpPr>
        <p:spPr>
          <a:xfrm>
            <a:off x="2551176" y="5056068"/>
            <a:ext cx="458809" cy="6858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1" name="Google Shape;4101;p45"/>
          <p:cNvSpPr/>
          <p:nvPr/>
        </p:nvSpPr>
        <p:spPr>
          <a:xfrm>
            <a:off x="2551176" y="5179512"/>
            <a:ext cx="4096512" cy="68580"/>
          </a:xfrm>
          <a:prstGeom prst="rect">
            <a:avLst/>
          </a:prstGeom>
          <a:solidFill>
            <a:srgbClr val="A9C7B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2" name="Google Shape;4102;p45"/>
          <p:cNvSpPr/>
          <p:nvPr/>
        </p:nvSpPr>
        <p:spPr>
          <a:xfrm>
            <a:off x="2551176" y="5257236"/>
            <a:ext cx="4096512" cy="6858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3" name="Google Shape;4103;p45"/>
          <p:cNvSpPr/>
          <p:nvPr/>
        </p:nvSpPr>
        <p:spPr>
          <a:xfrm>
            <a:off x="2551176" y="5380679"/>
            <a:ext cx="2731008" cy="68580"/>
          </a:xfrm>
          <a:prstGeom prst="rect">
            <a:avLst/>
          </a:prstGeom>
          <a:solidFill>
            <a:srgbClr val="A9C7B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4" name="Google Shape;4104;p45"/>
          <p:cNvSpPr/>
          <p:nvPr/>
        </p:nvSpPr>
        <p:spPr>
          <a:xfrm>
            <a:off x="2551176" y="5458404"/>
            <a:ext cx="4096512" cy="6858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5" name="Google Shape;4105;p45"/>
          <p:cNvSpPr/>
          <p:nvPr/>
        </p:nvSpPr>
        <p:spPr>
          <a:xfrm>
            <a:off x="2551176" y="5581848"/>
            <a:ext cx="4096512" cy="68580"/>
          </a:xfrm>
          <a:prstGeom prst="rect">
            <a:avLst/>
          </a:prstGeom>
          <a:solidFill>
            <a:srgbClr val="A9C7B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6" name="Google Shape;4106;p45"/>
          <p:cNvSpPr/>
          <p:nvPr/>
        </p:nvSpPr>
        <p:spPr>
          <a:xfrm>
            <a:off x="2551176" y="5659572"/>
            <a:ext cx="4096512" cy="6858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7" name="Google Shape;4107;p45"/>
          <p:cNvSpPr/>
          <p:nvPr/>
        </p:nvSpPr>
        <p:spPr>
          <a:xfrm>
            <a:off x="2551176" y="5783016"/>
            <a:ext cx="4096512" cy="68580"/>
          </a:xfrm>
          <a:prstGeom prst="rect">
            <a:avLst/>
          </a:prstGeom>
          <a:solidFill>
            <a:srgbClr val="A9C7B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8" name="Google Shape;4108;p45"/>
          <p:cNvSpPr/>
          <p:nvPr/>
        </p:nvSpPr>
        <p:spPr>
          <a:xfrm>
            <a:off x="2551176" y="5860740"/>
            <a:ext cx="4096512" cy="6858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9" name="Google Shape;4109;p45"/>
          <p:cNvSpPr txBox="1"/>
          <p:nvPr/>
        </p:nvSpPr>
        <p:spPr>
          <a:xfrm>
            <a:off x="457200" y="6400000"/>
            <a:ext cx="5000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s-CO" sz="9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TIEMPO TRANSCURRIDO DEL PLAZO CONTRACTUAL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0" name="Google Shape;4110;p45"/>
          <p:cNvSpPr txBox="1"/>
          <p:nvPr/>
        </p:nvSpPr>
        <p:spPr>
          <a:xfrm>
            <a:off x="5000000" y="6400000"/>
            <a:ext cx="6734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Inicio: </a:t>
            </a:r>
            <a:r>
              <a:rPr b="1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11/02/2026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   ·   Terminación: </a:t>
            </a:r>
            <a:r>
              <a:rPr b="1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11/01/2027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   ·   Al: </a:t>
            </a:r>
            <a:r>
              <a:rPr b="1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02/10/2026</a:t>
            </a: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   ·   233 de 334 días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1" name="Google Shape;4111;p45"/>
          <p:cNvSpPr/>
          <p:nvPr/>
        </p:nvSpPr>
        <p:spPr>
          <a:xfrm>
            <a:off x="457200" y="6598920"/>
            <a:ext cx="11277600" cy="164592"/>
          </a:xfrm>
          <a:prstGeom prst="roundRect">
            <a:avLst>
              <a:gd fmla="val 50000" name="adj"/>
            </a:avLst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2" name="Google Shape;4112;p45"/>
          <p:cNvSpPr/>
          <p:nvPr/>
        </p:nvSpPr>
        <p:spPr>
          <a:xfrm>
            <a:off x="457200" y="6598920"/>
            <a:ext cx="7867307" cy="164592"/>
          </a:xfrm>
          <a:prstGeom prst="roundRect">
            <a:avLst>
              <a:gd fmla="val 50000" name="adj"/>
            </a:avLst>
          </a:prstGeom>
          <a:solidFill>
            <a:srgbClr val="2E7D4F"/>
          </a:solidFill>
          <a:ln cap="flat" cmpd="sng" w="9525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s-CO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69,8 %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13" name="Google Shape;4113;p45"/>
          <p:cNvCxnSpPr/>
          <p:nvPr/>
        </p:nvCxnSpPr>
        <p:spPr>
          <a:xfrm>
            <a:off x="1064974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14" name="Google Shape;4114;p45"/>
          <p:cNvCxnSpPr/>
          <p:nvPr/>
        </p:nvCxnSpPr>
        <p:spPr>
          <a:xfrm>
            <a:off x="2111698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15" name="Google Shape;4115;p45"/>
          <p:cNvCxnSpPr/>
          <p:nvPr/>
        </p:nvCxnSpPr>
        <p:spPr>
          <a:xfrm>
            <a:off x="3124656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16" name="Google Shape;4116;p45"/>
          <p:cNvCxnSpPr/>
          <p:nvPr/>
        </p:nvCxnSpPr>
        <p:spPr>
          <a:xfrm>
            <a:off x="4171379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17" name="Google Shape;4117;p45"/>
          <p:cNvCxnSpPr/>
          <p:nvPr/>
        </p:nvCxnSpPr>
        <p:spPr>
          <a:xfrm>
            <a:off x="5184337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18" name="Google Shape;4118;p45"/>
          <p:cNvCxnSpPr/>
          <p:nvPr/>
        </p:nvCxnSpPr>
        <p:spPr>
          <a:xfrm>
            <a:off x="6231061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19" name="Google Shape;4119;p45"/>
          <p:cNvCxnSpPr/>
          <p:nvPr/>
        </p:nvCxnSpPr>
        <p:spPr>
          <a:xfrm>
            <a:off x="7277784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20" name="Google Shape;4120;p45"/>
          <p:cNvCxnSpPr/>
          <p:nvPr/>
        </p:nvCxnSpPr>
        <p:spPr>
          <a:xfrm>
            <a:off x="8290742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21" name="Google Shape;4121;p45"/>
          <p:cNvCxnSpPr/>
          <p:nvPr/>
        </p:nvCxnSpPr>
        <p:spPr>
          <a:xfrm>
            <a:off x="9337465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22" name="Google Shape;4122;p45"/>
          <p:cNvCxnSpPr/>
          <p:nvPr/>
        </p:nvCxnSpPr>
        <p:spPr>
          <a:xfrm>
            <a:off x="10350423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23" name="Google Shape;4123;p45"/>
          <p:cNvCxnSpPr/>
          <p:nvPr/>
        </p:nvCxnSpPr>
        <p:spPr>
          <a:xfrm>
            <a:off x="11397147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24" name="Google Shape;4124;p45"/>
          <p:cNvCxnSpPr/>
          <p:nvPr/>
        </p:nvCxnSpPr>
        <p:spPr>
          <a:xfrm>
            <a:off x="8324507" y="6562344"/>
            <a:ext cx="0" cy="237744"/>
          </a:xfrm>
          <a:prstGeom prst="straightConnector1">
            <a:avLst/>
          </a:prstGeom>
          <a:noFill/>
          <a:ln cap="flat" cmpd="sng" w="19050">
            <a:solidFill>
              <a:srgbClr val="B3261E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4125" name="Google Shape;4125;p45"/>
          <p:cNvGraphicFramePr/>
          <p:nvPr/>
        </p:nvGraphicFramePr>
        <p:xfrm>
          <a:off x="6805867" y="458267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{9EE2CB2E-1363-49F8-B8BA-952F5347F8D7}</a:tableStyleId>
              </a:tblPr>
              <a:tblGrid>
                <a:gridCol w="457200"/>
                <a:gridCol w="841250"/>
                <a:gridCol w="841250"/>
                <a:gridCol w="914400"/>
                <a:gridCol w="914400"/>
                <a:gridCol w="850400"/>
              </a:tblGrid>
              <a:tr h="254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s-CO" sz="8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Unidad</a:t>
                      </a:r>
                      <a:endParaRPr sz="8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s-CO" sz="8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Presupuestada</a:t>
                      </a:r>
                      <a:endParaRPr sz="8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s-CO" sz="8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Real</a:t>
                      </a:r>
                      <a:endParaRPr sz="8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s-CO" sz="8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Ejec. anterior</a:t>
                      </a:r>
                      <a:endParaRPr sz="8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s-CO" sz="8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Ejec. actual</a:t>
                      </a:r>
                      <a:endParaRPr sz="8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s-CO" sz="8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Δ semana</a:t>
                      </a:r>
                      <a:endParaRPr sz="8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</a:tr>
              <a:tr h="193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und</a:t>
                      </a:r>
                      <a:endParaRPr sz="14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162</a:t>
                      </a:r>
                      <a:endParaRPr sz="14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</a:t>
                      </a:r>
                      <a:endParaRPr sz="14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</a:t>
                      </a:r>
                      <a:endParaRPr sz="14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s.r.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8A94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93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</a:t>
                      </a:r>
                      <a:endParaRPr sz="14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25.000</a:t>
                      </a:r>
                      <a:endParaRPr sz="14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2.800</a:t>
                      </a:r>
                      <a:endParaRPr sz="14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4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8A94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193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</a:t>
                      </a:r>
                      <a:endParaRPr sz="14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25.000</a:t>
                      </a:r>
                      <a:endParaRPr sz="14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25.000</a:t>
                      </a:r>
                      <a:endParaRPr sz="14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1D2B24"/>
                          </a:solidFill>
                        </a:rPr>
                        <a:t>3.449</a:t>
                      </a:r>
                      <a:endParaRPr sz="14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8.400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2E7D4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+4.951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93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</a:t>
                      </a:r>
                      <a:endParaRPr sz="14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2.500</a:t>
                      </a:r>
                      <a:endParaRPr sz="14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3.750</a:t>
                      </a:r>
                      <a:endParaRPr sz="14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4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8A94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193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m²</a:t>
                      </a:r>
                      <a:endParaRPr sz="14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125.000</a:t>
                      </a:r>
                      <a:endParaRPr sz="14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125.000</a:t>
                      </a:r>
                      <a:endParaRPr sz="14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1D2B24"/>
                          </a:solidFill>
                        </a:rPr>
                        <a:t>1.305</a:t>
                      </a:r>
                      <a:endParaRPr sz="14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2.355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2E7D4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+1.050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93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</a:t>
                      </a:r>
                      <a:endParaRPr sz="14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125.000</a:t>
                      </a:r>
                      <a:endParaRPr sz="14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125.000</a:t>
                      </a:r>
                      <a:endParaRPr sz="14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4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8A94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30" name="Shape 4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1" name="Google Shape;4131;p46"/>
          <p:cNvSpPr txBox="1"/>
          <p:nvPr/>
        </p:nvSpPr>
        <p:spPr>
          <a:xfrm>
            <a:off x="457200" y="320040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1200"/>
              <a:buFont typeface="Calibri"/>
              <a:buNone/>
            </a:pPr>
            <a:r>
              <a:rPr b="1" i="0" lang="es-CO" sz="1200" u="none" cap="none" strike="noStrike">
                <a:solidFill>
                  <a:srgbClr val="2E7D4F"/>
                </a:solidFill>
                <a:latin typeface="Poppins"/>
                <a:ea typeface="Poppins"/>
                <a:cs typeface="Poppins"/>
                <a:sym typeface="Poppins"/>
              </a:rPr>
              <a:t>CONSOLIDADO DE VARIACIÓN DE ALCANCES  ·  LOTE 7 – SUBREGIÓN BAJO CAUCA</a:t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132" name="Google Shape;4132;p46"/>
          <p:cNvSpPr txBox="1"/>
          <p:nvPr/>
        </p:nvSpPr>
        <p:spPr>
          <a:xfrm>
            <a:off x="457200" y="594360"/>
            <a:ext cx="9692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2800"/>
              <a:buFont typeface="Calibri"/>
              <a:buNone/>
            </a:pPr>
            <a:r>
              <a:rPr b="1" i="0" lang="es-CO" sz="28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Consolidado Lote 7 – Bajo Cauca</a:t>
            </a:r>
            <a:endParaRPr b="0" i="0" sz="2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descr="logo.png" id="4133" name="Google Shape;4133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78440" y="320040"/>
            <a:ext cx="1371600" cy="676656"/>
          </a:xfrm>
          <a:prstGeom prst="rect">
            <a:avLst/>
          </a:prstGeom>
          <a:noFill/>
          <a:ln>
            <a:noFill/>
          </a:ln>
        </p:spPr>
      </p:pic>
      <p:sp>
        <p:nvSpPr>
          <p:cNvPr id="4134" name="Google Shape;4134;p46"/>
          <p:cNvSpPr/>
          <p:nvPr/>
        </p:nvSpPr>
        <p:spPr>
          <a:xfrm>
            <a:off x="457200" y="128016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5" name="Google Shape;4135;p46"/>
          <p:cNvSpPr txBox="1"/>
          <p:nvPr/>
        </p:nvSpPr>
        <p:spPr>
          <a:xfrm>
            <a:off x="594360" y="1353312"/>
            <a:ext cx="1834835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050"/>
              <a:buFont typeface="Calibri"/>
              <a:buNone/>
            </a:pPr>
            <a:r>
              <a:rPr b="0" i="0" lang="es-CO" sz="10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Km contratados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6" name="Google Shape;4136;p46"/>
          <p:cNvSpPr txBox="1"/>
          <p:nvPr/>
        </p:nvSpPr>
        <p:spPr>
          <a:xfrm>
            <a:off x="594360" y="1581912"/>
            <a:ext cx="183483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25,00 km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7" name="Google Shape;4137;p46"/>
          <p:cNvSpPr txBox="1"/>
          <p:nvPr/>
        </p:nvSpPr>
        <p:spPr>
          <a:xfrm>
            <a:off x="594360" y="1901952"/>
            <a:ext cx="1834835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1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1 corredores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8" name="Google Shape;4138;p46"/>
          <p:cNvSpPr/>
          <p:nvPr/>
        </p:nvSpPr>
        <p:spPr>
          <a:xfrm>
            <a:off x="2749235" y="128016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9" name="Google Shape;4139;p46"/>
          <p:cNvSpPr txBox="1"/>
          <p:nvPr/>
        </p:nvSpPr>
        <p:spPr>
          <a:xfrm>
            <a:off x="2886395" y="1353312"/>
            <a:ext cx="1834835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050"/>
              <a:buFont typeface="Calibri"/>
              <a:buNone/>
            </a:pPr>
            <a:r>
              <a:rPr b="0" i="0" lang="es-CO" sz="10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Km que se alcanzan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0" name="Google Shape;4140;p46"/>
          <p:cNvSpPr txBox="1"/>
          <p:nvPr/>
        </p:nvSpPr>
        <p:spPr>
          <a:xfrm>
            <a:off x="2886395" y="1581912"/>
            <a:ext cx="183483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D2E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0B5D2E"/>
                </a:solidFill>
                <a:latin typeface="Calibri"/>
                <a:ea typeface="Calibri"/>
                <a:cs typeface="Calibri"/>
                <a:sym typeface="Calibri"/>
              </a:rPr>
              <a:t>17,87 km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1" name="Google Shape;4141;p46"/>
          <p:cNvSpPr txBox="1"/>
          <p:nvPr/>
        </p:nvSpPr>
        <p:spPr>
          <a:xfrm>
            <a:off x="2886395" y="1901952"/>
            <a:ext cx="1834835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1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Cobertura 71,5 % del valor proyectado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2" name="Google Shape;4142;p46"/>
          <p:cNvSpPr/>
          <p:nvPr/>
        </p:nvSpPr>
        <p:spPr>
          <a:xfrm>
            <a:off x="5041270" y="128016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3" name="Google Shape;4143;p46"/>
          <p:cNvSpPr txBox="1"/>
          <p:nvPr/>
        </p:nvSpPr>
        <p:spPr>
          <a:xfrm>
            <a:off x="5178430" y="1353312"/>
            <a:ext cx="1834835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050"/>
              <a:buFont typeface="Calibri"/>
              <a:buNone/>
            </a:pPr>
            <a:r>
              <a:rPr b="0" i="0" lang="es-CO" sz="10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Valor contractual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4" name="Google Shape;4144;p46"/>
          <p:cNvSpPr txBox="1"/>
          <p:nvPr/>
        </p:nvSpPr>
        <p:spPr>
          <a:xfrm>
            <a:off x="5178430" y="1581912"/>
            <a:ext cx="183483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$ 24.388.547.552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5" name="Google Shape;4145;p46"/>
          <p:cNvSpPr txBox="1"/>
          <p:nvPr/>
        </p:nvSpPr>
        <p:spPr>
          <a:xfrm>
            <a:off x="5178430" y="1901952"/>
            <a:ext cx="1834835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1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$ 975.541.902 por km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6" name="Google Shape;4146;p46"/>
          <p:cNvSpPr/>
          <p:nvPr/>
        </p:nvSpPr>
        <p:spPr>
          <a:xfrm>
            <a:off x="7333305" y="128016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7" name="Google Shape;4147;p46"/>
          <p:cNvSpPr txBox="1"/>
          <p:nvPr/>
        </p:nvSpPr>
        <p:spPr>
          <a:xfrm>
            <a:off x="7470465" y="1353312"/>
            <a:ext cx="1834835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050"/>
              <a:buFont typeface="Calibri"/>
              <a:buNone/>
            </a:pPr>
            <a:r>
              <a:rPr b="0" i="0" lang="es-CO" sz="10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Valor proyectado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8" name="Google Shape;4148;p46"/>
          <p:cNvSpPr txBox="1"/>
          <p:nvPr/>
        </p:nvSpPr>
        <p:spPr>
          <a:xfrm>
            <a:off x="7470465" y="1581912"/>
            <a:ext cx="183483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$ 34.126.406.645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9" name="Google Shape;4149;p46"/>
          <p:cNvSpPr txBox="1"/>
          <p:nvPr/>
        </p:nvSpPr>
        <p:spPr>
          <a:xfrm>
            <a:off x="7470465" y="1901952"/>
            <a:ext cx="1834835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1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$ 1.365.056.266 por km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0" name="Google Shape;4150;p46"/>
          <p:cNvSpPr/>
          <p:nvPr/>
        </p:nvSpPr>
        <p:spPr>
          <a:xfrm>
            <a:off x="9625340" y="128016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FBEAEA"/>
          </a:solidFill>
          <a:ln cap="flat" cmpd="sng" w="12700">
            <a:solidFill>
              <a:srgbClr val="FBEA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1" name="Google Shape;4151;p46"/>
          <p:cNvSpPr txBox="1"/>
          <p:nvPr/>
        </p:nvSpPr>
        <p:spPr>
          <a:xfrm>
            <a:off x="9762500" y="1353312"/>
            <a:ext cx="1834835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050"/>
              <a:buFont typeface="Calibri"/>
              <a:buNone/>
            </a:pPr>
            <a:r>
              <a:rPr b="0" i="0" lang="es-CO" sz="10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Adición estimada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2" name="Google Shape;4152;p46"/>
          <p:cNvSpPr txBox="1"/>
          <p:nvPr/>
        </p:nvSpPr>
        <p:spPr>
          <a:xfrm>
            <a:off x="9762500" y="1581912"/>
            <a:ext cx="183483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261E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B3261E"/>
                </a:solidFill>
                <a:latin typeface="Calibri"/>
                <a:ea typeface="Calibri"/>
                <a:cs typeface="Calibri"/>
                <a:sym typeface="Calibri"/>
              </a:rPr>
              <a:t>▲ $ 9.737.859.093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3" name="Google Shape;4153;p46"/>
          <p:cNvSpPr txBox="1"/>
          <p:nvPr/>
        </p:nvSpPr>
        <p:spPr>
          <a:xfrm>
            <a:off x="9762500" y="1901952"/>
            <a:ext cx="1834835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1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+39,9 % sobre lo contractual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154" name="Google Shape;4154;p46"/>
          <p:cNvGraphicFramePr/>
          <p:nvPr/>
        </p:nvGraphicFramePr>
        <p:xfrm>
          <a:off x="457200" y="23774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{2219430B-40B1-4F13-8D99-EA5D7966678A}</a:tableStyleId>
              </a:tblPr>
              <a:tblGrid>
                <a:gridCol w="2743200"/>
                <a:gridCol w="621800"/>
                <a:gridCol w="1280150"/>
                <a:gridCol w="1005850"/>
                <a:gridCol w="1280150"/>
                <a:gridCol w="1005850"/>
                <a:gridCol w="795525"/>
                <a:gridCol w="1280150"/>
                <a:gridCol w="640075"/>
                <a:gridCol w="62180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Corredor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Longitud (km)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Valor contractual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$/km contractual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Valor proyectado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$/km proyectado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Longitud probable (km)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Variación (valor adicional)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 variación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Cobertura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Cáceres – El Tigre – Alto de Tamaná – La Chilona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25,00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$ 24.388.547.552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$ 975.541.902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$ 34.126.406.645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$ 1.365.056.266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17,87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▲ $ 9.737.859.093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39,9 %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71,5 %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LOTE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25,00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$ 24.388.547.552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$ 975.541.902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$ 34.126.406.645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$ 1.365.056.266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17,87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▲ $ 9.737.859.093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39,9 %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71,5 %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</a:tr>
            </a:tbl>
          </a:graphicData>
        </a:graphic>
      </p:graphicFrame>
      <p:sp>
        <p:nvSpPr>
          <p:cNvPr id="4155" name="Google Shape;4155;p46"/>
          <p:cNvSpPr txBox="1"/>
          <p:nvPr/>
        </p:nvSpPr>
        <p:spPr>
          <a:xfrm>
            <a:off x="457200" y="3593592"/>
            <a:ext cx="1127455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00"/>
              <a:buFont typeface="Calibri"/>
              <a:buNone/>
            </a:pP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Valor total del contrato $ 28.335.594.386 · Valor contractual de obra $ 24.388.547.552 · Valores reembolsables $ 3.947.046.834. Los valores reembolsables incluyen la provisión para ajustes y obras complementarias ($ 1.973.523.417).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6" name="Google Shape;4156;p46"/>
          <p:cNvSpPr txBox="1"/>
          <p:nvPr/>
        </p:nvSpPr>
        <p:spPr>
          <a:xfrm>
            <a:off x="457200" y="3767328"/>
            <a:ext cx="1127455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00"/>
              <a:buFont typeface="Calibri"/>
              <a:buNone/>
            </a:pP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Longitud probable = longitud × valor contractual ÷ valor proyectado · Cobertura = valor contractual ÷ valor proyectado.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7" name="Google Shape;4157;p46"/>
          <p:cNvSpPr txBox="1"/>
          <p:nvPr/>
        </p:nvSpPr>
        <p:spPr>
          <a:xfrm>
            <a:off x="457200" y="4050792"/>
            <a:ext cx="112745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950"/>
              <a:buFont typeface="Calibri"/>
              <a:buNone/>
            </a:pPr>
            <a:r>
              <a:rPr b="1" i="0" lang="es-CO" sz="95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KILÓMETROS DEL LOTE QUE SE CUBREN CON EL VALOR CONTRACTUAL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8" name="Google Shape;4158;p46"/>
          <p:cNvSpPr/>
          <p:nvPr/>
        </p:nvSpPr>
        <p:spPr>
          <a:xfrm>
            <a:off x="457200" y="4288536"/>
            <a:ext cx="8059356" cy="384048"/>
          </a:xfrm>
          <a:prstGeom prst="rect">
            <a:avLst/>
          </a:prstGeom>
          <a:solidFill>
            <a:srgbClr val="2E7D4F"/>
          </a:solidFill>
          <a:ln cap="flat" cmpd="sng" w="12700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9" name="Google Shape;4159;p46"/>
          <p:cNvSpPr/>
          <p:nvPr/>
        </p:nvSpPr>
        <p:spPr>
          <a:xfrm>
            <a:off x="8516556" y="4288536"/>
            <a:ext cx="3217939" cy="384048"/>
          </a:xfrm>
          <a:prstGeom prst="rect">
            <a:avLst/>
          </a:prstGeom>
          <a:solidFill>
            <a:srgbClr val="B3261E"/>
          </a:solidFill>
          <a:ln cap="flat" cmpd="sng" w="12700">
            <a:solidFill>
              <a:srgbClr val="B326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0" name="Google Shape;4160;p46"/>
          <p:cNvSpPr txBox="1"/>
          <p:nvPr/>
        </p:nvSpPr>
        <p:spPr>
          <a:xfrm>
            <a:off x="566928" y="4288536"/>
            <a:ext cx="78399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s-CO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17,87 km</a:t>
            </a:r>
            <a:r>
              <a:rPr b="0" i="0" lang="es-CO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·  71,5 % se alcanza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1" name="Google Shape;4161;p46"/>
          <p:cNvSpPr txBox="1"/>
          <p:nvPr/>
        </p:nvSpPr>
        <p:spPr>
          <a:xfrm>
            <a:off x="8626284" y="4288536"/>
            <a:ext cx="2998483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s-CO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7,13 km</a:t>
            </a:r>
            <a:r>
              <a:rPr b="0" i="0" lang="es-CO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·  28,5 % pendiente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66" name="Shape 4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7" name="Google Shape;4167;p47"/>
          <p:cNvSpPr txBox="1"/>
          <p:nvPr/>
        </p:nvSpPr>
        <p:spPr>
          <a:xfrm>
            <a:off x="457200" y="320040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1200"/>
              <a:buFont typeface="Calibri"/>
              <a:buNone/>
            </a:pPr>
            <a:r>
              <a:rPr b="1" i="0" lang="es-CO" sz="1200" u="none" cap="none" strike="noStrike">
                <a:solidFill>
                  <a:srgbClr val="2E7D4F"/>
                </a:solidFill>
                <a:latin typeface="Poppins"/>
                <a:ea typeface="Poppins"/>
                <a:cs typeface="Poppins"/>
                <a:sym typeface="Poppins"/>
              </a:rPr>
              <a:t>INFORME DE VARIACIÓN DE ALCANCES  ·  LOTE 8 – SUBREGIÓN NORTE</a:t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168" name="Google Shape;4168;p47"/>
          <p:cNvSpPr txBox="1"/>
          <p:nvPr/>
        </p:nvSpPr>
        <p:spPr>
          <a:xfrm>
            <a:off x="457200" y="594360"/>
            <a:ext cx="9692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2800"/>
              <a:buFont typeface="Calibri"/>
              <a:buNone/>
            </a:pPr>
            <a:r>
              <a:rPr b="1" i="0" lang="es-CO" sz="28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Santa Rosa – Carolina del Príncipe</a:t>
            </a:r>
            <a:endParaRPr b="0" i="0" sz="2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descr="logo.png" id="4169" name="Google Shape;4169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78440" y="320040"/>
            <a:ext cx="1371600" cy="676656"/>
          </a:xfrm>
          <a:prstGeom prst="rect">
            <a:avLst/>
          </a:prstGeom>
          <a:noFill/>
          <a:ln>
            <a:noFill/>
          </a:ln>
        </p:spPr>
      </p:pic>
      <p:sp>
        <p:nvSpPr>
          <p:cNvPr id="4170" name="Google Shape;4170;p47"/>
          <p:cNvSpPr/>
          <p:nvPr/>
        </p:nvSpPr>
        <p:spPr>
          <a:xfrm>
            <a:off x="457200" y="132588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1" name="Google Shape;4171;p47"/>
          <p:cNvSpPr txBox="1"/>
          <p:nvPr/>
        </p:nvSpPr>
        <p:spPr>
          <a:xfrm>
            <a:off x="594360" y="1417320"/>
            <a:ext cx="183483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100"/>
              <a:buFont typeface="Calibri"/>
              <a:buNone/>
            </a:pPr>
            <a:r>
              <a:rPr b="0" i="0" lang="es-CO" sz="11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Longitud contractual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2" name="Google Shape;4172;p47"/>
          <p:cNvSpPr txBox="1"/>
          <p:nvPr/>
        </p:nvSpPr>
        <p:spPr>
          <a:xfrm>
            <a:off x="594360" y="1691640"/>
            <a:ext cx="183483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700"/>
              <a:buFont typeface="Calibri"/>
              <a:buNone/>
            </a:pPr>
            <a:r>
              <a:rPr b="1" i="0" lang="es-CO" sz="17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33,67 km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3" name="Google Shape;4173;p47"/>
          <p:cNvSpPr/>
          <p:nvPr/>
        </p:nvSpPr>
        <p:spPr>
          <a:xfrm>
            <a:off x="2749235" y="132588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4" name="Google Shape;4174;p47"/>
          <p:cNvSpPr txBox="1"/>
          <p:nvPr/>
        </p:nvSpPr>
        <p:spPr>
          <a:xfrm>
            <a:off x="2886395" y="1417320"/>
            <a:ext cx="183483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100"/>
              <a:buFont typeface="Calibri"/>
              <a:buNone/>
            </a:pPr>
            <a:r>
              <a:rPr b="0" i="0" lang="es-CO" sz="11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Longitud probable a cubrir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5" name="Google Shape;4175;p47"/>
          <p:cNvSpPr txBox="1"/>
          <p:nvPr/>
        </p:nvSpPr>
        <p:spPr>
          <a:xfrm>
            <a:off x="2886395" y="1691640"/>
            <a:ext cx="183483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700"/>
              <a:buFont typeface="Calibri"/>
              <a:buNone/>
            </a:pPr>
            <a:r>
              <a:rPr b="1" i="0" lang="es-CO" sz="17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23,82 km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6" name="Google Shape;4176;p47"/>
          <p:cNvSpPr/>
          <p:nvPr/>
        </p:nvSpPr>
        <p:spPr>
          <a:xfrm>
            <a:off x="5041270" y="132588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7" name="Google Shape;4177;p47"/>
          <p:cNvSpPr txBox="1"/>
          <p:nvPr/>
        </p:nvSpPr>
        <p:spPr>
          <a:xfrm>
            <a:off x="5178430" y="1417320"/>
            <a:ext cx="183483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100"/>
              <a:buFont typeface="Calibri"/>
              <a:buNone/>
            </a:pPr>
            <a:r>
              <a:rPr b="0" i="0" lang="es-CO" sz="11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Valor por km contractual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8" name="Google Shape;4178;p47"/>
          <p:cNvSpPr txBox="1"/>
          <p:nvPr/>
        </p:nvSpPr>
        <p:spPr>
          <a:xfrm>
            <a:off x="5178430" y="1691640"/>
            <a:ext cx="183483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700"/>
              <a:buFont typeface="Calibri"/>
              <a:buNone/>
            </a:pPr>
            <a:r>
              <a:rPr b="1" i="0" lang="es-CO" sz="17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$ 968.457.522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9" name="Google Shape;4179;p47"/>
          <p:cNvSpPr/>
          <p:nvPr/>
        </p:nvSpPr>
        <p:spPr>
          <a:xfrm>
            <a:off x="7333305" y="132588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0" name="Google Shape;4180;p47"/>
          <p:cNvSpPr txBox="1"/>
          <p:nvPr/>
        </p:nvSpPr>
        <p:spPr>
          <a:xfrm>
            <a:off x="7470465" y="1417320"/>
            <a:ext cx="183483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100"/>
              <a:buFont typeface="Calibri"/>
              <a:buNone/>
            </a:pPr>
            <a:r>
              <a:rPr b="0" i="0" lang="es-CO" sz="11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Valor por km proyectado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1" name="Google Shape;4181;p47"/>
          <p:cNvSpPr txBox="1"/>
          <p:nvPr/>
        </p:nvSpPr>
        <p:spPr>
          <a:xfrm>
            <a:off x="7470465" y="1691640"/>
            <a:ext cx="183483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700"/>
              <a:buFont typeface="Calibri"/>
              <a:buNone/>
            </a:pPr>
            <a:r>
              <a:rPr b="1" i="0" lang="es-CO" sz="17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$ 1.368.845.877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2" name="Google Shape;4182;p47"/>
          <p:cNvSpPr/>
          <p:nvPr/>
        </p:nvSpPr>
        <p:spPr>
          <a:xfrm>
            <a:off x="9625340" y="132588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FBEAEA"/>
          </a:solidFill>
          <a:ln cap="flat" cmpd="sng" w="12700">
            <a:solidFill>
              <a:srgbClr val="FBEA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3" name="Google Shape;4183;p47"/>
          <p:cNvSpPr txBox="1"/>
          <p:nvPr/>
        </p:nvSpPr>
        <p:spPr>
          <a:xfrm>
            <a:off x="9762500" y="1417320"/>
            <a:ext cx="183483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100"/>
              <a:buFont typeface="Calibri"/>
              <a:buNone/>
            </a:pPr>
            <a:r>
              <a:rPr b="0" i="0" lang="es-CO" sz="11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Variación total (valor adicional)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4" name="Google Shape;4184;p47"/>
          <p:cNvSpPr txBox="1"/>
          <p:nvPr/>
        </p:nvSpPr>
        <p:spPr>
          <a:xfrm>
            <a:off x="9762500" y="1691640"/>
            <a:ext cx="183483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261E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B3261E"/>
                </a:solidFill>
                <a:latin typeface="Arial"/>
                <a:ea typeface="Arial"/>
                <a:cs typeface="Arial"/>
                <a:sym typeface="Arial"/>
              </a:rPr>
              <a:t>▲ </a:t>
            </a:r>
            <a:r>
              <a:rPr b="1" i="0" lang="es-CO" sz="1500" u="none" cap="none" strike="noStrike">
                <a:solidFill>
                  <a:srgbClr val="B3261E"/>
                </a:solidFill>
                <a:latin typeface="Calibri"/>
                <a:ea typeface="Calibri"/>
                <a:cs typeface="Calibri"/>
                <a:sym typeface="Calibri"/>
              </a:rPr>
              <a:t>$ 13.481.075.911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5" name="Google Shape;4185;p47"/>
          <p:cNvSpPr/>
          <p:nvPr/>
        </p:nvSpPr>
        <p:spPr>
          <a:xfrm>
            <a:off x="457200" y="2423160"/>
            <a:ext cx="3154680" cy="4114800"/>
          </a:xfrm>
          <a:prstGeom prst="roundRect">
            <a:avLst>
              <a:gd fmla="val 1739" name="adj"/>
            </a:avLst>
          </a:prstGeom>
          <a:solidFill>
            <a:srgbClr val="FFFFFF"/>
          </a:solidFill>
          <a:ln cap="flat" cmpd="sng" w="12700">
            <a:solidFill>
              <a:srgbClr val="D5DD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6" name="Google Shape;4186;p47"/>
          <p:cNvSpPr txBox="1"/>
          <p:nvPr/>
        </p:nvSpPr>
        <p:spPr>
          <a:xfrm>
            <a:off x="640080" y="2560320"/>
            <a:ext cx="2788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1100"/>
              <a:buFont typeface="Calibri"/>
              <a:buNone/>
            </a:pPr>
            <a:r>
              <a:rPr b="1" i="0" lang="es-CO" sz="11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ESTRUCTURA DE PAVIMENTO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7" name="Google Shape;4187;p47"/>
          <p:cNvSpPr txBox="1"/>
          <p:nvPr/>
        </p:nvSpPr>
        <p:spPr>
          <a:xfrm>
            <a:off x="640080" y="2816352"/>
            <a:ext cx="2788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1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El Roble – Miraflores – Santa Rosa – Carolina del Príncipe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8" name="Google Shape;4188;p47"/>
          <p:cNvSpPr txBox="1"/>
          <p:nvPr/>
        </p:nvSpPr>
        <p:spPr>
          <a:xfrm>
            <a:off x="640080" y="3172968"/>
            <a:ext cx="2788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LOTE 8 · Longitud: 33.670 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Tránsito – Estructuración: </a:t>
            </a: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169.000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Tránsito – Diseño: </a:t>
            </a: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1.714.580 / 472.190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9" name="Google Shape;4189;p47"/>
          <p:cNvSpPr txBox="1"/>
          <p:nvPr/>
        </p:nvSpPr>
        <p:spPr>
          <a:xfrm>
            <a:off x="457200" y="3794760"/>
            <a:ext cx="15773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1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Teórica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0" name="Google Shape;4190;p47"/>
          <p:cNvSpPr/>
          <p:nvPr/>
        </p:nvSpPr>
        <p:spPr>
          <a:xfrm>
            <a:off x="560070" y="4087368"/>
            <a:ext cx="960120" cy="182880"/>
          </a:xfrm>
          <a:prstGeom prst="rect">
            <a:avLst/>
          </a:prstGeom>
          <a:solidFill>
            <a:srgbClr val="1F2A36"/>
          </a:solidFill>
          <a:ln cap="flat" cmpd="sng" w="12700">
            <a:solidFill>
              <a:srgbClr val="1F2A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1" name="Google Shape;4191;p47"/>
          <p:cNvSpPr txBox="1"/>
          <p:nvPr/>
        </p:nvSpPr>
        <p:spPr>
          <a:xfrm>
            <a:off x="560070" y="4087368"/>
            <a:ext cx="9601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s-CO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TSD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2" name="Google Shape;4192;p47"/>
          <p:cNvSpPr/>
          <p:nvPr/>
        </p:nvSpPr>
        <p:spPr>
          <a:xfrm>
            <a:off x="560070" y="4270248"/>
            <a:ext cx="960120" cy="997629"/>
          </a:xfrm>
          <a:prstGeom prst="rect">
            <a:avLst/>
          </a:prstGeom>
          <a:solidFill>
            <a:srgbClr val="D9A44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3" name="Google Shape;4193;p47"/>
          <p:cNvSpPr txBox="1"/>
          <p:nvPr/>
        </p:nvSpPr>
        <p:spPr>
          <a:xfrm>
            <a:off x="560070" y="4270248"/>
            <a:ext cx="960120" cy="295967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800"/>
              <a:buFont typeface="Calibri"/>
              <a:buNone/>
            </a:pPr>
            <a:r>
              <a:rPr b="1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Estabilización con cemento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4" name="Google Shape;4194;p47"/>
          <p:cNvSpPr/>
          <p:nvPr/>
        </p:nvSpPr>
        <p:spPr>
          <a:xfrm>
            <a:off x="624078" y="4566215"/>
            <a:ext cx="832104" cy="665086"/>
          </a:xfrm>
          <a:prstGeom prst="rect">
            <a:avLst/>
          </a:prstGeom>
          <a:solidFill>
            <a:srgbClr val="F2D58E"/>
          </a:solidFill>
          <a:ln cap="flat" cmpd="sng" w="9525">
            <a:solidFill>
              <a:srgbClr val="A87B1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5" name="Google Shape;4195;p47"/>
          <p:cNvSpPr txBox="1"/>
          <p:nvPr/>
        </p:nvSpPr>
        <p:spPr>
          <a:xfrm>
            <a:off x="624078" y="4566215"/>
            <a:ext cx="832104" cy="665086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800"/>
              <a:buFont typeface="Calibri"/>
              <a:buNone/>
            </a:pPr>
            <a:r>
              <a:rPr b="0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Subbase 18 cm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6" name="Google Shape;4196;p47"/>
          <p:cNvSpPr txBox="1"/>
          <p:nvPr/>
        </p:nvSpPr>
        <p:spPr>
          <a:xfrm>
            <a:off x="1575054" y="4270248"/>
            <a:ext cx="457200" cy="99762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27 cm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7" name="Google Shape;4197;p47"/>
          <p:cNvSpPr/>
          <p:nvPr/>
        </p:nvSpPr>
        <p:spPr>
          <a:xfrm>
            <a:off x="560070" y="5267877"/>
            <a:ext cx="960120" cy="738984"/>
          </a:xfrm>
          <a:prstGeom prst="rect">
            <a:avLst/>
          </a:prstGeom>
          <a:solidFill>
            <a:srgbClr val="8C6A4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8" name="Google Shape;4198;p47"/>
          <p:cNvSpPr txBox="1"/>
          <p:nvPr/>
        </p:nvSpPr>
        <p:spPr>
          <a:xfrm>
            <a:off x="560070" y="5267877"/>
            <a:ext cx="960120" cy="7389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s-CO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Subrasante estabilizada con cal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9" name="Google Shape;4199;p47"/>
          <p:cNvSpPr txBox="1"/>
          <p:nvPr/>
        </p:nvSpPr>
        <p:spPr>
          <a:xfrm>
            <a:off x="1575054" y="5267877"/>
            <a:ext cx="457200" cy="7389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20 cm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00" name="Google Shape;4200;p47"/>
          <p:cNvCxnSpPr/>
          <p:nvPr/>
        </p:nvCxnSpPr>
        <p:spPr>
          <a:xfrm>
            <a:off x="468630" y="6006862"/>
            <a:ext cx="1143000" cy="0"/>
          </a:xfrm>
          <a:prstGeom prst="straightConnector1">
            <a:avLst/>
          </a:prstGeom>
          <a:noFill/>
          <a:ln cap="flat" cmpd="sng" w="12700">
            <a:solidFill>
              <a:srgbClr val="1D2B2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01" name="Google Shape;4201;p47"/>
          <p:cNvSpPr txBox="1"/>
          <p:nvPr/>
        </p:nvSpPr>
        <p:spPr>
          <a:xfrm>
            <a:off x="457200" y="6080014"/>
            <a:ext cx="15773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Espesor total: </a:t>
            </a:r>
            <a:r>
              <a:rPr b="1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47 cm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2" name="Google Shape;4202;p47"/>
          <p:cNvSpPr txBox="1"/>
          <p:nvPr/>
        </p:nvSpPr>
        <p:spPr>
          <a:xfrm>
            <a:off x="2034540" y="3794760"/>
            <a:ext cx="15773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1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Aprobada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3" name="Google Shape;4203;p47"/>
          <p:cNvSpPr/>
          <p:nvPr/>
        </p:nvSpPr>
        <p:spPr>
          <a:xfrm>
            <a:off x="2137410" y="4087368"/>
            <a:ext cx="960120" cy="182880"/>
          </a:xfrm>
          <a:prstGeom prst="rect">
            <a:avLst/>
          </a:prstGeom>
          <a:solidFill>
            <a:srgbClr val="1F2A36"/>
          </a:solidFill>
          <a:ln cap="flat" cmpd="sng" w="12700">
            <a:solidFill>
              <a:srgbClr val="1F2A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4" name="Google Shape;4204;p47"/>
          <p:cNvSpPr txBox="1"/>
          <p:nvPr/>
        </p:nvSpPr>
        <p:spPr>
          <a:xfrm>
            <a:off x="2137410" y="4087368"/>
            <a:ext cx="9601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s-CO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TSD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5" name="Google Shape;4205;p47"/>
          <p:cNvSpPr/>
          <p:nvPr/>
        </p:nvSpPr>
        <p:spPr>
          <a:xfrm>
            <a:off x="2137410" y="4270248"/>
            <a:ext cx="960120" cy="1071528"/>
          </a:xfrm>
          <a:prstGeom prst="rect">
            <a:avLst/>
          </a:prstGeom>
          <a:solidFill>
            <a:srgbClr val="D9A44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6" name="Google Shape;4206;p47"/>
          <p:cNvSpPr txBox="1"/>
          <p:nvPr/>
        </p:nvSpPr>
        <p:spPr>
          <a:xfrm>
            <a:off x="2137410" y="4270248"/>
            <a:ext cx="960120" cy="1071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800"/>
              <a:buFont typeface="Calibri"/>
              <a:buNone/>
            </a:pPr>
            <a:r>
              <a:rPr b="1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Estabilización con cemento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7" name="Google Shape;4207;p47"/>
          <p:cNvSpPr txBox="1"/>
          <p:nvPr/>
        </p:nvSpPr>
        <p:spPr>
          <a:xfrm>
            <a:off x="3152394" y="4270248"/>
            <a:ext cx="457200" cy="1071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29 cm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8" name="Google Shape;4208;p47"/>
          <p:cNvSpPr/>
          <p:nvPr/>
        </p:nvSpPr>
        <p:spPr>
          <a:xfrm>
            <a:off x="2137410" y="5341776"/>
            <a:ext cx="960120" cy="738984"/>
          </a:xfrm>
          <a:prstGeom prst="rect">
            <a:avLst/>
          </a:prstGeom>
          <a:solidFill>
            <a:srgbClr val="8C6A4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9" name="Google Shape;4209;p47"/>
          <p:cNvSpPr txBox="1"/>
          <p:nvPr/>
        </p:nvSpPr>
        <p:spPr>
          <a:xfrm>
            <a:off x="2137410" y="5341776"/>
            <a:ext cx="960120" cy="7389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s-CO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Subrasante estabilizada con cal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0" name="Google Shape;4210;p47"/>
          <p:cNvSpPr txBox="1"/>
          <p:nvPr/>
        </p:nvSpPr>
        <p:spPr>
          <a:xfrm>
            <a:off x="3152394" y="5341776"/>
            <a:ext cx="457200" cy="7389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20 cm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11" name="Google Shape;4211;p47"/>
          <p:cNvCxnSpPr/>
          <p:nvPr/>
        </p:nvCxnSpPr>
        <p:spPr>
          <a:xfrm>
            <a:off x="2045970" y="6080760"/>
            <a:ext cx="1143000" cy="0"/>
          </a:xfrm>
          <a:prstGeom prst="straightConnector1">
            <a:avLst/>
          </a:prstGeom>
          <a:noFill/>
          <a:ln cap="flat" cmpd="sng" w="12700">
            <a:solidFill>
              <a:srgbClr val="1D2B2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12" name="Google Shape;4212;p47"/>
          <p:cNvSpPr txBox="1"/>
          <p:nvPr/>
        </p:nvSpPr>
        <p:spPr>
          <a:xfrm>
            <a:off x="2034540" y="6153912"/>
            <a:ext cx="15773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Espesor total: </a:t>
            </a:r>
            <a:r>
              <a:rPr b="1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49 cm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213" name="Google Shape;4213;p47"/>
          <p:cNvGraphicFramePr/>
          <p:nvPr/>
        </p:nvGraphicFramePr>
        <p:xfrm>
          <a:off x="3840480" y="24231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{2219430B-40B1-4F13-8D99-EA5D7966678A}</a:tableStyleId>
              </a:tblPr>
              <a:tblGrid>
                <a:gridCol w="2395725"/>
                <a:gridCol w="1097275"/>
                <a:gridCol w="603500"/>
                <a:gridCol w="1097275"/>
                <a:gridCol w="603500"/>
                <a:gridCol w="237750"/>
                <a:gridCol w="1097275"/>
                <a:gridCol w="758950"/>
              </a:tblGrid>
              <a:tr h="438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Grupo – actividad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Valor contractual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 sobre corredor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Valor proyectado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 sobre corredor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Variación (valor adicional)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 de variación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</a:tr>
              <a:tr h="27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Construcción alcantarilla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$ 3.859.488.185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$ 8.296.138.597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>
                          <a:solidFill>
                            <a:srgbClr val="B32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▲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$ 4.436.650.412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115,0 %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Construcción cuneta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$ 5.024.244.765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$ 5.155.470.583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>
                          <a:solidFill>
                            <a:srgbClr val="B32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▲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$ 131.225.818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2,6 %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27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Construcción filtro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$ 5.502.221.299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$ 5.432.048.440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>
                          <a:solidFill>
                            <a:srgbClr val="0B5D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▼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0B5D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–$ 70.172.859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0B5D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–1,3 %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Construcción bordillos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$ 760.761.231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$ 3.749.960.897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>
                          <a:solidFill>
                            <a:srgbClr val="B32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▲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$ 2.989.199.666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392,9 %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27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Construcción disipadores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$ 562.034.567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$ 562.034.567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0,0 %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Estabilización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$ 16.438.675.974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$ 22.008.404.828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48%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B32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▲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$ 5.569.728.854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33,9 %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27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Señalización vial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$ 460.538.730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$ 460.538.730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0,0 %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Obra extra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–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50"/>
                        <a:buFont typeface="Calibri"/>
                        <a:buNone/>
                      </a:pPr>
                      <a:r>
                        <a:t/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$ 424.444.020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>
                          <a:solidFill>
                            <a:srgbClr val="B32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▲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$ 424.444.020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B65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N/A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27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CORREDOR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$ 32.607.964.751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100%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$ 46.089.040.662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100%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B32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▲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+$ 13.481.075.911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41,3 %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</a:tr>
            </a:tbl>
          </a:graphicData>
        </a:graphic>
      </p:graphicFrame>
      <p:sp>
        <p:nvSpPr>
          <p:cNvPr id="4214" name="Google Shape;4214;p47"/>
          <p:cNvSpPr txBox="1"/>
          <p:nvPr/>
        </p:nvSpPr>
        <p:spPr>
          <a:xfrm>
            <a:off x="3840480" y="5413248"/>
            <a:ext cx="78912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261E"/>
              </a:buClr>
              <a:buSzPts val="900"/>
              <a:buFont typeface="Arial"/>
              <a:buNone/>
            </a:pPr>
            <a:r>
              <a:rPr b="0" i="0" lang="es-CO" sz="900" u="none" cap="none" strike="noStrike">
                <a:solidFill>
                  <a:srgbClr val="B3261E"/>
                </a:solidFill>
                <a:latin typeface="Arial"/>
                <a:ea typeface="Arial"/>
                <a:cs typeface="Arial"/>
                <a:sym typeface="Arial"/>
              </a:rPr>
              <a:t>▲</a:t>
            </a: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 Se requiere mayor valor     </a:t>
            </a:r>
            <a:r>
              <a:rPr b="0" i="0" lang="es-CO" sz="900" u="none" cap="none" strike="noStrike">
                <a:solidFill>
                  <a:srgbClr val="0B5D2E"/>
                </a:solidFill>
                <a:latin typeface="Arial"/>
                <a:ea typeface="Arial"/>
                <a:cs typeface="Arial"/>
                <a:sym typeface="Arial"/>
              </a:rPr>
              <a:t>▼</a:t>
            </a: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 Sobra valor     % de variación = (valor proyectado – valor contractual) / valor contractual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5" name="Google Shape;4215;p47"/>
          <p:cNvSpPr/>
          <p:nvPr/>
        </p:nvSpPr>
        <p:spPr>
          <a:xfrm>
            <a:off x="3840480" y="5687568"/>
            <a:ext cx="7891272" cy="850392"/>
          </a:xfrm>
          <a:prstGeom prst="roundRect">
            <a:avLst>
              <a:gd fmla="val 6452" name="adj"/>
            </a:avLst>
          </a:prstGeom>
          <a:solidFill>
            <a:srgbClr val="FFFFFF"/>
          </a:solidFill>
          <a:ln cap="flat" cmpd="sng" w="12700">
            <a:solidFill>
              <a:srgbClr val="9AA7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00" lIns="1000" spcFirstLastPara="1" rIns="1500" wrap="square" tIns="15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100"/>
              <a:buFont typeface="Calibri"/>
              <a:buNone/>
            </a:pPr>
            <a:r>
              <a:rPr b="1" i="0" lang="es-CO" sz="11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Notas: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20" name="Shape 4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1" name="Google Shape;4221;p48"/>
          <p:cNvSpPr txBox="1"/>
          <p:nvPr/>
        </p:nvSpPr>
        <p:spPr>
          <a:xfrm>
            <a:off x="457200" y="320040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1200"/>
              <a:buFont typeface="Calibri"/>
              <a:buNone/>
            </a:pPr>
            <a:r>
              <a:rPr b="1" i="0" lang="es-CO" sz="1200" u="none" cap="none" strike="noStrike">
                <a:solidFill>
                  <a:srgbClr val="2E7D4F"/>
                </a:solidFill>
                <a:latin typeface="Poppins"/>
                <a:ea typeface="Poppins"/>
                <a:cs typeface="Poppins"/>
                <a:sym typeface="Poppins"/>
              </a:rPr>
              <a:t>INFORME DE EJECUCIÓN  ·  LOTE 8 – SUBREGIÓN NORTE</a:t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222" name="Google Shape;4222;p48"/>
          <p:cNvSpPr txBox="1"/>
          <p:nvPr/>
        </p:nvSpPr>
        <p:spPr>
          <a:xfrm>
            <a:off x="457200" y="594360"/>
            <a:ext cx="9692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2800"/>
              <a:buFont typeface="Calibri"/>
              <a:buNone/>
            </a:pPr>
            <a:r>
              <a:rPr b="1" i="0" lang="es-CO" sz="28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Santa Rosa – Carolina del Príncipe</a:t>
            </a:r>
            <a:endParaRPr b="0" i="0" sz="2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descr="logo.png" id="4223" name="Google Shape;4223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78440" y="320040"/>
            <a:ext cx="1371600" cy="676656"/>
          </a:xfrm>
          <a:prstGeom prst="rect">
            <a:avLst/>
          </a:prstGeom>
          <a:noFill/>
          <a:ln>
            <a:noFill/>
          </a:ln>
        </p:spPr>
      </p:pic>
      <p:sp>
        <p:nvSpPr>
          <p:cNvPr id="4224" name="Google Shape;4224;p48"/>
          <p:cNvSpPr/>
          <p:nvPr/>
        </p:nvSpPr>
        <p:spPr>
          <a:xfrm>
            <a:off x="457200" y="1234440"/>
            <a:ext cx="1765249" cy="658368"/>
          </a:xfrm>
          <a:prstGeom prst="roundRect">
            <a:avLst>
              <a:gd fmla="val 1111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5" name="Google Shape;4225;p48"/>
          <p:cNvSpPr txBox="1"/>
          <p:nvPr/>
        </p:nvSpPr>
        <p:spPr>
          <a:xfrm>
            <a:off x="566928" y="1289304"/>
            <a:ext cx="154579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50"/>
              <a:buFont typeface="Calibri"/>
              <a:buNone/>
            </a:pPr>
            <a:r>
              <a:rPr b="0" i="0" lang="es-CO" sz="9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Longitud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6" name="Google Shape;4226;p48"/>
          <p:cNvSpPr txBox="1"/>
          <p:nvPr/>
        </p:nvSpPr>
        <p:spPr>
          <a:xfrm>
            <a:off x="566928" y="1453896"/>
            <a:ext cx="154579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33,67 km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7" name="Google Shape;4227;p48"/>
          <p:cNvSpPr txBox="1"/>
          <p:nvPr/>
        </p:nvSpPr>
        <p:spPr>
          <a:xfrm>
            <a:off x="566928" y="1700784"/>
            <a:ext cx="1545793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00"/>
              <a:buFont typeface="Calibri"/>
              <a:buNone/>
            </a:pP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Alcance real 23,82 km · dif. 9,85 km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8" name="Google Shape;4228;p48"/>
          <p:cNvSpPr/>
          <p:nvPr/>
        </p:nvSpPr>
        <p:spPr>
          <a:xfrm>
            <a:off x="2359609" y="1234440"/>
            <a:ext cx="1765249" cy="658368"/>
          </a:xfrm>
          <a:prstGeom prst="roundRect">
            <a:avLst>
              <a:gd fmla="val 1111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9" name="Google Shape;4229;p48"/>
          <p:cNvSpPr txBox="1"/>
          <p:nvPr/>
        </p:nvSpPr>
        <p:spPr>
          <a:xfrm>
            <a:off x="2469337" y="1289304"/>
            <a:ext cx="154579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50"/>
              <a:buFont typeface="Calibri"/>
              <a:buNone/>
            </a:pPr>
            <a:r>
              <a:rPr b="0" i="0" lang="es-CO" sz="9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Valor total del corredor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0" name="Google Shape;4230;p48"/>
          <p:cNvSpPr txBox="1"/>
          <p:nvPr/>
        </p:nvSpPr>
        <p:spPr>
          <a:xfrm>
            <a:off x="2469337" y="1453896"/>
            <a:ext cx="154579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$ 32.607.964.751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1" name="Google Shape;4231;p48"/>
          <p:cNvSpPr txBox="1"/>
          <p:nvPr/>
        </p:nvSpPr>
        <p:spPr>
          <a:xfrm>
            <a:off x="2469337" y="1700784"/>
            <a:ext cx="1545793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00"/>
              <a:buFont typeface="Calibri"/>
              <a:buNone/>
            </a:pP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$ 968.457.522 por km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2" name="Google Shape;4232;p48"/>
          <p:cNvSpPr/>
          <p:nvPr/>
        </p:nvSpPr>
        <p:spPr>
          <a:xfrm>
            <a:off x="4262018" y="1234440"/>
            <a:ext cx="1765249" cy="658368"/>
          </a:xfrm>
          <a:prstGeom prst="roundRect">
            <a:avLst>
              <a:gd fmla="val 11111" name="adj"/>
            </a:avLst>
          </a:prstGeom>
          <a:solidFill>
            <a:srgbClr val="FBEAEA"/>
          </a:solidFill>
          <a:ln cap="flat" cmpd="sng" w="12700">
            <a:solidFill>
              <a:srgbClr val="FBEA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3" name="Google Shape;4233;p48"/>
          <p:cNvSpPr txBox="1"/>
          <p:nvPr/>
        </p:nvSpPr>
        <p:spPr>
          <a:xfrm>
            <a:off x="4371746" y="1289304"/>
            <a:ext cx="154579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50"/>
              <a:buFont typeface="Calibri"/>
              <a:buNone/>
            </a:pPr>
            <a:r>
              <a:rPr b="0" i="0" lang="es-CO" sz="9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Avance físico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4" name="Google Shape;4234;p48"/>
          <p:cNvSpPr txBox="1"/>
          <p:nvPr/>
        </p:nvSpPr>
        <p:spPr>
          <a:xfrm>
            <a:off x="4371746" y="1453896"/>
            <a:ext cx="154579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261E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B3261E"/>
                </a:solidFill>
                <a:latin typeface="Calibri"/>
                <a:ea typeface="Calibri"/>
                <a:cs typeface="Calibri"/>
                <a:sym typeface="Calibri"/>
              </a:rPr>
              <a:t>13,18 %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5" name="Google Shape;4235;p48"/>
          <p:cNvSpPr txBox="1"/>
          <p:nvPr/>
        </p:nvSpPr>
        <p:spPr>
          <a:xfrm>
            <a:off x="4371746" y="1700784"/>
            <a:ext cx="1545793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00"/>
              <a:buFont typeface="Calibri"/>
              <a:buNone/>
            </a:pP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Frente a 42,7 % del plazo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6" name="Google Shape;4236;p48"/>
          <p:cNvSpPr/>
          <p:nvPr/>
        </p:nvSpPr>
        <p:spPr>
          <a:xfrm>
            <a:off x="6164428" y="1234440"/>
            <a:ext cx="1765249" cy="658368"/>
          </a:xfrm>
          <a:prstGeom prst="roundRect">
            <a:avLst>
              <a:gd fmla="val 1111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7" name="Google Shape;4237;p48"/>
          <p:cNvSpPr txBox="1"/>
          <p:nvPr/>
        </p:nvSpPr>
        <p:spPr>
          <a:xfrm>
            <a:off x="6274156" y="1289304"/>
            <a:ext cx="154579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50"/>
              <a:buFont typeface="Calibri"/>
              <a:buNone/>
            </a:pPr>
            <a:r>
              <a:rPr b="0" i="0" lang="es-CO" sz="9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Avance financiero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8" name="Google Shape;4238;p48"/>
          <p:cNvSpPr txBox="1"/>
          <p:nvPr/>
        </p:nvSpPr>
        <p:spPr>
          <a:xfrm>
            <a:off x="6274156" y="1453896"/>
            <a:ext cx="154579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11,25 %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9" name="Google Shape;4239;p48"/>
          <p:cNvSpPr/>
          <p:nvPr/>
        </p:nvSpPr>
        <p:spPr>
          <a:xfrm>
            <a:off x="8066837" y="1234440"/>
            <a:ext cx="1765249" cy="658368"/>
          </a:xfrm>
          <a:prstGeom prst="roundRect">
            <a:avLst>
              <a:gd fmla="val 1111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0" name="Google Shape;4240;p48"/>
          <p:cNvSpPr txBox="1"/>
          <p:nvPr/>
        </p:nvSpPr>
        <p:spPr>
          <a:xfrm>
            <a:off x="8176565" y="1289304"/>
            <a:ext cx="154579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50"/>
              <a:buFont typeface="Calibri"/>
              <a:buNone/>
            </a:pPr>
            <a:r>
              <a:rPr b="0" i="0" lang="es-CO" sz="9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Plazo transcurrido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1" name="Google Shape;4241;p48"/>
          <p:cNvSpPr txBox="1"/>
          <p:nvPr/>
        </p:nvSpPr>
        <p:spPr>
          <a:xfrm>
            <a:off x="8176565" y="1453896"/>
            <a:ext cx="154579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42,7 %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2" name="Google Shape;4242;p48"/>
          <p:cNvSpPr txBox="1"/>
          <p:nvPr/>
        </p:nvSpPr>
        <p:spPr>
          <a:xfrm>
            <a:off x="8176565" y="1700784"/>
            <a:ext cx="1545793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00"/>
              <a:buFont typeface="Calibri"/>
              <a:buNone/>
            </a:pP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7,7 de 18 meses (al 02/10/2026)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3" name="Google Shape;4243;p48"/>
          <p:cNvSpPr/>
          <p:nvPr/>
        </p:nvSpPr>
        <p:spPr>
          <a:xfrm>
            <a:off x="9969246" y="1234440"/>
            <a:ext cx="1765249" cy="658368"/>
          </a:xfrm>
          <a:prstGeom prst="roundRect">
            <a:avLst>
              <a:gd fmla="val 1111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4" name="Google Shape;4244;p48"/>
          <p:cNvSpPr txBox="1"/>
          <p:nvPr/>
        </p:nvSpPr>
        <p:spPr>
          <a:xfrm>
            <a:off x="10078974" y="1289304"/>
            <a:ext cx="1545793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Inicio: </a:t>
            </a: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11/02/2026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Terminación: </a:t>
            </a: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11/08/2027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Corte: </a:t>
            </a: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25/09/2026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5" name="Google Shape;4245;p48"/>
          <p:cNvSpPr txBox="1"/>
          <p:nvPr/>
        </p:nvSpPr>
        <p:spPr>
          <a:xfrm>
            <a:off x="457200" y="1956816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1000"/>
              <a:buFont typeface="Calibri"/>
              <a:buNone/>
            </a:pPr>
            <a:r>
              <a:rPr b="1" i="0" lang="es-CO" sz="10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AVANCE POR ABSCISA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6" name="Google Shape;4246;p48"/>
          <p:cNvSpPr txBox="1"/>
          <p:nvPr/>
        </p:nvSpPr>
        <p:spPr>
          <a:xfrm>
            <a:off x="10835640" y="2139696"/>
            <a:ext cx="54864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K33+670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7" name="Google Shape;4247;p48"/>
          <p:cNvSpPr txBox="1"/>
          <p:nvPr/>
        </p:nvSpPr>
        <p:spPr>
          <a:xfrm>
            <a:off x="457200" y="4078224"/>
            <a:ext cx="11277295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D9A6"/>
              </a:buClr>
              <a:buSzPts val="800"/>
              <a:buFont typeface="Calibri"/>
              <a:buNone/>
            </a:pPr>
            <a:r>
              <a:rPr b="0" i="0" lang="es-CO" sz="800" u="none" cap="none" strike="noStrike">
                <a:solidFill>
                  <a:srgbClr val="EBD9A6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Natural    </a:t>
            </a:r>
            <a:r>
              <a:rPr b="0" i="0" lang="es-CO" sz="800" u="none" cap="none" strike="noStrike">
                <a:solidFill>
                  <a:srgbClr val="8C6A4F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Cal    </a:t>
            </a:r>
            <a:r>
              <a:rPr b="0" i="0" lang="es-CO" sz="800" u="none" cap="none" strike="noStrike">
                <a:solidFill>
                  <a:srgbClr val="D9A441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Cemento    </a:t>
            </a:r>
            <a:r>
              <a:rPr b="0" i="0" lang="es-CO" sz="800" u="none" cap="none" strike="noStrike">
                <a:solidFill>
                  <a:srgbClr val="1F2A36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TSD    </a:t>
            </a:r>
            <a:r>
              <a:rPr b="0" i="0" lang="es-CO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MDC-19    </a:t>
            </a:r>
            <a:r>
              <a:rPr b="0" i="0" lang="es-CO" sz="8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Ejecutado    </a:t>
            </a:r>
            <a:r>
              <a:rPr b="0" i="0" lang="es-CO" sz="800" u="none" cap="none" strike="noStrike">
                <a:solidFill>
                  <a:srgbClr val="A9C7B3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Limpieza alcantarillas    </a:t>
            </a:r>
            <a:r>
              <a:rPr b="0" i="0" lang="es-CO" sz="800" u="none" cap="none" strike="noStrike">
                <a:solidFill>
                  <a:srgbClr val="2F6FB0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Alcantarilla nueva    </a:t>
            </a:r>
            <a:r>
              <a:rPr b="0" i="0" lang="es-CO" sz="800" u="none" cap="none" strike="noStrike">
                <a:solidFill>
                  <a:srgbClr val="E07B24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Reemplazada    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8" name="Google Shape;4248;p48"/>
          <p:cNvSpPr txBox="1"/>
          <p:nvPr/>
        </p:nvSpPr>
        <p:spPr>
          <a:xfrm>
            <a:off x="457200" y="4078224"/>
            <a:ext cx="5760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00"/>
              <a:buFont typeface="Calibri"/>
              <a:buNone/>
            </a:pP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Estructura aprobada K0+000 – K10+250 · tono claro = aprobada, tono fuerte = ejecutada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9" name="Google Shape;4249;p48"/>
          <p:cNvSpPr txBox="1"/>
          <p:nvPr/>
        </p:nvSpPr>
        <p:spPr>
          <a:xfrm>
            <a:off x="457200" y="4301688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1000"/>
              <a:buFont typeface="Calibri"/>
              <a:buNone/>
            </a:pPr>
            <a:r>
              <a:rPr b="1" i="0" lang="es-CO" sz="10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AVANCE POR ACTIVIDAD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0" name="Google Shape;4250;p48"/>
          <p:cNvSpPr txBox="1"/>
          <p:nvPr/>
        </p:nvSpPr>
        <p:spPr>
          <a:xfrm>
            <a:off x="457200" y="4758888"/>
            <a:ext cx="201168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Construcción alcantarilla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1" name="Google Shape;4251;p48"/>
          <p:cNvSpPr txBox="1"/>
          <p:nvPr/>
        </p:nvSpPr>
        <p:spPr>
          <a:xfrm>
            <a:off x="457200" y="4939939"/>
            <a:ext cx="201168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Construcción cuneta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2" name="Google Shape;4252;p48"/>
          <p:cNvSpPr txBox="1"/>
          <p:nvPr/>
        </p:nvSpPr>
        <p:spPr>
          <a:xfrm>
            <a:off x="457200" y="5120990"/>
            <a:ext cx="201168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Construcción filtro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3" name="Google Shape;4253;p48"/>
          <p:cNvSpPr txBox="1"/>
          <p:nvPr/>
        </p:nvSpPr>
        <p:spPr>
          <a:xfrm>
            <a:off x="457200" y="5302042"/>
            <a:ext cx="201168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Construcción bordillos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4" name="Google Shape;4254;p48"/>
          <p:cNvSpPr txBox="1"/>
          <p:nvPr/>
        </p:nvSpPr>
        <p:spPr>
          <a:xfrm>
            <a:off x="457200" y="5483093"/>
            <a:ext cx="201168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Construcción disipadores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5" name="Google Shape;4255;p48"/>
          <p:cNvSpPr txBox="1"/>
          <p:nvPr/>
        </p:nvSpPr>
        <p:spPr>
          <a:xfrm>
            <a:off x="457200" y="5664144"/>
            <a:ext cx="201168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Estabilización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6" name="Google Shape;4256;p48"/>
          <p:cNvSpPr txBox="1"/>
          <p:nvPr/>
        </p:nvSpPr>
        <p:spPr>
          <a:xfrm>
            <a:off x="457200" y="5845195"/>
            <a:ext cx="201168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Señalización vial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7" name="Google Shape;4257;p48"/>
          <p:cNvSpPr txBox="1"/>
          <p:nvPr/>
        </p:nvSpPr>
        <p:spPr>
          <a:xfrm>
            <a:off x="457200" y="6026246"/>
            <a:ext cx="201168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Obra extra (Conformación vías)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8" name="Google Shape;4258;p48"/>
          <p:cNvSpPr txBox="1"/>
          <p:nvPr/>
        </p:nvSpPr>
        <p:spPr>
          <a:xfrm>
            <a:off x="2651760" y="4539432"/>
            <a:ext cx="2926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-CO" sz="800" u="none" cap="none" strike="noStrike">
                <a:solidFill>
                  <a:srgbClr val="192D23"/>
                </a:solidFill>
                <a:latin typeface="Arial"/>
                <a:ea typeface="Arial"/>
                <a:cs typeface="Arial"/>
                <a:sym typeface="Arial"/>
              </a:rPr>
              <a:t>Presupuestada  </a:t>
            </a:r>
            <a:r>
              <a:rPr b="0" i="0" lang="es-CO" sz="800" u="none" cap="none" strike="noStrike">
                <a:solidFill>
                  <a:srgbClr val="A9C7B3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r>
              <a:rPr b="0" i="0" lang="es-CO" sz="800" u="none" cap="none" strike="noStrike">
                <a:solidFill>
                  <a:srgbClr val="192D23"/>
                </a:solidFill>
                <a:latin typeface="Arial"/>
                <a:ea typeface="Arial"/>
                <a:cs typeface="Arial"/>
                <a:sym typeface="Arial"/>
              </a:rPr>
              <a:t>    Real  </a:t>
            </a:r>
            <a:r>
              <a:rPr b="0" i="0" lang="es-CO" sz="800" u="none" cap="none" strike="noStrike">
                <a:solidFill>
                  <a:srgbClr val="2E7D4F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9" name="Google Shape;4259;p48"/>
          <p:cNvSpPr/>
          <p:nvPr/>
        </p:nvSpPr>
        <p:spPr>
          <a:xfrm>
            <a:off x="2551176" y="4777175"/>
            <a:ext cx="2012634" cy="68580"/>
          </a:xfrm>
          <a:prstGeom prst="rect">
            <a:avLst/>
          </a:prstGeom>
          <a:solidFill>
            <a:srgbClr val="A9C7B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0" name="Google Shape;4260;p48"/>
          <p:cNvSpPr/>
          <p:nvPr/>
        </p:nvSpPr>
        <p:spPr>
          <a:xfrm>
            <a:off x="2551176" y="4958227"/>
            <a:ext cx="2895663" cy="68580"/>
          </a:xfrm>
          <a:prstGeom prst="rect">
            <a:avLst/>
          </a:prstGeom>
          <a:solidFill>
            <a:srgbClr val="A9C7B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1" name="Google Shape;4261;p48"/>
          <p:cNvSpPr/>
          <p:nvPr/>
        </p:nvSpPr>
        <p:spPr>
          <a:xfrm>
            <a:off x="2551176" y="5139277"/>
            <a:ext cx="2895663" cy="68580"/>
          </a:xfrm>
          <a:prstGeom prst="rect">
            <a:avLst/>
          </a:prstGeom>
          <a:solidFill>
            <a:srgbClr val="A9C7B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2" name="Google Shape;4262;p48"/>
          <p:cNvSpPr/>
          <p:nvPr/>
        </p:nvSpPr>
        <p:spPr>
          <a:xfrm>
            <a:off x="2551176" y="5320329"/>
            <a:ext cx="819302" cy="68580"/>
          </a:xfrm>
          <a:prstGeom prst="rect">
            <a:avLst/>
          </a:prstGeom>
          <a:solidFill>
            <a:srgbClr val="A9C7B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3" name="Google Shape;4263;p48"/>
          <p:cNvSpPr/>
          <p:nvPr/>
        </p:nvSpPr>
        <p:spPr>
          <a:xfrm>
            <a:off x="2551176" y="5501381"/>
            <a:ext cx="4096512" cy="68580"/>
          </a:xfrm>
          <a:prstGeom prst="rect">
            <a:avLst/>
          </a:prstGeom>
          <a:solidFill>
            <a:srgbClr val="A9C7B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4" name="Google Shape;4264;p48"/>
          <p:cNvSpPr/>
          <p:nvPr/>
        </p:nvSpPr>
        <p:spPr>
          <a:xfrm>
            <a:off x="2551176" y="5682431"/>
            <a:ext cx="2867558" cy="68580"/>
          </a:xfrm>
          <a:prstGeom prst="rect">
            <a:avLst/>
          </a:prstGeom>
          <a:solidFill>
            <a:srgbClr val="A9C7B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5" name="Google Shape;4265;p48"/>
          <p:cNvSpPr/>
          <p:nvPr/>
        </p:nvSpPr>
        <p:spPr>
          <a:xfrm>
            <a:off x="2551176" y="5863483"/>
            <a:ext cx="2867558" cy="68580"/>
          </a:xfrm>
          <a:prstGeom prst="rect">
            <a:avLst/>
          </a:prstGeom>
          <a:solidFill>
            <a:srgbClr val="A9C7B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6" name="Google Shape;4266;p48"/>
          <p:cNvSpPr/>
          <p:nvPr/>
        </p:nvSpPr>
        <p:spPr>
          <a:xfrm>
            <a:off x="2551176" y="4854899"/>
            <a:ext cx="4096512" cy="6858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7" name="Google Shape;4267;p48"/>
          <p:cNvSpPr/>
          <p:nvPr/>
        </p:nvSpPr>
        <p:spPr>
          <a:xfrm>
            <a:off x="2551176" y="5035951"/>
            <a:ext cx="4096512" cy="6858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8" name="Google Shape;4268;p48"/>
          <p:cNvSpPr/>
          <p:nvPr/>
        </p:nvSpPr>
        <p:spPr>
          <a:xfrm>
            <a:off x="2551176" y="5217001"/>
            <a:ext cx="4096512" cy="6858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9" name="Google Shape;4269;p48"/>
          <p:cNvSpPr/>
          <p:nvPr/>
        </p:nvSpPr>
        <p:spPr>
          <a:xfrm>
            <a:off x="2551176" y="5398053"/>
            <a:ext cx="4096512" cy="6858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0" name="Google Shape;4270;p48"/>
          <p:cNvSpPr/>
          <p:nvPr/>
        </p:nvSpPr>
        <p:spPr>
          <a:xfrm>
            <a:off x="2551176" y="5579105"/>
            <a:ext cx="4096512" cy="6858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1" name="Google Shape;4271;p48"/>
          <p:cNvSpPr/>
          <p:nvPr/>
        </p:nvSpPr>
        <p:spPr>
          <a:xfrm>
            <a:off x="2551176" y="5760155"/>
            <a:ext cx="4096512" cy="6858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2" name="Google Shape;4272;p48"/>
          <p:cNvSpPr/>
          <p:nvPr/>
        </p:nvSpPr>
        <p:spPr>
          <a:xfrm>
            <a:off x="2551176" y="5941207"/>
            <a:ext cx="4096512" cy="6858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3" name="Google Shape;4273;p48"/>
          <p:cNvSpPr/>
          <p:nvPr/>
        </p:nvSpPr>
        <p:spPr>
          <a:xfrm>
            <a:off x="2551176" y="6122258"/>
            <a:ext cx="4096512" cy="6858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274" name="Google Shape;4274;p48"/>
          <p:cNvGraphicFramePr/>
          <p:nvPr/>
        </p:nvGraphicFramePr>
        <p:xfrm>
          <a:off x="6766560" y="452114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{9EE2CB2E-1363-49F8-B8BA-952F5347F8D7}</a:tableStyleId>
              </a:tblPr>
              <a:tblGrid>
                <a:gridCol w="457200"/>
                <a:gridCol w="841250"/>
                <a:gridCol w="841250"/>
                <a:gridCol w="914400"/>
                <a:gridCol w="914400"/>
                <a:gridCol w="850400"/>
              </a:tblGrid>
              <a:tr h="246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s-CO" sz="8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Unidad</a:t>
                      </a:r>
                      <a:endParaRPr sz="8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s-CO" sz="8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Presupuestada</a:t>
                      </a:r>
                      <a:endParaRPr sz="8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s-CO" sz="8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Real</a:t>
                      </a:r>
                      <a:endParaRPr sz="8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s-CO" sz="8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Ejec. anterior</a:t>
                      </a:r>
                      <a:endParaRPr sz="8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s-CO" sz="8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Ejec. actual</a:t>
                      </a:r>
                      <a:endParaRPr sz="8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s-CO" sz="8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Δ semana</a:t>
                      </a:r>
                      <a:endParaRPr sz="8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</a:tr>
              <a:tr h="187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und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113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230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5F6B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67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s.r.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8A94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87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23.800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33.670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5F6B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8A94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187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23.800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33.670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5F6B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1.073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6.660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2E7D4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+5.587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87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6.734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33.670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5F6B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s.r.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s.r.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8A94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187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und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85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85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5F6B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s.r.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s.r.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8A94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87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km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23,8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5F6B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0,2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7,42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2E7D4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+7,22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187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km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23,8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5F6B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s.r.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s.r.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8A94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87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km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5F6B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s.r.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s.r.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8A94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</a:tbl>
          </a:graphicData>
        </a:graphic>
      </p:graphicFrame>
      <p:sp>
        <p:nvSpPr>
          <p:cNvPr id="4275" name="Google Shape;4275;p48"/>
          <p:cNvSpPr txBox="1"/>
          <p:nvPr/>
        </p:nvSpPr>
        <p:spPr>
          <a:xfrm>
            <a:off x="457200" y="6400000"/>
            <a:ext cx="5000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s-CO" sz="9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TIEMPO TRANSCURRIDO DEL PLAZO CONTRACTUAL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6" name="Google Shape;4276;p48"/>
          <p:cNvSpPr txBox="1"/>
          <p:nvPr/>
        </p:nvSpPr>
        <p:spPr>
          <a:xfrm>
            <a:off x="5000000" y="6400000"/>
            <a:ext cx="6734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Inicio: </a:t>
            </a:r>
            <a:r>
              <a:rPr b="1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11/02/2026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   ·   Terminación: </a:t>
            </a:r>
            <a:r>
              <a:rPr b="1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11/08/2027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   ·   Al: </a:t>
            </a:r>
            <a:r>
              <a:rPr b="1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02/10/2026</a:t>
            </a: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   ·   233 de 546 días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7" name="Google Shape;4277;p48"/>
          <p:cNvSpPr/>
          <p:nvPr/>
        </p:nvSpPr>
        <p:spPr>
          <a:xfrm>
            <a:off x="457200" y="6598920"/>
            <a:ext cx="11277600" cy="164592"/>
          </a:xfrm>
          <a:prstGeom prst="roundRect">
            <a:avLst>
              <a:gd fmla="val 50000" name="adj"/>
            </a:avLst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8" name="Google Shape;4278;p48"/>
          <p:cNvSpPr/>
          <p:nvPr/>
        </p:nvSpPr>
        <p:spPr>
          <a:xfrm>
            <a:off x="457200" y="6598920"/>
            <a:ext cx="4812602" cy="164592"/>
          </a:xfrm>
          <a:prstGeom prst="roundRect">
            <a:avLst>
              <a:gd fmla="val 50000" name="adj"/>
            </a:avLst>
          </a:prstGeom>
          <a:solidFill>
            <a:srgbClr val="2E7D4F"/>
          </a:solidFill>
          <a:ln cap="flat" cmpd="sng" w="9525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s-CO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42,7 %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79" name="Google Shape;4279;p48"/>
          <p:cNvCxnSpPr/>
          <p:nvPr/>
        </p:nvCxnSpPr>
        <p:spPr>
          <a:xfrm>
            <a:off x="828989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80" name="Google Shape;4280;p48"/>
          <p:cNvCxnSpPr/>
          <p:nvPr/>
        </p:nvCxnSpPr>
        <p:spPr>
          <a:xfrm>
            <a:off x="1469292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81" name="Google Shape;4281;p48"/>
          <p:cNvCxnSpPr/>
          <p:nvPr/>
        </p:nvCxnSpPr>
        <p:spPr>
          <a:xfrm>
            <a:off x="2088940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82" name="Google Shape;4282;p48"/>
          <p:cNvCxnSpPr/>
          <p:nvPr/>
        </p:nvCxnSpPr>
        <p:spPr>
          <a:xfrm>
            <a:off x="2729243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83" name="Google Shape;4283;p48"/>
          <p:cNvCxnSpPr/>
          <p:nvPr/>
        </p:nvCxnSpPr>
        <p:spPr>
          <a:xfrm>
            <a:off x="3348892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84" name="Google Shape;4284;p48"/>
          <p:cNvCxnSpPr/>
          <p:nvPr/>
        </p:nvCxnSpPr>
        <p:spPr>
          <a:xfrm>
            <a:off x="3989195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85" name="Google Shape;4285;p48"/>
          <p:cNvCxnSpPr/>
          <p:nvPr/>
        </p:nvCxnSpPr>
        <p:spPr>
          <a:xfrm>
            <a:off x="4629498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86" name="Google Shape;4286;p48"/>
          <p:cNvCxnSpPr/>
          <p:nvPr/>
        </p:nvCxnSpPr>
        <p:spPr>
          <a:xfrm>
            <a:off x="5249147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87" name="Google Shape;4287;p48"/>
          <p:cNvCxnSpPr/>
          <p:nvPr/>
        </p:nvCxnSpPr>
        <p:spPr>
          <a:xfrm>
            <a:off x="5889450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88" name="Google Shape;4288;p48"/>
          <p:cNvCxnSpPr/>
          <p:nvPr/>
        </p:nvCxnSpPr>
        <p:spPr>
          <a:xfrm>
            <a:off x="6509098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89" name="Google Shape;4289;p48"/>
          <p:cNvCxnSpPr/>
          <p:nvPr/>
        </p:nvCxnSpPr>
        <p:spPr>
          <a:xfrm>
            <a:off x="7149402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90" name="Google Shape;4290;p48"/>
          <p:cNvCxnSpPr/>
          <p:nvPr/>
        </p:nvCxnSpPr>
        <p:spPr>
          <a:xfrm>
            <a:off x="7789705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91" name="Google Shape;4291;p48"/>
          <p:cNvCxnSpPr/>
          <p:nvPr/>
        </p:nvCxnSpPr>
        <p:spPr>
          <a:xfrm>
            <a:off x="8368043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92" name="Google Shape;4292;p48"/>
          <p:cNvCxnSpPr/>
          <p:nvPr/>
        </p:nvCxnSpPr>
        <p:spPr>
          <a:xfrm>
            <a:off x="9008347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93" name="Google Shape;4293;p48"/>
          <p:cNvCxnSpPr/>
          <p:nvPr/>
        </p:nvCxnSpPr>
        <p:spPr>
          <a:xfrm>
            <a:off x="9627995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94" name="Google Shape;4294;p48"/>
          <p:cNvCxnSpPr/>
          <p:nvPr/>
        </p:nvCxnSpPr>
        <p:spPr>
          <a:xfrm>
            <a:off x="10268298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95" name="Google Shape;4295;p48"/>
          <p:cNvCxnSpPr/>
          <p:nvPr/>
        </p:nvCxnSpPr>
        <p:spPr>
          <a:xfrm>
            <a:off x="10887947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96" name="Google Shape;4296;p48"/>
          <p:cNvCxnSpPr/>
          <p:nvPr/>
        </p:nvCxnSpPr>
        <p:spPr>
          <a:xfrm>
            <a:off x="11528250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97" name="Google Shape;4297;p48"/>
          <p:cNvCxnSpPr/>
          <p:nvPr/>
        </p:nvCxnSpPr>
        <p:spPr>
          <a:xfrm>
            <a:off x="5269802" y="6562344"/>
            <a:ext cx="0" cy="237744"/>
          </a:xfrm>
          <a:prstGeom prst="straightConnector1">
            <a:avLst/>
          </a:prstGeom>
          <a:noFill/>
          <a:ln cap="flat" cmpd="sng" w="19050">
            <a:solidFill>
              <a:srgbClr val="B3261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98" name="Google Shape;4298;p48"/>
          <p:cNvCxnSpPr/>
          <p:nvPr/>
        </p:nvCxnSpPr>
        <p:spPr>
          <a:xfrm>
            <a:off x="2103120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99" name="Google Shape;4299;p48"/>
          <p:cNvCxnSpPr/>
          <p:nvPr/>
        </p:nvCxnSpPr>
        <p:spPr>
          <a:xfrm>
            <a:off x="2371981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00" name="Google Shape;4300;p48"/>
          <p:cNvCxnSpPr/>
          <p:nvPr/>
        </p:nvCxnSpPr>
        <p:spPr>
          <a:xfrm>
            <a:off x="2640843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01" name="Google Shape;4301;p48"/>
          <p:cNvCxnSpPr/>
          <p:nvPr/>
        </p:nvCxnSpPr>
        <p:spPr>
          <a:xfrm>
            <a:off x="2909704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02" name="Google Shape;4302;p48"/>
          <p:cNvCxnSpPr/>
          <p:nvPr/>
        </p:nvCxnSpPr>
        <p:spPr>
          <a:xfrm>
            <a:off x="3178565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03" name="Google Shape;4303;p48"/>
          <p:cNvCxnSpPr/>
          <p:nvPr/>
        </p:nvCxnSpPr>
        <p:spPr>
          <a:xfrm>
            <a:off x="3447427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04" name="Google Shape;4304;p48"/>
          <p:cNvCxnSpPr/>
          <p:nvPr/>
        </p:nvCxnSpPr>
        <p:spPr>
          <a:xfrm>
            <a:off x="3716288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05" name="Google Shape;4305;p48"/>
          <p:cNvCxnSpPr/>
          <p:nvPr/>
        </p:nvCxnSpPr>
        <p:spPr>
          <a:xfrm>
            <a:off x="3985149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06" name="Google Shape;4306;p48"/>
          <p:cNvCxnSpPr/>
          <p:nvPr/>
        </p:nvCxnSpPr>
        <p:spPr>
          <a:xfrm>
            <a:off x="4254010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07" name="Google Shape;4307;p48"/>
          <p:cNvCxnSpPr/>
          <p:nvPr/>
        </p:nvCxnSpPr>
        <p:spPr>
          <a:xfrm>
            <a:off x="4522872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08" name="Google Shape;4308;p48"/>
          <p:cNvCxnSpPr/>
          <p:nvPr/>
        </p:nvCxnSpPr>
        <p:spPr>
          <a:xfrm>
            <a:off x="4791733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09" name="Google Shape;4309;p48"/>
          <p:cNvCxnSpPr/>
          <p:nvPr/>
        </p:nvCxnSpPr>
        <p:spPr>
          <a:xfrm>
            <a:off x="5060594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10" name="Google Shape;4310;p48"/>
          <p:cNvCxnSpPr/>
          <p:nvPr/>
        </p:nvCxnSpPr>
        <p:spPr>
          <a:xfrm>
            <a:off x="5329456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11" name="Google Shape;4311;p48"/>
          <p:cNvCxnSpPr/>
          <p:nvPr/>
        </p:nvCxnSpPr>
        <p:spPr>
          <a:xfrm>
            <a:off x="5598317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12" name="Google Shape;4312;p48"/>
          <p:cNvCxnSpPr/>
          <p:nvPr/>
        </p:nvCxnSpPr>
        <p:spPr>
          <a:xfrm>
            <a:off x="5867178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13" name="Google Shape;4313;p48"/>
          <p:cNvCxnSpPr/>
          <p:nvPr/>
        </p:nvCxnSpPr>
        <p:spPr>
          <a:xfrm>
            <a:off x="6136040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14" name="Google Shape;4314;p48"/>
          <p:cNvCxnSpPr/>
          <p:nvPr/>
        </p:nvCxnSpPr>
        <p:spPr>
          <a:xfrm>
            <a:off x="6404901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15" name="Google Shape;4315;p48"/>
          <p:cNvCxnSpPr/>
          <p:nvPr/>
        </p:nvCxnSpPr>
        <p:spPr>
          <a:xfrm>
            <a:off x="6673762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16" name="Google Shape;4316;p48"/>
          <p:cNvCxnSpPr/>
          <p:nvPr/>
        </p:nvCxnSpPr>
        <p:spPr>
          <a:xfrm>
            <a:off x="6942623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17" name="Google Shape;4317;p48"/>
          <p:cNvCxnSpPr/>
          <p:nvPr/>
        </p:nvCxnSpPr>
        <p:spPr>
          <a:xfrm>
            <a:off x="7211485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18" name="Google Shape;4318;p48"/>
          <p:cNvCxnSpPr/>
          <p:nvPr/>
        </p:nvCxnSpPr>
        <p:spPr>
          <a:xfrm>
            <a:off x="7480346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19" name="Google Shape;4319;p48"/>
          <p:cNvCxnSpPr/>
          <p:nvPr/>
        </p:nvCxnSpPr>
        <p:spPr>
          <a:xfrm>
            <a:off x="7749207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20" name="Google Shape;4320;p48"/>
          <p:cNvCxnSpPr/>
          <p:nvPr/>
        </p:nvCxnSpPr>
        <p:spPr>
          <a:xfrm>
            <a:off x="8018069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21" name="Google Shape;4321;p48"/>
          <p:cNvCxnSpPr/>
          <p:nvPr/>
        </p:nvCxnSpPr>
        <p:spPr>
          <a:xfrm>
            <a:off x="8286930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22" name="Google Shape;4322;p48"/>
          <p:cNvCxnSpPr/>
          <p:nvPr/>
        </p:nvCxnSpPr>
        <p:spPr>
          <a:xfrm>
            <a:off x="8555791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23" name="Google Shape;4323;p48"/>
          <p:cNvCxnSpPr/>
          <p:nvPr/>
        </p:nvCxnSpPr>
        <p:spPr>
          <a:xfrm>
            <a:off x="8824653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24" name="Google Shape;4324;p48"/>
          <p:cNvCxnSpPr/>
          <p:nvPr/>
        </p:nvCxnSpPr>
        <p:spPr>
          <a:xfrm>
            <a:off x="9093514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25" name="Google Shape;4325;p48"/>
          <p:cNvCxnSpPr/>
          <p:nvPr/>
        </p:nvCxnSpPr>
        <p:spPr>
          <a:xfrm>
            <a:off x="9362375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26" name="Google Shape;4326;p48"/>
          <p:cNvCxnSpPr/>
          <p:nvPr/>
        </p:nvCxnSpPr>
        <p:spPr>
          <a:xfrm>
            <a:off x="9631236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27" name="Google Shape;4327;p48"/>
          <p:cNvCxnSpPr/>
          <p:nvPr/>
        </p:nvCxnSpPr>
        <p:spPr>
          <a:xfrm>
            <a:off x="9900098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28" name="Google Shape;4328;p48"/>
          <p:cNvCxnSpPr/>
          <p:nvPr/>
        </p:nvCxnSpPr>
        <p:spPr>
          <a:xfrm>
            <a:off x="10168959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29" name="Google Shape;4329;p48"/>
          <p:cNvCxnSpPr/>
          <p:nvPr/>
        </p:nvCxnSpPr>
        <p:spPr>
          <a:xfrm>
            <a:off x="10437820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30" name="Google Shape;4330;p48"/>
          <p:cNvCxnSpPr/>
          <p:nvPr/>
        </p:nvCxnSpPr>
        <p:spPr>
          <a:xfrm>
            <a:off x="10706682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31" name="Google Shape;4331;p48"/>
          <p:cNvCxnSpPr/>
          <p:nvPr/>
        </p:nvCxnSpPr>
        <p:spPr>
          <a:xfrm>
            <a:off x="10975543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32" name="Google Shape;4332;p48"/>
          <p:cNvSpPr txBox="1"/>
          <p:nvPr/>
        </p:nvSpPr>
        <p:spPr>
          <a:xfrm>
            <a:off x="1874520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3" name="Google Shape;4333;p48"/>
          <p:cNvSpPr txBox="1"/>
          <p:nvPr/>
        </p:nvSpPr>
        <p:spPr>
          <a:xfrm>
            <a:off x="3218827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4" name="Google Shape;4334;p48"/>
          <p:cNvSpPr txBox="1"/>
          <p:nvPr/>
        </p:nvSpPr>
        <p:spPr>
          <a:xfrm>
            <a:off x="4563133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K10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5" name="Google Shape;4335;p48"/>
          <p:cNvSpPr txBox="1"/>
          <p:nvPr/>
        </p:nvSpPr>
        <p:spPr>
          <a:xfrm>
            <a:off x="5907440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K15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6" name="Google Shape;4336;p48"/>
          <p:cNvSpPr txBox="1"/>
          <p:nvPr/>
        </p:nvSpPr>
        <p:spPr>
          <a:xfrm>
            <a:off x="7251746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K20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7" name="Google Shape;4337;p48"/>
          <p:cNvSpPr txBox="1"/>
          <p:nvPr/>
        </p:nvSpPr>
        <p:spPr>
          <a:xfrm>
            <a:off x="8596053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K25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8" name="Google Shape;4338;p48"/>
          <p:cNvSpPr txBox="1"/>
          <p:nvPr/>
        </p:nvSpPr>
        <p:spPr>
          <a:xfrm>
            <a:off x="9940359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K30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9" name="Google Shape;4339;p48"/>
          <p:cNvSpPr txBox="1"/>
          <p:nvPr/>
        </p:nvSpPr>
        <p:spPr>
          <a:xfrm>
            <a:off x="10835640" y="2139696"/>
            <a:ext cx="54864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K33+670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0" name="Google Shape;4340;p48"/>
          <p:cNvSpPr/>
          <p:nvPr/>
        </p:nvSpPr>
        <p:spPr>
          <a:xfrm>
            <a:off x="2103120" y="2359152"/>
            <a:ext cx="9052560" cy="73152"/>
          </a:xfrm>
          <a:prstGeom prst="rect">
            <a:avLst/>
          </a:prstGeom>
          <a:solidFill>
            <a:srgbClr val="1F2A36"/>
          </a:solidFill>
          <a:ln cap="flat" cmpd="sng" w="12700">
            <a:solidFill>
              <a:srgbClr val="1F2A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41" name="Google Shape;4341;p48"/>
          <p:cNvCxnSpPr/>
          <p:nvPr/>
        </p:nvCxnSpPr>
        <p:spPr>
          <a:xfrm>
            <a:off x="2139696" y="2395728"/>
            <a:ext cx="8979408" cy="0"/>
          </a:xfrm>
          <a:prstGeom prst="straightConnector1">
            <a:avLst/>
          </a:prstGeom>
          <a:noFill/>
          <a:ln cap="flat" cmpd="sng" w="9525">
            <a:solidFill>
              <a:srgbClr val="F2C94C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4342" name="Google Shape;4342;p48"/>
          <p:cNvCxnSpPr/>
          <p:nvPr/>
        </p:nvCxnSpPr>
        <p:spPr>
          <a:xfrm>
            <a:off x="731520" y="2487168"/>
            <a:ext cx="0" cy="338328"/>
          </a:xfrm>
          <a:prstGeom prst="straightConnector1">
            <a:avLst/>
          </a:prstGeom>
          <a:noFill/>
          <a:ln cap="flat" cmpd="sng" w="19050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43" name="Google Shape;4343;p48"/>
          <p:cNvSpPr txBox="1"/>
          <p:nvPr/>
        </p:nvSpPr>
        <p:spPr>
          <a:xfrm rot="-5400000">
            <a:off x="260604" y="2574036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700"/>
              <a:buFont typeface="Calibri"/>
              <a:buNone/>
            </a:pPr>
            <a:r>
              <a:rPr b="1" i="0" lang="es-CO" sz="7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CAMPO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4" name="Google Shape;4344;p48"/>
          <p:cNvSpPr txBox="1"/>
          <p:nvPr/>
        </p:nvSpPr>
        <p:spPr>
          <a:xfrm>
            <a:off x="777240" y="2487168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Topografía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5" name="Google Shape;4345;p48"/>
          <p:cNvSpPr/>
          <p:nvPr/>
        </p:nvSpPr>
        <p:spPr>
          <a:xfrm>
            <a:off x="2103120" y="2487168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6" name="Google Shape;4346;p48"/>
          <p:cNvSpPr/>
          <p:nvPr/>
        </p:nvSpPr>
        <p:spPr>
          <a:xfrm>
            <a:off x="2103120" y="2487168"/>
            <a:ext cx="9052560" cy="155448"/>
          </a:xfrm>
          <a:prstGeom prst="rect">
            <a:avLst/>
          </a:prstGeom>
          <a:solidFill>
            <a:srgbClr val="2E7D4F"/>
          </a:solidFill>
          <a:ln cap="flat" cmpd="sng" w="9525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7" name="Google Shape;4347;p48"/>
          <p:cNvSpPr txBox="1"/>
          <p:nvPr/>
        </p:nvSpPr>
        <p:spPr>
          <a:xfrm>
            <a:off x="11201400" y="2487168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100 %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8" name="Google Shape;4348;p48"/>
          <p:cNvSpPr txBox="1"/>
          <p:nvPr/>
        </p:nvSpPr>
        <p:spPr>
          <a:xfrm>
            <a:off x="777240" y="2670048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Apiques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9" name="Google Shape;4349;p48"/>
          <p:cNvSpPr/>
          <p:nvPr/>
        </p:nvSpPr>
        <p:spPr>
          <a:xfrm>
            <a:off x="2103120" y="2670048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0" name="Google Shape;4350;p48"/>
          <p:cNvSpPr/>
          <p:nvPr/>
        </p:nvSpPr>
        <p:spPr>
          <a:xfrm>
            <a:off x="2103120" y="2670048"/>
            <a:ext cx="9052560" cy="155448"/>
          </a:xfrm>
          <a:prstGeom prst="rect">
            <a:avLst/>
          </a:prstGeom>
          <a:solidFill>
            <a:srgbClr val="2E7D4F"/>
          </a:solidFill>
          <a:ln cap="flat" cmpd="sng" w="9525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1" name="Google Shape;4351;p48"/>
          <p:cNvSpPr txBox="1"/>
          <p:nvPr/>
        </p:nvSpPr>
        <p:spPr>
          <a:xfrm>
            <a:off x="11201400" y="2670048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100 %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52" name="Google Shape;4352;p48"/>
          <p:cNvCxnSpPr/>
          <p:nvPr/>
        </p:nvCxnSpPr>
        <p:spPr>
          <a:xfrm>
            <a:off x="731520" y="2953512"/>
            <a:ext cx="0" cy="466344"/>
          </a:xfrm>
          <a:prstGeom prst="straightConnector1">
            <a:avLst/>
          </a:prstGeom>
          <a:noFill/>
          <a:ln cap="flat" cmpd="sng" w="19050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53" name="Google Shape;4353;p48"/>
          <p:cNvSpPr txBox="1"/>
          <p:nvPr/>
        </p:nvSpPr>
        <p:spPr>
          <a:xfrm rot="-5400000">
            <a:off x="260604" y="3104388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700"/>
              <a:buFont typeface="Calibri"/>
              <a:buNone/>
            </a:pPr>
            <a:r>
              <a:rPr b="1" i="0" lang="es-CO" sz="7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ESTRUCTURA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4" name="Google Shape;4354;p48"/>
          <p:cNvSpPr txBox="1"/>
          <p:nvPr/>
        </p:nvSpPr>
        <p:spPr>
          <a:xfrm>
            <a:off x="777240" y="2953512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Rodadura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5" name="Google Shape;4355;p48"/>
          <p:cNvSpPr/>
          <p:nvPr/>
        </p:nvSpPr>
        <p:spPr>
          <a:xfrm>
            <a:off x="2103120" y="2953512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6" name="Google Shape;4356;p48"/>
          <p:cNvSpPr txBox="1"/>
          <p:nvPr/>
        </p:nvSpPr>
        <p:spPr>
          <a:xfrm>
            <a:off x="11201400" y="2953512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7" name="Google Shape;4357;p48"/>
          <p:cNvSpPr txBox="1"/>
          <p:nvPr/>
        </p:nvSpPr>
        <p:spPr>
          <a:xfrm>
            <a:off x="777240" y="3108960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Capa granular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8" name="Google Shape;4358;p48"/>
          <p:cNvSpPr/>
          <p:nvPr/>
        </p:nvSpPr>
        <p:spPr>
          <a:xfrm>
            <a:off x="2103120" y="3108960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9" name="Google Shape;4359;p48"/>
          <p:cNvSpPr/>
          <p:nvPr/>
        </p:nvSpPr>
        <p:spPr>
          <a:xfrm>
            <a:off x="2103120" y="3108960"/>
            <a:ext cx="2755828" cy="155448"/>
          </a:xfrm>
          <a:prstGeom prst="rect">
            <a:avLst/>
          </a:prstGeom>
          <a:solidFill>
            <a:srgbClr val="F6EDD5"/>
          </a:solidFill>
          <a:ln cap="flat" cmpd="sng" w="9525">
            <a:solidFill>
              <a:srgbClr val="F6ED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0" name="Google Shape;4360;p48"/>
          <p:cNvSpPr txBox="1"/>
          <p:nvPr/>
        </p:nvSpPr>
        <p:spPr>
          <a:xfrm>
            <a:off x="11201400" y="3108960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1" name="Google Shape;4361;p48"/>
          <p:cNvSpPr txBox="1"/>
          <p:nvPr/>
        </p:nvSpPr>
        <p:spPr>
          <a:xfrm>
            <a:off x="777240" y="3264408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Subrasante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2" name="Google Shape;4362;p48"/>
          <p:cNvSpPr/>
          <p:nvPr/>
        </p:nvSpPr>
        <p:spPr>
          <a:xfrm>
            <a:off x="2103120" y="3264408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3" name="Google Shape;4363;p48"/>
          <p:cNvSpPr/>
          <p:nvPr/>
        </p:nvSpPr>
        <p:spPr>
          <a:xfrm>
            <a:off x="2103120" y="3264408"/>
            <a:ext cx="2755828" cy="155448"/>
          </a:xfrm>
          <a:prstGeom prst="rect">
            <a:avLst/>
          </a:prstGeom>
          <a:solidFill>
            <a:srgbClr val="DCCFC3"/>
          </a:solidFill>
          <a:ln cap="flat" cmpd="sng" w="9525">
            <a:solidFill>
              <a:srgbClr val="DCCF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4" name="Google Shape;4364;p48"/>
          <p:cNvSpPr/>
          <p:nvPr/>
        </p:nvSpPr>
        <p:spPr>
          <a:xfrm>
            <a:off x="3312996" y="3264408"/>
            <a:ext cx="1545952" cy="155448"/>
          </a:xfrm>
          <a:prstGeom prst="rect">
            <a:avLst/>
          </a:prstGeom>
          <a:solidFill>
            <a:srgbClr val="8C6A4F"/>
          </a:solidFill>
          <a:ln cap="flat" cmpd="sng" w="9525">
            <a:solidFill>
              <a:srgbClr val="8C6A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5" name="Google Shape;4365;p48"/>
          <p:cNvSpPr txBox="1"/>
          <p:nvPr/>
        </p:nvSpPr>
        <p:spPr>
          <a:xfrm>
            <a:off x="11201400" y="3264408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22 %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66" name="Google Shape;4366;p48"/>
          <p:cNvCxnSpPr/>
          <p:nvPr/>
        </p:nvCxnSpPr>
        <p:spPr>
          <a:xfrm>
            <a:off x="731520" y="3511296"/>
            <a:ext cx="0" cy="521208"/>
          </a:xfrm>
          <a:prstGeom prst="straightConnector1">
            <a:avLst/>
          </a:prstGeom>
          <a:noFill/>
          <a:ln cap="flat" cmpd="sng" w="19050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67" name="Google Shape;4367;p48"/>
          <p:cNvSpPr txBox="1"/>
          <p:nvPr/>
        </p:nvSpPr>
        <p:spPr>
          <a:xfrm rot="-5400000">
            <a:off x="260604" y="3689604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700"/>
              <a:buFont typeface="Calibri"/>
              <a:buNone/>
            </a:pPr>
            <a:r>
              <a:rPr b="1" i="0" lang="es-CO" sz="7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DRENAJE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8" name="Google Shape;4368;p48"/>
          <p:cNvSpPr txBox="1"/>
          <p:nvPr/>
        </p:nvSpPr>
        <p:spPr>
          <a:xfrm>
            <a:off x="777240" y="3511296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Cunetas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9" name="Google Shape;4369;p48"/>
          <p:cNvSpPr/>
          <p:nvPr/>
        </p:nvSpPr>
        <p:spPr>
          <a:xfrm>
            <a:off x="2103120" y="3511296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0" name="Google Shape;4370;p48"/>
          <p:cNvSpPr txBox="1"/>
          <p:nvPr/>
        </p:nvSpPr>
        <p:spPr>
          <a:xfrm>
            <a:off x="11201400" y="3511296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1" name="Google Shape;4371;p48"/>
          <p:cNvSpPr txBox="1"/>
          <p:nvPr/>
        </p:nvSpPr>
        <p:spPr>
          <a:xfrm>
            <a:off x="777240" y="3694176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Filtros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2" name="Google Shape;4372;p48"/>
          <p:cNvSpPr txBox="1"/>
          <p:nvPr/>
        </p:nvSpPr>
        <p:spPr>
          <a:xfrm>
            <a:off x="1920240" y="3694176"/>
            <a:ext cx="137160" cy="777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700"/>
              <a:buFont typeface="Calibri"/>
              <a:buNone/>
            </a:pPr>
            <a:r>
              <a:rPr b="0" i="0" lang="es-CO" sz="7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3" name="Google Shape;4373;p48"/>
          <p:cNvSpPr txBox="1"/>
          <p:nvPr/>
        </p:nvSpPr>
        <p:spPr>
          <a:xfrm>
            <a:off x="1920240" y="3771900"/>
            <a:ext cx="137160" cy="777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700"/>
              <a:buFont typeface="Calibri"/>
              <a:buNone/>
            </a:pPr>
            <a:r>
              <a:rPr b="0" i="0" lang="es-CO" sz="7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4" name="Google Shape;4374;p48"/>
          <p:cNvSpPr/>
          <p:nvPr/>
        </p:nvSpPr>
        <p:spPr>
          <a:xfrm>
            <a:off x="2103120" y="3694176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75" name="Google Shape;4375;p48"/>
          <p:cNvCxnSpPr/>
          <p:nvPr/>
        </p:nvCxnSpPr>
        <p:spPr>
          <a:xfrm>
            <a:off x="2103120" y="3771900"/>
            <a:ext cx="9052560" cy="0"/>
          </a:xfrm>
          <a:prstGeom prst="straightConnector1">
            <a:avLst/>
          </a:prstGeom>
          <a:noFill/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76" name="Google Shape;4376;p48"/>
          <p:cNvSpPr/>
          <p:nvPr/>
        </p:nvSpPr>
        <p:spPr>
          <a:xfrm>
            <a:off x="2304766" y="3694176"/>
            <a:ext cx="201646" cy="73152"/>
          </a:xfrm>
          <a:prstGeom prst="rect">
            <a:avLst/>
          </a:prstGeom>
          <a:solidFill>
            <a:srgbClr val="2E7D4F"/>
          </a:solidFill>
          <a:ln cap="flat" cmpd="sng" w="9525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7" name="Google Shape;4377;p48"/>
          <p:cNvSpPr/>
          <p:nvPr/>
        </p:nvSpPr>
        <p:spPr>
          <a:xfrm>
            <a:off x="3850625" y="3694175"/>
            <a:ext cx="435600" cy="73200"/>
          </a:xfrm>
          <a:prstGeom prst="rect">
            <a:avLst/>
          </a:prstGeom>
          <a:solidFill>
            <a:srgbClr val="2E7D4F"/>
          </a:solidFill>
          <a:ln cap="flat" cmpd="sng" w="9525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8" name="Google Shape;4378;p48"/>
          <p:cNvSpPr/>
          <p:nvPr/>
        </p:nvSpPr>
        <p:spPr>
          <a:xfrm>
            <a:off x="4388441" y="3694176"/>
            <a:ext cx="134431" cy="73152"/>
          </a:xfrm>
          <a:prstGeom prst="rect">
            <a:avLst/>
          </a:prstGeom>
          <a:solidFill>
            <a:srgbClr val="2E7D4F"/>
          </a:solidFill>
          <a:ln cap="flat" cmpd="sng" w="9525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9" name="Google Shape;4379;p48"/>
          <p:cNvSpPr/>
          <p:nvPr/>
        </p:nvSpPr>
        <p:spPr>
          <a:xfrm>
            <a:off x="4657299" y="3694175"/>
            <a:ext cx="457200" cy="73200"/>
          </a:xfrm>
          <a:prstGeom prst="rect">
            <a:avLst/>
          </a:prstGeom>
          <a:solidFill>
            <a:srgbClr val="2E7D4F"/>
          </a:solidFill>
          <a:ln cap="flat" cmpd="sng" w="9525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0" name="Google Shape;4380;p48"/>
          <p:cNvSpPr/>
          <p:nvPr/>
        </p:nvSpPr>
        <p:spPr>
          <a:xfrm>
            <a:off x="4052364" y="3776472"/>
            <a:ext cx="604938" cy="73152"/>
          </a:xfrm>
          <a:prstGeom prst="rect">
            <a:avLst/>
          </a:prstGeom>
          <a:solidFill>
            <a:srgbClr val="2E7D4F"/>
          </a:solidFill>
          <a:ln cap="flat" cmpd="sng" w="9525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1" name="Google Shape;4381;p48"/>
          <p:cNvSpPr txBox="1"/>
          <p:nvPr/>
        </p:nvSpPr>
        <p:spPr>
          <a:xfrm>
            <a:off x="11201400" y="3694176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19,78 %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2" name="Google Shape;4382;p48"/>
          <p:cNvSpPr txBox="1"/>
          <p:nvPr/>
        </p:nvSpPr>
        <p:spPr>
          <a:xfrm>
            <a:off x="777240" y="3877056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Alcantarillas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3" name="Google Shape;4383;p48"/>
          <p:cNvSpPr/>
          <p:nvPr/>
        </p:nvSpPr>
        <p:spPr>
          <a:xfrm>
            <a:off x="2103120" y="3877056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4" name="Google Shape;4384;p48"/>
          <p:cNvSpPr/>
          <p:nvPr/>
        </p:nvSpPr>
        <p:spPr>
          <a:xfrm>
            <a:off x="2103120" y="3877056"/>
            <a:ext cx="9052560" cy="155448"/>
          </a:xfrm>
          <a:prstGeom prst="rect">
            <a:avLst/>
          </a:prstGeom>
          <a:solidFill>
            <a:srgbClr val="A9C7B3"/>
          </a:solidFill>
          <a:ln cap="flat" cmpd="sng" w="9525">
            <a:solidFill>
              <a:srgbClr val="A9C7B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5" name="Google Shape;4385;p48"/>
          <p:cNvSpPr txBox="1"/>
          <p:nvPr/>
        </p:nvSpPr>
        <p:spPr>
          <a:xfrm>
            <a:off x="11201400" y="3877056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85 %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6" name="Google Shape;4386;p48"/>
          <p:cNvSpPr txBox="1"/>
          <p:nvPr/>
        </p:nvSpPr>
        <p:spPr>
          <a:xfrm>
            <a:off x="457200" y="4078224"/>
            <a:ext cx="5760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00"/>
              <a:buFont typeface="Calibri"/>
              <a:buNone/>
            </a:pP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Estructura aprobada K0+000 – K10+250 · tono claro = aprobada, tono fuerte = ejecutada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7" name="Google Shape;4387;p48"/>
          <p:cNvSpPr/>
          <p:nvPr/>
        </p:nvSpPr>
        <p:spPr>
          <a:xfrm>
            <a:off x="3938595" y="3776450"/>
            <a:ext cx="46500" cy="73200"/>
          </a:xfrm>
          <a:prstGeom prst="rect">
            <a:avLst/>
          </a:prstGeom>
          <a:solidFill>
            <a:srgbClr val="2E7D4F"/>
          </a:solidFill>
          <a:ln cap="flat" cmpd="sng" w="9525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92" name="Shape 4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3" name="Google Shape;4393;p49"/>
          <p:cNvSpPr txBox="1"/>
          <p:nvPr/>
        </p:nvSpPr>
        <p:spPr>
          <a:xfrm>
            <a:off x="457200" y="320040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1200"/>
              <a:buFont typeface="Calibri"/>
              <a:buNone/>
            </a:pPr>
            <a:r>
              <a:rPr b="1" i="0" lang="es-CO" sz="1200" u="none" cap="none" strike="noStrike">
                <a:solidFill>
                  <a:srgbClr val="2E7D4F"/>
                </a:solidFill>
                <a:latin typeface="Poppins"/>
                <a:ea typeface="Poppins"/>
                <a:cs typeface="Poppins"/>
                <a:sym typeface="Poppins"/>
              </a:rPr>
              <a:t>INFORME DE VARIACIÓN DE ALCANCES  ·  LOTE 8 – SUBREGIÓN NORTE</a:t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94" name="Google Shape;4394;p49"/>
          <p:cNvSpPr txBox="1"/>
          <p:nvPr/>
        </p:nvSpPr>
        <p:spPr>
          <a:xfrm>
            <a:off x="457200" y="594360"/>
            <a:ext cx="9692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2800"/>
              <a:buFont typeface="Calibri"/>
              <a:buNone/>
            </a:pPr>
            <a:r>
              <a:rPr b="1" i="0" lang="es-CO" sz="28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Entrerríos – San José de la Montaña</a:t>
            </a:r>
            <a:endParaRPr b="0" i="0" sz="2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descr="logo.png" id="4395" name="Google Shape;4395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78440" y="320040"/>
            <a:ext cx="1371600" cy="676656"/>
          </a:xfrm>
          <a:prstGeom prst="rect">
            <a:avLst/>
          </a:prstGeom>
          <a:noFill/>
          <a:ln>
            <a:noFill/>
          </a:ln>
        </p:spPr>
      </p:pic>
      <p:sp>
        <p:nvSpPr>
          <p:cNvPr id="4396" name="Google Shape;4396;p49"/>
          <p:cNvSpPr/>
          <p:nvPr/>
        </p:nvSpPr>
        <p:spPr>
          <a:xfrm>
            <a:off x="457200" y="132588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7" name="Google Shape;4397;p49"/>
          <p:cNvSpPr txBox="1"/>
          <p:nvPr/>
        </p:nvSpPr>
        <p:spPr>
          <a:xfrm>
            <a:off x="594360" y="1417320"/>
            <a:ext cx="183483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100"/>
              <a:buFont typeface="Calibri"/>
              <a:buNone/>
            </a:pPr>
            <a:r>
              <a:rPr b="0" i="0" lang="es-CO" sz="11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Longitud contractual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8" name="Google Shape;4398;p49"/>
          <p:cNvSpPr txBox="1"/>
          <p:nvPr/>
        </p:nvSpPr>
        <p:spPr>
          <a:xfrm>
            <a:off x="594360" y="1691640"/>
            <a:ext cx="183483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700"/>
              <a:buFont typeface="Calibri"/>
              <a:buNone/>
            </a:pPr>
            <a:r>
              <a:rPr b="1" i="0" lang="es-CO" sz="17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39,95 km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9" name="Google Shape;4399;p49"/>
          <p:cNvSpPr/>
          <p:nvPr/>
        </p:nvSpPr>
        <p:spPr>
          <a:xfrm>
            <a:off x="2749235" y="132588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0" name="Google Shape;4400;p49"/>
          <p:cNvSpPr txBox="1"/>
          <p:nvPr/>
        </p:nvSpPr>
        <p:spPr>
          <a:xfrm>
            <a:off x="2886395" y="1417320"/>
            <a:ext cx="183483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100"/>
              <a:buFont typeface="Calibri"/>
              <a:buNone/>
            </a:pPr>
            <a:r>
              <a:rPr b="0" i="0" lang="es-CO" sz="11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Longitud probable a cubrir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1" name="Google Shape;4401;p49"/>
          <p:cNvSpPr txBox="1"/>
          <p:nvPr/>
        </p:nvSpPr>
        <p:spPr>
          <a:xfrm>
            <a:off x="2886395" y="1691640"/>
            <a:ext cx="183483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700"/>
              <a:buFont typeface="Calibri"/>
              <a:buNone/>
            </a:pPr>
            <a:r>
              <a:rPr b="1" i="0" lang="es-CO" sz="17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25,76 km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2" name="Google Shape;4402;p49"/>
          <p:cNvSpPr/>
          <p:nvPr/>
        </p:nvSpPr>
        <p:spPr>
          <a:xfrm>
            <a:off x="5041270" y="132588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3" name="Google Shape;4403;p49"/>
          <p:cNvSpPr txBox="1"/>
          <p:nvPr/>
        </p:nvSpPr>
        <p:spPr>
          <a:xfrm>
            <a:off x="5178430" y="1417320"/>
            <a:ext cx="183483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100"/>
              <a:buFont typeface="Calibri"/>
              <a:buNone/>
            </a:pPr>
            <a:r>
              <a:rPr b="0" i="0" lang="es-CO" sz="11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Valor por km contractual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4" name="Google Shape;4404;p49"/>
          <p:cNvSpPr txBox="1"/>
          <p:nvPr/>
        </p:nvSpPr>
        <p:spPr>
          <a:xfrm>
            <a:off x="5178430" y="1691640"/>
            <a:ext cx="183483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700"/>
              <a:buFont typeface="Calibri"/>
              <a:buNone/>
            </a:pPr>
            <a:r>
              <a:rPr b="1" i="0" lang="es-CO" sz="17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$ 908.173.208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5" name="Google Shape;4405;p49"/>
          <p:cNvSpPr/>
          <p:nvPr/>
        </p:nvSpPr>
        <p:spPr>
          <a:xfrm>
            <a:off x="7333305" y="132588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6" name="Google Shape;4406;p49"/>
          <p:cNvSpPr txBox="1"/>
          <p:nvPr/>
        </p:nvSpPr>
        <p:spPr>
          <a:xfrm>
            <a:off x="7470465" y="1417320"/>
            <a:ext cx="183483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100"/>
              <a:buFont typeface="Calibri"/>
              <a:buNone/>
            </a:pPr>
            <a:r>
              <a:rPr b="0" i="0" lang="es-CO" sz="11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Valor por km proyectado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7" name="Google Shape;4407;p49"/>
          <p:cNvSpPr txBox="1"/>
          <p:nvPr/>
        </p:nvSpPr>
        <p:spPr>
          <a:xfrm>
            <a:off x="7470465" y="1691640"/>
            <a:ext cx="183483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700"/>
              <a:buFont typeface="Calibri"/>
              <a:buNone/>
            </a:pPr>
            <a:r>
              <a:rPr b="1" i="0" lang="es-CO" sz="17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$ 1.408.526.148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8" name="Google Shape;4408;p49"/>
          <p:cNvSpPr/>
          <p:nvPr/>
        </p:nvSpPr>
        <p:spPr>
          <a:xfrm>
            <a:off x="9625340" y="132588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FBEAEA"/>
          </a:solidFill>
          <a:ln cap="flat" cmpd="sng" w="12700">
            <a:solidFill>
              <a:srgbClr val="FBEA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9" name="Google Shape;4409;p49"/>
          <p:cNvSpPr txBox="1"/>
          <p:nvPr/>
        </p:nvSpPr>
        <p:spPr>
          <a:xfrm>
            <a:off x="9762500" y="1417320"/>
            <a:ext cx="183483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100"/>
              <a:buFont typeface="Calibri"/>
              <a:buNone/>
            </a:pPr>
            <a:r>
              <a:rPr b="0" i="0" lang="es-CO" sz="11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Variación total (valor adicional)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0" name="Google Shape;4410;p49"/>
          <p:cNvSpPr txBox="1"/>
          <p:nvPr/>
        </p:nvSpPr>
        <p:spPr>
          <a:xfrm>
            <a:off x="9762500" y="1691640"/>
            <a:ext cx="183483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261E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rgbClr val="B3261E"/>
                </a:solidFill>
                <a:latin typeface="Arial"/>
                <a:ea typeface="Arial"/>
                <a:cs typeface="Arial"/>
                <a:sym typeface="Arial"/>
              </a:rPr>
              <a:t>▲ </a:t>
            </a:r>
            <a:r>
              <a:rPr b="1" i="0" lang="es-CO" sz="1500" u="none" cap="none" strike="noStrike">
                <a:solidFill>
                  <a:srgbClr val="B3261E"/>
                </a:solidFill>
                <a:latin typeface="Calibri"/>
                <a:ea typeface="Calibri"/>
                <a:cs typeface="Calibri"/>
                <a:sym typeface="Calibri"/>
              </a:rPr>
              <a:t>$ 19.989.099.933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1" name="Google Shape;4411;p49"/>
          <p:cNvSpPr/>
          <p:nvPr/>
        </p:nvSpPr>
        <p:spPr>
          <a:xfrm>
            <a:off x="457200" y="2423160"/>
            <a:ext cx="3154680" cy="4114800"/>
          </a:xfrm>
          <a:prstGeom prst="roundRect">
            <a:avLst>
              <a:gd fmla="val 1739" name="adj"/>
            </a:avLst>
          </a:prstGeom>
          <a:solidFill>
            <a:srgbClr val="FFFFFF"/>
          </a:solidFill>
          <a:ln cap="flat" cmpd="sng" w="12700">
            <a:solidFill>
              <a:srgbClr val="D5DD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2" name="Google Shape;4412;p49"/>
          <p:cNvSpPr txBox="1"/>
          <p:nvPr/>
        </p:nvSpPr>
        <p:spPr>
          <a:xfrm>
            <a:off x="640080" y="2560320"/>
            <a:ext cx="2788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1100"/>
              <a:buFont typeface="Calibri"/>
              <a:buNone/>
            </a:pPr>
            <a:r>
              <a:rPr b="1" i="0" lang="es-CO" sz="11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ESTRUCTURA DE PAVIMENTO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3" name="Google Shape;4413;p49"/>
          <p:cNvSpPr txBox="1"/>
          <p:nvPr/>
        </p:nvSpPr>
        <p:spPr>
          <a:xfrm>
            <a:off x="640080" y="2816352"/>
            <a:ext cx="2788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1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Entrerríos – Labores – San José de la Montaña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4" name="Google Shape;4414;p49"/>
          <p:cNvSpPr txBox="1"/>
          <p:nvPr/>
        </p:nvSpPr>
        <p:spPr>
          <a:xfrm>
            <a:off x="640080" y="3172968"/>
            <a:ext cx="2788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LOTE 8 · Longitud: 39.950 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Tránsito – Estructuración: </a:t>
            </a: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307.000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Tránsito – Diseño: </a:t>
            </a: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1.610.092 / 354.178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5" name="Google Shape;4415;p49"/>
          <p:cNvSpPr txBox="1"/>
          <p:nvPr/>
        </p:nvSpPr>
        <p:spPr>
          <a:xfrm>
            <a:off x="457200" y="3794760"/>
            <a:ext cx="15773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1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Teórica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6" name="Google Shape;4416;p49"/>
          <p:cNvSpPr/>
          <p:nvPr/>
        </p:nvSpPr>
        <p:spPr>
          <a:xfrm>
            <a:off x="560070" y="4087368"/>
            <a:ext cx="960120" cy="182880"/>
          </a:xfrm>
          <a:prstGeom prst="rect">
            <a:avLst/>
          </a:prstGeom>
          <a:solidFill>
            <a:srgbClr val="1F2A36"/>
          </a:solidFill>
          <a:ln cap="flat" cmpd="sng" w="12700">
            <a:solidFill>
              <a:srgbClr val="1F2A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7" name="Google Shape;4417;p49"/>
          <p:cNvSpPr txBox="1"/>
          <p:nvPr/>
        </p:nvSpPr>
        <p:spPr>
          <a:xfrm>
            <a:off x="560070" y="4087368"/>
            <a:ext cx="9601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s-CO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TSD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8" name="Google Shape;4418;p49"/>
          <p:cNvSpPr/>
          <p:nvPr/>
        </p:nvSpPr>
        <p:spPr>
          <a:xfrm>
            <a:off x="560070" y="4270248"/>
            <a:ext cx="960120" cy="1056132"/>
          </a:xfrm>
          <a:prstGeom prst="rect">
            <a:avLst/>
          </a:prstGeom>
          <a:solidFill>
            <a:srgbClr val="D9A44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9" name="Google Shape;4419;p49"/>
          <p:cNvSpPr txBox="1"/>
          <p:nvPr/>
        </p:nvSpPr>
        <p:spPr>
          <a:xfrm>
            <a:off x="560070" y="4270248"/>
            <a:ext cx="960120" cy="30289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800"/>
              <a:buFont typeface="Calibri"/>
              <a:buNone/>
            </a:pPr>
            <a:r>
              <a:rPr b="1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Estabilización con cemento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0" name="Google Shape;4420;p49"/>
          <p:cNvSpPr/>
          <p:nvPr/>
        </p:nvSpPr>
        <p:spPr>
          <a:xfrm>
            <a:off x="624078" y="4573143"/>
            <a:ext cx="832104" cy="716661"/>
          </a:xfrm>
          <a:prstGeom prst="rect">
            <a:avLst/>
          </a:prstGeom>
          <a:solidFill>
            <a:srgbClr val="F2D58E"/>
          </a:solidFill>
          <a:ln cap="flat" cmpd="sng" w="9525">
            <a:solidFill>
              <a:srgbClr val="A87B1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1" name="Google Shape;4421;p49"/>
          <p:cNvSpPr txBox="1"/>
          <p:nvPr/>
        </p:nvSpPr>
        <p:spPr>
          <a:xfrm>
            <a:off x="624078" y="4573143"/>
            <a:ext cx="832104" cy="716661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800"/>
              <a:buFont typeface="Calibri"/>
              <a:buNone/>
            </a:pPr>
            <a:r>
              <a:rPr b="0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Subbase 19 cm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2" name="Google Shape;4422;p49"/>
          <p:cNvSpPr txBox="1"/>
          <p:nvPr/>
        </p:nvSpPr>
        <p:spPr>
          <a:xfrm>
            <a:off x="1575054" y="4270248"/>
            <a:ext cx="457200" cy="10561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28 cm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3" name="Google Shape;4423;p49"/>
          <p:cNvSpPr/>
          <p:nvPr/>
        </p:nvSpPr>
        <p:spPr>
          <a:xfrm>
            <a:off x="560070" y="5326380"/>
            <a:ext cx="960120" cy="754380"/>
          </a:xfrm>
          <a:prstGeom prst="rect">
            <a:avLst/>
          </a:prstGeom>
          <a:solidFill>
            <a:srgbClr val="8C6A4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4" name="Google Shape;4424;p49"/>
          <p:cNvSpPr txBox="1"/>
          <p:nvPr/>
        </p:nvSpPr>
        <p:spPr>
          <a:xfrm>
            <a:off x="560070" y="5326380"/>
            <a:ext cx="960120" cy="754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s-CO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Subrasante estabilizada con cal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5" name="Google Shape;4425;p49"/>
          <p:cNvSpPr txBox="1"/>
          <p:nvPr/>
        </p:nvSpPr>
        <p:spPr>
          <a:xfrm>
            <a:off x="1575054" y="5326380"/>
            <a:ext cx="457200" cy="754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20 cm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26" name="Google Shape;4426;p49"/>
          <p:cNvCxnSpPr/>
          <p:nvPr/>
        </p:nvCxnSpPr>
        <p:spPr>
          <a:xfrm>
            <a:off x="468630" y="6080760"/>
            <a:ext cx="1143000" cy="0"/>
          </a:xfrm>
          <a:prstGeom prst="straightConnector1">
            <a:avLst/>
          </a:prstGeom>
          <a:noFill/>
          <a:ln cap="flat" cmpd="sng" w="12700">
            <a:solidFill>
              <a:srgbClr val="1D2B2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27" name="Google Shape;4427;p49"/>
          <p:cNvSpPr txBox="1"/>
          <p:nvPr/>
        </p:nvSpPr>
        <p:spPr>
          <a:xfrm>
            <a:off x="457200" y="6153912"/>
            <a:ext cx="15773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Espesor total: </a:t>
            </a:r>
            <a:r>
              <a:rPr b="1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48 cm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8" name="Google Shape;4428;p49"/>
          <p:cNvSpPr txBox="1"/>
          <p:nvPr/>
        </p:nvSpPr>
        <p:spPr>
          <a:xfrm>
            <a:off x="2034540" y="3794760"/>
            <a:ext cx="15773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1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Aprobada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9" name="Google Shape;4429;p49"/>
          <p:cNvSpPr/>
          <p:nvPr/>
        </p:nvSpPr>
        <p:spPr>
          <a:xfrm>
            <a:off x="2137410" y="4087368"/>
            <a:ext cx="960120" cy="182880"/>
          </a:xfrm>
          <a:prstGeom prst="rect">
            <a:avLst/>
          </a:prstGeom>
          <a:solidFill>
            <a:srgbClr val="1F2A36"/>
          </a:solidFill>
          <a:ln cap="flat" cmpd="sng" w="12700">
            <a:solidFill>
              <a:srgbClr val="1F2A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0" name="Google Shape;4430;p49"/>
          <p:cNvSpPr txBox="1"/>
          <p:nvPr/>
        </p:nvSpPr>
        <p:spPr>
          <a:xfrm>
            <a:off x="2137410" y="4087368"/>
            <a:ext cx="9601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s-CO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TSD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1" name="Google Shape;4431;p49"/>
          <p:cNvSpPr/>
          <p:nvPr/>
        </p:nvSpPr>
        <p:spPr>
          <a:xfrm>
            <a:off x="2137410" y="4270248"/>
            <a:ext cx="960120" cy="867537"/>
          </a:xfrm>
          <a:prstGeom prst="rect">
            <a:avLst/>
          </a:prstGeom>
          <a:solidFill>
            <a:srgbClr val="D9A44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2" name="Google Shape;4432;p49"/>
          <p:cNvSpPr txBox="1"/>
          <p:nvPr/>
        </p:nvSpPr>
        <p:spPr>
          <a:xfrm>
            <a:off x="2137410" y="4270248"/>
            <a:ext cx="960120" cy="867537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800"/>
              <a:buFont typeface="Calibri"/>
              <a:buNone/>
            </a:pPr>
            <a:r>
              <a:rPr b="1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Estabilización con cemento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3" name="Google Shape;4433;p49"/>
          <p:cNvSpPr txBox="1"/>
          <p:nvPr/>
        </p:nvSpPr>
        <p:spPr>
          <a:xfrm>
            <a:off x="3152394" y="4270248"/>
            <a:ext cx="457200" cy="8675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23 cm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4" name="Google Shape;4434;p49"/>
          <p:cNvSpPr/>
          <p:nvPr/>
        </p:nvSpPr>
        <p:spPr>
          <a:xfrm>
            <a:off x="2137410" y="5137785"/>
            <a:ext cx="960120" cy="754380"/>
          </a:xfrm>
          <a:prstGeom prst="rect">
            <a:avLst/>
          </a:prstGeom>
          <a:solidFill>
            <a:srgbClr val="8C6A4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5" name="Google Shape;4435;p49"/>
          <p:cNvSpPr txBox="1"/>
          <p:nvPr/>
        </p:nvSpPr>
        <p:spPr>
          <a:xfrm>
            <a:off x="2137410" y="5137785"/>
            <a:ext cx="960120" cy="754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s-CO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Subrasante estabilizada con cal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6" name="Google Shape;4436;p49"/>
          <p:cNvSpPr txBox="1"/>
          <p:nvPr/>
        </p:nvSpPr>
        <p:spPr>
          <a:xfrm>
            <a:off x="3152394" y="5137785"/>
            <a:ext cx="457200" cy="754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20 cm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37" name="Google Shape;4437;p49"/>
          <p:cNvCxnSpPr/>
          <p:nvPr/>
        </p:nvCxnSpPr>
        <p:spPr>
          <a:xfrm>
            <a:off x="2045970" y="5892165"/>
            <a:ext cx="1143000" cy="0"/>
          </a:xfrm>
          <a:prstGeom prst="straightConnector1">
            <a:avLst/>
          </a:prstGeom>
          <a:noFill/>
          <a:ln cap="flat" cmpd="sng" w="12700">
            <a:solidFill>
              <a:srgbClr val="1D2B2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38" name="Google Shape;4438;p49"/>
          <p:cNvSpPr txBox="1"/>
          <p:nvPr/>
        </p:nvSpPr>
        <p:spPr>
          <a:xfrm>
            <a:off x="2034540" y="5965317"/>
            <a:ext cx="15773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Espesor total: </a:t>
            </a:r>
            <a:r>
              <a:rPr b="1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43 cm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439" name="Google Shape;4439;p49"/>
          <p:cNvGraphicFramePr/>
          <p:nvPr/>
        </p:nvGraphicFramePr>
        <p:xfrm>
          <a:off x="3840480" y="24231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{2219430B-40B1-4F13-8D99-EA5D7966678A}</a:tableStyleId>
              </a:tblPr>
              <a:tblGrid>
                <a:gridCol w="2395725"/>
                <a:gridCol w="1097275"/>
                <a:gridCol w="603500"/>
                <a:gridCol w="1097275"/>
                <a:gridCol w="603500"/>
                <a:gridCol w="237750"/>
                <a:gridCol w="1097275"/>
                <a:gridCol w="758950"/>
              </a:tblGrid>
              <a:tr h="438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Grupo – actividad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Valor contractual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 sobre corredor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Valor proyectado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 sobre corredor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Variación (valor adicional)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 de variación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</a:tr>
              <a:tr h="27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Construcción alcantarilla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$ 3.512.550.967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$ 11.308.233.615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>
                          <a:solidFill>
                            <a:srgbClr val="B32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▲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$ 7.795.682.648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221,9 %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Construcción cuneta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$ 5.872.558.871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$ 6.715.635.227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>
                          <a:solidFill>
                            <a:srgbClr val="B32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▲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$ 843.076.356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14,4 %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27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Construcción filtro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$ 6.221.288.057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$ 6.434.653.376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>
                          <a:solidFill>
                            <a:srgbClr val="B32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▲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$ 213.365.319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3,4 %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Construcción bordillos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$ 902.611.005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$ 4.429.943.025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>
                          <a:solidFill>
                            <a:srgbClr val="B32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▲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$ 3.527.332.020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390,8 %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27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Construcción disipadores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$ 495.928.073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$ 495.928.073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0,0 %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Estabilización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$ 18.731.527.393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52%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$ 24.483.202.283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44%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B32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▲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$ 5.751.674.890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30,7 %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27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Señalización vial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$ 545.055.300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$ 417.615.000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>
                          <a:solidFill>
                            <a:srgbClr val="0B5D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▼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0B5D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–$ 127.440.300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5D2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0B5D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–23,4 %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Obra extra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–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50"/>
                        <a:buFont typeface="Calibri"/>
                        <a:buNone/>
                      </a:pPr>
                      <a:r>
                        <a:t/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$ 1.985.409.000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Arial"/>
                        <a:buNone/>
                      </a:pPr>
                      <a:r>
                        <a:rPr lang="es-CO" sz="1000" u="none" cap="none" strike="noStrike">
                          <a:solidFill>
                            <a:srgbClr val="B32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▲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$ 1.985.409.000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B65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N/A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27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CORREDOR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$ 36.281.519.666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100%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$ 56.270.619.599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100%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B3261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▲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+$ 19.989.099.933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-CO" sz="100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55,1 %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</a:tr>
            </a:tbl>
          </a:graphicData>
        </a:graphic>
      </p:graphicFrame>
      <p:sp>
        <p:nvSpPr>
          <p:cNvPr id="4440" name="Google Shape;4440;p49"/>
          <p:cNvSpPr txBox="1"/>
          <p:nvPr/>
        </p:nvSpPr>
        <p:spPr>
          <a:xfrm>
            <a:off x="3840480" y="5413248"/>
            <a:ext cx="78912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261E"/>
              </a:buClr>
              <a:buSzPts val="900"/>
              <a:buFont typeface="Arial"/>
              <a:buNone/>
            </a:pPr>
            <a:r>
              <a:rPr b="0" i="0" lang="es-CO" sz="900" u="none" cap="none" strike="noStrike">
                <a:solidFill>
                  <a:srgbClr val="B3261E"/>
                </a:solidFill>
                <a:latin typeface="Arial"/>
                <a:ea typeface="Arial"/>
                <a:cs typeface="Arial"/>
                <a:sym typeface="Arial"/>
              </a:rPr>
              <a:t>▲</a:t>
            </a: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 Se requiere mayor valor     </a:t>
            </a:r>
            <a:r>
              <a:rPr b="0" i="0" lang="es-CO" sz="900" u="none" cap="none" strike="noStrike">
                <a:solidFill>
                  <a:srgbClr val="0B5D2E"/>
                </a:solidFill>
                <a:latin typeface="Arial"/>
                <a:ea typeface="Arial"/>
                <a:cs typeface="Arial"/>
                <a:sym typeface="Arial"/>
              </a:rPr>
              <a:t>▼</a:t>
            </a: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 Sobra valor     % de variación = (valor proyectado – valor contractual) / valor contractual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1" name="Google Shape;4441;p49"/>
          <p:cNvSpPr/>
          <p:nvPr/>
        </p:nvSpPr>
        <p:spPr>
          <a:xfrm>
            <a:off x="3840480" y="5687568"/>
            <a:ext cx="7891272" cy="850392"/>
          </a:xfrm>
          <a:prstGeom prst="roundRect">
            <a:avLst>
              <a:gd fmla="val 6452" name="adj"/>
            </a:avLst>
          </a:prstGeom>
          <a:solidFill>
            <a:srgbClr val="FFFFFF"/>
          </a:solidFill>
          <a:ln cap="flat" cmpd="sng" w="12700">
            <a:solidFill>
              <a:srgbClr val="9AA7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000" lIns="1000" spcFirstLastPara="1" rIns="1500" wrap="square" tIns="15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100"/>
              <a:buFont typeface="Calibri"/>
              <a:buNone/>
            </a:pPr>
            <a:r>
              <a:rPr b="1" i="0" lang="es-CO" sz="11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Notas: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46" name="Shape 4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7" name="Google Shape;4447;p50"/>
          <p:cNvSpPr txBox="1"/>
          <p:nvPr/>
        </p:nvSpPr>
        <p:spPr>
          <a:xfrm>
            <a:off x="457200" y="320040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1200"/>
              <a:buFont typeface="Calibri"/>
              <a:buNone/>
            </a:pPr>
            <a:r>
              <a:rPr b="1" i="0" lang="es-CO" sz="1200" u="none" cap="none" strike="noStrike">
                <a:solidFill>
                  <a:srgbClr val="2E7D4F"/>
                </a:solidFill>
                <a:latin typeface="Poppins"/>
                <a:ea typeface="Poppins"/>
                <a:cs typeface="Poppins"/>
                <a:sym typeface="Poppins"/>
              </a:rPr>
              <a:t>INFORME DE EJECUCIÓN  ·  LOTE 8 – SUBREGIÓN NORTE</a:t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48" name="Google Shape;4448;p50"/>
          <p:cNvSpPr txBox="1"/>
          <p:nvPr/>
        </p:nvSpPr>
        <p:spPr>
          <a:xfrm>
            <a:off x="457200" y="594360"/>
            <a:ext cx="9692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2800"/>
              <a:buFont typeface="Calibri"/>
              <a:buNone/>
            </a:pPr>
            <a:r>
              <a:rPr b="1" i="0" lang="es-CO" sz="28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Entrerríos – Labores – San José de la Montaña</a:t>
            </a:r>
            <a:endParaRPr b="0" i="0" sz="2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descr="logo.png" id="4449" name="Google Shape;4449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78440" y="320040"/>
            <a:ext cx="1371600" cy="676656"/>
          </a:xfrm>
          <a:prstGeom prst="rect">
            <a:avLst/>
          </a:prstGeom>
          <a:noFill/>
          <a:ln>
            <a:noFill/>
          </a:ln>
        </p:spPr>
      </p:pic>
      <p:sp>
        <p:nvSpPr>
          <p:cNvPr id="4450" name="Google Shape;4450;p50"/>
          <p:cNvSpPr/>
          <p:nvPr/>
        </p:nvSpPr>
        <p:spPr>
          <a:xfrm>
            <a:off x="457200" y="1234440"/>
            <a:ext cx="1765249" cy="658368"/>
          </a:xfrm>
          <a:prstGeom prst="roundRect">
            <a:avLst>
              <a:gd fmla="val 1111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1" name="Google Shape;4451;p50"/>
          <p:cNvSpPr txBox="1"/>
          <p:nvPr/>
        </p:nvSpPr>
        <p:spPr>
          <a:xfrm>
            <a:off x="566928" y="1289304"/>
            <a:ext cx="154579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50"/>
              <a:buFont typeface="Calibri"/>
              <a:buNone/>
            </a:pPr>
            <a:r>
              <a:rPr b="0" i="0" lang="es-CO" sz="9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Longitud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2" name="Google Shape;4452;p50"/>
          <p:cNvSpPr txBox="1"/>
          <p:nvPr/>
        </p:nvSpPr>
        <p:spPr>
          <a:xfrm>
            <a:off x="566928" y="1453896"/>
            <a:ext cx="154579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39,95 km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3" name="Google Shape;4453;p50"/>
          <p:cNvSpPr txBox="1"/>
          <p:nvPr/>
        </p:nvSpPr>
        <p:spPr>
          <a:xfrm>
            <a:off x="566928" y="1700784"/>
            <a:ext cx="1545793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00"/>
              <a:buFont typeface="Calibri"/>
              <a:buNone/>
            </a:pP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Alcance real 25,70 km · dif. 14,25 km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4" name="Google Shape;4454;p50"/>
          <p:cNvSpPr/>
          <p:nvPr/>
        </p:nvSpPr>
        <p:spPr>
          <a:xfrm>
            <a:off x="2359609" y="1234440"/>
            <a:ext cx="1765249" cy="658368"/>
          </a:xfrm>
          <a:prstGeom prst="roundRect">
            <a:avLst>
              <a:gd fmla="val 1111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5" name="Google Shape;4455;p50"/>
          <p:cNvSpPr txBox="1"/>
          <p:nvPr/>
        </p:nvSpPr>
        <p:spPr>
          <a:xfrm>
            <a:off x="2469337" y="1289304"/>
            <a:ext cx="154579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50"/>
              <a:buFont typeface="Calibri"/>
              <a:buNone/>
            </a:pPr>
            <a:r>
              <a:rPr b="0" i="0" lang="es-CO" sz="9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Valor total del corredor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6" name="Google Shape;4456;p50"/>
          <p:cNvSpPr txBox="1"/>
          <p:nvPr/>
        </p:nvSpPr>
        <p:spPr>
          <a:xfrm>
            <a:off x="2469337" y="1453896"/>
            <a:ext cx="154579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$ 36.281.519.666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7" name="Google Shape;4457;p50"/>
          <p:cNvSpPr txBox="1"/>
          <p:nvPr/>
        </p:nvSpPr>
        <p:spPr>
          <a:xfrm>
            <a:off x="2469337" y="1700784"/>
            <a:ext cx="1545793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00"/>
              <a:buFont typeface="Calibri"/>
              <a:buNone/>
            </a:pP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$ 908.173.208 por km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8" name="Google Shape;4458;p50"/>
          <p:cNvSpPr/>
          <p:nvPr/>
        </p:nvSpPr>
        <p:spPr>
          <a:xfrm>
            <a:off x="4262018" y="1234440"/>
            <a:ext cx="1765249" cy="658368"/>
          </a:xfrm>
          <a:prstGeom prst="roundRect">
            <a:avLst>
              <a:gd fmla="val 11111" name="adj"/>
            </a:avLst>
          </a:prstGeom>
          <a:solidFill>
            <a:srgbClr val="FBEAEA"/>
          </a:solidFill>
          <a:ln cap="flat" cmpd="sng" w="12700">
            <a:solidFill>
              <a:srgbClr val="FBEA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9" name="Google Shape;4459;p50"/>
          <p:cNvSpPr txBox="1"/>
          <p:nvPr/>
        </p:nvSpPr>
        <p:spPr>
          <a:xfrm>
            <a:off x="4371746" y="1289304"/>
            <a:ext cx="154579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50"/>
              <a:buFont typeface="Calibri"/>
              <a:buNone/>
            </a:pPr>
            <a:r>
              <a:rPr b="0" i="0" lang="es-CO" sz="9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Avance físico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0" name="Google Shape;4460;p50"/>
          <p:cNvSpPr txBox="1"/>
          <p:nvPr/>
        </p:nvSpPr>
        <p:spPr>
          <a:xfrm>
            <a:off x="4371746" y="1453896"/>
            <a:ext cx="154579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261E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B3261E"/>
                </a:solidFill>
                <a:latin typeface="Calibri"/>
                <a:ea typeface="Calibri"/>
                <a:cs typeface="Calibri"/>
                <a:sym typeface="Calibri"/>
              </a:rPr>
              <a:t>13,01 %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1" name="Google Shape;4461;p50"/>
          <p:cNvSpPr txBox="1"/>
          <p:nvPr/>
        </p:nvSpPr>
        <p:spPr>
          <a:xfrm>
            <a:off x="4371746" y="1700784"/>
            <a:ext cx="1545793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00"/>
              <a:buFont typeface="Calibri"/>
              <a:buNone/>
            </a:pP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Frente a 42,7 % del plazo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2" name="Google Shape;4462;p50"/>
          <p:cNvSpPr/>
          <p:nvPr/>
        </p:nvSpPr>
        <p:spPr>
          <a:xfrm>
            <a:off x="6164428" y="1234440"/>
            <a:ext cx="1765249" cy="658368"/>
          </a:xfrm>
          <a:prstGeom prst="roundRect">
            <a:avLst>
              <a:gd fmla="val 1111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3" name="Google Shape;4463;p50"/>
          <p:cNvSpPr txBox="1"/>
          <p:nvPr/>
        </p:nvSpPr>
        <p:spPr>
          <a:xfrm>
            <a:off x="6274156" y="1289304"/>
            <a:ext cx="154579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50"/>
              <a:buFont typeface="Calibri"/>
              <a:buNone/>
            </a:pPr>
            <a:r>
              <a:rPr b="0" i="0" lang="es-CO" sz="9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Avance financiero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4" name="Google Shape;4464;p50"/>
          <p:cNvSpPr txBox="1"/>
          <p:nvPr/>
        </p:nvSpPr>
        <p:spPr>
          <a:xfrm>
            <a:off x="6274156" y="1453896"/>
            <a:ext cx="154579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10,80 %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5" name="Google Shape;4465;p50"/>
          <p:cNvSpPr/>
          <p:nvPr/>
        </p:nvSpPr>
        <p:spPr>
          <a:xfrm>
            <a:off x="8066837" y="1234440"/>
            <a:ext cx="1765249" cy="658368"/>
          </a:xfrm>
          <a:prstGeom prst="roundRect">
            <a:avLst>
              <a:gd fmla="val 1111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6" name="Google Shape;4466;p50"/>
          <p:cNvSpPr txBox="1"/>
          <p:nvPr/>
        </p:nvSpPr>
        <p:spPr>
          <a:xfrm>
            <a:off x="8176565" y="1289304"/>
            <a:ext cx="1545793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50"/>
              <a:buFont typeface="Calibri"/>
              <a:buNone/>
            </a:pPr>
            <a:r>
              <a:rPr b="0" i="0" lang="es-CO" sz="9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Plazo transcurrido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7" name="Google Shape;4467;p50"/>
          <p:cNvSpPr txBox="1"/>
          <p:nvPr/>
        </p:nvSpPr>
        <p:spPr>
          <a:xfrm>
            <a:off x="8176565" y="1453896"/>
            <a:ext cx="1545793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42,7 %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8" name="Google Shape;4468;p50"/>
          <p:cNvSpPr txBox="1"/>
          <p:nvPr/>
        </p:nvSpPr>
        <p:spPr>
          <a:xfrm>
            <a:off x="8176565" y="1700784"/>
            <a:ext cx="1545793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00"/>
              <a:buFont typeface="Calibri"/>
              <a:buNone/>
            </a:pP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7,7 de 18 meses (al 02/10/2026)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9" name="Google Shape;4469;p50"/>
          <p:cNvSpPr/>
          <p:nvPr/>
        </p:nvSpPr>
        <p:spPr>
          <a:xfrm>
            <a:off x="9969246" y="1234440"/>
            <a:ext cx="1765249" cy="658368"/>
          </a:xfrm>
          <a:prstGeom prst="roundRect">
            <a:avLst>
              <a:gd fmla="val 1111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0" name="Google Shape;4470;p50"/>
          <p:cNvSpPr txBox="1"/>
          <p:nvPr/>
        </p:nvSpPr>
        <p:spPr>
          <a:xfrm>
            <a:off x="10078974" y="1289304"/>
            <a:ext cx="1545793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Inicio: </a:t>
            </a: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11/02/2026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Terminación: </a:t>
            </a: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11/08/2027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Corte: </a:t>
            </a: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25/09/2026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1" name="Google Shape;4471;p50"/>
          <p:cNvSpPr txBox="1"/>
          <p:nvPr/>
        </p:nvSpPr>
        <p:spPr>
          <a:xfrm>
            <a:off x="457200" y="1956816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1000"/>
              <a:buFont typeface="Calibri"/>
              <a:buNone/>
            </a:pPr>
            <a:r>
              <a:rPr b="1" i="0" lang="es-CO" sz="10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AVANCE POR ABSCISA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72" name="Google Shape;4472;p50"/>
          <p:cNvCxnSpPr/>
          <p:nvPr/>
        </p:nvCxnSpPr>
        <p:spPr>
          <a:xfrm>
            <a:off x="2103120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73" name="Google Shape;4473;p50"/>
          <p:cNvCxnSpPr/>
          <p:nvPr/>
        </p:nvCxnSpPr>
        <p:spPr>
          <a:xfrm>
            <a:off x="2329717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74" name="Google Shape;4474;p50"/>
          <p:cNvCxnSpPr/>
          <p:nvPr/>
        </p:nvCxnSpPr>
        <p:spPr>
          <a:xfrm>
            <a:off x="2556314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75" name="Google Shape;4475;p50"/>
          <p:cNvCxnSpPr/>
          <p:nvPr/>
        </p:nvCxnSpPr>
        <p:spPr>
          <a:xfrm>
            <a:off x="2782912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76" name="Google Shape;4476;p50"/>
          <p:cNvCxnSpPr/>
          <p:nvPr/>
        </p:nvCxnSpPr>
        <p:spPr>
          <a:xfrm>
            <a:off x="3009509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77" name="Google Shape;4477;p50"/>
          <p:cNvCxnSpPr/>
          <p:nvPr/>
        </p:nvCxnSpPr>
        <p:spPr>
          <a:xfrm>
            <a:off x="3236106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78" name="Google Shape;4478;p50"/>
          <p:cNvCxnSpPr/>
          <p:nvPr/>
        </p:nvCxnSpPr>
        <p:spPr>
          <a:xfrm>
            <a:off x="3462703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79" name="Google Shape;4479;p50"/>
          <p:cNvCxnSpPr/>
          <p:nvPr/>
        </p:nvCxnSpPr>
        <p:spPr>
          <a:xfrm>
            <a:off x="3689301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80" name="Google Shape;4480;p50"/>
          <p:cNvCxnSpPr/>
          <p:nvPr/>
        </p:nvCxnSpPr>
        <p:spPr>
          <a:xfrm>
            <a:off x="3915898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81" name="Google Shape;4481;p50"/>
          <p:cNvCxnSpPr/>
          <p:nvPr/>
        </p:nvCxnSpPr>
        <p:spPr>
          <a:xfrm>
            <a:off x="4142495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82" name="Google Shape;4482;p50"/>
          <p:cNvCxnSpPr/>
          <p:nvPr/>
        </p:nvCxnSpPr>
        <p:spPr>
          <a:xfrm>
            <a:off x="4369092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83" name="Google Shape;4483;p50"/>
          <p:cNvCxnSpPr/>
          <p:nvPr/>
        </p:nvCxnSpPr>
        <p:spPr>
          <a:xfrm>
            <a:off x="4595690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84" name="Google Shape;4484;p50"/>
          <p:cNvCxnSpPr/>
          <p:nvPr/>
        </p:nvCxnSpPr>
        <p:spPr>
          <a:xfrm>
            <a:off x="4822287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85" name="Google Shape;4485;p50"/>
          <p:cNvCxnSpPr/>
          <p:nvPr/>
        </p:nvCxnSpPr>
        <p:spPr>
          <a:xfrm>
            <a:off x="5048884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86" name="Google Shape;4486;p50"/>
          <p:cNvCxnSpPr/>
          <p:nvPr/>
        </p:nvCxnSpPr>
        <p:spPr>
          <a:xfrm>
            <a:off x="5275481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87" name="Google Shape;4487;p50"/>
          <p:cNvCxnSpPr/>
          <p:nvPr/>
        </p:nvCxnSpPr>
        <p:spPr>
          <a:xfrm>
            <a:off x="5502079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88" name="Google Shape;4488;p50"/>
          <p:cNvCxnSpPr/>
          <p:nvPr/>
        </p:nvCxnSpPr>
        <p:spPr>
          <a:xfrm>
            <a:off x="5728676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89" name="Google Shape;4489;p50"/>
          <p:cNvCxnSpPr/>
          <p:nvPr/>
        </p:nvCxnSpPr>
        <p:spPr>
          <a:xfrm>
            <a:off x="5955273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90" name="Google Shape;4490;p50"/>
          <p:cNvCxnSpPr/>
          <p:nvPr/>
        </p:nvCxnSpPr>
        <p:spPr>
          <a:xfrm>
            <a:off x="6181870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91" name="Google Shape;4491;p50"/>
          <p:cNvCxnSpPr/>
          <p:nvPr/>
        </p:nvCxnSpPr>
        <p:spPr>
          <a:xfrm>
            <a:off x="6408468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92" name="Google Shape;4492;p50"/>
          <p:cNvCxnSpPr/>
          <p:nvPr/>
        </p:nvCxnSpPr>
        <p:spPr>
          <a:xfrm>
            <a:off x="6635065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93" name="Google Shape;4493;p50"/>
          <p:cNvCxnSpPr/>
          <p:nvPr/>
        </p:nvCxnSpPr>
        <p:spPr>
          <a:xfrm>
            <a:off x="6861662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94" name="Google Shape;4494;p50"/>
          <p:cNvCxnSpPr/>
          <p:nvPr/>
        </p:nvCxnSpPr>
        <p:spPr>
          <a:xfrm>
            <a:off x="7088259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95" name="Google Shape;4495;p50"/>
          <p:cNvCxnSpPr/>
          <p:nvPr/>
        </p:nvCxnSpPr>
        <p:spPr>
          <a:xfrm>
            <a:off x="7314857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96" name="Google Shape;4496;p50"/>
          <p:cNvCxnSpPr/>
          <p:nvPr/>
        </p:nvCxnSpPr>
        <p:spPr>
          <a:xfrm>
            <a:off x="7541454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97" name="Google Shape;4497;p50"/>
          <p:cNvCxnSpPr/>
          <p:nvPr/>
        </p:nvCxnSpPr>
        <p:spPr>
          <a:xfrm>
            <a:off x="7768051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98" name="Google Shape;4498;p50"/>
          <p:cNvCxnSpPr/>
          <p:nvPr/>
        </p:nvCxnSpPr>
        <p:spPr>
          <a:xfrm>
            <a:off x="7994648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99" name="Google Shape;4499;p50"/>
          <p:cNvCxnSpPr/>
          <p:nvPr/>
        </p:nvCxnSpPr>
        <p:spPr>
          <a:xfrm>
            <a:off x="8221246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00" name="Google Shape;4500;p50"/>
          <p:cNvCxnSpPr/>
          <p:nvPr/>
        </p:nvCxnSpPr>
        <p:spPr>
          <a:xfrm>
            <a:off x="8447843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01" name="Google Shape;4501;p50"/>
          <p:cNvCxnSpPr/>
          <p:nvPr/>
        </p:nvCxnSpPr>
        <p:spPr>
          <a:xfrm>
            <a:off x="8674440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02" name="Google Shape;4502;p50"/>
          <p:cNvCxnSpPr/>
          <p:nvPr/>
        </p:nvCxnSpPr>
        <p:spPr>
          <a:xfrm>
            <a:off x="8901037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03" name="Google Shape;4503;p50"/>
          <p:cNvCxnSpPr/>
          <p:nvPr/>
        </p:nvCxnSpPr>
        <p:spPr>
          <a:xfrm>
            <a:off x="9127635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04" name="Google Shape;4504;p50"/>
          <p:cNvCxnSpPr/>
          <p:nvPr/>
        </p:nvCxnSpPr>
        <p:spPr>
          <a:xfrm>
            <a:off x="9354232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05" name="Google Shape;4505;p50"/>
          <p:cNvCxnSpPr/>
          <p:nvPr/>
        </p:nvCxnSpPr>
        <p:spPr>
          <a:xfrm>
            <a:off x="9580829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06" name="Google Shape;4506;p50"/>
          <p:cNvCxnSpPr/>
          <p:nvPr/>
        </p:nvCxnSpPr>
        <p:spPr>
          <a:xfrm>
            <a:off x="9807426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07" name="Google Shape;4507;p50"/>
          <p:cNvCxnSpPr/>
          <p:nvPr/>
        </p:nvCxnSpPr>
        <p:spPr>
          <a:xfrm>
            <a:off x="10034024" y="2295144"/>
            <a:ext cx="0" cy="54864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08" name="Google Shape;4508;p50"/>
          <p:cNvCxnSpPr/>
          <p:nvPr/>
        </p:nvCxnSpPr>
        <p:spPr>
          <a:xfrm>
            <a:off x="10260621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09" name="Google Shape;4509;p50"/>
          <p:cNvCxnSpPr/>
          <p:nvPr/>
        </p:nvCxnSpPr>
        <p:spPr>
          <a:xfrm>
            <a:off x="10487218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10" name="Google Shape;4510;p50"/>
          <p:cNvCxnSpPr/>
          <p:nvPr/>
        </p:nvCxnSpPr>
        <p:spPr>
          <a:xfrm>
            <a:off x="10713815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11" name="Google Shape;4511;p50"/>
          <p:cNvCxnSpPr/>
          <p:nvPr/>
        </p:nvCxnSpPr>
        <p:spPr>
          <a:xfrm>
            <a:off x="10940413" y="2295144"/>
            <a:ext cx="0" cy="27432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12" name="Google Shape;4512;p50"/>
          <p:cNvSpPr txBox="1"/>
          <p:nvPr/>
        </p:nvSpPr>
        <p:spPr>
          <a:xfrm>
            <a:off x="1874520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3" name="Google Shape;4513;p50"/>
          <p:cNvSpPr txBox="1"/>
          <p:nvPr/>
        </p:nvSpPr>
        <p:spPr>
          <a:xfrm>
            <a:off x="3007506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4" name="Google Shape;4514;p50"/>
          <p:cNvSpPr txBox="1"/>
          <p:nvPr/>
        </p:nvSpPr>
        <p:spPr>
          <a:xfrm>
            <a:off x="4140492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K10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5" name="Google Shape;4515;p50"/>
          <p:cNvSpPr txBox="1"/>
          <p:nvPr/>
        </p:nvSpPr>
        <p:spPr>
          <a:xfrm>
            <a:off x="5273479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K15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6" name="Google Shape;4516;p50"/>
          <p:cNvSpPr txBox="1"/>
          <p:nvPr/>
        </p:nvSpPr>
        <p:spPr>
          <a:xfrm>
            <a:off x="6406465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K20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7" name="Google Shape;4517;p50"/>
          <p:cNvSpPr txBox="1"/>
          <p:nvPr/>
        </p:nvSpPr>
        <p:spPr>
          <a:xfrm>
            <a:off x="7539451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K25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8" name="Google Shape;4518;p50"/>
          <p:cNvSpPr txBox="1"/>
          <p:nvPr/>
        </p:nvSpPr>
        <p:spPr>
          <a:xfrm>
            <a:off x="8672437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K30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9" name="Google Shape;4519;p50"/>
          <p:cNvSpPr txBox="1"/>
          <p:nvPr/>
        </p:nvSpPr>
        <p:spPr>
          <a:xfrm>
            <a:off x="9805424" y="2139696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K35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0" name="Google Shape;4520;p50"/>
          <p:cNvSpPr txBox="1"/>
          <p:nvPr/>
        </p:nvSpPr>
        <p:spPr>
          <a:xfrm>
            <a:off x="10835640" y="2139696"/>
            <a:ext cx="54864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0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K39+950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1" name="Google Shape;4521;p50"/>
          <p:cNvSpPr/>
          <p:nvPr/>
        </p:nvSpPr>
        <p:spPr>
          <a:xfrm>
            <a:off x="2103120" y="2359152"/>
            <a:ext cx="9052560" cy="73152"/>
          </a:xfrm>
          <a:prstGeom prst="rect">
            <a:avLst/>
          </a:prstGeom>
          <a:solidFill>
            <a:srgbClr val="1F2A36"/>
          </a:solidFill>
          <a:ln cap="flat" cmpd="sng" w="12700">
            <a:solidFill>
              <a:srgbClr val="1F2A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22" name="Google Shape;4522;p50"/>
          <p:cNvCxnSpPr/>
          <p:nvPr/>
        </p:nvCxnSpPr>
        <p:spPr>
          <a:xfrm>
            <a:off x="2139696" y="2395728"/>
            <a:ext cx="8979408" cy="0"/>
          </a:xfrm>
          <a:prstGeom prst="straightConnector1">
            <a:avLst/>
          </a:prstGeom>
          <a:noFill/>
          <a:ln cap="flat" cmpd="sng" w="9525">
            <a:solidFill>
              <a:srgbClr val="F2C94C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4523" name="Google Shape;4523;p50"/>
          <p:cNvCxnSpPr/>
          <p:nvPr/>
        </p:nvCxnSpPr>
        <p:spPr>
          <a:xfrm>
            <a:off x="731520" y="2487168"/>
            <a:ext cx="0" cy="338328"/>
          </a:xfrm>
          <a:prstGeom prst="straightConnector1">
            <a:avLst/>
          </a:prstGeom>
          <a:noFill/>
          <a:ln cap="flat" cmpd="sng" w="19050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24" name="Google Shape;4524;p50"/>
          <p:cNvSpPr txBox="1"/>
          <p:nvPr/>
        </p:nvSpPr>
        <p:spPr>
          <a:xfrm rot="-5400000">
            <a:off x="260604" y="2574036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700"/>
              <a:buFont typeface="Calibri"/>
              <a:buNone/>
            </a:pPr>
            <a:r>
              <a:rPr b="1" i="0" lang="es-CO" sz="7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CAMPO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5" name="Google Shape;4525;p50"/>
          <p:cNvSpPr txBox="1"/>
          <p:nvPr/>
        </p:nvSpPr>
        <p:spPr>
          <a:xfrm>
            <a:off x="777240" y="2487168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Topografía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6" name="Google Shape;4526;p50"/>
          <p:cNvSpPr/>
          <p:nvPr/>
        </p:nvSpPr>
        <p:spPr>
          <a:xfrm>
            <a:off x="2103120" y="2487168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7" name="Google Shape;4527;p50"/>
          <p:cNvSpPr/>
          <p:nvPr/>
        </p:nvSpPr>
        <p:spPr>
          <a:xfrm>
            <a:off x="2103120" y="2487168"/>
            <a:ext cx="9052560" cy="155448"/>
          </a:xfrm>
          <a:prstGeom prst="rect">
            <a:avLst/>
          </a:prstGeom>
          <a:solidFill>
            <a:srgbClr val="2E7D4F"/>
          </a:solidFill>
          <a:ln cap="flat" cmpd="sng" w="9525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8" name="Google Shape;4528;p50"/>
          <p:cNvSpPr txBox="1"/>
          <p:nvPr/>
        </p:nvSpPr>
        <p:spPr>
          <a:xfrm>
            <a:off x="11201400" y="2487168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100 %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9" name="Google Shape;4529;p50"/>
          <p:cNvSpPr txBox="1"/>
          <p:nvPr/>
        </p:nvSpPr>
        <p:spPr>
          <a:xfrm>
            <a:off x="777240" y="2670048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Apiques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0" name="Google Shape;4530;p50"/>
          <p:cNvSpPr/>
          <p:nvPr/>
        </p:nvSpPr>
        <p:spPr>
          <a:xfrm>
            <a:off x="2103120" y="2670048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1" name="Google Shape;4531;p50"/>
          <p:cNvSpPr/>
          <p:nvPr/>
        </p:nvSpPr>
        <p:spPr>
          <a:xfrm>
            <a:off x="2103120" y="2670048"/>
            <a:ext cx="9052560" cy="155448"/>
          </a:xfrm>
          <a:prstGeom prst="rect">
            <a:avLst/>
          </a:prstGeom>
          <a:solidFill>
            <a:srgbClr val="2E7D4F"/>
          </a:solidFill>
          <a:ln cap="flat" cmpd="sng" w="9525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2" name="Google Shape;4532;p50"/>
          <p:cNvSpPr txBox="1"/>
          <p:nvPr/>
        </p:nvSpPr>
        <p:spPr>
          <a:xfrm>
            <a:off x="11201400" y="2670048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100 %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33" name="Google Shape;4533;p50"/>
          <p:cNvCxnSpPr/>
          <p:nvPr/>
        </p:nvCxnSpPr>
        <p:spPr>
          <a:xfrm>
            <a:off x="731520" y="2953512"/>
            <a:ext cx="0" cy="466344"/>
          </a:xfrm>
          <a:prstGeom prst="straightConnector1">
            <a:avLst/>
          </a:prstGeom>
          <a:noFill/>
          <a:ln cap="flat" cmpd="sng" w="19050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34" name="Google Shape;4534;p50"/>
          <p:cNvSpPr txBox="1"/>
          <p:nvPr/>
        </p:nvSpPr>
        <p:spPr>
          <a:xfrm rot="-5400000">
            <a:off x="260604" y="3104388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700"/>
              <a:buFont typeface="Calibri"/>
              <a:buNone/>
            </a:pPr>
            <a:r>
              <a:rPr b="1" i="0" lang="es-CO" sz="7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ESTRUCTURA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5" name="Google Shape;4535;p50"/>
          <p:cNvSpPr txBox="1"/>
          <p:nvPr/>
        </p:nvSpPr>
        <p:spPr>
          <a:xfrm>
            <a:off x="777240" y="2953512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Rodadura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6" name="Google Shape;4536;p50"/>
          <p:cNvSpPr/>
          <p:nvPr/>
        </p:nvSpPr>
        <p:spPr>
          <a:xfrm>
            <a:off x="2103120" y="2953512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7" name="Google Shape;4537;p50"/>
          <p:cNvSpPr txBox="1"/>
          <p:nvPr/>
        </p:nvSpPr>
        <p:spPr>
          <a:xfrm>
            <a:off x="11201400" y="2953512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8" name="Google Shape;4538;p50"/>
          <p:cNvSpPr txBox="1"/>
          <p:nvPr/>
        </p:nvSpPr>
        <p:spPr>
          <a:xfrm>
            <a:off x="777240" y="3108960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Capa granular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9" name="Google Shape;4539;p50"/>
          <p:cNvSpPr/>
          <p:nvPr/>
        </p:nvSpPr>
        <p:spPr>
          <a:xfrm>
            <a:off x="2103120" y="3108960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0" name="Google Shape;4540;p50"/>
          <p:cNvSpPr/>
          <p:nvPr/>
        </p:nvSpPr>
        <p:spPr>
          <a:xfrm>
            <a:off x="4199145" y="3108960"/>
            <a:ext cx="1982726" cy="155448"/>
          </a:xfrm>
          <a:prstGeom prst="rect">
            <a:avLst/>
          </a:prstGeom>
          <a:solidFill>
            <a:srgbClr val="F6EDD5"/>
          </a:solidFill>
          <a:ln cap="flat" cmpd="sng" w="9525">
            <a:solidFill>
              <a:srgbClr val="F6ED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1" name="Google Shape;4541;p50"/>
          <p:cNvSpPr txBox="1"/>
          <p:nvPr/>
        </p:nvSpPr>
        <p:spPr>
          <a:xfrm>
            <a:off x="11201400" y="3108960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2" name="Google Shape;4542;p50"/>
          <p:cNvSpPr txBox="1"/>
          <p:nvPr/>
        </p:nvSpPr>
        <p:spPr>
          <a:xfrm>
            <a:off x="777240" y="3264408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Subrasante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3" name="Google Shape;4543;p50"/>
          <p:cNvSpPr/>
          <p:nvPr/>
        </p:nvSpPr>
        <p:spPr>
          <a:xfrm>
            <a:off x="2103120" y="3264408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4" name="Google Shape;4544;p50"/>
          <p:cNvSpPr/>
          <p:nvPr/>
        </p:nvSpPr>
        <p:spPr>
          <a:xfrm>
            <a:off x="3963483" y="3264408"/>
            <a:ext cx="802154" cy="155448"/>
          </a:xfrm>
          <a:prstGeom prst="rect">
            <a:avLst/>
          </a:prstGeom>
          <a:solidFill>
            <a:srgbClr val="F4E2BD"/>
          </a:solidFill>
          <a:ln cap="flat" cmpd="sng" w="9525">
            <a:solidFill>
              <a:srgbClr val="F4E2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5" name="Google Shape;4545;p50"/>
          <p:cNvSpPr/>
          <p:nvPr/>
        </p:nvSpPr>
        <p:spPr>
          <a:xfrm>
            <a:off x="4765638" y="3264408"/>
            <a:ext cx="169948" cy="155448"/>
          </a:xfrm>
          <a:prstGeom prst="rect">
            <a:avLst/>
          </a:prstGeom>
          <a:solidFill>
            <a:srgbClr val="DCCFC3"/>
          </a:solidFill>
          <a:ln cap="flat" cmpd="sng" w="9525">
            <a:solidFill>
              <a:srgbClr val="DCCF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6" name="Google Shape;4546;p50"/>
          <p:cNvSpPr/>
          <p:nvPr/>
        </p:nvSpPr>
        <p:spPr>
          <a:xfrm>
            <a:off x="5275481" y="3264408"/>
            <a:ext cx="113299" cy="155448"/>
          </a:xfrm>
          <a:prstGeom prst="rect">
            <a:avLst/>
          </a:prstGeom>
          <a:solidFill>
            <a:srgbClr val="DCCFC3"/>
          </a:solidFill>
          <a:ln cap="flat" cmpd="sng" w="9525">
            <a:solidFill>
              <a:srgbClr val="DCCF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7" name="Google Shape;4547;p50"/>
          <p:cNvSpPr/>
          <p:nvPr/>
        </p:nvSpPr>
        <p:spPr>
          <a:xfrm>
            <a:off x="5728676" y="3264408"/>
            <a:ext cx="56649" cy="155448"/>
          </a:xfrm>
          <a:prstGeom prst="rect">
            <a:avLst/>
          </a:prstGeom>
          <a:solidFill>
            <a:srgbClr val="DCCFC3"/>
          </a:solidFill>
          <a:ln cap="flat" cmpd="sng" w="9525">
            <a:solidFill>
              <a:srgbClr val="DCCF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8" name="Google Shape;4548;p50"/>
          <p:cNvSpPr/>
          <p:nvPr/>
        </p:nvSpPr>
        <p:spPr>
          <a:xfrm>
            <a:off x="5841975" y="3264408"/>
            <a:ext cx="226597" cy="155448"/>
          </a:xfrm>
          <a:prstGeom prst="rect">
            <a:avLst/>
          </a:prstGeom>
          <a:solidFill>
            <a:srgbClr val="DCCFC3"/>
          </a:solidFill>
          <a:ln cap="flat" cmpd="sng" w="9525">
            <a:solidFill>
              <a:srgbClr val="DCCF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9" name="Google Shape;4549;p50"/>
          <p:cNvSpPr/>
          <p:nvPr/>
        </p:nvSpPr>
        <p:spPr>
          <a:xfrm>
            <a:off x="3963483" y="3264408"/>
            <a:ext cx="283247" cy="155448"/>
          </a:xfrm>
          <a:prstGeom prst="rect">
            <a:avLst/>
          </a:prstGeom>
          <a:solidFill>
            <a:srgbClr val="D9A441"/>
          </a:solidFill>
          <a:ln cap="flat" cmpd="sng" w="9525">
            <a:solidFill>
              <a:srgbClr val="D9A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0" name="Google Shape;4550;p50"/>
          <p:cNvSpPr txBox="1"/>
          <p:nvPr/>
        </p:nvSpPr>
        <p:spPr>
          <a:xfrm>
            <a:off x="11201400" y="3264408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3,1 %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51" name="Google Shape;4551;p50"/>
          <p:cNvCxnSpPr/>
          <p:nvPr/>
        </p:nvCxnSpPr>
        <p:spPr>
          <a:xfrm>
            <a:off x="731520" y="3511296"/>
            <a:ext cx="0" cy="521208"/>
          </a:xfrm>
          <a:prstGeom prst="straightConnector1">
            <a:avLst/>
          </a:prstGeom>
          <a:noFill/>
          <a:ln cap="flat" cmpd="sng" w="19050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52" name="Google Shape;4552;p50"/>
          <p:cNvSpPr txBox="1"/>
          <p:nvPr/>
        </p:nvSpPr>
        <p:spPr>
          <a:xfrm rot="-5400000">
            <a:off x="260604" y="3689604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700"/>
              <a:buFont typeface="Calibri"/>
              <a:buNone/>
            </a:pPr>
            <a:r>
              <a:rPr b="1" i="0" lang="es-CO" sz="7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DRENAJE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3" name="Google Shape;4553;p50"/>
          <p:cNvSpPr txBox="1"/>
          <p:nvPr/>
        </p:nvSpPr>
        <p:spPr>
          <a:xfrm>
            <a:off x="777240" y="3511296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Cunetas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4" name="Google Shape;4554;p50"/>
          <p:cNvSpPr/>
          <p:nvPr/>
        </p:nvSpPr>
        <p:spPr>
          <a:xfrm>
            <a:off x="2103120" y="3511296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5" name="Google Shape;4555;p50"/>
          <p:cNvSpPr txBox="1"/>
          <p:nvPr/>
        </p:nvSpPr>
        <p:spPr>
          <a:xfrm>
            <a:off x="11201400" y="3511296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6" name="Google Shape;4556;p50"/>
          <p:cNvSpPr txBox="1"/>
          <p:nvPr/>
        </p:nvSpPr>
        <p:spPr>
          <a:xfrm>
            <a:off x="777240" y="3694176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Filtros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7" name="Google Shape;4557;p50"/>
          <p:cNvSpPr txBox="1"/>
          <p:nvPr/>
        </p:nvSpPr>
        <p:spPr>
          <a:xfrm>
            <a:off x="1920240" y="3694176"/>
            <a:ext cx="137160" cy="777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700"/>
              <a:buFont typeface="Calibri"/>
              <a:buNone/>
            </a:pPr>
            <a:r>
              <a:rPr b="0" i="0" lang="es-CO" sz="7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8" name="Google Shape;4558;p50"/>
          <p:cNvSpPr txBox="1"/>
          <p:nvPr/>
        </p:nvSpPr>
        <p:spPr>
          <a:xfrm>
            <a:off x="1920240" y="3771900"/>
            <a:ext cx="137160" cy="777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700"/>
              <a:buFont typeface="Calibri"/>
              <a:buNone/>
            </a:pPr>
            <a:r>
              <a:rPr b="0" i="0" lang="es-CO" sz="7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9" name="Google Shape;4559;p50"/>
          <p:cNvSpPr/>
          <p:nvPr/>
        </p:nvSpPr>
        <p:spPr>
          <a:xfrm>
            <a:off x="2103120" y="3694176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60" name="Google Shape;4560;p50"/>
          <p:cNvCxnSpPr/>
          <p:nvPr/>
        </p:nvCxnSpPr>
        <p:spPr>
          <a:xfrm>
            <a:off x="2103120" y="3771900"/>
            <a:ext cx="9052560" cy="0"/>
          </a:xfrm>
          <a:prstGeom prst="straightConnector1">
            <a:avLst/>
          </a:prstGeom>
          <a:noFill/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61" name="Google Shape;4561;p50"/>
          <p:cNvSpPr/>
          <p:nvPr/>
        </p:nvSpPr>
        <p:spPr>
          <a:xfrm>
            <a:off x="3915898" y="3694176"/>
            <a:ext cx="283247" cy="73152"/>
          </a:xfrm>
          <a:prstGeom prst="rect">
            <a:avLst/>
          </a:prstGeom>
          <a:solidFill>
            <a:srgbClr val="2E7D4F"/>
          </a:solidFill>
          <a:ln cap="flat" cmpd="sng" w="9525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2" name="Google Shape;4562;p50"/>
          <p:cNvSpPr/>
          <p:nvPr/>
        </p:nvSpPr>
        <p:spPr>
          <a:xfrm>
            <a:off x="4595690" y="3694176"/>
            <a:ext cx="169948" cy="73152"/>
          </a:xfrm>
          <a:prstGeom prst="rect">
            <a:avLst/>
          </a:prstGeom>
          <a:solidFill>
            <a:srgbClr val="2E7D4F"/>
          </a:solidFill>
          <a:ln cap="flat" cmpd="sng" w="9525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3" name="Google Shape;4563;p50"/>
          <p:cNvSpPr/>
          <p:nvPr/>
        </p:nvSpPr>
        <p:spPr>
          <a:xfrm>
            <a:off x="4878936" y="3694176"/>
            <a:ext cx="283247" cy="73152"/>
          </a:xfrm>
          <a:prstGeom prst="rect">
            <a:avLst/>
          </a:prstGeom>
          <a:solidFill>
            <a:srgbClr val="2E7D4F"/>
          </a:solidFill>
          <a:ln cap="flat" cmpd="sng" w="9525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4" name="Google Shape;4564;p50"/>
          <p:cNvSpPr/>
          <p:nvPr/>
        </p:nvSpPr>
        <p:spPr>
          <a:xfrm>
            <a:off x="5502079" y="3694176"/>
            <a:ext cx="283247" cy="73152"/>
          </a:xfrm>
          <a:prstGeom prst="rect">
            <a:avLst/>
          </a:prstGeom>
          <a:solidFill>
            <a:srgbClr val="2E7D4F"/>
          </a:solidFill>
          <a:ln cap="flat" cmpd="sng" w="9525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5" name="Google Shape;4565;p50"/>
          <p:cNvSpPr/>
          <p:nvPr/>
        </p:nvSpPr>
        <p:spPr>
          <a:xfrm>
            <a:off x="3972547" y="3776472"/>
            <a:ext cx="906389" cy="73152"/>
          </a:xfrm>
          <a:prstGeom prst="rect">
            <a:avLst/>
          </a:prstGeom>
          <a:solidFill>
            <a:srgbClr val="2E7D4F"/>
          </a:solidFill>
          <a:ln cap="flat" cmpd="sng" w="9525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6" name="Google Shape;4566;p50"/>
          <p:cNvSpPr txBox="1"/>
          <p:nvPr/>
        </p:nvSpPr>
        <p:spPr>
          <a:xfrm>
            <a:off x="11201400" y="3694176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14 %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7" name="Google Shape;4567;p50"/>
          <p:cNvSpPr txBox="1"/>
          <p:nvPr/>
        </p:nvSpPr>
        <p:spPr>
          <a:xfrm>
            <a:off x="777240" y="3877056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0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Alcantarillas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8" name="Google Shape;4568;p50"/>
          <p:cNvSpPr/>
          <p:nvPr/>
        </p:nvSpPr>
        <p:spPr>
          <a:xfrm>
            <a:off x="2103120" y="3877056"/>
            <a:ext cx="9052560" cy="155448"/>
          </a:xfrm>
          <a:prstGeom prst="rect">
            <a:avLst/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9" name="Google Shape;4569;p50"/>
          <p:cNvSpPr/>
          <p:nvPr/>
        </p:nvSpPr>
        <p:spPr>
          <a:xfrm>
            <a:off x="3915898" y="3877056"/>
            <a:ext cx="2775816" cy="155448"/>
          </a:xfrm>
          <a:prstGeom prst="rect">
            <a:avLst/>
          </a:prstGeom>
          <a:solidFill>
            <a:srgbClr val="A9C7B3"/>
          </a:solidFill>
          <a:ln cap="flat" cmpd="sng" w="9525">
            <a:solidFill>
              <a:srgbClr val="A9C7B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0" name="Google Shape;4570;p50"/>
          <p:cNvSpPr/>
          <p:nvPr/>
        </p:nvSpPr>
        <p:spPr>
          <a:xfrm>
            <a:off x="4199145" y="3877056"/>
            <a:ext cx="169948" cy="155448"/>
          </a:xfrm>
          <a:prstGeom prst="rect">
            <a:avLst/>
          </a:prstGeom>
          <a:solidFill>
            <a:srgbClr val="E07B24"/>
          </a:solidFill>
          <a:ln cap="flat" cmpd="sng" w="9525">
            <a:solidFill>
              <a:srgbClr val="E07B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1" name="Google Shape;4571;p50"/>
          <p:cNvSpPr txBox="1"/>
          <p:nvPr/>
        </p:nvSpPr>
        <p:spPr>
          <a:xfrm>
            <a:off x="11201400" y="3877056"/>
            <a:ext cx="530352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900"/>
              <a:buFont typeface="Calibri"/>
              <a:buNone/>
            </a:pPr>
            <a:r>
              <a:rPr b="1" i="0" lang="es-CO" sz="9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36 %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2" name="Google Shape;4572;p50"/>
          <p:cNvSpPr txBox="1"/>
          <p:nvPr/>
        </p:nvSpPr>
        <p:spPr>
          <a:xfrm>
            <a:off x="457200" y="4078224"/>
            <a:ext cx="11277295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D9A6"/>
              </a:buClr>
              <a:buSzPts val="800"/>
              <a:buFont typeface="Calibri"/>
              <a:buNone/>
            </a:pPr>
            <a:r>
              <a:rPr b="0" i="0" lang="es-CO" sz="800" u="none" cap="none" strike="noStrike">
                <a:solidFill>
                  <a:srgbClr val="EBD9A6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Natural    </a:t>
            </a:r>
            <a:r>
              <a:rPr b="0" i="0" lang="es-CO" sz="800" u="none" cap="none" strike="noStrike">
                <a:solidFill>
                  <a:srgbClr val="8C6A4F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Cal    </a:t>
            </a:r>
            <a:r>
              <a:rPr b="0" i="0" lang="es-CO" sz="800" u="none" cap="none" strike="noStrike">
                <a:solidFill>
                  <a:srgbClr val="D9A441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Cemento    </a:t>
            </a:r>
            <a:r>
              <a:rPr b="0" i="0" lang="es-CO" sz="800" u="none" cap="none" strike="noStrike">
                <a:solidFill>
                  <a:srgbClr val="1F2A36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TSD    </a:t>
            </a:r>
            <a:r>
              <a:rPr b="0" i="0" lang="es-CO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MDC-19    </a:t>
            </a:r>
            <a:r>
              <a:rPr b="0" i="0" lang="es-CO" sz="8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Ejecutado    </a:t>
            </a:r>
            <a:r>
              <a:rPr b="0" i="0" lang="es-CO" sz="800" u="none" cap="none" strike="noStrike">
                <a:solidFill>
                  <a:srgbClr val="A9C7B3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Limpieza alcantarillas    </a:t>
            </a:r>
            <a:r>
              <a:rPr b="0" i="0" lang="es-CO" sz="800" u="none" cap="none" strike="noStrike">
                <a:solidFill>
                  <a:srgbClr val="2F6FB0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Alcantarilla nueva    </a:t>
            </a:r>
            <a:r>
              <a:rPr b="0" i="0" lang="es-CO" sz="800" u="none" cap="none" strike="noStrike">
                <a:solidFill>
                  <a:srgbClr val="E07B24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Reemplazada    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3" name="Google Shape;4573;p50"/>
          <p:cNvSpPr txBox="1"/>
          <p:nvPr/>
        </p:nvSpPr>
        <p:spPr>
          <a:xfrm>
            <a:off x="457200" y="4078224"/>
            <a:ext cx="5760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00"/>
              <a:buFont typeface="Calibri"/>
              <a:buNone/>
            </a:pP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Estructura aprobada K8+210 – K18+000 (9,79 km) · tono claro = aprobada, tono fuerte = ejecutada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4" name="Google Shape;4574;p50"/>
          <p:cNvSpPr txBox="1"/>
          <p:nvPr/>
        </p:nvSpPr>
        <p:spPr>
          <a:xfrm>
            <a:off x="457200" y="4301688"/>
            <a:ext cx="5486400" cy="1803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1000"/>
              <a:buFont typeface="Calibri"/>
              <a:buNone/>
            </a:pPr>
            <a:r>
              <a:rPr b="1" i="0" lang="es-CO" sz="10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AVANCE POR ACTIVIDAD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5" name="Google Shape;4575;p50"/>
          <p:cNvSpPr txBox="1"/>
          <p:nvPr/>
        </p:nvSpPr>
        <p:spPr>
          <a:xfrm>
            <a:off x="457200" y="4752463"/>
            <a:ext cx="2011680" cy="16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Construcción alcantarilla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6" name="Google Shape;4576;p50"/>
          <p:cNvSpPr txBox="1"/>
          <p:nvPr/>
        </p:nvSpPr>
        <p:spPr>
          <a:xfrm>
            <a:off x="457200" y="4930970"/>
            <a:ext cx="2011680" cy="16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Construcción cuneta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7" name="Google Shape;4577;p50"/>
          <p:cNvSpPr txBox="1"/>
          <p:nvPr/>
        </p:nvSpPr>
        <p:spPr>
          <a:xfrm>
            <a:off x="457200" y="5109476"/>
            <a:ext cx="2011680" cy="16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Construcción filtro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8" name="Google Shape;4578;p50"/>
          <p:cNvSpPr txBox="1"/>
          <p:nvPr/>
        </p:nvSpPr>
        <p:spPr>
          <a:xfrm>
            <a:off x="457200" y="5287984"/>
            <a:ext cx="2011680" cy="16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Construcción bordillos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9" name="Google Shape;4579;p50"/>
          <p:cNvSpPr txBox="1"/>
          <p:nvPr/>
        </p:nvSpPr>
        <p:spPr>
          <a:xfrm>
            <a:off x="457200" y="5466491"/>
            <a:ext cx="2011680" cy="16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Construcción disipadores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0" name="Google Shape;4580;p50"/>
          <p:cNvSpPr txBox="1"/>
          <p:nvPr/>
        </p:nvSpPr>
        <p:spPr>
          <a:xfrm>
            <a:off x="457200" y="5644998"/>
            <a:ext cx="2011680" cy="16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Estabilización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1" name="Google Shape;4581;p50"/>
          <p:cNvSpPr txBox="1"/>
          <p:nvPr/>
        </p:nvSpPr>
        <p:spPr>
          <a:xfrm>
            <a:off x="457200" y="5823504"/>
            <a:ext cx="2011680" cy="16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Señalización vial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2" name="Google Shape;4582;p50"/>
          <p:cNvSpPr txBox="1"/>
          <p:nvPr/>
        </p:nvSpPr>
        <p:spPr>
          <a:xfrm>
            <a:off x="457200" y="6002011"/>
            <a:ext cx="2011680" cy="16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Obra extra (Acueducto Belmira)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3" name="Google Shape;4583;p50"/>
          <p:cNvSpPr txBox="1"/>
          <p:nvPr/>
        </p:nvSpPr>
        <p:spPr>
          <a:xfrm>
            <a:off x="457200" y="6180519"/>
            <a:ext cx="2011680" cy="16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000"/>
              <a:buFont typeface="Calibri"/>
              <a:buNone/>
            </a:pPr>
            <a:r>
              <a:rPr b="0" i="0" lang="es-CO" sz="10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Obra extra (Conformación vías)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4" name="Google Shape;4584;p50"/>
          <p:cNvSpPr txBox="1"/>
          <p:nvPr/>
        </p:nvSpPr>
        <p:spPr>
          <a:xfrm>
            <a:off x="2651760" y="4536091"/>
            <a:ext cx="2926080" cy="1442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-CO" sz="800" u="none" cap="none" strike="noStrike">
                <a:solidFill>
                  <a:srgbClr val="192D23"/>
                </a:solidFill>
                <a:latin typeface="Arial"/>
                <a:ea typeface="Arial"/>
                <a:cs typeface="Arial"/>
                <a:sym typeface="Arial"/>
              </a:rPr>
              <a:t>Presupuestada  </a:t>
            </a:r>
            <a:r>
              <a:rPr b="0" i="0" lang="es-CO" sz="800" u="none" cap="none" strike="noStrike">
                <a:solidFill>
                  <a:srgbClr val="A9C7B3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r>
              <a:rPr b="0" i="0" lang="es-CO" sz="800" u="none" cap="none" strike="noStrike">
                <a:solidFill>
                  <a:srgbClr val="192D23"/>
                </a:solidFill>
                <a:latin typeface="Arial"/>
                <a:ea typeface="Arial"/>
                <a:cs typeface="Arial"/>
                <a:sym typeface="Arial"/>
              </a:rPr>
              <a:t>    Real  </a:t>
            </a:r>
            <a:r>
              <a:rPr b="0" i="0" lang="es-CO" sz="800" u="none" cap="none" strike="noStrike">
                <a:solidFill>
                  <a:srgbClr val="2E7D4F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5" name="Google Shape;4585;p50"/>
          <p:cNvSpPr/>
          <p:nvPr/>
        </p:nvSpPr>
        <p:spPr>
          <a:xfrm>
            <a:off x="2551176" y="4770493"/>
            <a:ext cx="1219200" cy="67616"/>
          </a:xfrm>
          <a:prstGeom prst="rect">
            <a:avLst/>
          </a:prstGeom>
          <a:solidFill>
            <a:srgbClr val="A9C7B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6" name="Google Shape;4586;p50"/>
          <p:cNvSpPr/>
          <p:nvPr/>
        </p:nvSpPr>
        <p:spPr>
          <a:xfrm>
            <a:off x="2551176" y="4949001"/>
            <a:ext cx="2635303" cy="67616"/>
          </a:xfrm>
          <a:prstGeom prst="rect">
            <a:avLst/>
          </a:prstGeom>
          <a:solidFill>
            <a:srgbClr val="A9C7B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7" name="Google Shape;4587;p50"/>
          <p:cNvSpPr/>
          <p:nvPr/>
        </p:nvSpPr>
        <p:spPr>
          <a:xfrm>
            <a:off x="2551176" y="5127506"/>
            <a:ext cx="2635303" cy="67616"/>
          </a:xfrm>
          <a:prstGeom prst="rect">
            <a:avLst/>
          </a:prstGeom>
          <a:solidFill>
            <a:srgbClr val="A9C7B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8" name="Google Shape;4588;p50"/>
          <p:cNvSpPr/>
          <p:nvPr/>
        </p:nvSpPr>
        <p:spPr>
          <a:xfrm>
            <a:off x="2551176" y="5306014"/>
            <a:ext cx="819302" cy="67616"/>
          </a:xfrm>
          <a:prstGeom prst="rect">
            <a:avLst/>
          </a:prstGeom>
          <a:solidFill>
            <a:srgbClr val="A9C7B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9" name="Google Shape;4589;p50"/>
          <p:cNvSpPr/>
          <p:nvPr/>
        </p:nvSpPr>
        <p:spPr>
          <a:xfrm>
            <a:off x="2551176" y="5484522"/>
            <a:ext cx="4096512" cy="67616"/>
          </a:xfrm>
          <a:prstGeom prst="rect">
            <a:avLst/>
          </a:prstGeom>
          <a:solidFill>
            <a:srgbClr val="A9C7B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0" name="Google Shape;4590;p50"/>
          <p:cNvSpPr/>
          <p:nvPr/>
        </p:nvSpPr>
        <p:spPr>
          <a:xfrm>
            <a:off x="2551176" y="5663028"/>
            <a:ext cx="2632008" cy="67616"/>
          </a:xfrm>
          <a:prstGeom prst="rect">
            <a:avLst/>
          </a:prstGeom>
          <a:solidFill>
            <a:srgbClr val="A9C7B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1" name="Google Shape;4591;p50"/>
          <p:cNvSpPr/>
          <p:nvPr/>
        </p:nvSpPr>
        <p:spPr>
          <a:xfrm>
            <a:off x="2551176" y="5841535"/>
            <a:ext cx="2632008" cy="67616"/>
          </a:xfrm>
          <a:prstGeom prst="rect">
            <a:avLst/>
          </a:prstGeom>
          <a:solidFill>
            <a:srgbClr val="A9C7B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2" name="Google Shape;4592;p50"/>
          <p:cNvSpPr/>
          <p:nvPr/>
        </p:nvSpPr>
        <p:spPr>
          <a:xfrm>
            <a:off x="2551176" y="4847125"/>
            <a:ext cx="4096512" cy="67616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3" name="Google Shape;4593;p50"/>
          <p:cNvSpPr/>
          <p:nvPr/>
        </p:nvSpPr>
        <p:spPr>
          <a:xfrm>
            <a:off x="2551176" y="5025632"/>
            <a:ext cx="4096512" cy="67616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4" name="Google Shape;4594;p50"/>
          <p:cNvSpPr/>
          <p:nvPr/>
        </p:nvSpPr>
        <p:spPr>
          <a:xfrm>
            <a:off x="2551176" y="5204138"/>
            <a:ext cx="4096512" cy="67616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5" name="Google Shape;4595;p50"/>
          <p:cNvSpPr/>
          <p:nvPr/>
        </p:nvSpPr>
        <p:spPr>
          <a:xfrm>
            <a:off x="2551176" y="5382646"/>
            <a:ext cx="4096512" cy="67616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6" name="Google Shape;4596;p50"/>
          <p:cNvSpPr/>
          <p:nvPr/>
        </p:nvSpPr>
        <p:spPr>
          <a:xfrm>
            <a:off x="2551176" y="5561154"/>
            <a:ext cx="4096512" cy="67616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7" name="Google Shape;4597;p50"/>
          <p:cNvSpPr/>
          <p:nvPr/>
        </p:nvSpPr>
        <p:spPr>
          <a:xfrm>
            <a:off x="2551176" y="5739659"/>
            <a:ext cx="4096512" cy="67616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8" name="Google Shape;4598;p50"/>
          <p:cNvSpPr/>
          <p:nvPr/>
        </p:nvSpPr>
        <p:spPr>
          <a:xfrm>
            <a:off x="2551176" y="5918167"/>
            <a:ext cx="4096512" cy="67616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9" name="Google Shape;4599;p50"/>
          <p:cNvSpPr/>
          <p:nvPr/>
        </p:nvSpPr>
        <p:spPr>
          <a:xfrm>
            <a:off x="2551176" y="6096674"/>
            <a:ext cx="4096512" cy="67616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0" name="Google Shape;4600;p50"/>
          <p:cNvSpPr/>
          <p:nvPr/>
        </p:nvSpPr>
        <p:spPr>
          <a:xfrm>
            <a:off x="2551176" y="6275181"/>
            <a:ext cx="4096512" cy="67616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601" name="Google Shape;4601;p50"/>
          <p:cNvGraphicFramePr/>
          <p:nvPr/>
        </p:nvGraphicFramePr>
        <p:xfrm>
          <a:off x="6766560" y="45180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{9EE2CB2E-1363-49F8-B8BA-952F5347F8D7}</a:tableStyleId>
              </a:tblPr>
              <a:tblGrid>
                <a:gridCol w="457200"/>
                <a:gridCol w="841250"/>
                <a:gridCol w="841250"/>
                <a:gridCol w="914400"/>
                <a:gridCol w="914400"/>
                <a:gridCol w="850400"/>
              </a:tblGrid>
              <a:tr h="251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s-CO" sz="8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Unidad</a:t>
                      </a:r>
                      <a:endParaRPr sz="8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s-CO" sz="8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Presupuestada</a:t>
                      </a:r>
                      <a:endParaRPr sz="8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s-CO" sz="8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Real</a:t>
                      </a:r>
                      <a:endParaRPr sz="8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s-CO" sz="8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Ejec. anterior</a:t>
                      </a:r>
                      <a:endParaRPr sz="8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s-CO" sz="8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Ejec. actual</a:t>
                      </a:r>
                      <a:endParaRPr sz="8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1" lang="es-CO" sz="8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Δ semana</a:t>
                      </a:r>
                      <a:endParaRPr sz="85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</a:tr>
              <a:tr h="181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und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336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5F6B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664,6 m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s.r.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8A94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81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25.700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39.950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5F6B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8A94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181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25.700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39.950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5F6B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3.250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5.500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2E7D4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+2.250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81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7.990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39.950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5F6B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s.r.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s.r.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8A94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181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und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75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75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5F6B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s.r.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s.r.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8A94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81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km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25,7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5F6B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2.063 m³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1,25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8A94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181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km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25,7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5F6B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s.r.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s.r.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8A94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81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km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6,15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5F6B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s.r.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s.r.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8A94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181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km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39,950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5F6B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s.r.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s.r.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lang="es-CO" sz="900" u="none" cap="none" strike="noStrike">
                          <a:solidFill>
                            <a:srgbClr val="8A94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900" u="none" cap="none" strike="noStrike"/>
                    </a:p>
                  </a:txBody>
                  <a:tcPr marT="0" marB="0" marR="54875" marL="5487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602" name="Google Shape;4602;p50"/>
          <p:cNvSpPr txBox="1"/>
          <p:nvPr/>
        </p:nvSpPr>
        <p:spPr>
          <a:xfrm>
            <a:off x="457200" y="6400000"/>
            <a:ext cx="5000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s-CO" sz="90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TIEMPO TRANSCURRIDO DEL PLAZO CONTRACTUAL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3" name="Google Shape;4603;p50"/>
          <p:cNvSpPr txBox="1"/>
          <p:nvPr/>
        </p:nvSpPr>
        <p:spPr>
          <a:xfrm>
            <a:off x="5000000" y="6400000"/>
            <a:ext cx="6734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Inicio: </a:t>
            </a:r>
            <a:r>
              <a:rPr b="1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11/02/2026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   ·   Terminación: </a:t>
            </a:r>
            <a:r>
              <a:rPr b="1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11/08/2027</a:t>
            </a:r>
            <a:r>
              <a:rPr b="0" i="0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   ·   Al: </a:t>
            </a:r>
            <a:r>
              <a:rPr b="1" i="0" lang="es-CO" sz="8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02/10/2026</a:t>
            </a: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   ·   233 de 546 días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4" name="Google Shape;4604;p50"/>
          <p:cNvSpPr/>
          <p:nvPr/>
        </p:nvSpPr>
        <p:spPr>
          <a:xfrm>
            <a:off x="457200" y="6598920"/>
            <a:ext cx="11277600" cy="164592"/>
          </a:xfrm>
          <a:prstGeom prst="roundRect">
            <a:avLst>
              <a:gd fmla="val 50000" name="adj"/>
            </a:avLst>
          </a:prstGeom>
          <a:solidFill>
            <a:srgbClr val="EEF1EF"/>
          </a:solidFill>
          <a:ln cap="flat" cmpd="sng" w="9525">
            <a:solidFill>
              <a:srgbClr val="DDE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5" name="Google Shape;4605;p50"/>
          <p:cNvSpPr/>
          <p:nvPr/>
        </p:nvSpPr>
        <p:spPr>
          <a:xfrm>
            <a:off x="457200" y="6598920"/>
            <a:ext cx="4812602" cy="164592"/>
          </a:xfrm>
          <a:prstGeom prst="roundRect">
            <a:avLst>
              <a:gd fmla="val 50000" name="adj"/>
            </a:avLst>
          </a:prstGeom>
          <a:solidFill>
            <a:srgbClr val="2E7D4F"/>
          </a:solidFill>
          <a:ln cap="flat" cmpd="sng" w="9525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s-CO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42,7 %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06" name="Google Shape;4606;p50"/>
          <p:cNvCxnSpPr/>
          <p:nvPr/>
        </p:nvCxnSpPr>
        <p:spPr>
          <a:xfrm>
            <a:off x="828989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07" name="Google Shape;4607;p50"/>
          <p:cNvCxnSpPr/>
          <p:nvPr/>
        </p:nvCxnSpPr>
        <p:spPr>
          <a:xfrm>
            <a:off x="1469292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08" name="Google Shape;4608;p50"/>
          <p:cNvCxnSpPr/>
          <p:nvPr/>
        </p:nvCxnSpPr>
        <p:spPr>
          <a:xfrm>
            <a:off x="2088940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09" name="Google Shape;4609;p50"/>
          <p:cNvCxnSpPr/>
          <p:nvPr/>
        </p:nvCxnSpPr>
        <p:spPr>
          <a:xfrm>
            <a:off x="2729243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10" name="Google Shape;4610;p50"/>
          <p:cNvCxnSpPr/>
          <p:nvPr/>
        </p:nvCxnSpPr>
        <p:spPr>
          <a:xfrm>
            <a:off x="3348892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11" name="Google Shape;4611;p50"/>
          <p:cNvCxnSpPr/>
          <p:nvPr/>
        </p:nvCxnSpPr>
        <p:spPr>
          <a:xfrm>
            <a:off x="3989195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12" name="Google Shape;4612;p50"/>
          <p:cNvCxnSpPr/>
          <p:nvPr/>
        </p:nvCxnSpPr>
        <p:spPr>
          <a:xfrm>
            <a:off x="4629498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13" name="Google Shape;4613;p50"/>
          <p:cNvCxnSpPr/>
          <p:nvPr/>
        </p:nvCxnSpPr>
        <p:spPr>
          <a:xfrm>
            <a:off x="5249147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14" name="Google Shape;4614;p50"/>
          <p:cNvCxnSpPr/>
          <p:nvPr/>
        </p:nvCxnSpPr>
        <p:spPr>
          <a:xfrm>
            <a:off x="5889450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15" name="Google Shape;4615;p50"/>
          <p:cNvCxnSpPr/>
          <p:nvPr/>
        </p:nvCxnSpPr>
        <p:spPr>
          <a:xfrm>
            <a:off x="6509098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16" name="Google Shape;4616;p50"/>
          <p:cNvCxnSpPr/>
          <p:nvPr/>
        </p:nvCxnSpPr>
        <p:spPr>
          <a:xfrm>
            <a:off x="7149402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17" name="Google Shape;4617;p50"/>
          <p:cNvCxnSpPr/>
          <p:nvPr/>
        </p:nvCxnSpPr>
        <p:spPr>
          <a:xfrm>
            <a:off x="7789705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18" name="Google Shape;4618;p50"/>
          <p:cNvCxnSpPr/>
          <p:nvPr/>
        </p:nvCxnSpPr>
        <p:spPr>
          <a:xfrm>
            <a:off x="8368043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19" name="Google Shape;4619;p50"/>
          <p:cNvCxnSpPr/>
          <p:nvPr/>
        </p:nvCxnSpPr>
        <p:spPr>
          <a:xfrm>
            <a:off x="9008347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20" name="Google Shape;4620;p50"/>
          <p:cNvCxnSpPr/>
          <p:nvPr/>
        </p:nvCxnSpPr>
        <p:spPr>
          <a:xfrm>
            <a:off x="9627995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21" name="Google Shape;4621;p50"/>
          <p:cNvCxnSpPr/>
          <p:nvPr/>
        </p:nvCxnSpPr>
        <p:spPr>
          <a:xfrm>
            <a:off x="10268298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22" name="Google Shape;4622;p50"/>
          <p:cNvCxnSpPr/>
          <p:nvPr/>
        </p:nvCxnSpPr>
        <p:spPr>
          <a:xfrm>
            <a:off x="10887947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23" name="Google Shape;4623;p50"/>
          <p:cNvCxnSpPr/>
          <p:nvPr/>
        </p:nvCxnSpPr>
        <p:spPr>
          <a:xfrm>
            <a:off x="11528250" y="6763512"/>
            <a:ext cx="0" cy="36576"/>
          </a:xfrm>
          <a:prstGeom prst="straightConnector1">
            <a:avLst/>
          </a:prstGeom>
          <a:noFill/>
          <a:ln cap="flat" cmpd="sng" w="9525">
            <a:solidFill>
              <a:srgbClr val="5F6B6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24" name="Google Shape;4624;p50"/>
          <p:cNvCxnSpPr/>
          <p:nvPr/>
        </p:nvCxnSpPr>
        <p:spPr>
          <a:xfrm>
            <a:off x="5269802" y="6562344"/>
            <a:ext cx="0" cy="237744"/>
          </a:xfrm>
          <a:prstGeom prst="straightConnector1">
            <a:avLst/>
          </a:prstGeom>
          <a:noFill/>
          <a:ln cap="flat" cmpd="sng" w="19050">
            <a:solidFill>
              <a:srgbClr val="B3261E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29" name="Shape 4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0" name="Google Shape;4630;p51"/>
          <p:cNvSpPr txBox="1"/>
          <p:nvPr/>
        </p:nvSpPr>
        <p:spPr>
          <a:xfrm>
            <a:off x="457200" y="320040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1200"/>
              <a:buFont typeface="Calibri"/>
              <a:buNone/>
            </a:pPr>
            <a:r>
              <a:rPr b="1" i="0" lang="es-CO" sz="1200" u="none" cap="none" strike="noStrike">
                <a:solidFill>
                  <a:srgbClr val="2E7D4F"/>
                </a:solidFill>
                <a:latin typeface="Poppins"/>
                <a:ea typeface="Poppins"/>
                <a:cs typeface="Poppins"/>
                <a:sym typeface="Poppins"/>
              </a:rPr>
              <a:t>CONSOLIDADO DE VARIACIÓN DE ALCANCES  ·  LOTE 8 – SUBREGIÓN NORTE</a:t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631" name="Google Shape;4631;p51"/>
          <p:cNvSpPr txBox="1"/>
          <p:nvPr/>
        </p:nvSpPr>
        <p:spPr>
          <a:xfrm>
            <a:off x="457200" y="594360"/>
            <a:ext cx="9692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2800"/>
              <a:buFont typeface="Calibri"/>
              <a:buNone/>
            </a:pPr>
            <a:r>
              <a:rPr b="1" i="0" lang="es-CO" sz="28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Consolidado Lote 8 – Norte</a:t>
            </a:r>
            <a:endParaRPr b="0" i="0" sz="2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descr="logo.png" id="4632" name="Google Shape;4632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78440" y="320040"/>
            <a:ext cx="1371600" cy="676656"/>
          </a:xfrm>
          <a:prstGeom prst="rect">
            <a:avLst/>
          </a:prstGeom>
          <a:noFill/>
          <a:ln>
            <a:noFill/>
          </a:ln>
        </p:spPr>
      </p:pic>
      <p:sp>
        <p:nvSpPr>
          <p:cNvPr id="4633" name="Google Shape;4633;p51"/>
          <p:cNvSpPr/>
          <p:nvPr/>
        </p:nvSpPr>
        <p:spPr>
          <a:xfrm>
            <a:off x="457200" y="128016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4" name="Google Shape;4634;p51"/>
          <p:cNvSpPr txBox="1"/>
          <p:nvPr/>
        </p:nvSpPr>
        <p:spPr>
          <a:xfrm>
            <a:off x="594360" y="1353312"/>
            <a:ext cx="1834835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050"/>
              <a:buFont typeface="Calibri"/>
              <a:buNone/>
            </a:pPr>
            <a:r>
              <a:rPr b="0" i="0" lang="es-CO" sz="10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Km contratados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5" name="Google Shape;4635;p51"/>
          <p:cNvSpPr txBox="1"/>
          <p:nvPr/>
        </p:nvSpPr>
        <p:spPr>
          <a:xfrm>
            <a:off x="594360" y="1581912"/>
            <a:ext cx="183483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117,25 km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6" name="Google Shape;4636;p51"/>
          <p:cNvSpPr txBox="1"/>
          <p:nvPr/>
        </p:nvSpPr>
        <p:spPr>
          <a:xfrm>
            <a:off x="594360" y="1901952"/>
            <a:ext cx="1834835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1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6 corredores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7" name="Google Shape;4637;p51"/>
          <p:cNvSpPr/>
          <p:nvPr/>
        </p:nvSpPr>
        <p:spPr>
          <a:xfrm>
            <a:off x="2749235" y="128016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8" name="Google Shape;4638;p51"/>
          <p:cNvSpPr txBox="1"/>
          <p:nvPr/>
        </p:nvSpPr>
        <p:spPr>
          <a:xfrm>
            <a:off x="2886395" y="1353312"/>
            <a:ext cx="1834835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050"/>
              <a:buFont typeface="Calibri"/>
              <a:buNone/>
            </a:pPr>
            <a:r>
              <a:rPr b="0" i="0" lang="es-CO" sz="10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Km que se alcanzan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9" name="Google Shape;4639;p51"/>
          <p:cNvSpPr txBox="1"/>
          <p:nvPr/>
        </p:nvSpPr>
        <p:spPr>
          <a:xfrm>
            <a:off x="2886395" y="1581912"/>
            <a:ext cx="183483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D2E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0B5D2E"/>
                </a:solidFill>
                <a:latin typeface="Calibri"/>
                <a:ea typeface="Calibri"/>
                <a:cs typeface="Calibri"/>
                <a:sym typeface="Calibri"/>
              </a:rPr>
              <a:t>80,80 km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0" name="Google Shape;4640;p51"/>
          <p:cNvSpPr txBox="1"/>
          <p:nvPr/>
        </p:nvSpPr>
        <p:spPr>
          <a:xfrm>
            <a:off x="2886395" y="1901952"/>
            <a:ext cx="1834835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1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Cobertura 68,9 % del valor proyectado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1" name="Google Shape;4641;p51"/>
          <p:cNvSpPr/>
          <p:nvPr/>
        </p:nvSpPr>
        <p:spPr>
          <a:xfrm>
            <a:off x="5041270" y="128016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2" name="Google Shape;4642;p51"/>
          <p:cNvSpPr txBox="1"/>
          <p:nvPr/>
        </p:nvSpPr>
        <p:spPr>
          <a:xfrm>
            <a:off x="5178430" y="1353312"/>
            <a:ext cx="1834835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050"/>
              <a:buFont typeface="Calibri"/>
              <a:buNone/>
            </a:pPr>
            <a:r>
              <a:rPr b="0" i="0" lang="es-CO" sz="10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Valor contractual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3" name="Google Shape;4643;p51"/>
          <p:cNvSpPr txBox="1"/>
          <p:nvPr/>
        </p:nvSpPr>
        <p:spPr>
          <a:xfrm>
            <a:off x="5178430" y="1581912"/>
            <a:ext cx="183483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$ 112.298.722.708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4" name="Google Shape;4644;p51"/>
          <p:cNvSpPr txBox="1"/>
          <p:nvPr/>
        </p:nvSpPr>
        <p:spPr>
          <a:xfrm>
            <a:off x="5178430" y="1901952"/>
            <a:ext cx="1834835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1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$ 957.771.622 por km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5" name="Google Shape;4645;p51"/>
          <p:cNvSpPr/>
          <p:nvPr/>
        </p:nvSpPr>
        <p:spPr>
          <a:xfrm>
            <a:off x="7333305" y="128016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6" name="Google Shape;4646;p51"/>
          <p:cNvSpPr txBox="1"/>
          <p:nvPr/>
        </p:nvSpPr>
        <p:spPr>
          <a:xfrm>
            <a:off x="7470465" y="1353312"/>
            <a:ext cx="1834835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050"/>
              <a:buFont typeface="Calibri"/>
              <a:buNone/>
            </a:pPr>
            <a:r>
              <a:rPr b="0" i="0" lang="es-CO" sz="10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Valor proyectado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7" name="Google Shape;4647;p51"/>
          <p:cNvSpPr txBox="1"/>
          <p:nvPr/>
        </p:nvSpPr>
        <p:spPr>
          <a:xfrm>
            <a:off x="7470465" y="1581912"/>
            <a:ext cx="183483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$ 163.021.871.307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8" name="Google Shape;4648;p51"/>
          <p:cNvSpPr txBox="1"/>
          <p:nvPr/>
        </p:nvSpPr>
        <p:spPr>
          <a:xfrm>
            <a:off x="7470465" y="1901952"/>
            <a:ext cx="1834835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1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$ 1.390.378.433 por km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9" name="Google Shape;4649;p51"/>
          <p:cNvSpPr/>
          <p:nvPr/>
        </p:nvSpPr>
        <p:spPr>
          <a:xfrm>
            <a:off x="9625340" y="1280160"/>
            <a:ext cx="2109155" cy="868680"/>
          </a:xfrm>
          <a:prstGeom prst="roundRect">
            <a:avLst>
              <a:gd fmla="val 8421" name="adj"/>
            </a:avLst>
          </a:prstGeom>
          <a:solidFill>
            <a:srgbClr val="FBEAEA"/>
          </a:solidFill>
          <a:ln cap="flat" cmpd="sng" w="12700">
            <a:solidFill>
              <a:srgbClr val="FBEA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0" name="Google Shape;4650;p51"/>
          <p:cNvSpPr txBox="1"/>
          <p:nvPr/>
        </p:nvSpPr>
        <p:spPr>
          <a:xfrm>
            <a:off x="9762500" y="1353312"/>
            <a:ext cx="1834835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050"/>
              <a:buFont typeface="Calibri"/>
              <a:buNone/>
            </a:pPr>
            <a:r>
              <a:rPr b="0" i="0" lang="es-CO" sz="10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Adición estimada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1" name="Google Shape;4651;p51"/>
          <p:cNvSpPr txBox="1"/>
          <p:nvPr/>
        </p:nvSpPr>
        <p:spPr>
          <a:xfrm>
            <a:off x="9762500" y="1581912"/>
            <a:ext cx="183483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261E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B3261E"/>
                </a:solidFill>
                <a:latin typeface="Calibri"/>
                <a:ea typeface="Calibri"/>
                <a:cs typeface="Calibri"/>
                <a:sym typeface="Calibri"/>
              </a:rPr>
              <a:t>▲ $ 50.723.148.599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2" name="Google Shape;4652;p51"/>
          <p:cNvSpPr txBox="1"/>
          <p:nvPr/>
        </p:nvSpPr>
        <p:spPr>
          <a:xfrm>
            <a:off x="9762500" y="1901952"/>
            <a:ext cx="1834835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50"/>
              <a:buFont typeface="Calibri"/>
              <a:buNone/>
            </a:pPr>
            <a:r>
              <a:rPr b="0" i="1" lang="es-CO" sz="85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+45,2 % sobre lo contractual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653" name="Google Shape;4653;p51"/>
          <p:cNvGraphicFramePr/>
          <p:nvPr/>
        </p:nvGraphicFramePr>
        <p:xfrm>
          <a:off x="457200" y="23774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{2219430B-40B1-4F13-8D99-EA5D7966678A}</a:tableStyleId>
              </a:tblPr>
              <a:tblGrid>
                <a:gridCol w="2743200"/>
                <a:gridCol w="621800"/>
                <a:gridCol w="1280150"/>
                <a:gridCol w="1005850"/>
                <a:gridCol w="1280150"/>
                <a:gridCol w="1005850"/>
                <a:gridCol w="795525"/>
                <a:gridCol w="1280150"/>
                <a:gridCol w="640075"/>
                <a:gridCol w="62180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Corredor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Longitud (km)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Valor contractual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$/km contractual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Valor proyectado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$/km proyectado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Longitud probable (km)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Variación (valor adicional)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 variación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Cobertura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Santa Rosa – Carolina del Príncipe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33,67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$ 32.607.964.751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$ 968.457.522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$ 46.089.040.662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$ 1.368.845.877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23,82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▲ $ 13.481.075.911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41,3 %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70,7 %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Entrerríos – San José de la Montaña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39,95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$ 36.281.519.666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$ 908.173.208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$ 56.270.619.599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$ 1.408.526.148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25,76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▲ $ 19.989.099.933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55,1 %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64,5 %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SUBTOTAL CORREDORES CON PROYECCIÓN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73,62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$ 68.889.484.417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$ 935.744.151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$ 102.359.660.261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$ 1.390.378.433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49,58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▲ $ 33.470.175.844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48,6 %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67,3 %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6DB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B65"/>
                        </a:buClr>
                        <a:buSzPts val="950"/>
                        <a:buFont typeface="Calibri"/>
                        <a:buNone/>
                      </a:pPr>
                      <a:r>
                        <a:rPr i="1" lang="es-CO" sz="9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 Guayabo – El Salto – Partidas a Guadalupe *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B65"/>
                        </a:buClr>
                        <a:buSzPts val="950"/>
                        <a:buFont typeface="Calibri"/>
                        <a:buNone/>
                      </a:pPr>
                      <a:r>
                        <a:rPr i="1" lang="es-CO" sz="9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10,61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B65"/>
                        </a:buClr>
                        <a:buSzPts val="950"/>
                        <a:buFont typeface="Calibri"/>
                        <a:buNone/>
                      </a:pPr>
                      <a:r>
                        <a:rPr i="1" lang="es-CO" sz="9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$ 10.454.365.274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B65"/>
                        </a:buClr>
                        <a:buSzPts val="950"/>
                        <a:buFont typeface="Calibri"/>
                        <a:buNone/>
                      </a:pPr>
                      <a:r>
                        <a:rPr i="1" lang="es-CO" sz="9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$ 985.331.317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B65"/>
                        </a:buClr>
                        <a:buSzPts val="950"/>
                        <a:buFont typeface="Calibri"/>
                        <a:buNone/>
                      </a:pPr>
                      <a:r>
                        <a:rPr i="1" lang="es-CO" sz="9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$ 14.751.915.178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B65"/>
                        </a:buClr>
                        <a:buSzPts val="950"/>
                        <a:buFont typeface="Calibri"/>
                        <a:buNone/>
                      </a:pPr>
                      <a:r>
                        <a:rPr i="1" lang="es-CO" sz="9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$ 1.390.378.433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B65"/>
                        </a:buClr>
                        <a:buSzPts val="950"/>
                        <a:buFont typeface="Calibri"/>
                        <a:buNone/>
                      </a:pPr>
                      <a:r>
                        <a:rPr b="1" i="1" lang="es-CO" sz="9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7,52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i="1"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▲ $ 4.297.549.904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i="1"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41,1 %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B65"/>
                        </a:buClr>
                        <a:buSzPts val="950"/>
                        <a:buFont typeface="Calibri"/>
                        <a:buNone/>
                      </a:pPr>
                      <a:r>
                        <a:rPr i="1" lang="es-CO" sz="9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70,9 %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B65"/>
                        </a:buClr>
                        <a:buSzPts val="950"/>
                        <a:buFont typeface="Calibri"/>
                        <a:buNone/>
                      </a:pPr>
                      <a:r>
                        <a:rPr i="1" lang="es-CO" sz="9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Carolina del Príncipe – Angostura *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B65"/>
                        </a:buClr>
                        <a:buSzPts val="950"/>
                        <a:buFont typeface="Calibri"/>
                        <a:buNone/>
                      </a:pPr>
                      <a:r>
                        <a:rPr i="1" lang="es-CO" sz="9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13,62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B65"/>
                        </a:buClr>
                        <a:buSzPts val="950"/>
                        <a:buFont typeface="Calibri"/>
                        <a:buNone/>
                      </a:pPr>
                      <a:r>
                        <a:rPr i="1" lang="es-CO" sz="9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$ 13.507.950.916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B65"/>
                        </a:buClr>
                        <a:buSzPts val="950"/>
                        <a:buFont typeface="Calibri"/>
                        <a:buNone/>
                      </a:pPr>
                      <a:r>
                        <a:rPr i="1" lang="es-CO" sz="9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$ 991.773.195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B65"/>
                        </a:buClr>
                        <a:buSzPts val="950"/>
                        <a:buFont typeface="Calibri"/>
                        <a:buNone/>
                      </a:pPr>
                      <a:r>
                        <a:rPr i="1" lang="es-CO" sz="9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$ 18.936.954.262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B65"/>
                        </a:buClr>
                        <a:buSzPts val="950"/>
                        <a:buFont typeface="Calibri"/>
                        <a:buNone/>
                      </a:pPr>
                      <a:r>
                        <a:rPr i="1" lang="es-CO" sz="9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$ 1.390.378.433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B65"/>
                        </a:buClr>
                        <a:buSzPts val="950"/>
                        <a:buFont typeface="Calibri"/>
                        <a:buNone/>
                      </a:pPr>
                      <a:r>
                        <a:rPr b="1" i="1" lang="es-CO" sz="9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9,72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i="1"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▲ $ 5.429.003.346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i="1"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40,2 %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B65"/>
                        </a:buClr>
                        <a:buSzPts val="950"/>
                        <a:buFont typeface="Calibri"/>
                        <a:buNone/>
                      </a:pPr>
                      <a:r>
                        <a:rPr i="1" lang="es-CO" sz="9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71,3 %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B65"/>
                        </a:buClr>
                        <a:buSzPts val="950"/>
                        <a:buFont typeface="Calibri"/>
                        <a:buNone/>
                      </a:pPr>
                      <a:r>
                        <a:rPr i="1" lang="es-CO" sz="9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Alto del Cardal – Toledo *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B65"/>
                        </a:buClr>
                        <a:buSzPts val="950"/>
                        <a:buFont typeface="Calibri"/>
                        <a:buNone/>
                      </a:pPr>
                      <a:r>
                        <a:rPr i="1" lang="es-CO" sz="9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15,00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B65"/>
                        </a:buClr>
                        <a:buSzPts val="950"/>
                        <a:buFont typeface="Calibri"/>
                        <a:buNone/>
                      </a:pPr>
                      <a:r>
                        <a:rPr i="1" lang="es-CO" sz="9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$ 14.858.442.789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B65"/>
                        </a:buClr>
                        <a:buSzPts val="950"/>
                        <a:buFont typeface="Calibri"/>
                        <a:buNone/>
                      </a:pPr>
                      <a:r>
                        <a:rPr i="1" lang="es-CO" sz="9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$ 990.562.853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B65"/>
                        </a:buClr>
                        <a:buSzPts val="950"/>
                        <a:buFont typeface="Calibri"/>
                        <a:buNone/>
                      </a:pPr>
                      <a:r>
                        <a:rPr i="1" lang="es-CO" sz="9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$ 20.855.676.500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B65"/>
                        </a:buClr>
                        <a:buSzPts val="950"/>
                        <a:buFont typeface="Calibri"/>
                        <a:buNone/>
                      </a:pPr>
                      <a:r>
                        <a:rPr i="1" lang="es-CO" sz="9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$ 1.390.378.433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B65"/>
                        </a:buClr>
                        <a:buSzPts val="950"/>
                        <a:buFont typeface="Calibri"/>
                        <a:buNone/>
                      </a:pPr>
                      <a:r>
                        <a:rPr b="1" i="1" lang="es-CO" sz="9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10,69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i="1"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▲ $ 5.997.233.711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i="1"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40,4 %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B65"/>
                        </a:buClr>
                        <a:buSzPts val="950"/>
                        <a:buFont typeface="Calibri"/>
                        <a:buNone/>
                      </a:pPr>
                      <a:r>
                        <a:rPr i="1" lang="es-CO" sz="9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71,2 %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B65"/>
                        </a:buClr>
                        <a:buSzPts val="950"/>
                        <a:buFont typeface="Calibri"/>
                        <a:buNone/>
                      </a:pPr>
                      <a:r>
                        <a:rPr i="1" lang="es-CO" sz="9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Sopetrán – Horizontes – Belmira (tramo Norte) *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B65"/>
                        </a:buClr>
                        <a:buSzPts val="950"/>
                        <a:buFont typeface="Calibri"/>
                        <a:buNone/>
                      </a:pPr>
                      <a:r>
                        <a:rPr i="1" lang="es-CO" sz="9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4,40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B65"/>
                        </a:buClr>
                        <a:buSzPts val="950"/>
                        <a:buFont typeface="Calibri"/>
                        <a:buNone/>
                      </a:pPr>
                      <a:r>
                        <a:rPr i="1" lang="es-CO" sz="9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$ 4.588.479.312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B65"/>
                        </a:buClr>
                        <a:buSzPts val="950"/>
                        <a:buFont typeface="Calibri"/>
                        <a:buNone/>
                      </a:pPr>
                      <a:r>
                        <a:rPr i="1" lang="es-CO" sz="9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$ 1.042.836.207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B65"/>
                        </a:buClr>
                        <a:buSzPts val="950"/>
                        <a:buFont typeface="Calibri"/>
                        <a:buNone/>
                      </a:pPr>
                      <a:r>
                        <a:rPr i="1" lang="es-CO" sz="9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$ 6.117.665.107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B65"/>
                        </a:buClr>
                        <a:buSzPts val="950"/>
                        <a:buFont typeface="Calibri"/>
                        <a:buNone/>
                      </a:pPr>
                      <a:r>
                        <a:rPr i="1" lang="es-CO" sz="9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$ 1.390.378.433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B65"/>
                        </a:buClr>
                        <a:buSzPts val="950"/>
                        <a:buFont typeface="Calibri"/>
                        <a:buNone/>
                      </a:pPr>
                      <a:r>
                        <a:rPr b="1" i="1" lang="es-CO" sz="9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3,30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i="1"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▲ $ 1.529.185.795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i="1"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33,3 %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B65"/>
                        </a:buClr>
                        <a:buSzPts val="950"/>
                        <a:buFont typeface="Calibri"/>
                        <a:buNone/>
                      </a:pPr>
                      <a:r>
                        <a:rPr i="1" lang="es-CO" sz="950" u="none" cap="none" strike="noStrike">
                          <a:solidFill>
                            <a:srgbClr val="5F6B6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75,0 %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LOTE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117,25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$ 112.298.722.708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$ 957.771.622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$ 163.021.871.307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$ 1.390.378.433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80,80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▲ $ 50.723.148.599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45,2 %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68,9 %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</a:tr>
            </a:tbl>
          </a:graphicData>
        </a:graphic>
      </p:graphicFrame>
      <p:sp>
        <p:nvSpPr>
          <p:cNvPr id="4654" name="Google Shape;4654;p51"/>
          <p:cNvSpPr txBox="1"/>
          <p:nvPr/>
        </p:nvSpPr>
        <p:spPr>
          <a:xfrm>
            <a:off x="457200" y="5202936"/>
            <a:ext cx="1127455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00"/>
              <a:buFont typeface="Calibri"/>
              <a:buNone/>
            </a:pP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* Valor contractual según presupuesto del oferente; valor proyectado estimado con el promedio del valor por km proyectado de los corredores con proyección del lote ($ 1.390.378.433).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5" name="Google Shape;4655;p51"/>
          <p:cNvSpPr txBox="1"/>
          <p:nvPr/>
        </p:nvSpPr>
        <p:spPr>
          <a:xfrm>
            <a:off x="457200" y="5376672"/>
            <a:ext cx="1127455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00"/>
              <a:buFont typeface="Calibri"/>
              <a:buNone/>
            </a:pP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Valor total del contrato $ 124.487.403.196 · Valor contractual de obra $ 112.298.722.708 · Valores reembolsables $ 12.188.680.488.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6" name="Google Shape;4656;p51"/>
          <p:cNvSpPr txBox="1"/>
          <p:nvPr/>
        </p:nvSpPr>
        <p:spPr>
          <a:xfrm>
            <a:off x="457200" y="5550408"/>
            <a:ext cx="1127455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00"/>
              <a:buFont typeface="Calibri"/>
              <a:buNone/>
            </a:pP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Longitud probable = longitud × valor contractual ÷ valor proyectado · Cobertura = valor contractual ÷ valor proyectado.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7" name="Google Shape;4657;p51"/>
          <p:cNvSpPr txBox="1"/>
          <p:nvPr/>
        </p:nvSpPr>
        <p:spPr>
          <a:xfrm>
            <a:off x="457200" y="5833872"/>
            <a:ext cx="112745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950"/>
              <a:buFont typeface="Calibri"/>
              <a:buNone/>
            </a:pPr>
            <a:r>
              <a:rPr b="1" i="0" lang="es-CO" sz="950" u="none" cap="none" strike="noStrike">
                <a:solidFill>
                  <a:srgbClr val="2E7D4F"/>
                </a:solidFill>
                <a:latin typeface="Calibri"/>
                <a:ea typeface="Calibri"/>
                <a:cs typeface="Calibri"/>
                <a:sym typeface="Calibri"/>
              </a:rPr>
              <a:t>KILÓMETROS DEL LOTE QUE SE CUBREN CON EL VALOR CONTRACTUAL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8" name="Google Shape;4658;p51"/>
          <p:cNvSpPr/>
          <p:nvPr/>
        </p:nvSpPr>
        <p:spPr>
          <a:xfrm>
            <a:off x="457200" y="6071616"/>
            <a:ext cx="7771588" cy="384048"/>
          </a:xfrm>
          <a:prstGeom prst="rect">
            <a:avLst/>
          </a:prstGeom>
          <a:solidFill>
            <a:srgbClr val="2E7D4F"/>
          </a:solidFill>
          <a:ln cap="flat" cmpd="sng" w="12700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9" name="Google Shape;4659;p51"/>
          <p:cNvSpPr/>
          <p:nvPr/>
        </p:nvSpPr>
        <p:spPr>
          <a:xfrm>
            <a:off x="8228788" y="6071616"/>
            <a:ext cx="3505708" cy="384048"/>
          </a:xfrm>
          <a:prstGeom prst="rect">
            <a:avLst/>
          </a:prstGeom>
          <a:solidFill>
            <a:srgbClr val="B3261E"/>
          </a:solidFill>
          <a:ln cap="flat" cmpd="sng" w="12700">
            <a:solidFill>
              <a:srgbClr val="B326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0" name="Google Shape;4660;p51"/>
          <p:cNvSpPr txBox="1"/>
          <p:nvPr/>
        </p:nvSpPr>
        <p:spPr>
          <a:xfrm>
            <a:off x="566928" y="6071616"/>
            <a:ext cx="755213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s-CO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80,80 km</a:t>
            </a:r>
            <a:r>
              <a:rPr b="0" i="0" lang="es-CO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·  68,9 % se alcanza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1" name="Google Shape;4661;p51"/>
          <p:cNvSpPr txBox="1"/>
          <p:nvPr/>
        </p:nvSpPr>
        <p:spPr>
          <a:xfrm>
            <a:off x="8338516" y="6071616"/>
            <a:ext cx="328625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s-CO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36,45 km</a:t>
            </a:r>
            <a:r>
              <a:rPr b="0" i="0" lang="es-CO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·  31,1 % pendiente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66" name="Shape 4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7" name="Google Shape;4667;p52"/>
          <p:cNvSpPr txBox="1"/>
          <p:nvPr/>
        </p:nvSpPr>
        <p:spPr>
          <a:xfrm>
            <a:off x="457200" y="320040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4F"/>
              </a:buClr>
              <a:buSzPts val="1200"/>
              <a:buFont typeface="Calibri"/>
              <a:buNone/>
            </a:pPr>
            <a:r>
              <a:rPr b="1" i="0" lang="es-CO" sz="1200" u="none" cap="none" strike="noStrike">
                <a:solidFill>
                  <a:srgbClr val="2E7D4F"/>
                </a:solidFill>
                <a:latin typeface="Poppins"/>
                <a:ea typeface="Poppins"/>
                <a:cs typeface="Poppins"/>
                <a:sym typeface="Poppins"/>
              </a:rPr>
              <a:t>INFORME DE VARIACIÓN DE ALCANCES  ·  CONSOLIDADO DEL PROGRAMA</a:t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668" name="Google Shape;4668;p52"/>
          <p:cNvSpPr txBox="1"/>
          <p:nvPr/>
        </p:nvSpPr>
        <p:spPr>
          <a:xfrm>
            <a:off x="457200" y="594360"/>
            <a:ext cx="9692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2800"/>
              <a:buFont typeface="Calibri"/>
              <a:buNone/>
            </a:pPr>
            <a:r>
              <a:rPr b="1" i="0" lang="es-CO" sz="2800" u="none" cap="none" strike="noStrike">
                <a:solidFill>
                  <a:srgbClr val="1D2B24"/>
                </a:solidFill>
                <a:latin typeface="Poppins"/>
                <a:ea typeface="Poppins"/>
                <a:cs typeface="Poppins"/>
                <a:sym typeface="Poppins"/>
              </a:rPr>
              <a:t>Resumen general por lote</a:t>
            </a:r>
            <a:endParaRPr b="0" i="0" sz="2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descr="logo.png" id="4669" name="Google Shape;4669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78440" y="320040"/>
            <a:ext cx="1371600" cy="676656"/>
          </a:xfrm>
          <a:prstGeom prst="rect">
            <a:avLst/>
          </a:prstGeom>
          <a:noFill/>
          <a:ln>
            <a:noFill/>
          </a:ln>
        </p:spPr>
      </p:pic>
      <p:sp>
        <p:nvSpPr>
          <p:cNvPr id="4670" name="Google Shape;4670;p52"/>
          <p:cNvSpPr/>
          <p:nvPr/>
        </p:nvSpPr>
        <p:spPr>
          <a:xfrm>
            <a:off x="457200" y="1261872"/>
            <a:ext cx="2109155" cy="841248"/>
          </a:xfrm>
          <a:prstGeom prst="roundRect">
            <a:avLst>
              <a:gd fmla="val 8696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1" name="Google Shape;4671;p52"/>
          <p:cNvSpPr txBox="1"/>
          <p:nvPr/>
        </p:nvSpPr>
        <p:spPr>
          <a:xfrm>
            <a:off x="594360" y="1335024"/>
            <a:ext cx="1834835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000"/>
              <a:buFont typeface="Calibri"/>
              <a:buNone/>
            </a:pPr>
            <a:r>
              <a:rPr b="0" i="0" lang="es-CO" sz="10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Valor total de los contratos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2" name="Google Shape;4672;p52"/>
          <p:cNvSpPr txBox="1"/>
          <p:nvPr/>
        </p:nvSpPr>
        <p:spPr>
          <a:xfrm>
            <a:off x="594360" y="1554480"/>
            <a:ext cx="183483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$ 690.570.935.992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3" name="Google Shape;4673;p52"/>
          <p:cNvSpPr txBox="1"/>
          <p:nvPr/>
        </p:nvSpPr>
        <p:spPr>
          <a:xfrm>
            <a:off x="594360" y="1865376"/>
            <a:ext cx="1834835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00"/>
              <a:buFont typeface="Calibri"/>
              <a:buNone/>
            </a:pP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Obra $ 628.936 M · reemb. $ 61.635 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4" name="Google Shape;4674;p52"/>
          <p:cNvSpPr/>
          <p:nvPr/>
        </p:nvSpPr>
        <p:spPr>
          <a:xfrm>
            <a:off x="2749235" y="1261872"/>
            <a:ext cx="2109155" cy="841248"/>
          </a:xfrm>
          <a:prstGeom prst="roundRect">
            <a:avLst>
              <a:gd fmla="val 8696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5" name="Google Shape;4675;p52"/>
          <p:cNvSpPr txBox="1"/>
          <p:nvPr/>
        </p:nvSpPr>
        <p:spPr>
          <a:xfrm>
            <a:off x="2886395" y="1335024"/>
            <a:ext cx="1834835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000"/>
              <a:buFont typeface="Calibri"/>
              <a:buNone/>
            </a:pPr>
            <a:r>
              <a:rPr b="0" i="0" lang="es-CO" sz="10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Km contratados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6" name="Google Shape;4676;p52"/>
          <p:cNvSpPr txBox="1"/>
          <p:nvPr/>
        </p:nvSpPr>
        <p:spPr>
          <a:xfrm>
            <a:off x="2886395" y="1554480"/>
            <a:ext cx="183483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B24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1D2B24"/>
                </a:solidFill>
                <a:latin typeface="Calibri"/>
                <a:ea typeface="Calibri"/>
                <a:cs typeface="Calibri"/>
                <a:sym typeface="Calibri"/>
              </a:rPr>
              <a:t>634,43 km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7" name="Google Shape;4677;p52"/>
          <p:cNvSpPr txBox="1"/>
          <p:nvPr/>
        </p:nvSpPr>
        <p:spPr>
          <a:xfrm>
            <a:off x="2886395" y="1865376"/>
            <a:ext cx="1834835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00"/>
              <a:buFont typeface="Calibri"/>
              <a:buNone/>
            </a:pP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8 lotes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8" name="Google Shape;4678;p52"/>
          <p:cNvSpPr/>
          <p:nvPr/>
        </p:nvSpPr>
        <p:spPr>
          <a:xfrm>
            <a:off x="5041270" y="1261872"/>
            <a:ext cx="2109155" cy="841248"/>
          </a:xfrm>
          <a:prstGeom prst="roundRect">
            <a:avLst>
              <a:gd fmla="val 8696" name="adj"/>
            </a:avLst>
          </a:prstGeom>
          <a:solidFill>
            <a:srgbClr val="E8F1EB"/>
          </a:solidFill>
          <a:ln cap="flat" cmpd="sng" w="12700">
            <a:solidFill>
              <a:srgbClr val="E8F1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9" name="Google Shape;4679;p52"/>
          <p:cNvSpPr txBox="1"/>
          <p:nvPr/>
        </p:nvSpPr>
        <p:spPr>
          <a:xfrm>
            <a:off x="5178430" y="1335024"/>
            <a:ext cx="1834835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000"/>
              <a:buFont typeface="Calibri"/>
              <a:buNone/>
            </a:pPr>
            <a:r>
              <a:rPr b="0" i="0" lang="es-CO" sz="10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Km que se alcanzan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0" name="Google Shape;4680;p52"/>
          <p:cNvSpPr txBox="1"/>
          <p:nvPr/>
        </p:nvSpPr>
        <p:spPr>
          <a:xfrm>
            <a:off x="5178430" y="1554480"/>
            <a:ext cx="183483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D2E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0B5D2E"/>
                </a:solidFill>
                <a:latin typeface="Calibri"/>
                <a:ea typeface="Calibri"/>
                <a:cs typeface="Calibri"/>
                <a:sym typeface="Calibri"/>
              </a:rPr>
              <a:t>409,07 km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1" name="Google Shape;4681;p52"/>
          <p:cNvSpPr txBox="1"/>
          <p:nvPr/>
        </p:nvSpPr>
        <p:spPr>
          <a:xfrm>
            <a:off x="5178430" y="1865376"/>
            <a:ext cx="1834835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00"/>
              <a:buFont typeface="Calibri"/>
              <a:buNone/>
            </a:pP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64,5 % del alcance contractual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2" name="Google Shape;4682;p52"/>
          <p:cNvSpPr/>
          <p:nvPr/>
        </p:nvSpPr>
        <p:spPr>
          <a:xfrm>
            <a:off x="7333305" y="1261872"/>
            <a:ext cx="2109155" cy="841248"/>
          </a:xfrm>
          <a:prstGeom prst="roundRect">
            <a:avLst>
              <a:gd fmla="val 8696" name="adj"/>
            </a:avLst>
          </a:prstGeom>
          <a:solidFill>
            <a:srgbClr val="FBEAEA"/>
          </a:solidFill>
          <a:ln cap="flat" cmpd="sng" w="12700">
            <a:solidFill>
              <a:srgbClr val="FBEA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3" name="Google Shape;4683;p52"/>
          <p:cNvSpPr txBox="1"/>
          <p:nvPr/>
        </p:nvSpPr>
        <p:spPr>
          <a:xfrm>
            <a:off x="7470465" y="1335024"/>
            <a:ext cx="1834835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000"/>
              <a:buFont typeface="Calibri"/>
              <a:buNone/>
            </a:pPr>
            <a:r>
              <a:rPr b="0" i="0" lang="es-CO" sz="10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Km pendientes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4" name="Google Shape;4684;p52"/>
          <p:cNvSpPr txBox="1"/>
          <p:nvPr/>
        </p:nvSpPr>
        <p:spPr>
          <a:xfrm>
            <a:off x="7470465" y="1554480"/>
            <a:ext cx="183483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261E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B3261E"/>
                </a:solidFill>
                <a:latin typeface="Calibri"/>
                <a:ea typeface="Calibri"/>
                <a:cs typeface="Calibri"/>
                <a:sym typeface="Calibri"/>
              </a:rPr>
              <a:t>225,36 km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5" name="Google Shape;4685;p52"/>
          <p:cNvSpPr txBox="1"/>
          <p:nvPr/>
        </p:nvSpPr>
        <p:spPr>
          <a:xfrm>
            <a:off x="7470465" y="1865376"/>
            <a:ext cx="1834835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00"/>
              <a:buFont typeface="Calibri"/>
              <a:buNone/>
            </a:pP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35,5 % del alcance contractual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6" name="Google Shape;4686;p52"/>
          <p:cNvSpPr/>
          <p:nvPr/>
        </p:nvSpPr>
        <p:spPr>
          <a:xfrm>
            <a:off x="9625340" y="1261872"/>
            <a:ext cx="2109155" cy="841248"/>
          </a:xfrm>
          <a:prstGeom prst="roundRect">
            <a:avLst>
              <a:gd fmla="val 8696" name="adj"/>
            </a:avLst>
          </a:prstGeom>
          <a:solidFill>
            <a:srgbClr val="FBEAEA"/>
          </a:solidFill>
          <a:ln cap="flat" cmpd="sng" w="12700">
            <a:solidFill>
              <a:srgbClr val="FBEA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7" name="Google Shape;4687;p52"/>
          <p:cNvSpPr txBox="1"/>
          <p:nvPr/>
        </p:nvSpPr>
        <p:spPr>
          <a:xfrm>
            <a:off x="9762500" y="1335024"/>
            <a:ext cx="1834835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1000"/>
              <a:buFont typeface="Calibri"/>
              <a:buNone/>
            </a:pPr>
            <a:r>
              <a:rPr b="0" i="0" lang="es-CO" sz="10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Valor requerido (adición)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8" name="Google Shape;4688;p52"/>
          <p:cNvSpPr txBox="1"/>
          <p:nvPr/>
        </p:nvSpPr>
        <p:spPr>
          <a:xfrm>
            <a:off x="9762500" y="1554480"/>
            <a:ext cx="183483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261E"/>
              </a:buClr>
              <a:buSzPts val="1500"/>
              <a:buFont typeface="Calibri"/>
              <a:buNone/>
            </a:pPr>
            <a:r>
              <a:rPr b="1" i="0" lang="es-CO" sz="1500" u="none" cap="none" strike="noStrike">
                <a:solidFill>
                  <a:srgbClr val="B3261E"/>
                </a:solidFill>
                <a:latin typeface="Calibri"/>
                <a:ea typeface="Calibri"/>
                <a:cs typeface="Calibri"/>
                <a:sym typeface="Calibri"/>
              </a:rPr>
              <a:t>▲ $ 363.508.866.626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9" name="Google Shape;4689;p52"/>
          <p:cNvSpPr txBox="1"/>
          <p:nvPr/>
        </p:nvSpPr>
        <p:spPr>
          <a:xfrm>
            <a:off x="9762500" y="1865376"/>
            <a:ext cx="1834835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00"/>
              <a:buFont typeface="Calibri"/>
              <a:buNone/>
            </a:pP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+57,8 % sobre el valor de obra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690" name="Google Shape;4690;p52"/>
          <p:cNvGraphicFramePr/>
          <p:nvPr/>
        </p:nvGraphicFramePr>
        <p:xfrm>
          <a:off x="457200" y="22402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{2219430B-40B1-4F13-8D99-EA5D7966678A}</a:tableStyleId>
              </a:tblPr>
              <a:tblGrid>
                <a:gridCol w="2011675"/>
                <a:gridCol w="868675"/>
                <a:gridCol w="868675"/>
                <a:gridCol w="868675"/>
                <a:gridCol w="822950"/>
                <a:gridCol w="1051550"/>
                <a:gridCol w="1097275"/>
                <a:gridCol w="1097275"/>
                <a:gridCol w="1051550"/>
                <a:gridCol w="941825"/>
                <a:gridCol w="594350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Lote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Km contratados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Km que se alcanzan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Km pendientes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Cobertura (km)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Valor contrato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Valor contractual de obra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Valor proyectado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$/km proyectado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Valor requerido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s-CO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 variación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</a:tr>
              <a:tr h="246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Lote 1 · Oriente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99,22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53,04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46,18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53,5 %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$ 103.221 M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$ 95.269 M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$ 182.804 M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$ 1.842.406.041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▲ $ 87.534 M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91,9 %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46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Lote 2 · Occidente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94,95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62,33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32,62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65,6 %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$ 104.856 M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$ 94.505 M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$ 146.168 M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$ 1.539.422.695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▲ $ 51.663 M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54,7 %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246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Lote 3 · Urabá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120,65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86,59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34,06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71,8 %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$ 144.974 M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$ 131.135 M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$ 184.657 M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$ 1.530.518.677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▲ $ 53.522 M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40,8 %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46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Lote 4 · Magdalena Medio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55,00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32,76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22,24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59,6 %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$ 54.442 M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$ 51.572 M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$ 86.572 M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$ 1.574.030.486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▲ $ 35.000 M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67,9 %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246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Lote 5 · Suroeste *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68,26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44,93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23,33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65,8 %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$ 72.870 M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$ 67.298 M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$ 102.735 M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$ 1.505.055.854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▲ $ 35.437 M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52,7 %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46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Lote 6 · Nordeste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54,10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30,74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23,36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56,8 %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$ 57.386 M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$ 52.469 M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$ 92.361 M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$ 1.707.219.974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▲ $ 39.891 M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76,0 %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246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Lote 7 · Bajo Cauca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25,00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17,87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7,13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71,5 %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$ 28.336 M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$ 24.389 M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$ 34.126 M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$ 1.365.056.266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▲ $ 9.738 M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39,9 %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46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Lote 8 · Norte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117,25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80,80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36,45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68,9 %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$ 124.487 M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$ 112.299 M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$ 163.022 M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B24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1D2B2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$ 1.390.378.433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▲ $ 50.723 M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3261E"/>
                        </a:buClr>
                        <a:buSzPts val="950"/>
                        <a:buFont typeface="Calibri"/>
                        <a:buNone/>
                      </a:pPr>
                      <a:r>
                        <a:rPr lang="es-CO" sz="950" u="none" cap="none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45,2 %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6"/>
                    </a:solidFill>
                  </a:tcPr>
                </a:tc>
              </a:tr>
              <a:tr h="246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PROGRAMA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634,43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409,07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225,36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64,5 %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$ 690.571 M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$ 628.936 M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$ 992.444 M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$ 1.564.308.842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▲ $ 363.509 M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b="1" lang="es-CO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57,8 %</a:t>
                      </a:r>
                      <a:endParaRPr sz="1400" u="none" cap="none" strike="noStrike"/>
                    </a:p>
                  </a:txBody>
                  <a:tcPr marT="18300" marB="18300" marR="45725" marL="45725" anchor="ctr">
                    <a:lnL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D2E"/>
                    </a:solidFill>
                  </a:tcPr>
                </a:tc>
              </a:tr>
            </a:tbl>
          </a:graphicData>
        </a:graphic>
      </p:graphicFrame>
      <p:sp>
        <p:nvSpPr>
          <p:cNvPr id="4691" name="Google Shape;4691;p52"/>
          <p:cNvSpPr txBox="1"/>
          <p:nvPr/>
        </p:nvSpPr>
        <p:spPr>
          <a:xfrm>
            <a:off x="457200" y="4901184"/>
            <a:ext cx="11274552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65"/>
              </a:buClr>
              <a:buSzPts val="800"/>
              <a:buFont typeface="Calibri"/>
              <a:buNone/>
            </a:pPr>
            <a:r>
              <a:rPr b="0" i="1" lang="es-CO" sz="800" u="none" cap="none" strike="noStrike">
                <a:solidFill>
                  <a:srgbClr val="5F6B65"/>
                </a:solidFill>
                <a:latin typeface="Calibri"/>
                <a:ea typeface="Calibri"/>
                <a:cs typeface="Calibri"/>
                <a:sym typeface="Calibri"/>
              </a:rPr>
              <a:t>* Oriente actualizado con los valores proyectados ajustados; para los corredores sin proyección propia se utiliza el promedio de Abejorral–Santa Bárbara–El Cairo–La Elvira y La Frontera–Mesopotamia–Abejorral, excluyendo San Vicente–El Peñol ($ 1.958.190.541 por km). Suroeste actualizado con las proyecciones de Salgar, Valparaíso y Pueblorrico; Abejorral y Titiribí se estiman con el promedio de esos tres corredores ($ 1.505.055.854 por km). Valores en millones de pesos (M).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2" name="Google Shape;4692;p52"/>
          <p:cNvSpPr/>
          <p:nvPr/>
        </p:nvSpPr>
        <p:spPr>
          <a:xfrm>
            <a:off x="457200" y="5266944"/>
            <a:ext cx="7271413" cy="384048"/>
          </a:xfrm>
          <a:prstGeom prst="rect">
            <a:avLst/>
          </a:prstGeom>
          <a:solidFill>
            <a:srgbClr val="2E7D4F"/>
          </a:solidFill>
          <a:ln cap="flat" cmpd="sng" w="12700">
            <a:solidFill>
              <a:srgbClr val="2E7D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3" name="Google Shape;4693;p52"/>
          <p:cNvSpPr/>
          <p:nvPr/>
        </p:nvSpPr>
        <p:spPr>
          <a:xfrm>
            <a:off x="7728613" y="5266944"/>
            <a:ext cx="4005882" cy="384048"/>
          </a:xfrm>
          <a:prstGeom prst="rect">
            <a:avLst/>
          </a:prstGeom>
          <a:solidFill>
            <a:srgbClr val="B3261E"/>
          </a:solidFill>
          <a:ln cap="flat" cmpd="sng" w="12700">
            <a:solidFill>
              <a:srgbClr val="B326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4" name="Google Shape;4694;p52"/>
          <p:cNvSpPr txBox="1"/>
          <p:nvPr/>
        </p:nvSpPr>
        <p:spPr>
          <a:xfrm>
            <a:off x="566928" y="5266944"/>
            <a:ext cx="7051957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s-CO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409,07 km  ·  64,5 % se alcanza con el valor de obra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5" name="Google Shape;4695;p52"/>
          <p:cNvSpPr txBox="1"/>
          <p:nvPr/>
        </p:nvSpPr>
        <p:spPr>
          <a:xfrm>
            <a:off x="7838341" y="5266944"/>
            <a:ext cx="378642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s-CO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225,36 km  ·  35,5 % pendiente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00" name="Shape 4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.png" id="4701" name="Google Shape;4701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92728" y="2377440"/>
            <a:ext cx="4206240" cy="20665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VALERIA TOBON LOPEZ</dc:creator>
</cp:coreProperties>
</file>